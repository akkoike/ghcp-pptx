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とは</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1 / 9</a:t>
            </a:r>
            <a:endParaRPr lang="en-US" sz="900" dirty="0"/>
          </a:p>
        </p:txBody>
      </p:sp>
      <p:sp>
        <p:nvSpPr>
          <p:cNvPr id="5" name="Shape 3"/>
          <p:cNvSpPr/>
          <p:nvPr/>
        </p:nvSpPr>
        <p:spPr>
          <a:xfrm>
            <a:off x="2743200" y="1188720"/>
            <a:ext cx="6675120" cy="1097280"/>
          </a:xfrm>
          <a:prstGeom prst="roundRect">
            <a:avLst>
              <a:gd name="adj" fmla="val 12500"/>
            </a:avLst>
          </a:prstGeom>
          <a:solidFill>
            <a:srgbClr val="DEECF9"/>
          </a:solidFill>
          <a:ln w="25400">
            <a:solidFill>
              <a:srgbClr val="0078D4"/>
            </a:solidFill>
            <a:prstDash val="solid"/>
          </a:ln>
        </p:spPr>
      </p:sp>
      <p:sp>
        <p:nvSpPr>
          <p:cNvPr id="6" name="Text 4"/>
          <p:cNvSpPr/>
          <p:nvPr/>
        </p:nvSpPr>
        <p:spPr>
          <a:xfrm>
            <a:off x="2926080" y="1280160"/>
            <a:ext cx="6309360" cy="365760"/>
          </a:xfrm>
          <a:prstGeom prst="rect">
            <a:avLst/>
          </a:prstGeom>
          <a:noFill/>
          <a:ln/>
        </p:spPr>
        <p:txBody>
          <a:bodyPr wrap="square" rtlCol="0" anchor="ctr"/>
          <a:lstStyle/>
          <a:p>
            <a:pPr algn="ctr" indent="0" marL="0">
              <a:buNone/>
            </a:pPr>
            <a:r>
              <a:rPr lang="en-US" sz="1600" b="1" dirty="0">
                <a:solidFill>
                  <a:srgbClr val="0078D4"/>
                </a:solidFill>
                <a:latin typeface="Meiryo UI" pitchFamily="34" charset="0"/>
                <a:ea typeface="Meiryo UI" pitchFamily="34" charset="-122"/>
                <a:cs typeface="Meiryo UI" pitchFamily="34" charset="-120"/>
              </a:rPr>
              <a:t>☁️  Azure Arc — 統一コントロールプレーン</a:t>
            </a:r>
            <a:endParaRPr lang="en-US" sz="1600" dirty="0"/>
          </a:p>
        </p:txBody>
      </p:sp>
      <p:sp>
        <p:nvSpPr>
          <p:cNvPr id="7" name="Text 5"/>
          <p:cNvSpPr/>
          <p:nvPr/>
        </p:nvSpPr>
        <p:spPr>
          <a:xfrm>
            <a:off x="2926080" y="1691640"/>
            <a:ext cx="6309360" cy="365760"/>
          </a:xfrm>
          <a:prstGeom prst="rect">
            <a:avLst/>
          </a:prstGeom>
          <a:noFill/>
          <a:ln/>
        </p:spPr>
        <p:txBody>
          <a:bodyPr wrap="square" rtlCol="0" anchor="ctr"/>
          <a:lstStyle/>
          <a:p>
            <a:pPr algn="ctr" indent="0" marL="0">
              <a:buNone/>
            </a:pPr>
            <a:r>
              <a:rPr lang="en-US" sz="1200" dirty="0">
                <a:solidFill>
                  <a:srgbClr val="000000"/>
                </a:solidFill>
                <a:latin typeface="Meiryo UI" pitchFamily="34" charset="0"/>
                <a:ea typeface="Meiryo UI" pitchFamily="34" charset="-122"/>
                <a:cs typeface="Meiryo UI" pitchFamily="34" charset="-120"/>
              </a:rPr>
              <a:t>Azure Resource Manager に投影 → 環境全体を一元管理</a:t>
            </a:r>
            <a:endParaRPr lang="en-US" sz="1200" dirty="0"/>
          </a:p>
        </p:txBody>
      </p:sp>
      <p:sp>
        <p:nvSpPr>
          <p:cNvPr id="8" name="Text 6"/>
          <p:cNvSpPr/>
          <p:nvPr/>
        </p:nvSpPr>
        <p:spPr>
          <a:xfrm>
            <a:off x="5486400" y="2331720"/>
            <a:ext cx="1188720" cy="45720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9" name="Shape 7"/>
          <p:cNvSpPr/>
          <p:nvPr/>
        </p:nvSpPr>
        <p:spPr>
          <a:xfrm>
            <a:off x="731520" y="2926080"/>
            <a:ext cx="2377440" cy="1005840"/>
          </a:xfrm>
          <a:prstGeom prst="roundRect">
            <a:avLst>
              <a:gd name="adj" fmla="val 10909"/>
            </a:avLst>
          </a:prstGeom>
          <a:solidFill>
            <a:srgbClr val="F3F2F1"/>
          </a:solidFill>
          <a:ln w="19050">
            <a:solidFill>
              <a:srgbClr val="0078D4"/>
            </a:solidFill>
            <a:prstDash val="solid"/>
          </a:ln>
        </p:spPr>
      </p:sp>
      <p:sp>
        <p:nvSpPr>
          <p:cNvPr id="10" name="Text 8"/>
          <p:cNvSpPr/>
          <p:nvPr/>
        </p:nvSpPr>
        <p:spPr>
          <a:xfrm>
            <a:off x="731520" y="2926080"/>
            <a:ext cx="2377440" cy="1005840"/>
          </a:xfrm>
          <a:prstGeom prst="rect">
            <a:avLst/>
          </a:prstGeom>
          <a:noFill/>
          <a:ln/>
        </p:spPr>
        <p:txBody>
          <a:bodyPr wrap="square" rtlCol="0" anchor="ctr"/>
          <a:lstStyle/>
          <a:p>
            <a:pPr algn="ctr" indent="0" marL="0">
              <a:buNone/>
            </a:pPr>
            <a:r>
              <a:rPr lang="en-US" sz="1100" b="1" dirty="0">
                <a:solidFill>
                  <a:srgbClr val="0078D4"/>
                </a:solidFill>
                <a:latin typeface="Meiryo UI" pitchFamily="34" charset="0"/>
                <a:ea typeface="Meiryo UI" pitchFamily="34" charset="-122"/>
                <a:cs typeface="Meiryo UI" pitchFamily="34" charset="-120"/>
              </a:rPr>
              <a:t>☁️  Azure</a:t>
            </a:r>
            <a:endParaRPr lang="en-US" sz="1100" dirty="0"/>
          </a:p>
          <a:p>
            <a:pPr algn="ctr" indent="0" marL="0">
              <a:buNone/>
            </a:pPr>
            <a:r>
              <a:rPr lang="en-US" sz="1100" b="1" dirty="0">
                <a:solidFill>
                  <a:srgbClr val="0078D4"/>
                </a:solidFill>
                <a:latin typeface="Meiryo UI" pitchFamily="34" charset="0"/>
                <a:ea typeface="Meiryo UI" pitchFamily="34" charset="-122"/>
                <a:cs typeface="Meiryo UI" pitchFamily="34" charset="-120"/>
              </a:rPr>
              <a:t>クラウド</a:t>
            </a:r>
            <a:endParaRPr lang="en-US" sz="1100" dirty="0"/>
          </a:p>
        </p:txBody>
      </p:sp>
      <p:sp>
        <p:nvSpPr>
          <p:cNvPr id="11" name="Shape 9"/>
          <p:cNvSpPr/>
          <p:nvPr/>
        </p:nvSpPr>
        <p:spPr>
          <a:xfrm>
            <a:off x="3566160" y="2926080"/>
            <a:ext cx="2377440" cy="1005840"/>
          </a:xfrm>
          <a:prstGeom prst="roundRect">
            <a:avLst>
              <a:gd name="adj" fmla="val 10909"/>
            </a:avLst>
          </a:prstGeom>
          <a:solidFill>
            <a:srgbClr val="F3F2F1"/>
          </a:solidFill>
          <a:ln w="19050">
            <a:solidFill>
              <a:srgbClr val="107C10"/>
            </a:solidFill>
            <a:prstDash val="solid"/>
          </a:ln>
        </p:spPr>
      </p:sp>
      <p:sp>
        <p:nvSpPr>
          <p:cNvPr id="12" name="Text 10"/>
          <p:cNvSpPr/>
          <p:nvPr/>
        </p:nvSpPr>
        <p:spPr>
          <a:xfrm>
            <a:off x="3566160" y="2926080"/>
            <a:ext cx="2377440" cy="1005840"/>
          </a:xfrm>
          <a:prstGeom prst="rect">
            <a:avLst/>
          </a:prstGeom>
          <a:noFill/>
          <a:ln/>
        </p:spPr>
        <p:txBody>
          <a:bodyPr wrap="square" rtlCol="0" anchor="ctr"/>
          <a:lstStyle/>
          <a:p>
            <a:pPr algn="ctr" indent="0" marL="0">
              <a:buNone/>
            </a:pPr>
            <a:r>
              <a:rPr lang="en-US" sz="1100" b="1" dirty="0">
                <a:solidFill>
                  <a:srgbClr val="107C10"/>
                </a:solidFill>
                <a:latin typeface="Meiryo UI" pitchFamily="34" charset="0"/>
                <a:ea typeface="Meiryo UI" pitchFamily="34" charset="-122"/>
                <a:cs typeface="Meiryo UI" pitchFamily="34" charset="-120"/>
              </a:rPr>
              <a:t>🏢  オンプレミス</a:t>
            </a:r>
            <a:endParaRPr lang="en-US" sz="1100" dirty="0"/>
          </a:p>
        </p:txBody>
      </p:sp>
      <p:sp>
        <p:nvSpPr>
          <p:cNvPr id="13" name="Shape 11"/>
          <p:cNvSpPr/>
          <p:nvPr/>
        </p:nvSpPr>
        <p:spPr>
          <a:xfrm>
            <a:off x="6400800" y="2926080"/>
            <a:ext cx="2377440" cy="1005840"/>
          </a:xfrm>
          <a:prstGeom prst="roundRect">
            <a:avLst>
              <a:gd name="adj" fmla="val 10909"/>
            </a:avLst>
          </a:prstGeom>
          <a:solidFill>
            <a:srgbClr val="F3F2F1"/>
          </a:solidFill>
          <a:ln w="19050">
            <a:solidFill>
              <a:srgbClr val="FF8C00"/>
            </a:solidFill>
            <a:prstDash val="solid"/>
          </a:ln>
        </p:spPr>
      </p:sp>
      <p:sp>
        <p:nvSpPr>
          <p:cNvPr id="14" name="Text 12"/>
          <p:cNvSpPr/>
          <p:nvPr/>
        </p:nvSpPr>
        <p:spPr>
          <a:xfrm>
            <a:off x="6400800" y="2926080"/>
            <a:ext cx="2377440" cy="1005840"/>
          </a:xfrm>
          <a:prstGeom prst="rect">
            <a:avLst/>
          </a:prstGeom>
          <a:noFill/>
          <a:ln/>
        </p:spPr>
        <p:txBody>
          <a:bodyPr wrap="square" rtlCol="0" anchor="ctr"/>
          <a:lstStyle/>
          <a:p>
            <a:pPr algn="ctr" indent="0" marL="0">
              <a:buNone/>
            </a:pPr>
            <a:r>
              <a:rPr lang="en-US" sz="1100" b="1" dirty="0">
                <a:solidFill>
                  <a:srgbClr val="FF8C00"/>
                </a:solidFill>
                <a:latin typeface="Meiryo UI" pitchFamily="34" charset="0"/>
                <a:ea typeface="Meiryo UI" pitchFamily="34" charset="-122"/>
                <a:cs typeface="Meiryo UI" pitchFamily="34" charset="-120"/>
              </a:rPr>
              <a:t>🌐  マルチクラウド</a:t>
            </a:r>
            <a:endParaRPr lang="en-US" sz="1100" dirty="0"/>
          </a:p>
          <a:p>
            <a:pPr algn="ctr" indent="0" marL="0">
              <a:buNone/>
            </a:pPr>
            <a:r>
              <a:rPr lang="en-US" sz="1100" b="1" dirty="0">
                <a:solidFill>
                  <a:srgbClr val="FF8C00"/>
                </a:solidFill>
                <a:latin typeface="Meiryo UI" pitchFamily="34" charset="0"/>
                <a:ea typeface="Meiryo UI" pitchFamily="34" charset="-122"/>
                <a:cs typeface="Meiryo UI" pitchFamily="34" charset="-120"/>
              </a:rPr>
              <a:t>(AWS / GCP)</a:t>
            </a:r>
            <a:endParaRPr lang="en-US" sz="1100" dirty="0"/>
          </a:p>
        </p:txBody>
      </p:sp>
      <p:sp>
        <p:nvSpPr>
          <p:cNvPr id="15" name="Shape 13"/>
          <p:cNvSpPr/>
          <p:nvPr/>
        </p:nvSpPr>
        <p:spPr>
          <a:xfrm>
            <a:off x="9235440" y="2926080"/>
            <a:ext cx="2377440" cy="1005840"/>
          </a:xfrm>
          <a:prstGeom prst="roundRect">
            <a:avLst>
              <a:gd name="adj" fmla="val 10909"/>
            </a:avLst>
          </a:prstGeom>
          <a:solidFill>
            <a:srgbClr val="F3F2F1"/>
          </a:solidFill>
          <a:ln w="19050">
            <a:solidFill>
              <a:srgbClr val="5C2D91"/>
            </a:solidFill>
            <a:prstDash val="solid"/>
          </a:ln>
        </p:spPr>
      </p:sp>
      <p:sp>
        <p:nvSpPr>
          <p:cNvPr id="16" name="Text 14"/>
          <p:cNvSpPr/>
          <p:nvPr/>
        </p:nvSpPr>
        <p:spPr>
          <a:xfrm>
            <a:off x="9235440" y="2926080"/>
            <a:ext cx="2377440" cy="1005840"/>
          </a:xfrm>
          <a:prstGeom prst="rect">
            <a:avLst/>
          </a:prstGeom>
          <a:noFill/>
          <a:ln/>
        </p:spPr>
        <p:txBody>
          <a:bodyPr wrap="square" rtlCol="0" anchor="ctr"/>
          <a:lstStyle/>
          <a:p>
            <a:pPr algn="ctr" indent="0" marL="0">
              <a:buNone/>
            </a:pPr>
            <a:r>
              <a:rPr lang="en-US" sz="1100" b="1" dirty="0">
                <a:solidFill>
                  <a:srgbClr val="5C2D91"/>
                </a:solidFill>
                <a:latin typeface="Meiryo UI" pitchFamily="34" charset="0"/>
                <a:ea typeface="Meiryo UI" pitchFamily="34" charset="-122"/>
                <a:cs typeface="Meiryo UI" pitchFamily="34" charset="-120"/>
              </a:rPr>
              <a:t>📡  エッジ</a:t>
            </a:r>
            <a:endParaRPr lang="en-US" sz="1100" dirty="0"/>
          </a:p>
        </p:txBody>
      </p:sp>
      <p:sp>
        <p:nvSpPr>
          <p:cNvPr id="17" name="Text 15"/>
          <p:cNvSpPr/>
          <p:nvPr/>
        </p:nvSpPr>
        <p:spPr>
          <a:xfrm>
            <a:off x="457200" y="4206240"/>
            <a:ext cx="11274552" cy="2377440"/>
          </a:xfrm>
          <a:prstGeom prst="rect">
            <a:avLst/>
          </a:prstGeom>
          <a:noFill/>
          <a:ln/>
        </p:spPr>
        <p:txBody>
          <a:bodyPr wrap="square" rtlCol="0" anchor="t"/>
          <a:lstStyle/>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Azure Arc は、オンプレミス、マルチクラウド、エッジにまたがる分散環境を簡素化し、一貫した管理プラットフォームを提供します</a:t>
            </a:r>
            <a:endParaRPr lang="en-US" sz="1150" dirty="0"/>
          </a:p>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非 Azure リソースを Azure Resource Manager に投影（プロジェクション）し、環境全体を一元管理できます</a:t>
            </a:r>
            <a:endParaRPr lang="en-US" sz="1150" dirty="0"/>
          </a:p>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仮想マシン、Kubernetes クラスター、データベースを Azure 上で実行されているかのように管理できます</a:t>
            </a:r>
            <a:endParaRPr lang="en-US" sz="1150" dirty="0"/>
          </a:p>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従来の ITOps を継続しながら、DevOps プラクティスを導入してクラウドネイティブパターンをサポートできます</a:t>
            </a:r>
            <a:endParaRPr lang="en-US" sz="1150" dirty="0"/>
          </a:p>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Azure の「アダプティブクラウド」アプローチの中核を担うサービスです</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対応リソースの種類</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2 / 9</a:t>
            </a:r>
            <a:endParaRPr lang="en-US" sz="900" dirty="0"/>
          </a:p>
        </p:txBody>
      </p:sp>
      <p:sp>
        <p:nvSpPr>
          <p:cNvPr id="5" name="Shape 3"/>
          <p:cNvSpPr/>
          <p:nvPr/>
        </p:nvSpPr>
        <p:spPr>
          <a:xfrm>
            <a:off x="4709160" y="3200400"/>
            <a:ext cx="2743200" cy="1005840"/>
          </a:xfrm>
          <a:prstGeom prst="roundRect">
            <a:avLst>
              <a:gd name="adj" fmla="val 13636"/>
            </a:avLst>
          </a:prstGeom>
          <a:solidFill>
            <a:srgbClr val="0078D4"/>
          </a:solidFill>
          <a:ln/>
        </p:spPr>
      </p:sp>
      <p:sp>
        <p:nvSpPr>
          <p:cNvPr id="6" name="Text 4"/>
          <p:cNvSpPr/>
          <p:nvPr/>
        </p:nvSpPr>
        <p:spPr>
          <a:xfrm>
            <a:off x="4709160" y="3200400"/>
            <a:ext cx="2743200" cy="1005840"/>
          </a:xfrm>
          <a:prstGeom prst="rect">
            <a:avLst/>
          </a:prstGeom>
          <a:noFill/>
          <a:ln/>
        </p:spPr>
        <p:txBody>
          <a:bodyPr wrap="square" rtlCol="0" anchor="ctr"/>
          <a:lstStyle/>
          <a:p>
            <a:pPr algn="ctr" indent="0" marL="0">
              <a:buNone/>
            </a:pPr>
            <a:r>
              <a:rPr lang="en-US" sz="2000" b="1" dirty="0">
                <a:solidFill>
                  <a:srgbClr val="FFFFFF"/>
                </a:solidFill>
                <a:latin typeface="Meiryo UI" pitchFamily="34" charset="0"/>
                <a:ea typeface="Meiryo UI" pitchFamily="34" charset="-122"/>
                <a:cs typeface="Meiryo UI" pitchFamily="34" charset="-120"/>
              </a:rPr>
              <a:t>Azure Arc</a:t>
            </a:r>
            <a:endParaRPr lang="en-US" sz="2000" dirty="0"/>
          </a:p>
        </p:txBody>
      </p:sp>
      <p:sp>
        <p:nvSpPr>
          <p:cNvPr id="7" name="Shape 5"/>
          <p:cNvSpPr/>
          <p:nvPr/>
        </p:nvSpPr>
        <p:spPr>
          <a:xfrm>
            <a:off x="365760" y="1280160"/>
            <a:ext cx="2743200" cy="1371600"/>
          </a:xfrm>
          <a:prstGeom prst="roundRect">
            <a:avLst>
              <a:gd name="adj" fmla="val 8000"/>
            </a:avLst>
          </a:prstGeom>
          <a:solidFill>
            <a:srgbClr val="F3F2F1"/>
          </a:solidFill>
          <a:ln w="19050">
            <a:solidFill>
              <a:srgbClr val="0078D4"/>
            </a:solidFill>
            <a:prstDash val="solid"/>
          </a:ln>
        </p:spPr>
      </p:sp>
      <p:sp>
        <p:nvSpPr>
          <p:cNvPr id="8" name="Text 6"/>
          <p:cNvSpPr/>
          <p:nvPr/>
        </p:nvSpPr>
        <p:spPr>
          <a:xfrm>
            <a:off x="502920" y="1371600"/>
            <a:ext cx="2468880" cy="45720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対応サーバー</a:t>
            </a:r>
            <a:endParaRPr lang="en-US" sz="1200" dirty="0"/>
          </a:p>
        </p:txBody>
      </p:sp>
      <p:sp>
        <p:nvSpPr>
          <p:cNvPr id="9" name="Text 7"/>
          <p:cNvSpPr/>
          <p:nvPr/>
        </p:nvSpPr>
        <p:spPr>
          <a:xfrm>
            <a:off x="502920" y="187452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Windows / Linux</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物理 / 仮想</a:t>
            </a:r>
            <a:endParaRPr lang="en-US" sz="1000" dirty="0"/>
          </a:p>
        </p:txBody>
      </p:sp>
      <p:sp>
        <p:nvSpPr>
          <p:cNvPr id="10" name="Shape 8"/>
          <p:cNvSpPr/>
          <p:nvPr/>
        </p:nvSpPr>
        <p:spPr>
          <a:xfrm>
            <a:off x="3154680" y="1280160"/>
            <a:ext cx="2743200" cy="1371600"/>
          </a:xfrm>
          <a:prstGeom prst="roundRect">
            <a:avLst>
              <a:gd name="adj" fmla="val 8000"/>
            </a:avLst>
          </a:prstGeom>
          <a:solidFill>
            <a:srgbClr val="F3F2F1"/>
          </a:solidFill>
          <a:ln w="19050">
            <a:solidFill>
              <a:srgbClr val="107C10"/>
            </a:solidFill>
            <a:prstDash val="solid"/>
          </a:ln>
        </p:spPr>
      </p:sp>
      <p:sp>
        <p:nvSpPr>
          <p:cNvPr id="11" name="Text 9"/>
          <p:cNvSpPr/>
          <p:nvPr/>
        </p:nvSpPr>
        <p:spPr>
          <a:xfrm>
            <a:off x="3291840" y="1371600"/>
            <a:ext cx="2468880" cy="457200"/>
          </a:xfrm>
          <a:prstGeom prst="rect">
            <a:avLst/>
          </a:prstGeom>
          <a:noFill/>
          <a:ln/>
        </p:spPr>
        <p:txBody>
          <a:bodyPr wrap="square" rtlCol="0" anchor="ctr"/>
          <a:lstStyle/>
          <a:p>
            <a:pPr algn="ctr" indent="0" marL="0">
              <a:buNone/>
            </a:pPr>
            <a:r>
              <a:rPr lang="en-US" sz="1200" b="1" dirty="0">
                <a:solidFill>
                  <a:srgbClr val="107C10"/>
                </a:solidFill>
                <a:latin typeface="Meiryo UI" pitchFamily="34" charset="0"/>
                <a:ea typeface="Meiryo UI" pitchFamily="34" charset="-122"/>
                <a:cs typeface="Meiryo UI" pitchFamily="34" charset="-120"/>
              </a:rPr>
              <a:t>☸️  対応 Kubernetes</a:t>
            </a:r>
            <a:endParaRPr lang="en-US" sz="1200" dirty="0"/>
          </a:p>
        </p:txBody>
      </p:sp>
      <p:sp>
        <p:nvSpPr>
          <p:cNvPr id="12" name="Text 10"/>
          <p:cNvSpPr/>
          <p:nvPr/>
        </p:nvSpPr>
        <p:spPr>
          <a:xfrm>
            <a:off x="3291840" y="187452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CNCF 準拠</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K8s クラスター</a:t>
            </a:r>
            <a:endParaRPr lang="en-US" sz="1000" dirty="0"/>
          </a:p>
        </p:txBody>
      </p:sp>
      <p:sp>
        <p:nvSpPr>
          <p:cNvPr id="13" name="Shape 11"/>
          <p:cNvSpPr/>
          <p:nvPr/>
        </p:nvSpPr>
        <p:spPr>
          <a:xfrm>
            <a:off x="5943600" y="1280160"/>
            <a:ext cx="2743200" cy="1371600"/>
          </a:xfrm>
          <a:prstGeom prst="roundRect">
            <a:avLst>
              <a:gd name="adj" fmla="val 8000"/>
            </a:avLst>
          </a:prstGeom>
          <a:solidFill>
            <a:srgbClr val="F3F2F1"/>
          </a:solidFill>
          <a:ln w="19050">
            <a:solidFill>
              <a:srgbClr val="FF8C00"/>
            </a:solidFill>
            <a:prstDash val="solid"/>
          </a:ln>
        </p:spPr>
      </p:sp>
      <p:sp>
        <p:nvSpPr>
          <p:cNvPr id="14" name="Text 12"/>
          <p:cNvSpPr/>
          <p:nvPr/>
        </p:nvSpPr>
        <p:spPr>
          <a:xfrm>
            <a:off x="6080760" y="1371600"/>
            <a:ext cx="2468880" cy="457200"/>
          </a:xfrm>
          <a:prstGeom prst="rect">
            <a:avLst/>
          </a:prstGeom>
          <a:noFill/>
          <a:ln/>
        </p:spPr>
        <p:txBody>
          <a:bodyPr wrap="square" rtlCol="0" anchor="ctr"/>
          <a:lstStyle/>
          <a:p>
            <a:pPr algn="ctr" indent="0" marL="0">
              <a:buNone/>
            </a:pPr>
            <a:r>
              <a:rPr lang="en-US" sz="1200" b="1" dirty="0">
                <a:solidFill>
                  <a:srgbClr val="FF8C00"/>
                </a:solidFill>
                <a:latin typeface="Meiryo UI" pitchFamily="34" charset="0"/>
                <a:ea typeface="Meiryo UI" pitchFamily="34" charset="-122"/>
                <a:cs typeface="Meiryo UI" pitchFamily="34" charset="-120"/>
              </a:rPr>
              <a:t>🗄️  対応データサービス</a:t>
            </a:r>
            <a:endParaRPr lang="en-US" sz="1200" dirty="0"/>
          </a:p>
        </p:txBody>
      </p:sp>
      <p:sp>
        <p:nvSpPr>
          <p:cNvPr id="15" name="Text 13"/>
          <p:cNvSpPr/>
          <p:nvPr/>
        </p:nvSpPr>
        <p:spPr>
          <a:xfrm>
            <a:off x="6080760" y="187452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SQL MI on K8s</a:t>
            </a:r>
            <a:endParaRPr lang="en-US" sz="1000" dirty="0"/>
          </a:p>
        </p:txBody>
      </p:sp>
      <p:sp>
        <p:nvSpPr>
          <p:cNvPr id="16" name="Shape 14"/>
          <p:cNvSpPr/>
          <p:nvPr/>
        </p:nvSpPr>
        <p:spPr>
          <a:xfrm>
            <a:off x="8732520" y="1280160"/>
            <a:ext cx="2743200" cy="1371600"/>
          </a:xfrm>
          <a:prstGeom prst="roundRect">
            <a:avLst>
              <a:gd name="adj" fmla="val 8000"/>
            </a:avLst>
          </a:prstGeom>
          <a:solidFill>
            <a:srgbClr val="F3F2F1"/>
          </a:solidFill>
          <a:ln w="19050">
            <a:solidFill>
              <a:srgbClr val="5C2D91"/>
            </a:solidFill>
            <a:prstDash val="solid"/>
          </a:ln>
        </p:spPr>
      </p:sp>
      <p:sp>
        <p:nvSpPr>
          <p:cNvPr id="17" name="Text 15"/>
          <p:cNvSpPr/>
          <p:nvPr/>
        </p:nvSpPr>
        <p:spPr>
          <a:xfrm>
            <a:off x="8869680" y="1371600"/>
            <a:ext cx="2468880" cy="457200"/>
          </a:xfrm>
          <a:prstGeom prst="rect">
            <a:avLst/>
          </a:prstGeom>
          <a:noFill/>
          <a:ln/>
        </p:spPr>
        <p:txBody>
          <a:bodyPr wrap="square" rtlCol="0" anchor="ctr"/>
          <a:lstStyle/>
          <a:p>
            <a:pPr algn="ctr" indent="0" marL="0">
              <a:buNone/>
            </a:pPr>
            <a:r>
              <a:rPr lang="en-US" sz="1200" b="1" dirty="0">
                <a:solidFill>
                  <a:srgbClr val="5C2D91"/>
                </a:solidFill>
                <a:latin typeface="Meiryo UI" pitchFamily="34" charset="0"/>
                <a:ea typeface="Meiryo UI" pitchFamily="34" charset="-122"/>
                <a:cs typeface="Meiryo UI" pitchFamily="34" charset="-120"/>
              </a:rPr>
              <a:t>💾  SQL Server enabled by Arc</a:t>
            </a:r>
            <a:endParaRPr lang="en-US" sz="1200" dirty="0"/>
          </a:p>
        </p:txBody>
      </p:sp>
      <p:sp>
        <p:nvSpPr>
          <p:cNvPr id="18" name="Text 16"/>
          <p:cNvSpPr/>
          <p:nvPr/>
        </p:nvSpPr>
        <p:spPr>
          <a:xfrm>
            <a:off x="8869680" y="187452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Azure 外 SQL Server</a:t>
            </a:r>
            <a:endParaRPr lang="en-US" sz="1000" dirty="0"/>
          </a:p>
        </p:txBody>
      </p:sp>
      <p:sp>
        <p:nvSpPr>
          <p:cNvPr id="19" name="Shape 17"/>
          <p:cNvSpPr/>
          <p:nvPr/>
        </p:nvSpPr>
        <p:spPr>
          <a:xfrm>
            <a:off x="365760" y="4846320"/>
            <a:ext cx="2743200" cy="1371600"/>
          </a:xfrm>
          <a:prstGeom prst="roundRect">
            <a:avLst>
              <a:gd name="adj" fmla="val 8000"/>
            </a:avLst>
          </a:prstGeom>
          <a:solidFill>
            <a:srgbClr val="F3F2F1"/>
          </a:solidFill>
          <a:ln w="19050">
            <a:solidFill>
              <a:srgbClr val="008272"/>
            </a:solidFill>
            <a:prstDash val="solid"/>
          </a:ln>
        </p:spPr>
      </p:sp>
      <p:sp>
        <p:nvSpPr>
          <p:cNvPr id="20" name="Text 18"/>
          <p:cNvSpPr/>
          <p:nvPr/>
        </p:nvSpPr>
        <p:spPr>
          <a:xfrm>
            <a:off x="502920" y="4937760"/>
            <a:ext cx="2468880" cy="457200"/>
          </a:xfrm>
          <a:prstGeom prst="rect">
            <a:avLst/>
          </a:prstGeom>
          <a:noFill/>
          <a:ln/>
        </p:spPr>
        <p:txBody>
          <a:bodyPr wrap="square" rtlCol="0" anchor="ctr"/>
          <a:lstStyle/>
          <a:p>
            <a:pPr algn="ctr" indent="0" marL="0">
              <a:buNone/>
            </a:pPr>
            <a:r>
              <a:rPr lang="en-US" sz="1200" b="1" dirty="0">
                <a:solidFill>
                  <a:srgbClr val="008272"/>
                </a:solidFill>
                <a:latin typeface="Meiryo UI" pitchFamily="34" charset="0"/>
                <a:ea typeface="Meiryo UI" pitchFamily="34" charset="-122"/>
                <a:cs typeface="Meiryo UI" pitchFamily="34" charset="-120"/>
              </a:rPr>
              <a:t>🔄  対応 VMware vSphere</a:t>
            </a:r>
            <a:endParaRPr lang="en-US" sz="1200" dirty="0"/>
          </a:p>
        </p:txBody>
      </p:sp>
      <p:sp>
        <p:nvSpPr>
          <p:cNvPr id="21" name="Text 19"/>
          <p:cNvSpPr/>
          <p:nvPr/>
        </p:nvSpPr>
        <p:spPr>
          <a:xfrm>
            <a:off x="502920" y="544068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VMware vCenter VM</a:t>
            </a:r>
            <a:endParaRPr lang="en-US" sz="1000" dirty="0"/>
          </a:p>
        </p:txBody>
      </p:sp>
      <p:sp>
        <p:nvSpPr>
          <p:cNvPr id="22" name="Shape 20"/>
          <p:cNvSpPr/>
          <p:nvPr/>
        </p:nvSpPr>
        <p:spPr>
          <a:xfrm>
            <a:off x="3154680" y="4846320"/>
            <a:ext cx="2743200" cy="1371600"/>
          </a:xfrm>
          <a:prstGeom prst="roundRect">
            <a:avLst>
              <a:gd name="adj" fmla="val 8000"/>
            </a:avLst>
          </a:prstGeom>
          <a:solidFill>
            <a:srgbClr val="F3F2F1"/>
          </a:solidFill>
          <a:ln w="19050">
            <a:solidFill>
              <a:srgbClr val="D13438"/>
            </a:solidFill>
            <a:prstDash val="solid"/>
          </a:ln>
        </p:spPr>
      </p:sp>
      <p:sp>
        <p:nvSpPr>
          <p:cNvPr id="23" name="Text 21"/>
          <p:cNvSpPr/>
          <p:nvPr/>
        </p:nvSpPr>
        <p:spPr>
          <a:xfrm>
            <a:off x="3291840" y="4937760"/>
            <a:ext cx="2468880" cy="457200"/>
          </a:xfrm>
          <a:prstGeom prst="rect">
            <a:avLst/>
          </a:prstGeom>
          <a:noFill/>
          <a:ln/>
        </p:spPr>
        <p:txBody>
          <a:bodyPr wrap="square" rtlCol="0" anchor="ctr"/>
          <a:lstStyle/>
          <a:p>
            <a:pPr algn="ctr" indent="0" marL="0">
              <a:buNone/>
            </a:pPr>
            <a:r>
              <a:rPr lang="en-US" sz="1200" b="1" dirty="0">
                <a:solidFill>
                  <a:srgbClr val="D13438"/>
                </a:solidFill>
                <a:latin typeface="Meiryo UI" pitchFamily="34" charset="0"/>
                <a:ea typeface="Meiryo UI" pitchFamily="34" charset="-122"/>
                <a:cs typeface="Meiryo UI" pitchFamily="34" charset="-120"/>
              </a:rPr>
              <a:t>🖧  対応 SCVMM</a:t>
            </a:r>
            <a:endParaRPr lang="en-US" sz="1200" dirty="0"/>
          </a:p>
        </p:txBody>
      </p:sp>
      <p:sp>
        <p:nvSpPr>
          <p:cNvPr id="24" name="Text 22"/>
          <p:cNvSpPr/>
          <p:nvPr/>
        </p:nvSpPr>
        <p:spPr>
          <a:xfrm>
            <a:off x="3291840" y="544068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System Center VM</a:t>
            </a:r>
            <a:endParaRPr lang="en-US" sz="1000" dirty="0"/>
          </a:p>
        </p:txBody>
      </p:sp>
      <p:sp>
        <p:nvSpPr>
          <p:cNvPr id="25" name="Shape 23"/>
          <p:cNvSpPr/>
          <p:nvPr/>
        </p:nvSpPr>
        <p:spPr>
          <a:xfrm>
            <a:off x="5943600" y="4846320"/>
            <a:ext cx="2743200" cy="1371600"/>
          </a:xfrm>
          <a:prstGeom prst="roundRect">
            <a:avLst>
              <a:gd name="adj" fmla="val 8000"/>
            </a:avLst>
          </a:prstGeom>
          <a:solidFill>
            <a:srgbClr val="F3F2F1"/>
          </a:solidFill>
          <a:ln w="19050">
            <a:solidFill>
              <a:srgbClr val="002050"/>
            </a:solidFill>
            <a:prstDash val="solid"/>
          </a:ln>
        </p:spPr>
      </p:sp>
      <p:sp>
        <p:nvSpPr>
          <p:cNvPr id="26" name="Text 24"/>
          <p:cNvSpPr/>
          <p:nvPr/>
        </p:nvSpPr>
        <p:spPr>
          <a:xfrm>
            <a:off x="6080760" y="4937760"/>
            <a:ext cx="2468880" cy="457200"/>
          </a:xfrm>
          <a:prstGeom prst="rect">
            <a:avLst/>
          </a:prstGeom>
          <a:noFill/>
          <a:ln/>
        </p:spPr>
        <p:txBody>
          <a:bodyPr wrap="square" rtlCol="0" anchor="ctr"/>
          <a:lstStyle/>
          <a:p>
            <a:pPr algn="ctr" indent="0" marL="0">
              <a:buNone/>
            </a:pPr>
            <a:r>
              <a:rPr lang="en-US" sz="1200" b="1" dirty="0">
                <a:solidFill>
                  <a:srgbClr val="002050"/>
                </a:solidFill>
                <a:latin typeface="Meiryo UI" pitchFamily="34" charset="0"/>
                <a:ea typeface="Meiryo UI" pitchFamily="34" charset="-122"/>
                <a:cs typeface="Meiryo UI" pitchFamily="34" charset="-120"/>
              </a:rPr>
              <a:t>🏗️  Azure Local</a:t>
            </a:r>
            <a:endParaRPr lang="en-US" sz="1200" dirty="0"/>
          </a:p>
        </p:txBody>
      </p:sp>
      <p:sp>
        <p:nvSpPr>
          <p:cNvPr id="27" name="Text 25"/>
          <p:cNvSpPr/>
          <p:nvPr/>
        </p:nvSpPr>
        <p:spPr>
          <a:xfrm>
            <a:off x="6080760" y="544068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旧 Azure Stack HCI</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対応サーバー（Connected Machine Agent）</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3 / 9</a:t>
            </a:r>
            <a:endParaRPr lang="en-US" sz="900" dirty="0"/>
          </a:p>
        </p:txBody>
      </p:sp>
      <p:sp>
        <p:nvSpPr>
          <p:cNvPr id="5" name="Shape 3"/>
          <p:cNvSpPr/>
          <p:nvPr/>
        </p:nvSpPr>
        <p:spPr>
          <a:xfrm>
            <a:off x="457200" y="1188720"/>
            <a:ext cx="3200400" cy="1828800"/>
          </a:xfrm>
          <a:prstGeom prst="roundRect">
            <a:avLst>
              <a:gd name="adj" fmla="val 6000"/>
            </a:avLst>
          </a:prstGeom>
          <a:solidFill>
            <a:srgbClr val="F3F2F1"/>
          </a:solidFill>
          <a:ln w="25400">
            <a:solidFill>
              <a:srgbClr val="107C10"/>
            </a:solidFill>
            <a:prstDash val="solid"/>
          </a:ln>
        </p:spPr>
      </p:sp>
      <p:sp>
        <p:nvSpPr>
          <p:cNvPr id="6" name="Text 4"/>
          <p:cNvSpPr/>
          <p:nvPr/>
        </p:nvSpPr>
        <p:spPr>
          <a:xfrm>
            <a:off x="548640" y="1234440"/>
            <a:ext cx="3017520" cy="365760"/>
          </a:xfrm>
          <a:prstGeom prst="rect">
            <a:avLst/>
          </a:prstGeom>
          <a:noFill/>
          <a:ln/>
        </p:spPr>
        <p:txBody>
          <a:bodyPr wrap="square" rtlCol="0" anchor="ctr"/>
          <a:lstStyle/>
          <a:p>
            <a:pPr algn="ctr" indent="0" marL="0">
              <a:buNone/>
            </a:pPr>
            <a:r>
              <a:rPr lang="en-US" sz="1100" b="1" dirty="0">
                <a:solidFill>
                  <a:srgbClr val="107C10"/>
                </a:solidFill>
                <a:latin typeface="Meiryo UI" pitchFamily="34" charset="0"/>
                <a:ea typeface="Meiryo UI" pitchFamily="34" charset="-122"/>
                <a:cs typeface="Meiryo UI" pitchFamily="34" charset="-120"/>
              </a:rPr>
              <a:t>🏢 オンプレミス / マルチクラウド</a:t>
            </a:r>
            <a:endParaRPr lang="en-US" sz="1100" dirty="0"/>
          </a:p>
        </p:txBody>
      </p:sp>
      <p:sp>
        <p:nvSpPr>
          <p:cNvPr id="7" name="Text 5"/>
          <p:cNvSpPr/>
          <p:nvPr/>
        </p:nvSpPr>
        <p:spPr>
          <a:xfrm>
            <a:off x="548640" y="1691640"/>
            <a:ext cx="3017520" cy="54864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 Windows / Linux サーバー</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（物理 / 仮想マシン）</a:t>
            </a:r>
            <a:endParaRPr lang="en-US" sz="1000" dirty="0"/>
          </a:p>
        </p:txBody>
      </p:sp>
      <p:sp>
        <p:nvSpPr>
          <p:cNvPr id="8" name="Shape 6"/>
          <p:cNvSpPr/>
          <p:nvPr/>
        </p:nvSpPr>
        <p:spPr>
          <a:xfrm>
            <a:off x="822960" y="2377440"/>
            <a:ext cx="2468880" cy="457200"/>
          </a:xfrm>
          <a:prstGeom prst="roundRect">
            <a:avLst>
              <a:gd name="adj" fmla="val 16000"/>
            </a:avLst>
          </a:prstGeom>
          <a:solidFill>
            <a:srgbClr val="0078D4"/>
          </a:solidFill>
          <a:ln/>
        </p:spPr>
      </p:sp>
      <p:sp>
        <p:nvSpPr>
          <p:cNvPr id="9" name="Text 7"/>
          <p:cNvSpPr/>
          <p:nvPr/>
        </p:nvSpPr>
        <p:spPr>
          <a:xfrm>
            <a:off x="822960" y="2377440"/>
            <a:ext cx="2468880" cy="45720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Connected Machine Agent</a:t>
            </a:r>
            <a:endParaRPr lang="en-US" sz="1000" dirty="0"/>
          </a:p>
        </p:txBody>
      </p:sp>
      <p:sp>
        <p:nvSpPr>
          <p:cNvPr id="10" name="Text 8"/>
          <p:cNvSpPr/>
          <p:nvPr/>
        </p:nvSpPr>
        <p:spPr>
          <a:xfrm>
            <a:off x="3657600" y="1737360"/>
            <a:ext cx="731520" cy="6400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1" name="Shape 9"/>
          <p:cNvSpPr/>
          <p:nvPr/>
        </p:nvSpPr>
        <p:spPr>
          <a:xfrm>
            <a:off x="4389120" y="1188720"/>
            <a:ext cx="3474720" cy="1828800"/>
          </a:xfrm>
          <a:prstGeom prst="roundRect">
            <a:avLst>
              <a:gd name="adj" fmla="val 6000"/>
            </a:avLst>
          </a:prstGeom>
          <a:solidFill>
            <a:srgbClr val="DEECF9"/>
          </a:solidFill>
          <a:ln w="25400">
            <a:solidFill>
              <a:srgbClr val="0078D4"/>
            </a:solidFill>
            <a:prstDash val="solid"/>
          </a:ln>
        </p:spPr>
      </p:sp>
      <p:sp>
        <p:nvSpPr>
          <p:cNvPr id="12" name="Text 10"/>
          <p:cNvSpPr/>
          <p:nvPr/>
        </p:nvSpPr>
        <p:spPr>
          <a:xfrm>
            <a:off x="4480560" y="1280160"/>
            <a:ext cx="3291840" cy="36576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Azure Resource Manager</a:t>
            </a:r>
            <a:endParaRPr lang="en-US" sz="1200" dirty="0"/>
          </a:p>
        </p:txBody>
      </p:sp>
      <p:sp>
        <p:nvSpPr>
          <p:cNvPr id="13" name="Text 11"/>
          <p:cNvSpPr/>
          <p:nvPr/>
        </p:nvSpPr>
        <p:spPr>
          <a:xfrm>
            <a:off x="4480560" y="1737360"/>
            <a:ext cx="3291840" cy="109728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・リソースとして登録</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・システムマネージド ID 自動割当</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サービスへの認証</a:t>
            </a:r>
            <a:endParaRPr lang="en-US" sz="1000" dirty="0"/>
          </a:p>
        </p:txBody>
      </p:sp>
      <p:sp>
        <p:nvSpPr>
          <p:cNvPr id="14" name="Text 12"/>
          <p:cNvSpPr/>
          <p:nvPr/>
        </p:nvSpPr>
        <p:spPr>
          <a:xfrm>
            <a:off x="7863840" y="1737360"/>
            <a:ext cx="731520" cy="6400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5" name="Shape 13"/>
          <p:cNvSpPr/>
          <p:nvPr/>
        </p:nvSpPr>
        <p:spPr>
          <a:xfrm>
            <a:off x="8595360" y="1188720"/>
            <a:ext cx="3108960" cy="1828800"/>
          </a:xfrm>
          <a:prstGeom prst="roundRect">
            <a:avLst>
              <a:gd name="adj" fmla="val 6000"/>
            </a:avLst>
          </a:prstGeom>
          <a:solidFill>
            <a:srgbClr val="F3F2F1"/>
          </a:solidFill>
          <a:ln w="25400">
            <a:solidFill>
              <a:srgbClr val="5C2D91"/>
            </a:solidFill>
            <a:prstDash val="solid"/>
          </a:ln>
        </p:spPr>
      </p:sp>
      <p:sp>
        <p:nvSpPr>
          <p:cNvPr id="16" name="Text 14"/>
          <p:cNvSpPr/>
          <p:nvPr/>
        </p:nvSpPr>
        <p:spPr>
          <a:xfrm>
            <a:off x="8686800" y="1280160"/>
            <a:ext cx="2926080" cy="365760"/>
          </a:xfrm>
          <a:prstGeom prst="rect">
            <a:avLst/>
          </a:prstGeom>
          <a:noFill/>
          <a:ln/>
        </p:spPr>
        <p:txBody>
          <a:bodyPr wrap="square" rtlCol="0" anchor="ctr"/>
          <a:lstStyle/>
          <a:p>
            <a:pPr algn="ctr" indent="0" marL="0">
              <a:buNone/>
            </a:pPr>
            <a:r>
              <a:rPr lang="en-US" sz="1200" b="1" dirty="0">
                <a:solidFill>
                  <a:srgbClr val="5C2D91"/>
                </a:solidFill>
                <a:latin typeface="Meiryo UI" pitchFamily="34" charset="0"/>
                <a:ea typeface="Meiryo UI" pitchFamily="34" charset="-122"/>
                <a:cs typeface="Meiryo UI" pitchFamily="34" charset="-120"/>
              </a:rPr>
              <a:t>🔧 Azure 管理ツール</a:t>
            </a:r>
            <a:endParaRPr lang="en-US" sz="1200" dirty="0"/>
          </a:p>
        </p:txBody>
      </p:sp>
      <p:sp>
        <p:nvSpPr>
          <p:cNvPr id="17" name="Text 15"/>
          <p:cNvSpPr/>
          <p:nvPr/>
        </p:nvSpPr>
        <p:spPr>
          <a:xfrm>
            <a:off x="8686800" y="1737360"/>
            <a:ext cx="2926080" cy="109728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・Azure Portal</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CLI / PowerShell</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Policy / Monitor</a:t>
            </a:r>
            <a:endParaRPr lang="en-US" sz="1000" dirty="0"/>
          </a:p>
        </p:txBody>
      </p:sp>
      <p:sp>
        <p:nvSpPr>
          <p:cNvPr id="18" name="Shape 16"/>
          <p:cNvSpPr/>
          <p:nvPr/>
        </p:nvSpPr>
        <p:spPr>
          <a:xfrm>
            <a:off x="457200" y="3291840"/>
            <a:ext cx="5486400" cy="2560320"/>
          </a:xfrm>
          <a:prstGeom prst="roundRect">
            <a:avLst>
              <a:gd name="adj" fmla="val 4286"/>
            </a:avLst>
          </a:prstGeom>
          <a:solidFill>
            <a:srgbClr val="F3F2F1"/>
          </a:solidFill>
          <a:ln w="19050">
            <a:solidFill>
              <a:srgbClr val="0078D4"/>
            </a:solidFill>
            <a:prstDash val="solid"/>
          </a:ln>
        </p:spPr>
      </p:sp>
      <p:sp>
        <p:nvSpPr>
          <p:cNvPr id="19" name="Shape 17"/>
          <p:cNvSpPr/>
          <p:nvPr/>
        </p:nvSpPr>
        <p:spPr>
          <a:xfrm>
            <a:off x="548640" y="3337560"/>
            <a:ext cx="5303520" cy="411480"/>
          </a:xfrm>
          <a:prstGeom prst="roundRect">
            <a:avLst>
              <a:gd name="adj" fmla="val 17778"/>
            </a:avLst>
          </a:prstGeom>
          <a:solidFill>
            <a:srgbClr val="0078D4"/>
          </a:solidFill>
          <a:ln/>
        </p:spPr>
      </p:sp>
      <p:sp>
        <p:nvSpPr>
          <p:cNvPr id="20" name="Text 18"/>
          <p:cNvSpPr/>
          <p:nvPr/>
        </p:nvSpPr>
        <p:spPr>
          <a:xfrm>
            <a:off x="548640" y="3337560"/>
            <a:ext cx="5303520" cy="41148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対応 OS（主要なもの）</a:t>
            </a:r>
            <a:endParaRPr lang="en-US" sz="1200" dirty="0"/>
          </a:p>
        </p:txBody>
      </p:sp>
      <p:sp>
        <p:nvSpPr>
          <p:cNvPr id="21" name="Text 19"/>
          <p:cNvSpPr/>
          <p:nvPr/>
        </p:nvSpPr>
        <p:spPr>
          <a:xfrm>
            <a:off x="731520" y="3886200"/>
            <a:ext cx="5029200" cy="1828800"/>
          </a:xfrm>
          <a:prstGeom prst="rect">
            <a:avLst/>
          </a:prstGeom>
          <a:noFill/>
          <a:ln/>
        </p:spPr>
        <p:txBody>
          <a:bodyPr wrap="square" rtlCol="0" anchor="t"/>
          <a:lstStyle/>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Windows Server 2012 / 2012 R2 / 2016 / 2019 / 2022 / 2025</a:t>
            </a:r>
            <a:endParaRPr lang="en-US" sz="1000" dirty="0"/>
          </a:p>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Ubuntu 18.04 / 20.04 / 22.04 / 24.04</a:t>
            </a:r>
            <a:endParaRPr lang="en-US" sz="1000" dirty="0"/>
          </a:p>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RHEL 7 / 8 / 9 / 10、SLES 12 SP5 / 15 SP4 以降</a:t>
            </a:r>
            <a:endParaRPr lang="en-US" sz="1000" dirty="0"/>
          </a:p>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Amazon Linux 2 / 2023、Debian 11 / 12 / 13 ほか</a:t>
            </a:r>
            <a:endParaRPr lang="en-US" sz="1000" dirty="0"/>
          </a:p>
        </p:txBody>
      </p:sp>
      <p:sp>
        <p:nvSpPr>
          <p:cNvPr id="22" name="Shape 20"/>
          <p:cNvSpPr/>
          <p:nvPr/>
        </p:nvSpPr>
        <p:spPr>
          <a:xfrm>
            <a:off x="6217920" y="3291840"/>
            <a:ext cx="5486400" cy="2560320"/>
          </a:xfrm>
          <a:prstGeom prst="roundRect">
            <a:avLst>
              <a:gd name="adj" fmla="val 4286"/>
            </a:avLst>
          </a:prstGeom>
          <a:solidFill>
            <a:srgbClr val="F3F2F1"/>
          </a:solidFill>
          <a:ln w="19050">
            <a:solidFill>
              <a:srgbClr val="107C10"/>
            </a:solidFill>
            <a:prstDash val="solid"/>
          </a:ln>
        </p:spPr>
      </p:sp>
      <p:sp>
        <p:nvSpPr>
          <p:cNvPr id="23" name="Shape 21"/>
          <p:cNvSpPr/>
          <p:nvPr/>
        </p:nvSpPr>
        <p:spPr>
          <a:xfrm>
            <a:off x="6309360" y="3337560"/>
            <a:ext cx="5303520" cy="411480"/>
          </a:xfrm>
          <a:prstGeom prst="roundRect">
            <a:avLst>
              <a:gd name="adj" fmla="val 17778"/>
            </a:avLst>
          </a:prstGeom>
          <a:solidFill>
            <a:srgbClr val="107C10"/>
          </a:solidFill>
          <a:ln/>
        </p:spPr>
      </p:sp>
      <p:sp>
        <p:nvSpPr>
          <p:cNvPr id="24" name="Text 22"/>
          <p:cNvSpPr/>
          <p:nvPr/>
        </p:nvSpPr>
        <p:spPr>
          <a:xfrm>
            <a:off x="6309360" y="3337560"/>
            <a:ext cx="5303520" cy="41148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接続方法</a:t>
            </a:r>
            <a:endParaRPr lang="en-US" sz="1200" dirty="0"/>
          </a:p>
        </p:txBody>
      </p:sp>
      <p:sp>
        <p:nvSpPr>
          <p:cNvPr id="25" name="Text 23"/>
          <p:cNvSpPr/>
          <p:nvPr/>
        </p:nvSpPr>
        <p:spPr>
          <a:xfrm>
            <a:off x="6400800" y="3886200"/>
            <a:ext cx="5029200" cy="1828800"/>
          </a:xfrm>
          <a:prstGeom prst="rect">
            <a:avLst/>
          </a:prstGeom>
          <a:noFill/>
          <a:ln/>
        </p:spPr>
        <p:txBody>
          <a:bodyPr wrap="square" rtlCol="0" anchor="t"/>
          <a:lstStyle/>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対話型: Azure Portal からのスクリプト実行、Windows Admin Center 等を利用します</a:t>
            </a:r>
            <a:endParaRPr lang="en-US" sz="1000" dirty="0"/>
          </a:p>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大規模展開: サービスプリンシパル、Azure Policy、Configuration Manager 等を利用した自動オンボーディングに対応しています</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対応 Kubernetes</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4 / 9</a:t>
            </a:r>
            <a:endParaRPr lang="en-US" sz="900" dirty="0"/>
          </a:p>
        </p:txBody>
      </p:sp>
      <p:sp>
        <p:nvSpPr>
          <p:cNvPr id="5" name="Shape 3"/>
          <p:cNvSpPr/>
          <p:nvPr/>
        </p:nvSpPr>
        <p:spPr>
          <a:xfrm>
            <a:off x="457200" y="1188720"/>
            <a:ext cx="3017520" cy="1463040"/>
          </a:xfrm>
          <a:prstGeom prst="roundRect">
            <a:avLst>
              <a:gd name="adj" fmla="val 7500"/>
            </a:avLst>
          </a:prstGeom>
          <a:solidFill>
            <a:srgbClr val="F3F2F1"/>
          </a:solidFill>
          <a:ln w="25400">
            <a:solidFill>
              <a:srgbClr val="107C10"/>
            </a:solidFill>
            <a:prstDash val="solid"/>
          </a:ln>
        </p:spPr>
      </p:sp>
      <p:sp>
        <p:nvSpPr>
          <p:cNvPr id="6" name="Text 4"/>
          <p:cNvSpPr/>
          <p:nvPr/>
        </p:nvSpPr>
        <p:spPr>
          <a:xfrm>
            <a:off x="548640" y="1234440"/>
            <a:ext cx="2834640" cy="365760"/>
          </a:xfrm>
          <a:prstGeom prst="rect">
            <a:avLst/>
          </a:prstGeom>
          <a:noFill/>
          <a:ln/>
        </p:spPr>
        <p:txBody>
          <a:bodyPr wrap="square" rtlCol="0" anchor="ctr"/>
          <a:lstStyle/>
          <a:p>
            <a:pPr algn="ctr" indent="0" marL="0">
              <a:buNone/>
            </a:pPr>
            <a:r>
              <a:rPr lang="en-US" sz="1100" b="1" dirty="0">
                <a:solidFill>
                  <a:srgbClr val="107C10"/>
                </a:solidFill>
                <a:latin typeface="Meiryo UI" pitchFamily="34" charset="0"/>
                <a:ea typeface="Meiryo UI" pitchFamily="34" charset="-122"/>
                <a:cs typeface="Meiryo UI" pitchFamily="34" charset="-120"/>
              </a:rPr>
              <a:t>☸️ Kubernetes クラスター</a:t>
            </a:r>
            <a:endParaRPr lang="en-US" sz="1100" dirty="0"/>
          </a:p>
        </p:txBody>
      </p:sp>
      <p:sp>
        <p:nvSpPr>
          <p:cNvPr id="7" name="Text 5"/>
          <p:cNvSpPr/>
          <p:nvPr/>
        </p:nvSpPr>
        <p:spPr>
          <a:xfrm>
            <a:off x="548640" y="1691640"/>
            <a:ext cx="28346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オンプレミス / マルチクラウド</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（CNCF 準拠）</a:t>
            </a:r>
            <a:endParaRPr lang="en-US" sz="1000" dirty="0"/>
          </a:p>
        </p:txBody>
      </p:sp>
      <p:sp>
        <p:nvSpPr>
          <p:cNvPr id="8" name="Text 6"/>
          <p:cNvSpPr/>
          <p:nvPr/>
        </p:nvSpPr>
        <p:spPr>
          <a:xfrm>
            <a:off x="3474720" y="1554480"/>
            <a:ext cx="640080" cy="54864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9" name="Shape 7"/>
          <p:cNvSpPr/>
          <p:nvPr/>
        </p:nvSpPr>
        <p:spPr>
          <a:xfrm>
            <a:off x="4114800" y="1188720"/>
            <a:ext cx="3931920" cy="1463040"/>
          </a:xfrm>
          <a:prstGeom prst="roundRect">
            <a:avLst>
              <a:gd name="adj" fmla="val 7500"/>
            </a:avLst>
          </a:prstGeom>
          <a:solidFill>
            <a:srgbClr val="DEECF9"/>
          </a:solidFill>
          <a:ln w="25400">
            <a:solidFill>
              <a:srgbClr val="0078D4"/>
            </a:solidFill>
            <a:prstDash val="solid"/>
          </a:ln>
        </p:spPr>
      </p:sp>
      <p:sp>
        <p:nvSpPr>
          <p:cNvPr id="10" name="Text 8"/>
          <p:cNvSpPr/>
          <p:nvPr/>
        </p:nvSpPr>
        <p:spPr>
          <a:xfrm>
            <a:off x="4206240" y="1234440"/>
            <a:ext cx="3749040" cy="36576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Azure Arc</a:t>
            </a:r>
            <a:endParaRPr lang="en-US" sz="1200" dirty="0"/>
          </a:p>
        </p:txBody>
      </p:sp>
      <p:sp>
        <p:nvSpPr>
          <p:cNvPr id="11" name="Text 9"/>
          <p:cNvSpPr/>
          <p:nvPr/>
        </p:nvSpPr>
        <p:spPr>
          <a:xfrm>
            <a:off x="4206240" y="1645920"/>
            <a:ext cx="3749040" cy="82296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ARM リソースとして管理</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Portal / CLI / REST API で一元管理</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Cluster Connect で安全アクセス</a:t>
            </a:r>
            <a:endParaRPr lang="en-US" sz="1000" dirty="0"/>
          </a:p>
        </p:txBody>
      </p:sp>
      <p:sp>
        <p:nvSpPr>
          <p:cNvPr id="12" name="Text 10"/>
          <p:cNvSpPr/>
          <p:nvPr/>
        </p:nvSpPr>
        <p:spPr>
          <a:xfrm>
            <a:off x="8046720" y="1554480"/>
            <a:ext cx="640080" cy="54864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3" name="Shape 11"/>
          <p:cNvSpPr/>
          <p:nvPr/>
        </p:nvSpPr>
        <p:spPr>
          <a:xfrm>
            <a:off x="8686800" y="1188720"/>
            <a:ext cx="3017520" cy="1463040"/>
          </a:xfrm>
          <a:prstGeom prst="roundRect">
            <a:avLst>
              <a:gd name="adj" fmla="val 7500"/>
            </a:avLst>
          </a:prstGeom>
          <a:solidFill>
            <a:srgbClr val="F3F2F1"/>
          </a:solidFill>
          <a:ln w="25400">
            <a:solidFill>
              <a:srgbClr val="5C2D91"/>
            </a:solidFill>
            <a:prstDash val="solid"/>
          </a:ln>
        </p:spPr>
      </p:sp>
      <p:sp>
        <p:nvSpPr>
          <p:cNvPr id="14" name="Text 12"/>
          <p:cNvSpPr/>
          <p:nvPr/>
        </p:nvSpPr>
        <p:spPr>
          <a:xfrm>
            <a:off x="8778240" y="1234440"/>
            <a:ext cx="2834640" cy="365760"/>
          </a:xfrm>
          <a:prstGeom prst="rect">
            <a:avLst/>
          </a:prstGeom>
          <a:noFill/>
          <a:ln/>
        </p:spPr>
        <p:txBody>
          <a:bodyPr wrap="square" rtlCol="0" anchor="ctr"/>
          <a:lstStyle/>
          <a:p>
            <a:pPr algn="ctr" indent="0" marL="0">
              <a:buNone/>
            </a:pPr>
            <a:r>
              <a:rPr lang="en-US" sz="1100" b="1" dirty="0">
                <a:solidFill>
                  <a:srgbClr val="5C2D91"/>
                </a:solidFill>
                <a:latin typeface="Meiryo UI" pitchFamily="34" charset="0"/>
                <a:ea typeface="Meiryo UI" pitchFamily="34" charset="-122"/>
                <a:cs typeface="Meiryo UI" pitchFamily="34" charset="-120"/>
              </a:rPr>
              <a:t>🔧 Azure サービス</a:t>
            </a:r>
            <a:endParaRPr lang="en-US" sz="1100" dirty="0"/>
          </a:p>
        </p:txBody>
      </p:sp>
      <p:sp>
        <p:nvSpPr>
          <p:cNvPr id="15" name="Text 13"/>
          <p:cNvSpPr/>
          <p:nvPr/>
        </p:nvSpPr>
        <p:spPr>
          <a:xfrm>
            <a:off x="8778240" y="1691640"/>
            <a:ext cx="28346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Azure Monitor</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Defender for Containers</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Policy</a:t>
            </a:r>
            <a:endParaRPr lang="en-US" sz="1000" dirty="0"/>
          </a:p>
        </p:txBody>
      </p:sp>
      <p:sp>
        <p:nvSpPr>
          <p:cNvPr id="16" name="Shape 14"/>
          <p:cNvSpPr/>
          <p:nvPr/>
        </p:nvSpPr>
        <p:spPr>
          <a:xfrm>
            <a:off x="457200" y="2926080"/>
            <a:ext cx="5486400" cy="3291840"/>
          </a:xfrm>
          <a:prstGeom prst="roundRect">
            <a:avLst>
              <a:gd name="adj" fmla="val 3333"/>
            </a:avLst>
          </a:prstGeom>
          <a:solidFill>
            <a:srgbClr val="F3F2F1"/>
          </a:solidFill>
          <a:ln w="19050">
            <a:solidFill>
              <a:srgbClr val="0078D4"/>
            </a:solidFill>
            <a:prstDash val="solid"/>
          </a:ln>
        </p:spPr>
      </p:sp>
      <p:sp>
        <p:nvSpPr>
          <p:cNvPr id="17" name="Shape 15"/>
          <p:cNvSpPr/>
          <p:nvPr/>
        </p:nvSpPr>
        <p:spPr>
          <a:xfrm>
            <a:off x="548640" y="2971800"/>
            <a:ext cx="5303520" cy="411480"/>
          </a:xfrm>
          <a:prstGeom prst="roundRect">
            <a:avLst>
              <a:gd name="adj" fmla="val 17778"/>
            </a:avLst>
          </a:prstGeom>
          <a:solidFill>
            <a:srgbClr val="0078D4"/>
          </a:solidFill>
          <a:ln/>
        </p:spPr>
      </p:sp>
      <p:sp>
        <p:nvSpPr>
          <p:cNvPr id="18" name="Text 16"/>
          <p:cNvSpPr/>
          <p:nvPr/>
        </p:nvSpPr>
        <p:spPr>
          <a:xfrm>
            <a:off x="548640" y="2971800"/>
            <a:ext cx="5303520" cy="41148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GitOps によるアプリケーション展開</a:t>
            </a:r>
            <a:endParaRPr lang="en-US" sz="1200" dirty="0"/>
          </a:p>
        </p:txBody>
      </p:sp>
      <p:sp>
        <p:nvSpPr>
          <p:cNvPr id="19" name="Text 17"/>
          <p:cNvSpPr/>
          <p:nvPr/>
        </p:nvSpPr>
        <p:spPr>
          <a:xfrm>
            <a:off x="640080" y="3520440"/>
            <a:ext cx="5029200" cy="2560320"/>
          </a:xfrm>
          <a:prstGeom prst="rect">
            <a:avLst/>
          </a:prstGeom>
          <a:noFill/>
          <a:ln/>
        </p:spPr>
        <p:txBody>
          <a:bodyPr wrap="square" rtlCol="0" anchor="t"/>
          <a:lstStyle/>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Flux v2: Git リポジトリ、Helm リポジトリ、S3 バケット、Azure Blob Storage からの構成を自動デプロイします</a:t>
            </a:r>
            <a:endParaRPr lang="en-US" sz="1050" dirty="0"/>
          </a:p>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Argo CD（プレビュー）: プルベースのアーキテクチャで、ドリフト検出・自動修復機能を提供します</a:t>
            </a:r>
            <a:endParaRPr lang="en-US" sz="1050" dirty="0"/>
          </a:p>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Azure Policy と連携して、複数クラスターへの構成を一貫して適用できます</a:t>
            </a:r>
            <a:endParaRPr lang="en-US" sz="1050" dirty="0"/>
          </a:p>
        </p:txBody>
      </p:sp>
      <p:sp>
        <p:nvSpPr>
          <p:cNvPr id="20" name="Shape 18"/>
          <p:cNvSpPr/>
          <p:nvPr/>
        </p:nvSpPr>
        <p:spPr>
          <a:xfrm>
            <a:off x="6217920" y="2926080"/>
            <a:ext cx="5486400" cy="3291840"/>
          </a:xfrm>
          <a:prstGeom prst="roundRect">
            <a:avLst>
              <a:gd name="adj" fmla="val 3333"/>
            </a:avLst>
          </a:prstGeom>
          <a:solidFill>
            <a:srgbClr val="F3F2F1"/>
          </a:solidFill>
          <a:ln w="19050">
            <a:solidFill>
              <a:srgbClr val="107C10"/>
            </a:solidFill>
            <a:prstDash val="solid"/>
          </a:ln>
        </p:spPr>
      </p:sp>
      <p:sp>
        <p:nvSpPr>
          <p:cNvPr id="21" name="Shape 19"/>
          <p:cNvSpPr/>
          <p:nvPr/>
        </p:nvSpPr>
        <p:spPr>
          <a:xfrm>
            <a:off x="6309360" y="2971800"/>
            <a:ext cx="5303520" cy="411480"/>
          </a:xfrm>
          <a:prstGeom prst="roundRect">
            <a:avLst>
              <a:gd name="adj" fmla="val 17778"/>
            </a:avLst>
          </a:prstGeom>
          <a:solidFill>
            <a:srgbClr val="107C10"/>
          </a:solidFill>
          <a:ln/>
        </p:spPr>
      </p:sp>
      <p:sp>
        <p:nvSpPr>
          <p:cNvPr id="22" name="Text 20"/>
          <p:cNvSpPr/>
          <p:nvPr/>
        </p:nvSpPr>
        <p:spPr>
          <a:xfrm>
            <a:off x="6309360" y="2971800"/>
            <a:ext cx="5303520" cy="41148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クラスター拡張機能</a:t>
            </a:r>
            <a:endParaRPr lang="en-US" sz="1200" dirty="0"/>
          </a:p>
        </p:txBody>
      </p:sp>
      <p:sp>
        <p:nvSpPr>
          <p:cNvPr id="23" name="Text 21"/>
          <p:cNvSpPr/>
          <p:nvPr/>
        </p:nvSpPr>
        <p:spPr>
          <a:xfrm>
            <a:off x="6400800" y="3520440"/>
            <a:ext cx="5029200" cy="2560320"/>
          </a:xfrm>
          <a:prstGeom prst="rect">
            <a:avLst/>
          </a:prstGeom>
          <a:noFill/>
          <a:ln/>
        </p:spPr>
        <p:txBody>
          <a:bodyPr wrap="square" rtlCol="0" anchor="t"/>
          <a:lstStyle/>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Azure Monitor、Defender for Containers、Azure Policy 等を拡張機能としてデプロイできます</a:t>
            </a:r>
            <a:endParaRPr lang="en-US" sz="1050" dirty="0"/>
          </a:p>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カスタムロケーションを作成し、Azure サービスインスタンスのデプロイ先として指定できます</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対応データサービス</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5 / 9</a:t>
            </a:r>
            <a:endParaRPr lang="en-US" sz="900" dirty="0"/>
          </a:p>
        </p:txBody>
      </p:sp>
      <p:sp>
        <p:nvSpPr>
          <p:cNvPr id="5" name="Text 3"/>
          <p:cNvSpPr/>
          <p:nvPr/>
        </p:nvSpPr>
        <p:spPr>
          <a:xfrm>
            <a:off x="457200" y="1188720"/>
            <a:ext cx="11274552" cy="1371600"/>
          </a:xfrm>
          <a:prstGeom prst="rect">
            <a:avLst/>
          </a:prstGeom>
          <a:noFill/>
          <a:ln/>
        </p:spPr>
        <p:txBody>
          <a:bodyPr wrap="square" rtlCol="0" anchor="t"/>
          <a:lstStyle/>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SQL Managed Instance enabled by Azure Arc は、最新の SQL Server エンジンとほぼ 100% の互換性を持ちます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オンプレミス、エッジ、パブリッククラウド上の Kubernetes で実行されます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データ主権を維持しながら、既存の SQL Server アプリケーションを最小限の変更でリフト＆シフトできます</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2743200"/>
          <a:ext cx="10332720" cy="914400"/>
        </p:xfrm>
        <a:graphic>
          <a:graphicData uri="http://schemas.openxmlformats.org/drawingml/2006/table">
            <a:tbl>
              <a:tblPr/>
              <a:tblGrid>
                <a:gridCol w="3017520"/>
                <a:gridCol w="3657600"/>
                <a:gridCol w="3657600"/>
              </a:tblGrid>
              <a:tr h="411480">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項目</a:t>
                      </a:r>
                      <a:endParaRPr lang="en-US" sz="1000" dirty="0">
                        <a:latin typeface="Meiryo UI" charset="0"/>
                        <a:ea typeface="Meiryo UI" charset="0"/>
                        <a:cs typeface="Meiryo U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General Purpose</a:t>
                      </a:r>
                      <a:endParaRPr lang="en-US" sz="1000" dirty="0">
                        <a:latin typeface="Meiryo UI" charset="0"/>
                        <a:ea typeface="Meiryo UI" charset="0"/>
                        <a:cs typeface="Meiryo U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Business Critical</a:t>
                      </a:r>
                      <a:endParaRPr lang="en-US" sz="1000" dirty="0">
                        <a:latin typeface="Meiryo UI" charset="0"/>
                        <a:ea typeface="Meiryo UI" charset="0"/>
                        <a:cs typeface="Meiryo U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SQL 機能</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Standard Edition 相当</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Enterprise Edition 相当</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CPU 制限</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24 コア</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b="1" dirty="0">
                          <a:solidFill>
                            <a:srgbClr val="000000"/>
                          </a:solidFill>
                          <a:latin typeface="Meiryo UI" pitchFamily="34" charset="0"/>
                          <a:ea typeface="Meiryo UI" pitchFamily="34" charset="-122"/>
                          <a:cs typeface="Meiryo UI" pitchFamily="34" charset="-120"/>
                        </a:rPr>
                        <a:t>無制限</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メモリ制限</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128 GB</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b="1" dirty="0">
                          <a:solidFill>
                            <a:srgbClr val="000000"/>
                          </a:solidFill>
                          <a:latin typeface="Meiryo UI" pitchFamily="34" charset="0"/>
                          <a:ea typeface="Meiryo UI" pitchFamily="34" charset="-122"/>
                          <a:cs typeface="Meiryo UI" pitchFamily="34" charset="-120"/>
                        </a:rPr>
                        <a:t>無制限</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高可用性</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K8s 再デプロイ ＋ 共有ストレージ</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b="1" dirty="0">
                          <a:solidFill>
                            <a:srgbClr val="000000"/>
                          </a:solidFill>
                          <a:latin typeface="Meiryo UI" pitchFamily="34" charset="0"/>
                          <a:ea typeface="Meiryo UI" pitchFamily="34" charset="-122"/>
                          <a:cs typeface="Meiryo UI" pitchFamily="34" charset="-120"/>
                        </a:rPr>
                        <a:t>包含可用性グループ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読み取りスケールアウト</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なし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b="1" dirty="0">
                          <a:solidFill>
                            <a:srgbClr val="000000"/>
                          </a:solidFill>
                          <a:latin typeface="Meiryo UI" pitchFamily="34" charset="0"/>
                          <a:ea typeface="Meiryo UI" pitchFamily="34" charset="-122"/>
                          <a:cs typeface="Meiryo UI" pitchFamily="34" charset="-120"/>
                        </a:rPr>
                        <a:t>可用性グループ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ディザスター リカバリー</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フェールオーバーグループ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フェールオーバーグループ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Shape 4"/>
          <p:cNvSpPr/>
          <p:nvPr/>
        </p:nvSpPr>
        <p:spPr>
          <a:xfrm>
            <a:off x="914400" y="5760720"/>
            <a:ext cx="10332720" cy="640080"/>
          </a:xfrm>
          <a:prstGeom prst="roundRect">
            <a:avLst>
              <a:gd name="adj" fmla="val 14286"/>
            </a:avLst>
          </a:prstGeom>
          <a:solidFill>
            <a:srgbClr val="FFF4CE"/>
          </a:solidFill>
          <a:ln w="12700">
            <a:solidFill>
              <a:srgbClr val="FF8C00"/>
            </a:solidFill>
            <a:prstDash val="solid"/>
          </a:ln>
        </p:spPr>
      </p:sp>
      <p:sp>
        <p:nvSpPr>
          <p:cNvPr id="8" name="Text 5"/>
          <p:cNvSpPr/>
          <p:nvPr/>
        </p:nvSpPr>
        <p:spPr>
          <a:xfrm>
            <a:off x="1097280" y="5760720"/>
            <a:ext cx="9966960" cy="64008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  Azure Arc 対応 PostgreSQL サーバーは 2025 年 7 月に廃止されました。代替として Azure Database for PostgreSQL - Flexible Server の利用が推奨されています。</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サービスとの連携</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6 / 9</a:t>
            </a:r>
            <a:endParaRPr lang="en-US" sz="900" dirty="0"/>
          </a:p>
        </p:txBody>
      </p:sp>
      <p:sp>
        <p:nvSpPr>
          <p:cNvPr id="5" name="Shape 3"/>
          <p:cNvSpPr/>
          <p:nvPr/>
        </p:nvSpPr>
        <p:spPr>
          <a:xfrm>
            <a:off x="4480560" y="3200400"/>
            <a:ext cx="3200400" cy="1097280"/>
          </a:xfrm>
          <a:prstGeom prst="roundRect">
            <a:avLst>
              <a:gd name="adj" fmla="val 12500"/>
            </a:avLst>
          </a:prstGeom>
          <a:solidFill>
            <a:srgbClr val="0078D4"/>
          </a:solidFill>
          <a:ln/>
        </p:spPr>
      </p:sp>
      <p:sp>
        <p:nvSpPr>
          <p:cNvPr id="6" name="Text 4"/>
          <p:cNvSpPr/>
          <p:nvPr/>
        </p:nvSpPr>
        <p:spPr>
          <a:xfrm>
            <a:off x="4480560" y="3200400"/>
            <a:ext cx="3200400" cy="1097280"/>
          </a:xfrm>
          <a:prstGeom prst="rect">
            <a:avLst/>
          </a:prstGeom>
          <a:noFill/>
          <a:ln/>
        </p:spPr>
        <p:txBody>
          <a:bodyPr wrap="square" rtlCol="0" anchor="ctr"/>
          <a:lstStyle/>
          <a:p>
            <a:pPr algn="ctr" indent="0" marL="0">
              <a:buNone/>
            </a:pPr>
            <a:r>
              <a:rPr lang="en-US" sz="1800" b="1" dirty="0">
                <a:solidFill>
                  <a:srgbClr val="FFFFFF"/>
                </a:solidFill>
                <a:latin typeface="Meiryo UI" pitchFamily="34" charset="0"/>
                <a:ea typeface="Meiryo UI" pitchFamily="34" charset="-122"/>
                <a:cs typeface="Meiryo UI" pitchFamily="34" charset="-120"/>
              </a:rPr>
              <a:t>Azure Arc</a:t>
            </a:r>
            <a:endParaRPr lang="en-US" sz="1800" dirty="0"/>
          </a:p>
        </p:txBody>
      </p:sp>
      <p:sp>
        <p:nvSpPr>
          <p:cNvPr id="7" name="Shape 5"/>
          <p:cNvSpPr/>
          <p:nvPr/>
        </p:nvSpPr>
        <p:spPr>
          <a:xfrm>
            <a:off x="457200" y="1188720"/>
            <a:ext cx="3474720" cy="1371600"/>
          </a:xfrm>
          <a:prstGeom prst="roundRect">
            <a:avLst>
              <a:gd name="adj" fmla="val 8000"/>
            </a:avLst>
          </a:prstGeom>
          <a:solidFill>
            <a:srgbClr val="F3F2F1"/>
          </a:solidFill>
          <a:ln w="19050">
            <a:solidFill>
              <a:srgbClr val="0078D4"/>
            </a:solidFill>
            <a:prstDash val="solid"/>
          </a:ln>
        </p:spPr>
      </p:sp>
      <p:sp>
        <p:nvSpPr>
          <p:cNvPr id="8" name="Text 6"/>
          <p:cNvSpPr/>
          <p:nvPr/>
        </p:nvSpPr>
        <p:spPr>
          <a:xfrm>
            <a:off x="548640" y="1261872"/>
            <a:ext cx="3291840" cy="41148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Azure Policy</a:t>
            </a:r>
            <a:endParaRPr lang="en-US" sz="1200" dirty="0"/>
          </a:p>
        </p:txBody>
      </p:sp>
      <p:sp>
        <p:nvSpPr>
          <p:cNvPr id="9" name="Text 7"/>
          <p:cNvSpPr/>
          <p:nvPr/>
        </p:nvSpPr>
        <p:spPr>
          <a:xfrm>
            <a:off x="548640" y="17373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ガバナンスとコンプライアンスの</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統一管理を行います</a:t>
            </a:r>
            <a:endParaRPr lang="en-US" sz="1000" dirty="0"/>
          </a:p>
        </p:txBody>
      </p:sp>
      <p:sp>
        <p:nvSpPr>
          <p:cNvPr id="10" name="Shape 8"/>
          <p:cNvSpPr/>
          <p:nvPr/>
        </p:nvSpPr>
        <p:spPr>
          <a:xfrm>
            <a:off x="4297680" y="1188720"/>
            <a:ext cx="3474720" cy="1371600"/>
          </a:xfrm>
          <a:prstGeom prst="roundRect">
            <a:avLst>
              <a:gd name="adj" fmla="val 8000"/>
            </a:avLst>
          </a:prstGeom>
          <a:solidFill>
            <a:srgbClr val="F3F2F1"/>
          </a:solidFill>
          <a:ln w="19050">
            <a:solidFill>
              <a:srgbClr val="107C10"/>
            </a:solidFill>
            <a:prstDash val="solid"/>
          </a:ln>
        </p:spPr>
      </p:sp>
      <p:sp>
        <p:nvSpPr>
          <p:cNvPr id="11" name="Text 9"/>
          <p:cNvSpPr/>
          <p:nvPr/>
        </p:nvSpPr>
        <p:spPr>
          <a:xfrm>
            <a:off x="4389120" y="1261872"/>
            <a:ext cx="3291840" cy="411480"/>
          </a:xfrm>
          <a:prstGeom prst="rect">
            <a:avLst/>
          </a:prstGeom>
          <a:noFill/>
          <a:ln/>
        </p:spPr>
        <p:txBody>
          <a:bodyPr wrap="square" rtlCol="0" anchor="ctr"/>
          <a:lstStyle/>
          <a:p>
            <a:pPr algn="ctr" indent="0" marL="0">
              <a:buNone/>
            </a:pPr>
            <a:r>
              <a:rPr lang="en-US" sz="1200" b="1" dirty="0">
                <a:solidFill>
                  <a:srgbClr val="107C10"/>
                </a:solidFill>
                <a:latin typeface="Meiryo UI" pitchFamily="34" charset="0"/>
                <a:ea typeface="Meiryo UI" pitchFamily="34" charset="-122"/>
                <a:cs typeface="Meiryo UI" pitchFamily="34" charset="-120"/>
              </a:rPr>
              <a:t>📊  Azure Monitor</a:t>
            </a:r>
            <a:endParaRPr lang="en-US" sz="1200" dirty="0"/>
          </a:p>
        </p:txBody>
      </p:sp>
      <p:sp>
        <p:nvSpPr>
          <p:cNvPr id="12" name="Text 10"/>
          <p:cNvSpPr/>
          <p:nvPr/>
        </p:nvSpPr>
        <p:spPr>
          <a:xfrm>
            <a:off x="4389120" y="17373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ログ・メトリクス・トレースを</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統合的に収集します</a:t>
            </a:r>
            <a:endParaRPr lang="en-US" sz="1000" dirty="0"/>
          </a:p>
        </p:txBody>
      </p:sp>
      <p:sp>
        <p:nvSpPr>
          <p:cNvPr id="13" name="Shape 11"/>
          <p:cNvSpPr/>
          <p:nvPr/>
        </p:nvSpPr>
        <p:spPr>
          <a:xfrm>
            <a:off x="8138160" y="1188720"/>
            <a:ext cx="3474720" cy="1371600"/>
          </a:xfrm>
          <a:prstGeom prst="roundRect">
            <a:avLst>
              <a:gd name="adj" fmla="val 8000"/>
            </a:avLst>
          </a:prstGeom>
          <a:solidFill>
            <a:srgbClr val="F3F2F1"/>
          </a:solidFill>
          <a:ln w="19050">
            <a:solidFill>
              <a:srgbClr val="D13438"/>
            </a:solidFill>
            <a:prstDash val="solid"/>
          </a:ln>
        </p:spPr>
      </p:sp>
      <p:sp>
        <p:nvSpPr>
          <p:cNvPr id="14" name="Text 12"/>
          <p:cNvSpPr/>
          <p:nvPr/>
        </p:nvSpPr>
        <p:spPr>
          <a:xfrm>
            <a:off x="8229600" y="1261872"/>
            <a:ext cx="3291840" cy="411480"/>
          </a:xfrm>
          <a:prstGeom prst="rect">
            <a:avLst/>
          </a:prstGeom>
          <a:noFill/>
          <a:ln/>
        </p:spPr>
        <p:txBody>
          <a:bodyPr wrap="square" rtlCol="0" anchor="ctr"/>
          <a:lstStyle/>
          <a:p>
            <a:pPr algn="ctr" indent="0" marL="0">
              <a:buNone/>
            </a:pPr>
            <a:r>
              <a:rPr lang="en-US" sz="1200" b="1" dirty="0">
                <a:solidFill>
                  <a:srgbClr val="D13438"/>
                </a:solidFill>
                <a:latin typeface="Meiryo UI" pitchFamily="34" charset="0"/>
                <a:ea typeface="Meiryo UI" pitchFamily="34" charset="-122"/>
                <a:cs typeface="Meiryo UI" pitchFamily="34" charset="-120"/>
              </a:rPr>
              <a:t>🛡️  Defender for Cloud</a:t>
            </a:r>
            <a:endParaRPr lang="en-US" sz="1200" dirty="0"/>
          </a:p>
        </p:txBody>
      </p:sp>
      <p:sp>
        <p:nvSpPr>
          <p:cNvPr id="15" name="Text 13"/>
          <p:cNvSpPr/>
          <p:nvPr/>
        </p:nvSpPr>
        <p:spPr>
          <a:xfrm>
            <a:off x="8229600" y="17373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脆弱性評価・脅威保護</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セキュリティ推奨事項を提供します</a:t>
            </a:r>
            <a:endParaRPr lang="en-US" sz="1000" dirty="0"/>
          </a:p>
        </p:txBody>
      </p:sp>
      <p:sp>
        <p:nvSpPr>
          <p:cNvPr id="16" name="Shape 14"/>
          <p:cNvSpPr/>
          <p:nvPr/>
        </p:nvSpPr>
        <p:spPr>
          <a:xfrm>
            <a:off x="457200" y="4846320"/>
            <a:ext cx="3474720" cy="1371600"/>
          </a:xfrm>
          <a:prstGeom prst="roundRect">
            <a:avLst>
              <a:gd name="adj" fmla="val 8000"/>
            </a:avLst>
          </a:prstGeom>
          <a:solidFill>
            <a:srgbClr val="F3F2F1"/>
          </a:solidFill>
          <a:ln w="19050">
            <a:solidFill>
              <a:srgbClr val="FF8C00"/>
            </a:solidFill>
            <a:prstDash val="solid"/>
          </a:ln>
        </p:spPr>
      </p:sp>
      <p:sp>
        <p:nvSpPr>
          <p:cNvPr id="17" name="Text 15"/>
          <p:cNvSpPr/>
          <p:nvPr/>
        </p:nvSpPr>
        <p:spPr>
          <a:xfrm>
            <a:off x="548640" y="4919472"/>
            <a:ext cx="3291840" cy="411480"/>
          </a:xfrm>
          <a:prstGeom prst="rect">
            <a:avLst/>
          </a:prstGeom>
          <a:noFill/>
          <a:ln/>
        </p:spPr>
        <p:txBody>
          <a:bodyPr wrap="square" rtlCol="0" anchor="ctr"/>
          <a:lstStyle/>
          <a:p>
            <a:pPr algn="ctr" indent="0" marL="0">
              <a:buNone/>
            </a:pPr>
            <a:r>
              <a:rPr lang="en-US" sz="1200" b="1" dirty="0">
                <a:solidFill>
                  <a:srgbClr val="FF8C00"/>
                </a:solidFill>
                <a:latin typeface="Meiryo UI" pitchFamily="34" charset="0"/>
                <a:ea typeface="Meiryo UI" pitchFamily="34" charset="-122"/>
                <a:cs typeface="Meiryo UI" pitchFamily="34" charset="-120"/>
              </a:rPr>
              <a:t>⚙️  Azure Automation</a:t>
            </a:r>
            <a:endParaRPr lang="en-US" sz="1200" dirty="0"/>
          </a:p>
        </p:txBody>
      </p:sp>
      <p:sp>
        <p:nvSpPr>
          <p:cNvPr id="18" name="Text 16"/>
          <p:cNvSpPr/>
          <p:nvPr/>
        </p:nvSpPr>
        <p:spPr>
          <a:xfrm>
            <a:off x="548640" y="53949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Update Management / DSC</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変更追跡を適用します</a:t>
            </a:r>
            <a:endParaRPr lang="en-US" sz="1000" dirty="0"/>
          </a:p>
        </p:txBody>
      </p:sp>
      <p:sp>
        <p:nvSpPr>
          <p:cNvPr id="19" name="Shape 17"/>
          <p:cNvSpPr/>
          <p:nvPr/>
        </p:nvSpPr>
        <p:spPr>
          <a:xfrm>
            <a:off x="8138160" y="4846320"/>
            <a:ext cx="3474720" cy="1371600"/>
          </a:xfrm>
          <a:prstGeom prst="roundRect">
            <a:avLst>
              <a:gd name="adj" fmla="val 8000"/>
            </a:avLst>
          </a:prstGeom>
          <a:solidFill>
            <a:srgbClr val="F3F2F1"/>
          </a:solidFill>
          <a:ln w="19050">
            <a:solidFill>
              <a:srgbClr val="5C2D91"/>
            </a:solidFill>
            <a:prstDash val="solid"/>
          </a:ln>
        </p:spPr>
      </p:sp>
      <p:sp>
        <p:nvSpPr>
          <p:cNvPr id="20" name="Text 18"/>
          <p:cNvSpPr/>
          <p:nvPr/>
        </p:nvSpPr>
        <p:spPr>
          <a:xfrm>
            <a:off x="8229600" y="4919472"/>
            <a:ext cx="3291840" cy="411480"/>
          </a:xfrm>
          <a:prstGeom prst="rect">
            <a:avLst/>
          </a:prstGeom>
          <a:noFill/>
          <a:ln/>
        </p:spPr>
        <p:txBody>
          <a:bodyPr wrap="square" rtlCol="0" anchor="ctr"/>
          <a:lstStyle/>
          <a:p>
            <a:pPr algn="ctr" indent="0" marL="0">
              <a:buNone/>
            </a:pPr>
            <a:r>
              <a:rPr lang="en-US" sz="1200" b="1" dirty="0">
                <a:solidFill>
                  <a:srgbClr val="5C2D91"/>
                </a:solidFill>
                <a:latin typeface="Meiryo UI" pitchFamily="34" charset="0"/>
                <a:ea typeface="Meiryo UI" pitchFamily="34" charset="-122"/>
                <a:cs typeface="Meiryo UI" pitchFamily="34" charset="-120"/>
              </a:rPr>
              <a:t>🔌  VM 拡張機能</a:t>
            </a:r>
            <a:endParaRPr lang="en-US" sz="1200" dirty="0"/>
          </a:p>
        </p:txBody>
      </p:sp>
      <p:sp>
        <p:nvSpPr>
          <p:cNvPr id="21" name="Text 19"/>
          <p:cNvSpPr/>
          <p:nvPr/>
        </p:nvSpPr>
        <p:spPr>
          <a:xfrm>
            <a:off x="8229600" y="53949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Custom Script Extension</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Monitor Agent 等</a:t>
            </a:r>
            <a:endParaRPr lang="en-US" sz="1000" dirty="0"/>
          </a:p>
        </p:txBody>
      </p:sp>
      <p:sp>
        <p:nvSpPr>
          <p:cNvPr id="22" name="Text 20"/>
          <p:cNvSpPr/>
          <p:nvPr/>
        </p:nvSpPr>
        <p:spPr>
          <a:xfrm>
            <a:off x="1828800" y="2331720"/>
            <a:ext cx="457200" cy="731520"/>
          </a:xfrm>
          <a:prstGeom prst="rect">
            <a:avLst/>
          </a:prstGeom>
          <a:noFill/>
          <a:ln/>
        </p:spPr>
        <p:txBody>
          <a:bodyPr wrap="square" rtlCol="0" anchor="ctr"/>
          <a:lstStyle/>
          <a:p>
            <a:pPr algn="ctr" indent="0" marL="0">
              <a:buNone/>
            </a:pPr>
            <a:r>
              <a:rPr lang="en-US" sz="1800" dirty="0">
                <a:solidFill>
                  <a:srgbClr val="0078D4"/>
                </a:solidFill>
                <a:latin typeface="Meiryo UI" pitchFamily="34" charset="0"/>
                <a:ea typeface="Meiryo UI" pitchFamily="34" charset="-122"/>
                <a:cs typeface="Meiryo UI" pitchFamily="34" charset="-120"/>
              </a:rPr>
              <a:t>↕</a:t>
            </a:r>
            <a:endParaRPr lang="en-US" sz="1800" dirty="0"/>
          </a:p>
        </p:txBody>
      </p:sp>
      <p:sp>
        <p:nvSpPr>
          <p:cNvPr id="23" name="Text 21"/>
          <p:cNvSpPr/>
          <p:nvPr/>
        </p:nvSpPr>
        <p:spPr>
          <a:xfrm>
            <a:off x="5760720" y="2331720"/>
            <a:ext cx="457200" cy="731520"/>
          </a:xfrm>
          <a:prstGeom prst="rect">
            <a:avLst/>
          </a:prstGeom>
          <a:noFill/>
          <a:ln/>
        </p:spPr>
        <p:txBody>
          <a:bodyPr wrap="square" rtlCol="0" anchor="ctr"/>
          <a:lstStyle/>
          <a:p>
            <a:pPr algn="ctr" indent="0" marL="0">
              <a:buNone/>
            </a:pPr>
            <a:r>
              <a:rPr lang="en-US" sz="1800" dirty="0">
                <a:solidFill>
                  <a:srgbClr val="107C10"/>
                </a:solidFill>
                <a:latin typeface="Meiryo UI" pitchFamily="34" charset="0"/>
                <a:ea typeface="Meiryo UI" pitchFamily="34" charset="-122"/>
                <a:cs typeface="Meiryo UI" pitchFamily="34" charset="-120"/>
              </a:rPr>
              <a:t>↕</a:t>
            </a:r>
            <a:endParaRPr lang="en-US" sz="1800" dirty="0"/>
          </a:p>
        </p:txBody>
      </p:sp>
      <p:sp>
        <p:nvSpPr>
          <p:cNvPr id="24" name="Text 22"/>
          <p:cNvSpPr/>
          <p:nvPr/>
        </p:nvSpPr>
        <p:spPr>
          <a:xfrm>
            <a:off x="9601200" y="2331720"/>
            <a:ext cx="457200" cy="731520"/>
          </a:xfrm>
          <a:prstGeom prst="rect">
            <a:avLst/>
          </a:prstGeom>
          <a:noFill/>
          <a:ln/>
        </p:spPr>
        <p:txBody>
          <a:bodyPr wrap="square" rtlCol="0" anchor="ctr"/>
          <a:lstStyle/>
          <a:p>
            <a:pPr algn="ctr" indent="0" marL="0">
              <a:buNone/>
            </a:pPr>
            <a:r>
              <a:rPr lang="en-US" sz="1800" dirty="0">
                <a:solidFill>
                  <a:srgbClr val="D13438"/>
                </a:solidFill>
                <a:latin typeface="Meiryo UI" pitchFamily="34" charset="0"/>
                <a:ea typeface="Meiryo UI" pitchFamily="34" charset="-122"/>
                <a:cs typeface="Meiryo UI" pitchFamily="34" charset="-120"/>
              </a:rPr>
              <a:t>↕</a:t>
            </a:r>
            <a:endParaRPr lang="en-US" sz="1800" dirty="0"/>
          </a:p>
        </p:txBody>
      </p:sp>
      <p:sp>
        <p:nvSpPr>
          <p:cNvPr id="25" name="Text 23"/>
          <p:cNvSpPr/>
          <p:nvPr/>
        </p:nvSpPr>
        <p:spPr>
          <a:xfrm>
            <a:off x="1828800" y="4251960"/>
            <a:ext cx="457200" cy="731520"/>
          </a:xfrm>
          <a:prstGeom prst="rect">
            <a:avLst/>
          </a:prstGeom>
          <a:noFill/>
          <a:ln/>
        </p:spPr>
        <p:txBody>
          <a:bodyPr wrap="square" rtlCol="0" anchor="ctr"/>
          <a:lstStyle/>
          <a:p>
            <a:pPr algn="ctr" indent="0" marL="0">
              <a:buNone/>
            </a:pPr>
            <a:r>
              <a:rPr lang="en-US" sz="1800" dirty="0">
                <a:solidFill>
                  <a:srgbClr val="FF8C00"/>
                </a:solidFill>
                <a:latin typeface="Meiryo UI" pitchFamily="34" charset="0"/>
                <a:ea typeface="Meiryo UI" pitchFamily="34" charset="-122"/>
                <a:cs typeface="Meiryo UI" pitchFamily="34" charset="-120"/>
              </a:rPr>
              <a:t>↕</a:t>
            </a:r>
            <a:endParaRPr lang="en-US" sz="1800" dirty="0"/>
          </a:p>
        </p:txBody>
      </p:sp>
      <p:sp>
        <p:nvSpPr>
          <p:cNvPr id="26" name="Text 24"/>
          <p:cNvSpPr/>
          <p:nvPr/>
        </p:nvSpPr>
        <p:spPr>
          <a:xfrm>
            <a:off x="9601200" y="4251960"/>
            <a:ext cx="457200" cy="731520"/>
          </a:xfrm>
          <a:prstGeom prst="rect">
            <a:avLst/>
          </a:prstGeom>
          <a:noFill/>
          <a:ln/>
        </p:spPr>
        <p:txBody>
          <a:bodyPr wrap="square" rtlCol="0" anchor="ctr"/>
          <a:lstStyle/>
          <a:p>
            <a:pPr algn="ctr" indent="0" marL="0">
              <a:buNone/>
            </a:pPr>
            <a:r>
              <a:rPr lang="en-US" sz="1800" dirty="0">
                <a:solidFill>
                  <a:srgbClr val="5C2D91"/>
                </a:solidFill>
                <a:latin typeface="Meiryo UI" pitchFamily="34" charset="0"/>
                <a:ea typeface="Meiryo UI" pitchFamily="34" charset="-122"/>
                <a:cs typeface="Meiryo UI" pitchFamily="34" charset="-120"/>
              </a:rPr>
              <a: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セキュリティとガバナンス</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7 / 9</a:t>
            </a:r>
            <a:endParaRPr lang="en-US" sz="900" dirty="0"/>
          </a:p>
        </p:txBody>
      </p:sp>
      <p:sp>
        <p:nvSpPr>
          <p:cNvPr id="5" name="Shape 3"/>
          <p:cNvSpPr/>
          <p:nvPr/>
        </p:nvSpPr>
        <p:spPr>
          <a:xfrm>
            <a:off x="822960" y="1280160"/>
            <a:ext cx="10515600" cy="1143000"/>
          </a:xfrm>
          <a:prstGeom prst="roundRect">
            <a:avLst>
              <a:gd name="adj" fmla="val 8000"/>
            </a:avLst>
          </a:prstGeom>
          <a:solidFill>
            <a:srgbClr val="F3F2F1"/>
          </a:solidFill>
          <a:ln w="25400">
            <a:solidFill>
              <a:srgbClr val="0078D4"/>
            </a:solidFill>
            <a:prstDash val="solid"/>
          </a:ln>
        </p:spPr>
      </p:sp>
      <p:sp>
        <p:nvSpPr>
          <p:cNvPr id="6" name="Shape 4"/>
          <p:cNvSpPr/>
          <p:nvPr/>
        </p:nvSpPr>
        <p:spPr>
          <a:xfrm>
            <a:off x="914400" y="1353312"/>
            <a:ext cx="10332720" cy="347472"/>
          </a:xfrm>
          <a:prstGeom prst="roundRect">
            <a:avLst>
              <a:gd name="adj" fmla="val 15789"/>
            </a:avLst>
          </a:prstGeom>
          <a:solidFill>
            <a:srgbClr val="0078D4"/>
          </a:solidFill>
          <a:ln/>
        </p:spPr>
      </p:sp>
      <p:sp>
        <p:nvSpPr>
          <p:cNvPr id="7" name="Text 5"/>
          <p:cNvSpPr/>
          <p:nvPr/>
        </p:nvSpPr>
        <p:spPr>
          <a:xfrm>
            <a:off x="960120" y="1353312"/>
            <a:ext cx="10241280" cy="347472"/>
          </a:xfrm>
          <a:prstGeom prst="rect">
            <a:avLst/>
          </a:prstGeom>
          <a:noFill/>
          <a:ln/>
        </p:spPr>
        <p:txBody>
          <a:bodyPr wrap="square"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 マネージド ID（Managed Identity）</a:t>
            </a:r>
            <a:endParaRPr lang="en-US" sz="1200" dirty="0"/>
          </a:p>
        </p:txBody>
      </p:sp>
      <p:sp>
        <p:nvSpPr>
          <p:cNvPr id="8" name="Text 6"/>
          <p:cNvSpPr/>
          <p:nvPr/>
        </p:nvSpPr>
        <p:spPr>
          <a:xfrm>
            <a:off x="1051560" y="1737360"/>
            <a:ext cx="10058400" cy="594360"/>
          </a:xfrm>
          <a:prstGeom prst="rect">
            <a:avLst/>
          </a:prstGeom>
          <a:noFill/>
          <a:ln/>
        </p:spPr>
        <p:txBody>
          <a:bodyPr wrap="square" rtlCol="0" anchor="t"/>
          <a:lstStyle/>
          <a:p>
            <a:pPr indent="0" marL="0">
              <a:buNone/>
            </a:pPr>
            <a:r>
              <a:rPr lang="en-US" sz="1000" dirty="0">
                <a:solidFill>
                  <a:srgbClr val="000000"/>
                </a:solidFill>
                <a:latin typeface="Meiryo UI" pitchFamily="34" charset="0"/>
                <a:ea typeface="Meiryo UI" pitchFamily="34" charset="-122"/>
                <a:cs typeface="Meiryo UI" pitchFamily="34" charset="-120"/>
              </a:rPr>
              <a:t>・Connected Machine Agent インストール時にシステムマネージド ID を自動作成します</a:t>
            </a:r>
            <a:endParaRPr lang="en-US" sz="1000" dirty="0"/>
          </a:p>
          <a:p>
            <a:pPr indent="0" marL="0">
              <a:buNone/>
            </a:pPr>
            <a:r>
              <a:rPr lang="en-US" sz="1000" dirty="0">
                <a:solidFill>
                  <a:srgbClr val="000000"/>
                </a:solidFill>
                <a:latin typeface="Meiryo UI" pitchFamily="34" charset="0"/>
                <a:ea typeface="Meiryo UI" pitchFamily="34" charset="-122"/>
                <a:cs typeface="Meiryo UI" pitchFamily="34" charset="-120"/>
              </a:rPr>
              <a:t>・Azure サービスへのセキュアな認証を実現します（ワークスペース ID やキーは不要です）</a:t>
            </a:r>
            <a:endParaRPr lang="en-US" sz="1000" dirty="0"/>
          </a:p>
        </p:txBody>
      </p:sp>
      <p:sp>
        <p:nvSpPr>
          <p:cNvPr id="9" name="Shape 7"/>
          <p:cNvSpPr/>
          <p:nvPr/>
        </p:nvSpPr>
        <p:spPr>
          <a:xfrm>
            <a:off x="822960" y="2560320"/>
            <a:ext cx="10515600" cy="1143000"/>
          </a:xfrm>
          <a:prstGeom prst="roundRect">
            <a:avLst>
              <a:gd name="adj" fmla="val 8000"/>
            </a:avLst>
          </a:prstGeom>
          <a:solidFill>
            <a:srgbClr val="F3F2F1"/>
          </a:solidFill>
          <a:ln w="25400">
            <a:solidFill>
              <a:srgbClr val="107C10"/>
            </a:solidFill>
            <a:prstDash val="solid"/>
          </a:ln>
        </p:spPr>
      </p:sp>
      <p:sp>
        <p:nvSpPr>
          <p:cNvPr id="10" name="Shape 8"/>
          <p:cNvSpPr/>
          <p:nvPr/>
        </p:nvSpPr>
        <p:spPr>
          <a:xfrm>
            <a:off x="914400" y="2633472"/>
            <a:ext cx="10332720" cy="347472"/>
          </a:xfrm>
          <a:prstGeom prst="roundRect">
            <a:avLst>
              <a:gd name="adj" fmla="val 15789"/>
            </a:avLst>
          </a:prstGeom>
          <a:solidFill>
            <a:srgbClr val="107C10"/>
          </a:solidFill>
          <a:ln/>
        </p:spPr>
      </p:sp>
      <p:sp>
        <p:nvSpPr>
          <p:cNvPr id="11" name="Text 9"/>
          <p:cNvSpPr/>
          <p:nvPr/>
        </p:nvSpPr>
        <p:spPr>
          <a:xfrm>
            <a:off x="960120" y="2633472"/>
            <a:ext cx="10241280" cy="347472"/>
          </a:xfrm>
          <a:prstGeom prst="rect">
            <a:avLst/>
          </a:prstGeom>
          <a:noFill/>
          <a:ln/>
        </p:spPr>
        <p:txBody>
          <a:bodyPr wrap="square"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 Azure RBAC（ロールベースアクセス制御）</a:t>
            </a:r>
            <a:endParaRPr lang="en-US" sz="1200" dirty="0"/>
          </a:p>
        </p:txBody>
      </p:sp>
      <p:sp>
        <p:nvSpPr>
          <p:cNvPr id="12" name="Text 10"/>
          <p:cNvSpPr/>
          <p:nvPr/>
        </p:nvSpPr>
        <p:spPr>
          <a:xfrm>
            <a:off x="1051560" y="3017520"/>
            <a:ext cx="10058400" cy="594360"/>
          </a:xfrm>
          <a:prstGeom prst="rect">
            <a:avLst/>
          </a:prstGeom>
          <a:noFill/>
          <a:ln/>
        </p:spPr>
        <p:txBody>
          <a:bodyPr wrap="square" rtlCol="0" anchor="t"/>
          <a:lstStyle/>
          <a:p>
            <a:pPr indent="0" marL="0">
              <a:buNone/>
            </a:pPr>
            <a:r>
              <a:rPr lang="en-US" sz="1000" dirty="0">
                <a:solidFill>
                  <a:srgbClr val="000000"/>
                </a:solidFill>
                <a:latin typeface="Meiryo UI" pitchFamily="34" charset="0"/>
                <a:ea typeface="Meiryo UI" pitchFamily="34" charset="-122"/>
                <a:cs typeface="Meiryo UI" pitchFamily="34" charset="-120"/>
              </a:rPr>
              <a:t>・Arc 対応リソースにきめ細かなアクセス制御を適用できます</a:t>
            </a:r>
            <a:endParaRPr lang="en-US" sz="1000" dirty="0"/>
          </a:p>
          <a:p>
            <a:pPr indent="0" marL="0">
              <a:buNone/>
            </a:pPr>
            <a:r>
              <a:rPr lang="en-US" sz="1000" dirty="0">
                <a:solidFill>
                  <a:srgbClr val="000000"/>
                </a:solidFill>
                <a:latin typeface="Meiryo UI" pitchFamily="34" charset="0"/>
                <a:ea typeface="Meiryo UI" pitchFamily="34" charset="-122"/>
                <a:cs typeface="Meiryo UI" pitchFamily="34" charset="-120"/>
              </a:rPr>
              <a:t>・Arc 対応 Kubernetes では K8s クラスターへの RBAC 管理もサポートしています</a:t>
            </a:r>
            <a:endParaRPr lang="en-US" sz="1000" dirty="0"/>
          </a:p>
        </p:txBody>
      </p:sp>
      <p:sp>
        <p:nvSpPr>
          <p:cNvPr id="13" name="Shape 11"/>
          <p:cNvSpPr/>
          <p:nvPr/>
        </p:nvSpPr>
        <p:spPr>
          <a:xfrm>
            <a:off x="822960" y="3840480"/>
            <a:ext cx="10515600" cy="1143000"/>
          </a:xfrm>
          <a:prstGeom prst="roundRect">
            <a:avLst>
              <a:gd name="adj" fmla="val 8000"/>
            </a:avLst>
          </a:prstGeom>
          <a:solidFill>
            <a:srgbClr val="F3F2F1"/>
          </a:solidFill>
          <a:ln w="25400">
            <a:solidFill>
              <a:srgbClr val="FF8C00"/>
            </a:solidFill>
            <a:prstDash val="solid"/>
          </a:ln>
        </p:spPr>
      </p:sp>
      <p:sp>
        <p:nvSpPr>
          <p:cNvPr id="14" name="Shape 12"/>
          <p:cNvSpPr/>
          <p:nvPr/>
        </p:nvSpPr>
        <p:spPr>
          <a:xfrm>
            <a:off x="914400" y="3913632"/>
            <a:ext cx="10332720" cy="347472"/>
          </a:xfrm>
          <a:prstGeom prst="roundRect">
            <a:avLst>
              <a:gd name="adj" fmla="val 15789"/>
            </a:avLst>
          </a:prstGeom>
          <a:solidFill>
            <a:srgbClr val="FF8C00"/>
          </a:solidFill>
          <a:ln/>
        </p:spPr>
      </p:sp>
      <p:sp>
        <p:nvSpPr>
          <p:cNvPr id="15" name="Text 13"/>
          <p:cNvSpPr/>
          <p:nvPr/>
        </p:nvSpPr>
        <p:spPr>
          <a:xfrm>
            <a:off x="960120" y="3913632"/>
            <a:ext cx="10241280" cy="347472"/>
          </a:xfrm>
          <a:prstGeom prst="rect">
            <a:avLst/>
          </a:prstGeom>
          <a:noFill/>
          <a:ln/>
        </p:spPr>
        <p:txBody>
          <a:bodyPr wrap="square"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 Azure Policy</a:t>
            </a:r>
            <a:endParaRPr lang="en-US" sz="1200" dirty="0"/>
          </a:p>
        </p:txBody>
      </p:sp>
      <p:sp>
        <p:nvSpPr>
          <p:cNvPr id="16" name="Text 14"/>
          <p:cNvSpPr/>
          <p:nvPr/>
        </p:nvSpPr>
        <p:spPr>
          <a:xfrm>
            <a:off x="1051560" y="4297680"/>
            <a:ext cx="10058400" cy="594360"/>
          </a:xfrm>
          <a:prstGeom prst="rect">
            <a:avLst/>
          </a:prstGeom>
          <a:noFill/>
          <a:ln/>
        </p:spPr>
        <p:txBody>
          <a:bodyPr wrap="square" rtlCol="0" anchor="t"/>
          <a:lstStyle/>
          <a:p>
            <a:pPr indent="0" marL="0">
              <a:buNone/>
            </a:pPr>
            <a:r>
              <a:rPr lang="en-US" sz="1000" dirty="0">
                <a:solidFill>
                  <a:srgbClr val="000000"/>
                </a:solidFill>
                <a:latin typeface="Meiryo UI" pitchFamily="34" charset="0"/>
                <a:ea typeface="Meiryo UI" pitchFamily="34" charset="-122"/>
                <a:cs typeface="Meiryo UI" pitchFamily="34" charset="-120"/>
              </a:rPr>
              <a:t>・組織全体のコンプライアンスポリシーを一貫して適用できます</a:t>
            </a:r>
            <a:endParaRPr lang="en-US" sz="1000" dirty="0"/>
          </a:p>
          <a:p>
            <a:pPr indent="0" marL="0">
              <a:buNone/>
            </a:pPr>
            <a:r>
              <a:rPr lang="en-US" sz="1000" dirty="0">
                <a:solidFill>
                  <a:srgbClr val="000000"/>
                </a:solidFill>
                <a:latin typeface="Meiryo UI" pitchFamily="34" charset="0"/>
                <a:ea typeface="Meiryo UI" pitchFamily="34" charset="-122"/>
                <a:cs typeface="Meiryo UI" pitchFamily="34" charset="-120"/>
              </a:rPr>
              <a:t>・リソースの構成を自動的に評価・修復し、企業標準への準拠を保証します</a:t>
            </a:r>
            <a:endParaRPr lang="en-US" sz="1000" dirty="0"/>
          </a:p>
        </p:txBody>
      </p:sp>
      <p:sp>
        <p:nvSpPr>
          <p:cNvPr id="17" name="Shape 15"/>
          <p:cNvSpPr/>
          <p:nvPr/>
        </p:nvSpPr>
        <p:spPr>
          <a:xfrm>
            <a:off x="822960" y="5120640"/>
            <a:ext cx="10515600" cy="1143000"/>
          </a:xfrm>
          <a:prstGeom prst="roundRect">
            <a:avLst>
              <a:gd name="adj" fmla="val 8000"/>
            </a:avLst>
          </a:prstGeom>
          <a:solidFill>
            <a:srgbClr val="F3F2F1"/>
          </a:solidFill>
          <a:ln w="25400">
            <a:solidFill>
              <a:srgbClr val="D13438"/>
            </a:solidFill>
            <a:prstDash val="solid"/>
          </a:ln>
        </p:spPr>
      </p:sp>
      <p:sp>
        <p:nvSpPr>
          <p:cNvPr id="18" name="Shape 16"/>
          <p:cNvSpPr/>
          <p:nvPr/>
        </p:nvSpPr>
        <p:spPr>
          <a:xfrm>
            <a:off x="914400" y="5193792"/>
            <a:ext cx="10332720" cy="347472"/>
          </a:xfrm>
          <a:prstGeom prst="roundRect">
            <a:avLst>
              <a:gd name="adj" fmla="val 15789"/>
            </a:avLst>
          </a:prstGeom>
          <a:solidFill>
            <a:srgbClr val="D13438"/>
          </a:solidFill>
          <a:ln/>
        </p:spPr>
      </p:sp>
      <p:sp>
        <p:nvSpPr>
          <p:cNvPr id="19" name="Text 17"/>
          <p:cNvSpPr/>
          <p:nvPr/>
        </p:nvSpPr>
        <p:spPr>
          <a:xfrm>
            <a:off x="960120" y="5193792"/>
            <a:ext cx="10241280" cy="347472"/>
          </a:xfrm>
          <a:prstGeom prst="rect">
            <a:avLst/>
          </a:prstGeom>
          <a:noFill/>
          <a:ln/>
        </p:spPr>
        <p:txBody>
          <a:bodyPr wrap="square"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 Microsoft Defender for Cloud</a:t>
            </a:r>
            <a:endParaRPr lang="en-US" sz="1200" dirty="0"/>
          </a:p>
        </p:txBody>
      </p:sp>
      <p:sp>
        <p:nvSpPr>
          <p:cNvPr id="20" name="Text 18"/>
          <p:cNvSpPr/>
          <p:nvPr/>
        </p:nvSpPr>
        <p:spPr>
          <a:xfrm>
            <a:off x="1051560" y="5577840"/>
            <a:ext cx="10058400" cy="594360"/>
          </a:xfrm>
          <a:prstGeom prst="rect">
            <a:avLst/>
          </a:prstGeom>
          <a:noFill/>
          <a:ln/>
        </p:spPr>
        <p:txBody>
          <a:bodyPr wrap="square" rtlCol="0" anchor="t"/>
          <a:lstStyle/>
          <a:p>
            <a:pPr indent="0" marL="0">
              <a:buNone/>
            </a:pPr>
            <a:r>
              <a:rPr lang="en-US" sz="1000" dirty="0">
                <a:solidFill>
                  <a:srgbClr val="000000"/>
                </a:solidFill>
                <a:latin typeface="Meiryo UI" pitchFamily="34" charset="0"/>
                <a:ea typeface="Meiryo UI" pitchFamily="34" charset="-122"/>
                <a:cs typeface="Meiryo UI" pitchFamily="34" charset="-120"/>
              </a:rPr>
              <a:t>・セキュリティポスチャの評価と脅威保護をハイブリッド環境全体で提供します</a:t>
            </a:r>
            <a:endParaRPr lang="en-US" sz="1000" dirty="0"/>
          </a:p>
          <a:p>
            <a:pPr indent="0" marL="0">
              <a:buNone/>
            </a:pPr>
            <a:r>
              <a:rPr lang="en-US" sz="1000" dirty="0">
                <a:solidFill>
                  <a:srgbClr val="000000"/>
                </a:solidFill>
                <a:latin typeface="Meiryo UI" pitchFamily="34" charset="0"/>
                <a:ea typeface="Meiryo UI" pitchFamily="34" charset="-122"/>
                <a:cs typeface="Meiryo UI" pitchFamily="34" charset="-120"/>
              </a:rPr>
              <a:t>・セキュリティベースラインを継続的に評価します</a:t>
            </a:r>
            <a:endParaRPr lang="en-US" sz="1000" dirty="0"/>
          </a:p>
        </p:txBody>
      </p:sp>
      <p:sp>
        <p:nvSpPr>
          <p:cNvPr id="21" name="Shape 19"/>
          <p:cNvSpPr/>
          <p:nvPr/>
        </p:nvSpPr>
        <p:spPr>
          <a:xfrm>
            <a:off x="822960" y="6309360"/>
            <a:ext cx="10515600" cy="457200"/>
          </a:xfrm>
          <a:prstGeom prst="roundRect">
            <a:avLst>
              <a:gd name="adj" fmla="val 16000"/>
            </a:avLst>
          </a:prstGeom>
          <a:solidFill>
            <a:srgbClr val="DEECF9"/>
          </a:solidFill>
          <a:ln w="12700">
            <a:solidFill>
              <a:srgbClr val="0078D4"/>
            </a:solidFill>
            <a:prstDash val="solid"/>
          </a:ln>
        </p:spPr>
      </p:sp>
      <p:sp>
        <p:nvSpPr>
          <p:cNvPr id="22" name="Text 20"/>
          <p:cNvSpPr/>
          <p:nvPr/>
        </p:nvSpPr>
        <p:spPr>
          <a:xfrm>
            <a:off x="1005840" y="6309360"/>
            <a:ext cx="10149840" cy="45720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 データの所在地: Arc 対応サーバーは、登録されたリージョン内に顧客データを保存し、データ所在地要件を満たします</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料金体系 + 参考リンク</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8 / 9</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286000"/>
                <a:gridCol w="5788152"/>
                <a:gridCol w="3200400"/>
              </a:tblGrid>
              <a:tr h="347472">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カテゴリ</a:t>
                      </a:r>
                      <a:endParaRPr lang="en-US" sz="1000" dirty="0">
                        <a:latin typeface="Meiryo UI" charset="0"/>
                        <a:ea typeface="Meiryo UI" charset="0"/>
                        <a:cs typeface="Meiryo U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対象</a:t>
                      </a:r>
                      <a:endParaRPr lang="en-US" sz="1000" dirty="0">
                        <a:latin typeface="Meiryo UI" charset="0"/>
                        <a:ea typeface="Meiryo UI" charset="0"/>
                        <a:cs typeface="Meiryo U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料金</a:t>
                      </a:r>
                      <a:endParaRPr lang="en-US" sz="1000" dirty="0">
                        <a:latin typeface="Meiryo UI" charset="0"/>
                        <a:ea typeface="Meiryo UI" charset="0"/>
                        <a:cs typeface="Meiryo U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コントロールプレーン</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リソース整理 / Resource Graph / RBAC / 自動化</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b="1" dirty="0">
                          <a:solidFill>
                            <a:srgbClr val="107C10"/>
                          </a:solidFill>
                          <a:latin typeface="Meiryo UI" pitchFamily="34" charset="0"/>
                          <a:ea typeface="Meiryo UI" pitchFamily="34" charset="-122"/>
                          <a:cs typeface="Meiryo UI" pitchFamily="34" charset="-120"/>
                        </a:rPr>
                        <a:t>無料</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VMware vSphere / SCVMM</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VM 検出・インベントリ / ライフサイクル操作</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b="1" dirty="0">
                          <a:solidFill>
                            <a:srgbClr val="107C10"/>
                          </a:solidFill>
                          <a:latin typeface="Meiryo UI" pitchFamily="34" charset="0"/>
                          <a:ea typeface="Meiryo UI" pitchFamily="34" charset="-122"/>
                          <a:cs typeface="Meiryo UI" pitchFamily="34" charset="-120"/>
                        </a:rPr>
                        <a:t>無料</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Azure サービス利用</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Defender for Cloud / Azure Monitor / GitOps 等</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b="1" dirty="0">
                          <a:solidFill>
                            <a:srgbClr val="FF8C00"/>
                          </a:solidFill>
                          <a:latin typeface="Meiryo UI" pitchFamily="34" charset="0"/>
                          <a:ea typeface="Meiryo UI" pitchFamily="34" charset="-122"/>
                          <a:cs typeface="Meiryo UI" pitchFamily="34" charset="-120"/>
                        </a:rPr>
                        <a:t>各サービス課金</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データサービス</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SQL MI — vCore 従量課金 / 1年・3年予約</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b="1" dirty="0">
                          <a:solidFill>
                            <a:srgbClr val="D13438"/>
                          </a:solidFill>
                          <a:latin typeface="Meiryo UI" pitchFamily="34" charset="0"/>
                          <a:ea typeface="Meiryo UI" pitchFamily="34" charset="-122"/>
                          <a:cs typeface="Meiryo UI" pitchFamily="34" charset="-120"/>
                        </a:rPr>
                        <a:t>有料</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Windows Server 管理</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Agent v1.47+ / WS2012 以上 Standard/Datacenter</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b="1" dirty="0">
                          <a:solidFill>
                            <a:srgbClr val="D13438"/>
                          </a:solidFill>
                          <a:latin typeface="Meiryo UI" pitchFamily="34" charset="0"/>
                          <a:ea typeface="Meiryo UI" pitchFamily="34" charset="-122"/>
                          <a:cs typeface="Meiryo UI" pitchFamily="34" charset="-120"/>
                        </a:rPr>
                        <a:t>月額課金</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bl>
          </a:graphicData>
        </a:graphic>
      </p:graphicFrame>
      <p:sp>
        <p:nvSpPr>
          <p:cNvPr id="6" name="Shape 3"/>
          <p:cNvSpPr/>
          <p:nvPr/>
        </p:nvSpPr>
        <p:spPr>
          <a:xfrm>
            <a:off x="365760" y="3474720"/>
            <a:ext cx="11430000" cy="365760"/>
          </a:xfrm>
          <a:prstGeom prst="roundRect">
            <a:avLst>
              <a:gd name="adj" fmla="val 20000"/>
            </a:avLst>
          </a:prstGeom>
          <a:solidFill>
            <a:srgbClr val="0078D4"/>
          </a:solidFill>
          <a:ln/>
        </p:spPr>
      </p:sp>
      <p:sp>
        <p:nvSpPr>
          <p:cNvPr id="7" name="Text 4"/>
          <p:cNvSpPr/>
          <p:nvPr/>
        </p:nvSpPr>
        <p:spPr>
          <a:xfrm>
            <a:off x="457200" y="3474720"/>
            <a:ext cx="11274552" cy="36576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参考リンク</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57200" y="3886200"/>
          <a:ext cx="11274552" cy="914400"/>
        </p:xfrm>
        <a:graphic>
          <a:graphicData uri="http://schemas.openxmlformats.org/drawingml/2006/table">
            <a:tbl>
              <a:tblPr/>
              <a:tblGrid>
                <a:gridCol w="457200"/>
                <a:gridCol w="3657600"/>
                <a:gridCol w="7159752"/>
              </a:tblGrid>
              <a:tr h="274320">
                <a:tc>
                  <a:txBody>
                    <a:bodyPr/>
                    <a:lstStyle/>
                    <a:p>
                      <a:pPr algn="ctr" indent="0" marL="0">
                        <a:buNone/>
                      </a:pPr>
                      <a:r>
                        <a:rPr lang="en-US" sz="800" b="1" dirty="0">
                          <a:solidFill>
                            <a:srgbClr val="FFFFFF"/>
                          </a:solidFill>
                          <a:latin typeface="Meiryo UI" pitchFamily="34" charset="0"/>
                          <a:ea typeface="Meiryo UI" pitchFamily="34" charset="-122"/>
                          <a:cs typeface="Meiryo UI" pitchFamily="34" charset="-120"/>
                        </a:rPr>
                        <a:t>#</a:t>
                      </a:r>
                      <a:endParaRPr lang="en-US" sz="800" dirty="0">
                        <a:latin typeface="Meiryo UI" charset="0"/>
                        <a:ea typeface="Meiryo UI" charset="0"/>
                        <a:cs typeface="Meiryo UI" charset="0"/>
                      </a:endParaRPr>
                    </a:p>
                  </a:txBody>
                  <a:tcPr marL="38100" marR="381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800" b="1" dirty="0">
                          <a:solidFill>
                            <a:srgbClr val="FFFFFF"/>
                          </a:solidFill>
                          <a:latin typeface="Meiryo UI" pitchFamily="34" charset="0"/>
                          <a:ea typeface="Meiryo UI" pitchFamily="34" charset="-122"/>
                          <a:cs typeface="Meiryo UI" pitchFamily="34" charset="-120"/>
                        </a:rPr>
                        <a:t>タイトル</a:t>
                      </a:r>
                      <a:endParaRPr lang="en-US" sz="800" dirty="0">
                        <a:latin typeface="Meiryo UI" charset="0"/>
                        <a:ea typeface="Meiryo UI" charset="0"/>
                        <a:cs typeface="Meiryo UI" charset="0"/>
                      </a:endParaRPr>
                    </a:p>
                  </a:txBody>
                  <a:tcPr marL="38100" marR="381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800" b="1" dirty="0">
                          <a:solidFill>
                            <a:srgbClr val="FFFFFF"/>
                          </a:solidFill>
                          <a:latin typeface="Meiryo UI" pitchFamily="34" charset="0"/>
                          <a:ea typeface="Meiryo UI" pitchFamily="34" charset="-122"/>
                          <a:cs typeface="Meiryo UI" pitchFamily="34" charset="-120"/>
                        </a:rPr>
                        <a:t>URL</a:t>
                      </a:r>
                      <a:endParaRPr lang="en-US" sz="800" dirty="0">
                        <a:latin typeface="Meiryo UI" charset="0"/>
                        <a:ea typeface="Meiryo UI" charset="0"/>
                        <a:cs typeface="Meiryo UI" charset="0"/>
                      </a:endParaRPr>
                    </a:p>
                  </a:txBody>
                  <a:tcPr marL="38100" marR="381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1</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の概要</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2</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対応サーバーとは</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https://learn.microsoft.com/azure/azure-arc/servers/overview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3</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Connected Machine Agent の前提条件</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https://learn.microsoft.com/azure/azure-arc/servers/prerequisites</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4</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対応 Kubernetes</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https://learn.microsoft.com/azure/azure-arc/kubernetes/overview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5</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GitOps と Flux v2 によるアプリ展開</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https://learn.microsoft.com/azure/azure-arc/kubernetes/conceptual-gitops-flux2</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6</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SQL Managed Instance enabled by Azure Arc</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https://learn.microsoft.com/azure/azure-arc/data/managed-instance-overview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7</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対応 VMware vSphere</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https://learn.microsoft.com/azure/azure-arc/vmware-vsphere/overview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8</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の料金</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https://azure.microsoft.com/pricing/details/azure-arc/</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まとめと次のステップ</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9 / 9</a:t>
            </a:r>
            <a:endParaRPr lang="en-US" sz="900" dirty="0"/>
          </a:p>
        </p:txBody>
      </p:sp>
      <p:sp>
        <p:nvSpPr>
          <p:cNvPr id="5" name="Shape 3"/>
          <p:cNvSpPr/>
          <p:nvPr/>
        </p:nvSpPr>
        <p:spPr>
          <a:xfrm>
            <a:off x="457200" y="1188720"/>
            <a:ext cx="11274552" cy="2560320"/>
          </a:xfrm>
          <a:prstGeom prst="roundRect">
            <a:avLst>
              <a:gd name="adj" fmla="val 4286"/>
            </a:avLst>
          </a:prstGeom>
          <a:solidFill>
            <a:srgbClr val="F3F2F1"/>
          </a:solidFill>
          <a:ln w="25400">
            <a:solidFill>
              <a:srgbClr val="0078D4"/>
            </a:solidFill>
            <a:prstDash val="solid"/>
          </a:ln>
        </p:spPr>
      </p:sp>
      <p:sp>
        <p:nvSpPr>
          <p:cNvPr id="6" name="Shape 4"/>
          <p:cNvSpPr/>
          <p:nvPr/>
        </p:nvSpPr>
        <p:spPr>
          <a:xfrm>
            <a:off x="548640" y="1234440"/>
            <a:ext cx="11091672" cy="411480"/>
          </a:xfrm>
          <a:prstGeom prst="roundRect">
            <a:avLst>
              <a:gd name="adj" fmla="val 17778"/>
            </a:avLst>
          </a:prstGeom>
          <a:solidFill>
            <a:srgbClr val="0078D4"/>
          </a:solidFill>
          <a:ln/>
        </p:spPr>
      </p:sp>
      <p:sp>
        <p:nvSpPr>
          <p:cNvPr id="7" name="Text 5"/>
          <p:cNvSpPr/>
          <p:nvPr/>
        </p:nvSpPr>
        <p:spPr>
          <a:xfrm>
            <a:off x="548640" y="1234440"/>
            <a:ext cx="11091672" cy="411480"/>
          </a:xfrm>
          <a:prstGeom prst="rect">
            <a:avLst/>
          </a:prstGeom>
          <a:noFill/>
          <a:ln/>
        </p:spPr>
        <p:txBody>
          <a:bodyPr wrap="square"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 Azure Arc の価値</a:t>
            </a:r>
            <a:endParaRPr lang="en-US" sz="1400" dirty="0"/>
          </a:p>
        </p:txBody>
      </p:sp>
      <p:sp>
        <p:nvSpPr>
          <p:cNvPr id="8" name="Text 6"/>
          <p:cNvSpPr/>
          <p:nvPr/>
        </p:nvSpPr>
        <p:spPr>
          <a:xfrm>
            <a:off x="731520" y="1737360"/>
            <a:ext cx="10789920" cy="1920240"/>
          </a:xfrm>
          <a:prstGeom prst="rect">
            <a:avLst/>
          </a:prstGeom>
          <a:noFill/>
          <a:ln/>
        </p:spPr>
        <p:txBody>
          <a:bodyPr wrap="square" rtlCol="0" anchor="t"/>
          <a:lstStyle/>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オンプレミス、マルチクラウド、エッジにまたがるリソースを Azure の統一コントロールプレーンで一元管理できます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コントロールプレーン機能は無料で利用でき、既存のインフラを Azure Resource Manager に投影するだけで管理を開始できます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サーバー、Kubernetes、データサービス、VMware vSphere、SCVMM、Azure Local など幅広いリソースタイプに対応しています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Azure Policy、Azure Monitor、Defender for Cloud との統合により、統一的なガバナンス・監視・セキュリティを実現します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GitOps（Flux v2 / Argo CD）により、マルチクラスターへの構成展開を自動化できます</a:t>
            </a:r>
            <a:endParaRPr lang="en-US" sz="1100" dirty="0"/>
          </a:p>
        </p:txBody>
      </p:sp>
      <p:sp>
        <p:nvSpPr>
          <p:cNvPr id="9" name="Shape 7"/>
          <p:cNvSpPr/>
          <p:nvPr/>
        </p:nvSpPr>
        <p:spPr>
          <a:xfrm>
            <a:off x="457200" y="4023360"/>
            <a:ext cx="11274552" cy="2560320"/>
          </a:xfrm>
          <a:prstGeom prst="roundRect">
            <a:avLst>
              <a:gd name="adj" fmla="val 4286"/>
            </a:avLst>
          </a:prstGeom>
          <a:solidFill>
            <a:srgbClr val="F3F2F1"/>
          </a:solidFill>
          <a:ln w="25400">
            <a:solidFill>
              <a:srgbClr val="107C10"/>
            </a:solidFill>
            <a:prstDash val="solid"/>
          </a:ln>
        </p:spPr>
      </p:sp>
      <p:sp>
        <p:nvSpPr>
          <p:cNvPr id="10" name="Shape 8"/>
          <p:cNvSpPr/>
          <p:nvPr/>
        </p:nvSpPr>
        <p:spPr>
          <a:xfrm>
            <a:off x="548640" y="4069080"/>
            <a:ext cx="11091672" cy="411480"/>
          </a:xfrm>
          <a:prstGeom prst="roundRect">
            <a:avLst>
              <a:gd name="adj" fmla="val 17778"/>
            </a:avLst>
          </a:prstGeom>
          <a:solidFill>
            <a:srgbClr val="107C10"/>
          </a:solidFill>
          <a:ln/>
        </p:spPr>
      </p:sp>
      <p:sp>
        <p:nvSpPr>
          <p:cNvPr id="11" name="Text 9"/>
          <p:cNvSpPr/>
          <p:nvPr/>
        </p:nvSpPr>
        <p:spPr>
          <a:xfrm>
            <a:off x="548640" y="4069080"/>
            <a:ext cx="11091672" cy="411480"/>
          </a:xfrm>
          <a:prstGeom prst="rect">
            <a:avLst/>
          </a:prstGeom>
          <a:noFill/>
          <a:ln/>
        </p:spPr>
        <p:txBody>
          <a:bodyPr wrap="square"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 次のステップ</a:t>
            </a:r>
            <a:endParaRPr lang="en-US" sz="1400" dirty="0"/>
          </a:p>
        </p:txBody>
      </p:sp>
      <p:sp>
        <p:nvSpPr>
          <p:cNvPr id="12" name="Text 10"/>
          <p:cNvSpPr/>
          <p:nvPr/>
        </p:nvSpPr>
        <p:spPr>
          <a:xfrm>
            <a:off x="731520" y="4572000"/>
            <a:ext cx="10789920" cy="1920240"/>
          </a:xfrm>
          <a:prstGeom prst="rect">
            <a:avLst/>
          </a:prstGeom>
          <a:noFill/>
          <a:ln/>
        </p:spPr>
        <p:txBody>
          <a:bodyPr wrap="square" rtlCol="0" anchor="t"/>
          <a:lstStyle/>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Azure Arc 対応サーバーの Connected Machine Agent をインストールし、既存サーバーを Azure に接続してください</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Kubernetes クラスターを Arc に接続し、GitOps による構成管理を導入してください</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Azure Policy と Microsoft Defender for Cloud を有効化し、ガバナンスとセキュリティを強化してください</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Arc 対応データサービスを活用し、データ主権を維持しながらクラウドネイティブなデータ管理を実現してください</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Azure Arc 詳細仕様</dc:subject>
  <dc:creator>GitHub Copilot</dc:creator>
  <cp:lastModifiedBy>GitHub Copilot</cp:lastModifiedBy>
  <cp:revision>1</cp:revision>
  <dcterms:created xsi:type="dcterms:W3CDTF">2026-04-07T07:52:12Z</dcterms:created>
  <dcterms:modified xsi:type="dcterms:W3CDTF">2026-04-07T07:52:12Z</dcterms:modified>
</cp:coreProperties>
</file>