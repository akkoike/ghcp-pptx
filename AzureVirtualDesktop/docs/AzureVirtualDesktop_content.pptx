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Virtual Desktop の概要</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2 / 10</a:t>
            </a:r>
            <a:endParaRPr lang="en-US" sz="900" dirty="0"/>
          </a:p>
        </p:txBody>
      </p:sp>
      <p:sp>
        <p:nvSpPr>
          <p:cNvPr id="5" name="Shape 3"/>
          <p:cNvSpPr/>
          <p:nvPr/>
        </p:nvSpPr>
        <p:spPr>
          <a:xfrm>
            <a:off x="457200" y="1188720"/>
            <a:ext cx="2926080" cy="1097280"/>
          </a:xfrm>
          <a:prstGeom prst="roundRect">
            <a:avLst>
              <a:gd name="adj" fmla="val 12500"/>
            </a:avLst>
          </a:prstGeom>
          <a:solidFill>
            <a:srgbClr val="6B6B6B"/>
          </a:solidFill>
          <a:ln/>
        </p:spPr>
      </p:sp>
      <p:sp>
        <p:nvSpPr>
          <p:cNvPr id="6" name="Text 4"/>
          <p:cNvSpPr/>
          <p:nvPr/>
        </p:nvSpPr>
        <p:spPr>
          <a:xfrm>
            <a:off x="457200" y="1188720"/>
            <a:ext cx="2926080" cy="109728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従来型 VDI</a:t>
            </a:r>
            <a:endParaRPr lang="en-US" sz="1400" dirty="0"/>
          </a:p>
          <a:p>
            <a:pPr algn="ctr" indent="0" marL="0">
              <a:buNone/>
            </a:pPr>
            <a:r>
              <a:rPr lang="en-US" sz="1400" b="1" dirty="0">
                <a:solidFill>
                  <a:srgbClr val="FFFFFF"/>
                </a:solidFill>
                <a:latin typeface="Meiryo UI" pitchFamily="34" charset="0"/>
                <a:ea typeface="Meiryo UI" pitchFamily="34" charset="-122"/>
                <a:cs typeface="Meiryo UI" pitchFamily="34" charset="-120"/>
              </a:rPr>
              <a:t>(オンプレミス)</a:t>
            </a:r>
            <a:endParaRPr lang="en-US" sz="1400" dirty="0"/>
          </a:p>
        </p:txBody>
      </p:sp>
      <p:sp>
        <p:nvSpPr>
          <p:cNvPr id="7" name="Text 5"/>
          <p:cNvSpPr/>
          <p:nvPr/>
        </p:nvSpPr>
        <p:spPr>
          <a:xfrm>
            <a:off x="3566160" y="1188720"/>
            <a:ext cx="731520" cy="1097280"/>
          </a:xfrm>
          <a:prstGeom prst="rect">
            <a:avLst/>
          </a:prstGeom>
          <a:noFill/>
          <a:ln/>
        </p:spPr>
        <p:txBody>
          <a:bodyPr wrap="square" rtlCol="0" anchor="ctr"/>
          <a:lstStyle/>
          <a:p>
            <a:pPr algn="ctr" indent="0" marL="0">
              <a:buNone/>
            </a:pPr>
            <a:r>
              <a:rPr lang="en-US" sz="2800" dirty="0">
                <a:solidFill>
                  <a:srgbClr val="0078D4"/>
                </a:solidFill>
                <a:latin typeface="Meiryo UI" pitchFamily="34" charset="0"/>
                <a:ea typeface="Meiryo UI" pitchFamily="34" charset="-122"/>
                <a:cs typeface="Meiryo UI" pitchFamily="34" charset="-120"/>
              </a:rPr>
              <a:t>→</a:t>
            </a:r>
            <a:endParaRPr lang="en-US" sz="2800" dirty="0"/>
          </a:p>
        </p:txBody>
      </p:sp>
      <p:sp>
        <p:nvSpPr>
          <p:cNvPr id="8" name="Shape 6"/>
          <p:cNvSpPr/>
          <p:nvPr/>
        </p:nvSpPr>
        <p:spPr>
          <a:xfrm>
            <a:off x="4389120" y="1188720"/>
            <a:ext cx="2926080" cy="1097280"/>
          </a:xfrm>
          <a:prstGeom prst="roundRect">
            <a:avLst>
              <a:gd name="adj" fmla="val 12500"/>
            </a:avLst>
          </a:prstGeom>
          <a:solidFill>
            <a:srgbClr val="5C2D91"/>
          </a:solidFill>
          <a:ln/>
        </p:spPr>
      </p:sp>
      <p:sp>
        <p:nvSpPr>
          <p:cNvPr id="9" name="Text 7"/>
          <p:cNvSpPr/>
          <p:nvPr/>
        </p:nvSpPr>
        <p:spPr>
          <a:xfrm>
            <a:off x="4389120" y="1188720"/>
            <a:ext cx="2926080" cy="109728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RDS</a:t>
            </a:r>
            <a:endParaRPr lang="en-US" sz="1400" dirty="0"/>
          </a:p>
          <a:p>
            <a:pPr algn="ctr" indent="0" marL="0">
              <a:buNone/>
            </a:pPr>
            <a:r>
              <a:rPr lang="en-US" sz="1400" b="1" dirty="0">
                <a:solidFill>
                  <a:srgbClr val="FFFFFF"/>
                </a:solidFill>
                <a:latin typeface="Meiryo UI" pitchFamily="34" charset="0"/>
                <a:ea typeface="Meiryo UI" pitchFamily="34" charset="-122"/>
                <a:cs typeface="Meiryo UI" pitchFamily="34" charset="-120"/>
              </a:rPr>
              <a:t>(リモートデスクトップ)</a:t>
            </a:r>
            <a:endParaRPr lang="en-US" sz="1400" dirty="0"/>
          </a:p>
        </p:txBody>
      </p:sp>
      <p:sp>
        <p:nvSpPr>
          <p:cNvPr id="10" name="Text 8"/>
          <p:cNvSpPr/>
          <p:nvPr/>
        </p:nvSpPr>
        <p:spPr>
          <a:xfrm>
            <a:off x="7498080" y="1188720"/>
            <a:ext cx="731520" cy="1097280"/>
          </a:xfrm>
          <a:prstGeom prst="rect">
            <a:avLst/>
          </a:prstGeom>
          <a:noFill/>
          <a:ln/>
        </p:spPr>
        <p:txBody>
          <a:bodyPr wrap="square" rtlCol="0" anchor="ctr"/>
          <a:lstStyle/>
          <a:p>
            <a:pPr algn="ctr" indent="0" marL="0">
              <a:buNone/>
            </a:pPr>
            <a:r>
              <a:rPr lang="en-US" sz="2800" dirty="0">
                <a:solidFill>
                  <a:srgbClr val="0078D4"/>
                </a:solidFill>
                <a:latin typeface="Meiryo UI" pitchFamily="34" charset="0"/>
                <a:ea typeface="Meiryo UI" pitchFamily="34" charset="-122"/>
                <a:cs typeface="Meiryo UI" pitchFamily="34" charset="-120"/>
              </a:rPr>
              <a:t>→</a:t>
            </a:r>
            <a:endParaRPr lang="en-US" sz="2800" dirty="0"/>
          </a:p>
        </p:txBody>
      </p:sp>
      <p:sp>
        <p:nvSpPr>
          <p:cNvPr id="11" name="Shape 9"/>
          <p:cNvSpPr/>
          <p:nvPr/>
        </p:nvSpPr>
        <p:spPr>
          <a:xfrm>
            <a:off x="8412480" y="1188720"/>
            <a:ext cx="2926080" cy="1097280"/>
          </a:xfrm>
          <a:prstGeom prst="roundRect">
            <a:avLst>
              <a:gd name="adj" fmla="val 12500"/>
            </a:avLst>
          </a:prstGeom>
          <a:solidFill>
            <a:srgbClr val="0078D4"/>
          </a:solidFill>
          <a:ln/>
        </p:spPr>
      </p:sp>
      <p:sp>
        <p:nvSpPr>
          <p:cNvPr id="12" name="Text 10"/>
          <p:cNvSpPr/>
          <p:nvPr/>
        </p:nvSpPr>
        <p:spPr>
          <a:xfrm>
            <a:off x="8412480" y="1188720"/>
            <a:ext cx="2926080" cy="109728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Azure Virtual Desktop</a:t>
            </a:r>
            <a:endParaRPr lang="en-US" sz="1400" dirty="0"/>
          </a:p>
          <a:p>
            <a:pPr algn="ctr" indent="0" marL="0">
              <a:buNone/>
            </a:pPr>
            <a:r>
              <a:rPr lang="en-US" sz="1400" b="1" dirty="0">
                <a:solidFill>
                  <a:srgbClr val="FFFFFF"/>
                </a:solidFill>
                <a:latin typeface="Meiryo UI" pitchFamily="34" charset="0"/>
                <a:ea typeface="Meiryo UI" pitchFamily="34" charset="-122"/>
                <a:cs typeface="Meiryo UI" pitchFamily="34" charset="-120"/>
              </a:rPr>
              <a:t>(DaaS)</a:t>
            </a:r>
            <a:endParaRPr lang="en-US" sz="1400" dirty="0"/>
          </a:p>
        </p:txBody>
      </p:sp>
      <p:sp>
        <p:nvSpPr>
          <p:cNvPr id="13" name="Text 11"/>
          <p:cNvSpPr/>
          <p:nvPr/>
        </p:nvSpPr>
        <p:spPr>
          <a:xfrm>
            <a:off x="457200" y="2560320"/>
            <a:ext cx="11274552" cy="3840480"/>
          </a:xfrm>
          <a:prstGeom prst="rect">
            <a:avLst/>
          </a:prstGeom>
          <a:noFill/>
          <a:ln/>
        </p:spPr>
        <p:txBody>
          <a:bodyPr wrap="square" rtlCol="0" anchor="t"/>
          <a:lstStyle/>
          <a:p>
            <a:pPr marL="342900" indent="-342900">
              <a:lnSpc>
                <a:spcPct val="130000"/>
              </a:lnSpc>
              <a:buSzPct val="100000"/>
              <a:buChar char="•"/>
            </a:pPr>
            <a:r>
              <a:rPr lang="en-US" sz="1250" dirty="0">
                <a:solidFill>
                  <a:srgbClr val="000000"/>
                </a:solidFill>
                <a:latin typeface="Meiryo UI" pitchFamily="34" charset="0"/>
                <a:ea typeface="Meiryo UI" pitchFamily="34" charset="-122"/>
                <a:cs typeface="Meiryo UI" pitchFamily="34" charset="-120"/>
              </a:rPr>
              <a:t>Azure Virtual Desktop（AVD）は、Azure 上で動作するデスクトップおよびアプリケーション仮想化サービスです</a:t>
            </a:r>
            <a:endParaRPr lang="en-US" sz="1250" dirty="0"/>
          </a:p>
          <a:p>
            <a:pPr marL="342900" indent="-342900">
              <a:lnSpc>
                <a:spcPct val="130000"/>
              </a:lnSpc>
              <a:buSzPct val="100000"/>
              <a:buChar char="•"/>
            </a:pPr>
            <a:r>
              <a:rPr lang="en-US" sz="1250" dirty="0">
                <a:solidFill>
                  <a:srgbClr val="000000"/>
                </a:solidFill>
                <a:latin typeface="Meiryo UI" pitchFamily="34" charset="0"/>
                <a:ea typeface="Meiryo UI" pitchFamily="34" charset="-122"/>
                <a:cs typeface="Meiryo UI" pitchFamily="34" charset="-120"/>
              </a:rPr>
              <a:t>VDI（仮想デスクトップインフラストラクチャ）を DaaS（Desktop as a Service）として提供しています</a:t>
            </a:r>
            <a:endParaRPr lang="en-US" sz="1250" dirty="0"/>
          </a:p>
          <a:p>
            <a:pPr marL="342900" indent="-342900">
              <a:lnSpc>
                <a:spcPct val="130000"/>
              </a:lnSpc>
              <a:buSzPct val="100000"/>
              <a:buChar char="•"/>
            </a:pPr>
            <a:r>
              <a:rPr lang="en-US" sz="1250" dirty="0">
                <a:solidFill>
                  <a:srgbClr val="000000"/>
                </a:solidFill>
                <a:latin typeface="Meiryo UI" pitchFamily="34" charset="0"/>
                <a:ea typeface="Meiryo UI" pitchFamily="34" charset="-122"/>
                <a:cs typeface="Meiryo UI" pitchFamily="34" charset="-120"/>
              </a:rPr>
              <a:t>ゲートウェイサーバーを自前で構築する必要がなく、Azure サブスクリプション内でフルデスクトップ仮想化環境を構築できます</a:t>
            </a:r>
            <a:endParaRPr lang="en-US" sz="1250" dirty="0"/>
          </a:p>
          <a:p>
            <a:pPr marL="342900" indent="-342900">
              <a:lnSpc>
                <a:spcPct val="130000"/>
              </a:lnSpc>
              <a:buSzPct val="100000"/>
              <a:buChar char="•"/>
            </a:pPr>
            <a:r>
              <a:rPr lang="en-US" sz="1250" dirty="0">
                <a:solidFill>
                  <a:srgbClr val="000000"/>
                </a:solidFill>
                <a:latin typeface="Meiryo UI" pitchFamily="34" charset="0"/>
                <a:ea typeface="Meiryo UI" pitchFamily="34" charset="-122"/>
                <a:cs typeface="Meiryo UI" pitchFamily="34" charset="-120"/>
              </a:rPr>
              <a:t>Windows 11/10 Enterprise マルチセッション機能により、1台の VM で複数ユーザーが同時接続できます（AVD 専用機能）</a:t>
            </a:r>
            <a:endParaRPr lang="en-US" sz="1250" dirty="0"/>
          </a:p>
          <a:p>
            <a:pPr marL="342900" indent="-342900">
              <a:lnSpc>
                <a:spcPct val="130000"/>
              </a:lnSpc>
              <a:buSzPct val="100000"/>
              <a:buChar char="•"/>
            </a:pPr>
            <a:r>
              <a:rPr lang="en-US" sz="1250" dirty="0">
                <a:solidFill>
                  <a:srgbClr val="000000"/>
                </a:solidFill>
                <a:latin typeface="Meiryo UI" pitchFamily="34" charset="0"/>
                <a:ea typeface="Meiryo UI" pitchFamily="34" charset="-122"/>
                <a:cs typeface="Meiryo UI" pitchFamily="34" charset="-120"/>
              </a:rPr>
              <a:t>Azure Portal、Azure CLI、PowerShell、REST API からホストプールやアプリケーショングループを管理できます</a:t>
            </a:r>
            <a:endParaRPr lang="en-US" sz="1250" dirty="0"/>
          </a:p>
          <a:p>
            <a:pPr marL="342900" indent="-342900">
              <a:lnSpc>
                <a:spcPct val="130000"/>
              </a:lnSpc>
              <a:buSzPct val="100000"/>
              <a:buChar char="•"/>
            </a:pPr>
            <a:r>
              <a:rPr lang="en-US" sz="1250" dirty="0">
                <a:solidFill>
                  <a:srgbClr val="000000"/>
                </a:solidFill>
                <a:latin typeface="Meiryo UI" pitchFamily="34" charset="0"/>
                <a:ea typeface="Meiryo UI" pitchFamily="34" charset="-122"/>
                <a:cs typeface="Meiryo UI" pitchFamily="34" charset="-120"/>
              </a:rPr>
              <a:t>オートスケール機能により、需要に応じてセッションホストを自動的にスケールイン・スケールアウトできます</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主要な特徴と利点</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3 / 10</a:t>
            </a:r>
            <a:endParaRPr lang="en-US" sz="900" dirty="0"/>
          </a:p>
        </p:txBody>
      </p:sp>
      <p:sp>
        <p:nvSpPr>
          <p:cNvPr id="5" name="Shape 3"/>
          <p:cNvSpPr/>
          <p:nvPr/>
        </p:nvSpPr>
        <p:spPr>
          <a:xfrm>
            <a:off x="457200" y="1280160"/>
            <a:ext cx="3474720" cy="2103120"/>
          </a:xfrm>
          <a:prstGeom prst="roundRect">
            <a:avLst>
              <a:gd name="adj" fmla="val 6522"/>
            </a:avLst>
          </a:prstGeom>
          <a:solidFill>
            <a:srgbClr val="F3F2F1"/>
          </a:solidFill>
          <a:ln w="25400">
            <a:solidFill>
              <a:srgbClr val="0078D4"/>
            </a:solidFill>
            <a:prstDash val="solid"/>
          </a:ln>
        </p:spPr>
      </p:sp>
      <p:sp>
        <p:nvSpPr>
          <p:cNvPr id="6" name="Text 4"/>
          <p:cNvSpPr/>
          <p:nvPr/>
        </p:nvSpPr>
        <p:spPr>
          <a:xfrm>
            <a:off x="594360" y="1417320"/>
            <a:ext cx="3200400" cy="457200"/>
          </a:xfrm>
          <a:prstGeom prst="rect">
            <a:avLst/>
          </a:prstGeom>
          <a:noFill/>
          <a:ln/>
        </p:spPr>
        <p:txBody>
          <a:bodyPr wrap="square" rtlCol="0" anchor="ctr"/>
          <a:lstStyle/>
          <a:p>
            <a:pPr indent="0" marL="0">
              <a:buNone/>
            </a:pPr>
            <a:r>
              <a:rPr lang="en-US" sz="1400" b="1" dirty="0">
                <a:solidFill>
                  <a:srgbClr val="0078D4"/>
                </a:solidFill>
                <a:latin typeface="Meiryo UI" pitchFamily="34" charset="0"/>
                <a:ea typeface="Meiryo UI" pitchFamily="34" charset="-122"/>
                <a:cs typeface="Meiryo UI" pitchFamily="34" charset="-120"/>
              </a:rPr>
              <a:t>⚙️  柔軟な構成</a:t>
            </a:r>
            <a:endParaRPr lang="en-US" sz="1400" dirty="0"/>
          </a:p>
        </p:txBody>
      </p:sp>
      <p:sp>
        <p:nvSpPr>
          <p:cNvPr id="7" name="Text 5"/>
          <p:cNvSpPr/>
          <p:nvPr/>
        </p:nvSpPr>
        <p:spPr>
          <a:xfrm>
            <a:off x="594360" y="1965960"/>
            <a:ext cx="3200400" cy="1280160"/>
          </a:xfrm>
          <a:prstGeom prst="rect">
            <a:avLst/>
          </a:prstGeom>
          <a:noFill/>
          <a:ln/>
        </p:spPr>
        <p:txBody>
          <a:bodyPr wrap="square" rtlCol="0" anchor="t"/>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多様なワークロードに対応する柔軟な VM サイズとイメージ選択が可能です</a:t>
            </a:r>
            <a:endParaRPr lang="en-US" sz="1100" dirty="0"/>
          </a:p>
        </p:txBody>
      </p:sp>
      <p:sp>
        <p:nvSpPr>
          <p:cNvPr id="8" name="Shape 6"/>
          <p:cNvSpPr/>
          <p:nvPr/>
        </p:nvSpPr>
        <p:spPr>
          <a:xfrm>
            <a:off x="4251960" y="1280160"/>
            <a:ext cx="3474720" cy="2103120"/>
          </a:xfrm>
          <a:prstGeom prst="roundRect">
            <a:avLst>
              <a:gd name="adj" fmla="val 6522"/>
            </a:avLst>
          </a:prstGeom>
          <a:solidFill>
            <a:srgbClr val="F3F2F1"/>
          </a:solidFill>
          <a:ln w="25400">
            <a:solidFill>
              <a:srgbClr val="107C10"/>
            </a:solidFill>
            <a:prstDash val="solid"/>
          </a:ln>
        </p:spPr>
      </p:sp>
      <p:sp>
        <p:nvSpPr>
          <p:cNvPr id="9" name="Text 7"/>
          <p:cNvSpPr/>
          <p:nvPr/>
        </p:nvSpPr>
        <p:spPr>
          <a:xfrm>
            <a:off x="4389120" y="1417320"/>
            <a:ext cx="3200400" cy="457200"/>
          </a:xfrm>
          <a:prstGeom prst="rect">
            <a:avLst/>
          </a:prstGeom>
          <a:noFill/>
          <a:ln/>
        </p:spPr>
        <p:txBody>
          <a:bodyPr wrap="square" rtlCol="0" anchor="ctr"/>
          <a:lstStyle/>
          <a:p>
            <a:pPr indent="0" marL="0">
              <a:buNone/>
            </a:pPr>
            <a:r>
              <a:rPr lang="en-US" sz="1400" b="1" dirty="0">
                <a:solidFill>
                  <a:srgbClr val="107C10"/>
                </a:solidFill>
                <a:latin typeface="Meiryo UI" pitchFamily="34" charset="0"/>
                <a:ea typeface="Meiryo UI" pitchFamily="34" charset="-122"/>
                <a:cs typeface="Meiryo UI" pitchFamily="34" charset="-120"/>
              </a:rPr>
              <a:t>💰  コスト最適化</a:t>
            </a:r>
            <a:endParaRPr lang="en-US" sz="1400" dirty="0"/>
          </a:p>
        </p:txBody>
      </p:sp>
      <p:sp>
        <p:nvSpPr>
          <p:cNvPr id="10" name="Text 8"/>
          <p:cNvSpPr/>
          <p:nvPr/>
        </p:nvSpPr>
        <p:spPr>
          <a:xfrm>
            <a:off x="4389120" y="1965960"/>
            <a:ext cx="3200400" cy="1280160"/>
          </a:xfrm>
          <a:prstGeom prst="rect">
            <a:avLst/>
          </a:prstGeom>
          <a:noFill/>
          <a:ln/>
        </p:spPr>
        <p:txBody>
          <a:bodyPr wrap="square" rtlCol="0" anchor="t"/>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Windows Enterprise マルチセッションにより、VM 数とオーバーヘッドを大幅に削減できます</a:t>
            </a:r>
            <a:endParaRPr lang="en-US" sz="1100" dirty="0"/>
          </a:p>
        </p:txBody>
      </p:sp>
      <p:sp>
        <p:nvSpPr>
          <p:cNvPr id="11" name="Shape 9"/>
          <p:cNvSpPr/>
          <p:nvPr/>
        </p:nvSpPr>
        <p:spPr>
          <a:xfrm>
            <a:off x="8046720" y="1280160"/>
            <a:ext cx="3474720" cy="2103120"/>
          </a:xfrm>
          <a:prstGeom prst="roundRect">
            <a:avLst>
              <a:gd name="adj" fmla="val 6522"/>
            </a:avLst>
          </a:prstGeom>
          <a:solidFill>
            <a:srgbClr val="F3F2F1"/>
          </a:solidFill>
          <a:ln w="25400">
            <a:solidFill>
              <a:srgbClr val="FF8C00"/>
            </a:solidFill>
            <a:prstDash val="solid"/>
          </a:ln>
        </p:spPr>
      </p:sp>
      <p:sp>
        <p:nvSpPr>
          <p:cNvPr id="12" name="Text 10"/>
          <p:cNvSpPr/>
          <p:nvPr/>
        </p:nvSpPr>
        <p:spPr>
          <a:xfrm>
            <a:off x="8183880" y="1417320"/>
            <a:ext cx="3200400" cy="457200"/>
          </a:xfrm>
          <a:prstGeom prst="rect">
            <a:avLst/>
          </a:prstGeom>
          <a:noFill/>
          <a:ln/>
        </p:spPr>
        <p:txBody>
          <a:bodyPr wrap="square" rtlCol="0" anchor="ctr"/>
          <a:lstStyle/>
          <a:p>
            <a:pPr indent="0" marL="0">
              <a:buNone/>
            </a:pPr>
            <a:r>
              <a:rPr lang="en-US" sz="1400" b="1" dirty="0">
                <a:solidFill>
                  <a:srgbClr val="FF8C00"/>
                </a:solidFill>
                <a:latin typeface="Meiryo UI" pitchFamily="34" charset="0"/>
                <a:ea typeface="Meiryo UI" pitchFamily="34" charset="-122"/>
                <a:cs typeface="Meiryo UI" pitchFamily="34" charset="-120"/>
              </a:rPr>
              <a:t>📈  オートスケール</a:t>
            </a:r>
            <a:endParaRPr lang="en-US" sz="1400" dirty="0"/>
          </a:p>
        </p:txBody>
      </p:sp>
      <p:sp>
        <p:nvSpPr>
          <p:cNvPr id="13" name="Text 11"/>
          <p:cNvSpPr/>
          <p:nvPr/>
        </p:nvSpPr>
        <p:spPr>
          <a:xfrm>
            <a:off x="8183880" y="1965960"/>
            <a:ext cx="3200400" cy="1280160"/>
          </a:xfrm>
          <a:prstGeom prst="rect">
            <a:avLst/>
          </a:prstGeom>
          <a:noFill/>
          <a:ln/>
        </p:spPr>
        <p:txBody>
          <a:bodyPr wrap="square" rtlCol="0" anchor="t"/>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時間帯・曜日・需要変動に応じた自動スケーリングでコスト管理を最適化できます</a:t>
            </a:r>
            <a:endParaRPr lang="en-US" sz="1100" dirty="0"/>
          </a:p>
        </p:txBody>
      </p:sp>
      <p:sp>
        <p:nvSpPr>
          <p:cNvPr id="14" name="Shape 12"/>
          <p:cNvSpPr/>
          <p:nvPr/>
        </p:nvSpPr>
        <p:spPr>
          <a:xfrm>
            <a:off x="457200" y="3657600"/>
            <a:ext cx="3474720" cy="2103120"/>
          </a:xfrm>
          <a:prstGeom prst="roundRect">
            <a:avLst>
              <a:gd name="adj" fmla="val 6522"/>
            </a:avLst>
          </a:prstGeom>
          <a:solidFill>
            <a:srgbClr val="F3F2F1"/>
          </a:solidFill>
          <a:ln w="25400">
            <a:solidFill>
              <a:srgbClr val="5C2D91"/>
            </a:solidFill>
            <a:prstDash val="solid"/>
          </a:ln>
        </p:spPr>
      </p:sp>
      <p:sp>
        <p:nvSpPr>
          <p:cNvPr id="15" name="Text 13"/>
          <p:cNvSpPr/>
          <p:nvPr/>
        </p:nvSpPr>
        <p:spPr>
          <a:xfrm>
            <a:off x="594360" y="3794760"/>
            <a:ext cx="3200400" cy="457200"/>
          </a:xfrm>
          <a:prstGeom prst="rect">
            <a:avLst/>
          </a:prstGeom>
          <a:noFill/>
          <a:ln/>
        </p:spPr>
        <p:txBody>
          <a:bodyPr wrap="square" rtlCol="0" anchor="ctr"/>
          <a:lstStyle/>
          <a:p>
            <a:pPr indent="0" marL="0">
              <a:buNone/>
            </a:pPr>
            <a:r>
              <a:rPr lang="en-US" sz="1400" b="1" dirty="0">
                <a:solidFill>
                  <a:srgbClr val="5C2D91"/>
                </a:solidFill>
                <a:latin typeface="Meiryo UI" pitchFamily="34" charset="0"/>
                <a:ea typeface="Meiryo UI" pitchFamily="34" charset="-122"/>
                <a:cs typeface="Meiryo UI" pitchFamily="34" charset="-120"/>
              </a:rPr>
              <a:t>👤  FSLogix プロファイル</a:t>
            </a:r>
            <a:endParaRPr lang="en-US" sz="1400" dirty="0"/>
          </a:p>
        </p:txBody>
      </p:sp>
      <p:sp>
        <p:nvSpPr>
          <p:cNvPr id="16" name="Text 14"/>
          <p:cNvSpPr/>
          <p:nvPr/>
        </p:nvSpPr>
        <p:spPr>
          <a:xfrm>
            <a:off x="594360" y="4343400"/>
            <a:ext cx="3200400" cy="1280160"/>
          </a:xfrm>
          <a:prstGeom prst="rect">
            <a:avLst/>
          </a:prstGeom>
          <a:noFill/>
          <a:ln/>
        </p:spPr>
        <p:txBody>
          <a:bodyPr wrap="square" rtlCol="0" anchor="t"/>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ユーザープロファイルをコンテナ化し、セッション間でのプロファイルローミングを実現します</a:t>
            </a:r>
            <a:endParaRPr lang="en-US" sz="1100" dirty="0"/>
          </a:p>
        </p:txBody>
      </p:sp>
      <p:sp>
        <p:nvSpPr>
          <p:cNvPr id="17" name="Shape 15"/>
          <p:cNvSpPr/>
          <p:nvPr/>
        </p:nvSpPr>
        <p:spPr>
          <a:xfrm>
            <a:off x="4251960" y="3657600"/>
            <a:ext cx="3474720" cy="2103120"/>
          </a:xfrm>
          <a:prstGeom prst="roundRect">
            <a:avLst>
              <a:gd name="adj" fmla="val 6522"/>
            </a:avLst>
          </a:prstGeom>
          <a:solidFill>
            <a:srgbClr val="F3F2F1"/>
          </a:solidFill>
          <a:ln w="25400">
            <a:solidFill>
              <a:srgbClr val="D13438"/>
            </a:solidFill>
            <a:prstDash val="solid"/>
          </a:ln>
        </p:spPr>
      </p:sp>
      <p:sp>
        <p:nvSpPr>
          <p:cNvPr id="18" name="Text 16"/>
          <p:cNvSpPr/>
          <p:nvPr/>
        </p:nvSpPr>
        <p:spPr>
          <a:xfrm>
            <a:off x="4389120" y="3794760"/>
            <a:ext cx="3200400" cy="457200"/>
          </a:xfrm>
          <a:prstGeom prst="rect">
            <a:avLst/>
          </a:prstGeom>
          <a:noFill/>
          <a:ln/>
        </p:spPr>
        <p:txBody>
          <a:bodyPr wrap="square" rtlCol="0" anchor="ctr"/>
          <a:lstStyle/>
          <a:p>
            <a:pPr indent="0" marL="0">
              <a:buNone/>
            </a:pPr>
            <a:r>
              <a:rPr lang="en-US" sz="1400" b="1" dirty="0">
                <a:solidFill>
                  <a:srgbClr val="D13438"/>
                </a:solidFill>
                <a:latin typeface="Meiryo UI" pitchFamily="34" charset="0"/>
                <a:ea typeface="Meiryo UI" pitchFamily="34" charset="-122"/>
                <a:cs typeface="Meiryo UI" pitchFamily="34" charset="-120"/>
              </a:rPr>
              <a:t>📦  App Attach</a:t>
            </a:r>
            <a:endParaRPr lang="en-US" sz="1400" dirty="0"/>
          </a:p>
        </p:txBody>
      </p:sp>
      <p:sp>
        <p:nvSpPr>
          <p:cNvPr id="19" name="Text 17"/>
          <p:cNvSpPr/>
          <p:nvPr/>
        </p:nvSpPr>
        <p:spPr>
          <a:xfrm>
            <a:off x="4389120" y="4343400"/>
            <a:ext cx="3200400" cy="1280160"/>
          </a:xfrm>
          <a:prstGeom prst="rect">
            <a:avLst/>
          </a:prstGeom>
          <a:noFill/>
          <a:ln/>
        </p:spPr>
        <p:txBody>
          <a:bodyPr wrap="square" rtlCol="0" anchor="t"/>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アプリケーションを OS から分離し、VM のプロビジョニングと管理を簡素化できます</a:t>
            </a:r>
            <a:endParaRPr lang="en-US" sz="1100" dirty="0"/>
          </a:p>
        </p:txBody>
      </p:sp>
      <p:sp>
        <p:nvSpPr>
          <p:cNvPr id="20" name="Shape 18"/>
          <p:cNvSpPr/>
          <p:nvPr/>
        </p:nvSpPr>
        <p:spPr>
          <a:xfrm>
            <a:off x="8046720" y="3657600"/>
            <a:ext cx="3474720" cy="2103120"/>
          </a:xfrm>
          <a:prstGeom prst="roundRect">
            <a:avLst>
              <a:gd name="adj" fmla="val 6522"/>
            </a:avLst>
          </a:prstGeom>
          <a:solidFill>
            <a:srgbClr val="F3F2F1"/>
          </a:solidFill>
          <a:ln w="25400">
            <a:solidFill>
              <a:srgbClr val="002050"/>
            </a:solidFill>
            <a:prstDash val="solid"/>
          </a:ln>
        </p:spPr>
      </p:sp>
      <p:sp>
        <p:nvSpPr>
          <p:cNvPr id="21" name="Text 19"/>
          <p:cNvSpPr/>
          <p:nvPr/>
        </p:nvSpPr>
        <p:spPr>
          <a:xfrm>
            <a:off x="8183880" y="3794760"/>
            <a:ext cx="3200400" cy="457200"/>
          </a:xfrm>
          <a:prstGeom prst="rect">
            <a:avLst/>
          </a:prstGeom>
          <a:noFill/>
          <a:ln/>
        </p:spPr>
        <p:txBody>
          <a:bodyPr wrap="square" rtlCol="0" anchor="ctr"/>
          <a:lstStyle/>
          <a:p>
            <a:pPr indent="0" marL="0">
              <a:buNone/>
            </a:pPr>
            <a:r>
              <a:rPr lang="en-US" sz="1400" b="1" dirty="0">
                <a:solidFill>
                  <a:srgbClr val="002050"/>
                </a:solidFill>
                <a:latin typeface="Meiryo UI" pitchFamily="34" charset="0"/>
                <a:ea typeface="Meiryo UI" pitchFamily="34" charset="-122"/>
                <a:cs typeface="Meiryo UI" pitchFamily="34" charset="-120"/>
              </a:rPr>
              <a:t>📱  マルチクライアント</a:t>
            </a:r>
            <a:endParaRPr lang="en-US" sz="1400" dirty="0"/>
          </a:p>
        </p:txBody>
      </p:sp>
      <p:sp>
        <p:nvSpPr>
          <p:cNvPr id="22" name="Text 20"/>
          <p:cNvSpPr/>
          <p:nvPr/>
        </p:nvSpPr>
        <p:spPr>
          <a:xfrm>
            <a:off x="8183880" y="4343400"/>
            <a:ext cx="3200400" cy="1280160"/>
          </a:xfrm>
          <a:prstGeom prst="rect">
            <a:avLst/>
          </a:prstGeom>
          <a:noFill/>
          <a:ln/>
        </p:spPr>
        <p:txBody>
          <a:bodyPr wrap="square" rtlCol="0" anchor="t"/>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Windows / macOS / iOS / Android / Web から接続できます</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サービスアーキテクチャ</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4 / 10</a:t>
            </a:r>
            <a:endParaRPr lang="en-US" sz="900" dirty="0"/>
          </a:p>
        </p:txBody>
      </p:sp>
      <p:sp>
        <p:nvSpPr>
          <p:cNvPr id="5" name="Shape 3"/>
          <p:cNvSpPr/>
          <p:nvPr/>
        </p:nvSpPr>
        <p:spPr>
          <a:xfrm>
            <a:off x="457200" y="1188720"/>
            <a:ext cx="5303520" cy="5029200"/>
          </a:xfrm>
          <a:prstGeom prst="roundRect">
            <a:avLst>
              <a:gd name="adj" fmla="val 2727"/>
            </a:avLst>
          </a:prstGeom>
          <a:solidFill>
            <a:srgbClr val="DEECF9"/>
          </a:solidFill>
          <a:ln w="19050">
            <a:solidFill>
              <a:srgbClr val="0078D4"/>
            </a:solidFill>
            <a:prstDash val="solid"/>
          </a:ln>
        </p:spPr>
      </p:sp>
      <p:sp>
        <p:nvSpPr>
          <p:cNvPr id="6" name="Text 4"/>
          <p:cNvSpPr/>
          <p:nvPr/>
        </p:nvSpPr>
        <p:spPr>
          <a:xfrm>
            <a:off x="640080" y="1280160"/>
            <a:ext cx="4937760" cy="365760"/>
          </a:xfrm>
          <a:prstGeom prst="rect">
            <a:avLst/>
          </a:prstGeom>
          <a:noFill/>
          <a:ln/>
        </p:spPr>
        <p:txBody>
          <a:bodyPr wrap="square" rtlCol="0" anchor="ctr"/>
          <a:lstStyle/>
          <a:p>
            <a:pPr indent="0" marL="0">
              <a:buNone/>
            </a:pPr>
            <a:r>
              <a:rPr lang="en-US" sz="1400" b="1" dirty="0">
                <a:solidFill>
                  <a:srgbClr val="0078D4"/>
                </a:solidFill>
                <a:latin typeface="Meiryo UI" pitchFamily="34" charset="0"/>
                <a:ea typeface="Meiryo UI" pitchFamily="34" charset="-122"/>
                <a:cs typeface="Meiryo UI" pitchFamily="34" charset="-120"/>
              </a:rPr>
              <a:t>☁️  Microsoft 管理（コントロールプレーン）</a:t>
            </a:r>
            <a:endParaRPr lang="en-US" sz="1400" dirty="0"/>
          </a:p>
        </p:txBody>
      </p:sp>
      <p:sp>
        <p:nvSpPr>
          <p:cNvPr id="7" name="Shape 5"/>
          <p:cNvSpPr/>
          <p:nvPr/>
        </p:nvSpPr>
        <p:spPr>
          <a:xfrm>
            <a:off x="822960" y="1828800"/>
            <a:ext cx="4572000" cy="868680"/>
          </a:xfrm>
          <a:prstGeom prst="roundRect">
            <a:avLst>
              <a:gd name="adj" fmla="val 10526"/>
            </a:avLst>
          </a:prstGeom>
          <a:solidFill>
            <a:srgbClr val="FFFFFF"/>
          </a:solidFill>
          <a:ln w="12700">
            <a:solidFill>
              <a:srgbClr val="0078D4"/>
            </a:solidFill>
            <a:prstDash val="solid"/>
          </a:ln>
        </p:spPr>
      </p:sp>
      <p:sp>
        <p:nvSpPr>
          <p:cNvPr id="8" name="Text 6"/>
          <p:cNvSpPr/>
          <p:nvPr/>
        </p:nvSpPr>
        <p:spPr>
          <a:xfrm>
            <a:off x="1005840" y="1874520"/>
            <a:ext cx="4206240" cy="365760"/>
          </a:xfrm>
          <a:prstGeom prst="rect">
            <a:avLst/>
          </a:prstGeom>
          <a:noFill/>
          <a:ln/>
        </p:spPr>
        <p:txBody>
          <a:bodyPr wrap="square" rtlCol="0" anchor="ctr"/>
          <a:lstStyle/>
          <a:p>
            <a:pPr indent="0" marL="0">
              <a:buNone/>
            </a:pPr>
            <a:r>
              <a:rPr lang="en-US" sz="1200" b="1" dirty="0">
                <a:solidFill>
                  <a:srgbClr val="0078D4"/>
                </a:solidFill>
                <a:latin typeface="Meiryo UI" pitchFamily="34" charset="0"/>
                <a:ea typeface="Meiryo UI" pitchFamily="34" charset="-122"/>
                <a:cs typeface="Meiryo UI" pitchFamily="34" charset="-120"/>
              </a:rPr>
              <a:t>Web サービス</a:t>
            </a:r>
            <a:endParaRPr lang="en-US" sz="1200" dirty="0"/>
          </a:p>
        </p:txBody>
      </p:sp>
      <p:sp>
        <p:nvSpPr>
          <p:cNvPr id="9" name="Text 7"/>
          <p:cNvSpPr/>
          <p:nvPr/>
        </p:nvSpPr>
        <p:spPr>
          <a:xfrm>
            <a:off x="1005840" y="2240280"/>
            <a:ext cx="4206240" cy="365760"/>
          </a:xfrm>
          <a:prstGeom prst="rect">
            <a:avLst/>
          </a:prstGeom>
          <a:noFill/>
          <a:ln/>
        </p:spPr>
        <p:txBody>
          <a:bodyPr wrap="square" rtlCol="0" anchor="ctr"/>
          <a:lstStyle/>
          <a:p>
            <a:pPr indent="0" marL="0">
              <a:buNone/>
            </a:pPr>
            <a:r>
              <a:rPr lang="en-US" sz="1000" dirty="0">
                <a:solidFill>
                  <a:srgbClr val="000000"/>
                </a:solidFill>
                <a:latin typeface="Meiryo UI" pitchFamily="34" charset="0"/>
                <a:ea typeface="Meiryo UI" pitchFamily="34" charset="-122"/>
                <a:cs typeface="Meiryo UI" pitchFamily="34" charset="-120"/>
              </a:rPr>
              <a:t>ユーザー向けエンドポイント・接続情報を返却します</a:t>
            </a:r>
            <a:endParaRPr lang="en-US" sz="1000" dirty="0"/>
          </a:p>
        </p:txBody>
      </p:sp>
      <p:sp>
        <p:nvSpPr>
          <p:cNvPr id="10" name="Shape 8"/>
          <p:cNvSpPr/>
          <p:nvPr/>
        </p:nvSpPr>
        <p:spPr>
          <a:xfrm>
            <a:off x="822960" y="2880360"/>
            <a:ext cx="4572000" cy="868680"/>
          </a:xfrm>
          <a:prstGeom prst="roundRect">
            <a:avLst>
              <a:gd name="adj" fmla="val 10526"/>
            </a:avLst>
          </a:prstGeom>
          <a:solidFill>
            <a:srgbClr val="FFFFFF"/>
          </a:solidFill>
          <a:ln w="12700">
            <a:solidFill>
              <a:srgbClr val="0078D4"/>
            </a:solidFill>
            <a:prstDash val="solid"/>
          </a:ln>
        </p:spPr>
      </p:sp>
      <p:sp>
        <p:nvSpPr>
          <p:cNvPr id="11" name="Text 9"/>
          <p:cNvSpPr/>
          <p:nvPr/>
        </p:nvSpPr>
        <p:spPr>
          <a:xfrm>
            <a:off x="1005840" y="2926080"/>
            <a:ext cx="4206240" cy="365760"/>
          </a:xfrm>
          <a:prstGeom prst="rect">
            <a:avLst/>
          </a:prstGeom>
          <a:noFill/>
          <a:ln/>
        </p:spPr>
        <p:txBody>
          <a:bodyPr wrap="square" rtlCol="0" anchor="ctr"/>
          <a:lstStyle/>
          <a:p>
            <a:pPr indent="0" marL="0">
              <a:buNone/>
            </a:pPr>
            <a:r>
              <a:rPr lang="en-US" sz="1200" b="1" dirty="0">
                <a:solidFill>
                  <a:srgbClr val="0078D4"/>
                </a:solidFill>
                <a:latin typeface="Meiryo UI" pitchFamily="34" charset="0"/>
                <a:ea typeface="Meiryo UI" pitchFamily="34" charset="-122"/>
                <a:cs typeface="Meiryo UI" pitchFamily="34" charset="-120"/>
              </a:rPr>
              <a:t>ブローカーサービス</a:t>
            </a:r>
            <a:endParaRPr lang="en-US" sz="1200" dirty="0"/>
          </a:p>
        </p:txBody>
      </p:sp>
      <p:sp>
        <p:nvSpPr>
          <p:cNvPr id="12" name="Text 10"/>
          <p:cNvSpPr/>
          <p:nvPr/>
        </p:nvSpPr>
        <p:spPr>
          <a:xfrm>
            <a:off x="1005840" y="3291840"/>
            <a:ext cx="4206240" cy="365760"/>
          </a:xfrm>
          <a:prstGeom prst="rect">
            <a:avLst/>
          </a:prstGeom>
          <a:noFill/>
          <a:ln/>
        </p:spPr>
        <p:txBody>
          <a:bodyPr wrap="square" rtlCol="0" anchor="ctr"/>
          <a:lstStyle/>
          <a:p>
            <a:pPr indent="0" marL="0">
              <a:buNone/>
            </a:pPr>
            <a:r>
              <a:rPr lang="en-US" sz="1000" dirty="0">
                <a:solidFill>
                  <a:srgbClr val="000000"/>
                </a:solidFill>
                <a:latin typeface="Meiryo UI" pitchFamily="34" charset="0"/>
                <a:ea typeface="Meiryo UI" pitchFamily="34" charset="-122"/>
                <a:cs typeface="Meiryo UI" pitchFamily="34" charset="-120"/>
              </a:rPr>
              <a:t>受信接続をオーケストレーションします</a:t>
            </a:r>
            <a:endParaRPr lang="en-US" sz="1000" dirty="0"/>
          </a:p>
        </p:txBody>
      </p:sp>
      <p:sp>
        <p:nvSpPr>
          <p:cNvPr id="13" name="Shape 11"/>
          <p:cNvSpPr/>
          <p:nvPr/>
        </p:nvSpPr>
        <p:spPr>
          <a:xfrm>
            <a:off x="822960" y="3931920"/>
            <a:ext cx="4572000" cy="868680"/>
          </a:xfrm>
          <a:prstGeom prst="roundRect">
            <a:avLst>
              <a:gd name="adj" fmla="val 10526"/>
            </a:avLst>
          </a:prstGeom>
          <a:solidFill>
            <a:srgbClr val="FFFFFF"/>
          </a:solidFill>
          <a:ln w="12700">
            <a:solidFill>
              <a:srgbClr val="0078D4"/>
            </a:solidFill>
            <a:prstDash val="solid"/>
          </a:ln>
        </p:spPr>
      </p:sp>
      <p:sp>
        <p:nvSpPr>
          <p:cNvPr id="14" name="Text 12"/>
          <p:cNvSpPr/>
          <p:nvPr/>
        </p:nvSpPr>
        <p:spPr>
          <a:xfrm>
            <a:off x="1005840" y="3977640"/>
            <a:ext cx="4206240" cy="365760"/>
          </a:xfrm>
          <a:prstGeom prst="rect">
            <a:avLst/>
          </a:prstGeom>
          <a:noFill/>
          <a:ln/>
        </p:spPr>
        <p:txBody>
          <a:bodyPr wrap="square" rtlCol="0" anchor="ctr"/>
          <a:lstStyle/>
          <a:p>
            <a:pPr indent="0" marL="0">
              <a:buNone/>
            </a:pPr>
            <a:r>
              <a:rPr lang="en-US" sz="1200" b="1" dirty="0">
                <a:solidFill>
                  <a:srgbClr val="0078D4"/>
                </a:solidFill>
                <a:latin typeface="Meiryo UI" pitchFamily="34" charset="0"/>
                <a:ea typeface="Meiryo UI" pitchFamily="34" charset="-122"/>
                <a:cs typeface="Meiryo UI" pitchFamily="34" charset="-120"/>
              </a:rPr>
              <a:t>ゲートウェイサービス</a:t>
            </a:r>
            <a:endParaRPr lang="en-US" sz="1200" dirty="0"/>
          </a:p>
        </p:txBody>
      </p:sp>
      <p:sp>
        <p:nvSpPr>
          <p:cNvPr id="15" name="Text 13"/>
          <p:cNvSpPr/>
          <p:nvPr/>
        </p:nvSpPr>
        <p:spPr>
          <a:xfrm>
            <a:off x="1005840" y="4343400"/>
            <a:ext cx="4206240" cy="365760"/>
          </a:xfrm>
          <a:prstGeom prst="rect">
            <a:avLst/>
          </a:prstGeom>
          <a:noFill/>
          <a:ln/>
        </p:spPr>
        <p:txBody>
          <a:bodyPr wrap="square" rtlCol="0" anchor="ctr"/>
          <a:lstStyle/>
          <a:p>
            <a:pPr indent="0" marL="0">
              <a:buNone/>
            </a:pPr>
            <a:r>
              <a:rPr lang="en-US" sz="1000" dirty="0">
                <a:solidFill>
                  <a:srgbClr val="000000"/>
                </a:solidFill>
                <a:latin typeface="Meiryo UI" pitchFamily="34" charset="0"/>
                <a:ea typeface="Meiryo UI" pitchFamily="34" charset="-122"/>
                <a:cs typeface="Meiryo UI" pitchFamily="34" charset="-120"/>
              </a:rPr>
              <a:t>WebSocket 経由で RDP を中継します（逆接続）</a:t>
            </a:r>
            <a:endParaRPr lang="en-US" sz="1000" dirty="0"/>
          </a:p>
        </p:txBody>
      </p:sp>
      <p:sp>
        <p:nvSpPr>
          <p:cNvPr id="16" name="Shape 14"/>
          <p:cNvSpPr/>
          <p:nvPr/>
        </p:nvSpPr>
        <p:spPr>
          <a:xfrm>
            <a:off x="822960" y="4983480"/>
            <a:ext cx="4572000" cy="868680"/>
          </a:xfrm>
          <a:prstGeom prst="roundRect">
            <a:avLst>
              <a:gd name="adj" fmla="val 10526"/>
            </a:avLst>
          </a:prstGeom>
          <a:solidFill>
            <a:srgbClr val="FFFFFF"/>
          </a:solidFill>
          <a:ln w="12700">
            <a:solidFill>
              <a:srgbClr val="0078D4"/>
            </a:solidFill>
            <a:prstDash val="solid"/>
          </a:ln>
        </p:spPr>
      </p:sp>
      <p:sp>
        <p:nvSpPr>
          <p:cNvPr id="17" name="Text 15"/>
          <p:cNvSpPr/>
          <p:nvPr/>
        </p:nvSpPr>
        <p:spPr>
          <a:xfrm>
            <a:off x="1005840" y="5029200"/>
            <a:ext cx="4206240" cy="365760"/>
          </a:xfrm>
          <a:prstGeom prst="rect">
            <a:avLst/>
          </a:prstGeom>
          <a:noFill/>
          <a:ln/>
        </p:spPr>
        <p:txBody>
          <a:bodyPr wrap="square" rtlCol="0" anchor="ctr"/>
          <a:lstStyle/>
          <a:p>
            <a:pPr indent="0" marL="0">
              <a:buNone/>
            </a:pPr>
            <a:r>
              <a:rPr lang="en-US" sz="1200" b="1" dirty="0">
                <a:solidFill>
                  <a:srgbClr val="0078D4"/>
                </a:solidFill>
                <a:latin typeface="Meiryo UI" pitchFamily="34" charset="0"/>
                <a:ea typeface="Meiryo UI" pitchFamily="34" charset="-122"/>
                <a:cs typeface="Meiryo UI" pitchFamily="34" charset="-120"/>
              </a:rPr>
              <a:t>リソースディレクトリ</a:t>
            </a:r>
            <a:endParaRPr lang="en-US" sz="1200" dirty="0"/>
          </a:p>
        </p:txBody>
      </p:sp>
      <p:sp>
        <p:nvSpPr>
          <p:cNvPr id="18" name="Text 16"/>
          <p:cNvSpPr/>
          <p:nvPr/>
        </p:nvSpPr>
        <p:spPr>
          <a:xfrm>
            <a:off x="1005840" y="5394960"/>
            <a:ext cx="4206240" cy="365760"/>
          </a:xfrm>
          <a:prstGeom prst="rect">
            <a:avLst/>
          </a:prstGeom>
          <a:noFill/>
          <a:ln/>
        </p:spPr>
        <p:txBody>
          <a:bodyPr wrap="square" rtlCol="0" anchor="ctr"/>
          <a:lstStyle/>
          <a:p>
            <a:pPr indent="0" marL="0">
              <a:buNone/>
            </a:pPr>
            <a:r>
              <a:rPr lang="en-US" sz="1000" dirty="0">
                <a:solidFill>
                  <a:srgbClr val="000000"/>
                </a:solidFill>
                <a:latin typeface="Meiryo UI" pitchFamily="34" charset="0"/>
                <a:ea typeface="Meiryo UI" pitchFamily="34" charset="-122"/>
                <a:cs typeface="Meiryo UI" pitchFamily="34" charset="-120"/>
              </a:rPr>
              <a:t>接続情報の地理的データベースです</a:t>
            </a:r>
            <a:endParaRPr lang="en-US" sz="1000" dirty="0"/>
          </a:p>
        </p:txBody>
      </p:sp>
      <p:sp>
        <p:nvSpPr>
          <p:cNvPr id="19" name="Text 17"/>
          <p:cNvSpPr/>
          <p:nvPr/>
        </p:nvSpPr>
        <p:spPr>
          <a:xfrm>
            <a:off x="5760720" y="3200400"/>
            <a:ext cx="731520" cy="731520"/>
          </a:xfrm>
          <a:prstGeom prst="rect">
            <a:avLst/>
          </a:prstGeom>
          <a:noFill/>
          <a:ln/>
        </p:spPr>
        <p:txBody>
          <a:bodyPr wrap="square" rtlCol="0" anchor="ctr"/>
          <a:lstStyle/>
          <a:p>
            <a:pPr algn="ctr" indent="0" marL="0">
              <a:buNone/>
            </a:pPr>
            <a:r>
              <a:rPr lang="en-US" sz="3200" dirty="0">
                <a:solidFill>
                  <a:srgbClr val="0078D4"/>
                </a:solidFill>
                <a:latin typeface="Meiryo UI" pitchFamily="34" charset="0"/>
                <a:ea typeface="Meiryo UI" pitchFamily="34" charset="-122"/>
                <a:cs typeface="Meiryo UI" pitchFamily="34" charset="-120"/>
              </a:rPr>
              <a:t>⇄</a:t>
            </a:r>
            <a:endParaRPr lang="en-US" sz="3200" dirty="0"/>
          </a:p>
        </p:txBody>
      </p:sp>
      <p:sp>
        <p:nvSpPr>
          <p:cNvPr id="20" name="Shape 18"/>
          <p:cNvSpPr/>
          <p:nvPr/>
        </p:nvSpPr>
        <p:spPr>
          <a:xfrm>
            <a:off x="6492240" y="1188720"/>
            <a:ext cx="5303520" cy="3291840"/>
          </a:xfrm>
          <a:prstGeom prst="roundRect">
            <a:avLst>
              <a:gd name="adj" fmla="val 4167"/>
            </a:avLst>
          </a:prstGeom>
          <a:solidFill>
            <a:srgbClr val="F3F2F1"/>
          </a:solidFill>
          <a:ln w="19050">
            <a:solidFill>
              <a:srgbClr val="107C10"/>
            </a:solidFill>
            <a:prstDash val="solid"/>
          </a:ln>
        </p:spPr>
      </p:sp>
      <p:sp>
        <p:nvSpPr>
          <p:cNvPr id="21" name="Text 19"/>
          <p:cNvSpPr/>
          <p:nvPr/>
        </p:nvSpPr>
        <p:spPr>
          <a:xfrm>
            <a:off x="6675120" y="1280160"/>
            <a:ext cx="4937760" cy="365760"/>
          </a:xfrm>
          <a:prstGeom prst="rect">
            <a:avLst/>
          </a:prstGeom>
          <a:noFill/>
          <a:ln/>
        </p:spPr>
        <p:txBody>
          <a:bodyPr wrap="square" rtlCol="0" anchor="ctr"/>
          <a:lstStyle/>
          <a:p>
            <a:pPr indent="0" marL="0">
              <a:buNone/>
            </a:pPr>
            <a:r>
              <a:rPr lang="en-US" sz="1400" b="1" dirty="0">
                <a:solidFill>
                  <a:srgbClr val="107C10"/>
                </a:solidFill>
                <a:latin typeface="Meiryo UI" pitchFamily="34" charset="0"/>
                <a:ea typeface="Meiryo UI" pitchFamily="34" charset="-122"/>
                <a:cs typeface="Meiryo UI" pitchFamily="34" charset="-120"/>
              </a:rPr>
              <a:t>🏢  お客様管理</a:t>
            </a:r>
            <a:endParaRPr lang="en-US" sz="1400" dirty="0"/>
          </a:p>
        </p:txBody>
      </p:sp>
      <p:sp>
        <p:nvSpPr>
          <p:cNvPr id="22" name="Shape 20"/>
          <p:cNvSpPr/>
          <p:nvPr/>
        </p:nvSpPr>
        <p:spPr>
          <a:xfrm>
            <a:off x="6766560" y="1828800"/>
            <a:ext cx="4754880" cy="594360"/>
          </a:xfrm>
          <a:prstGeom prst="roundRect">
            <a:avLst>
              <a:gd name="adj" fmla="val 15385"/>
            </a:avLst>
          </a:prstGeom>
          <a:solidFill>
            <a:srgbClr val="FFFFFF"/>
          </a:solidFill>
          <a:ln w="12700">
            <a:solidFill>
              <a:srgbClr val="107C10"/>
            </a:solidFill>
            <a:prstDash val="solid"/>
          </a:ln>
        </p:spPr>
      </p:sp>
      <p:sp>
        <p:nvSpPr>
          <p:cNvPr id="23" name="Text 21"/>
          <p:cNvSpPr/>
          <p:nvPr/>
        </p:nvSpPr>
        <p:spPr>
          <a:xfrm>
            <a:off x="6949440" y="1828800"/>
            <a:ext cx="4389120" cy="594360"/>
          </a:xfrm>
          <a:prstGeom prst="rect">
            <a:avLst/>
          </a:prstGeom>
          <a:noFill/>
          <a:ln/>
        </p:spPr>
        <p:txBody>
          <a:bodyPr wrap="square" rtlCol="0" anchor="ctr"/>
          <a:lstStyle/>
          <a:p>
            <a:pPr indent="0" marL="0">
              <a:buNone/>
            </a:pPr>
            <a:r>
              <a:rPr lang="en-US" sz="1100" dirty="0">
                <a:solidFill>
                  <a:srgbClr val="000000"/>
                </a:solidFill>
                <a:latin typeface="Meiryo UI" pitchFamily="34" charset="0"/>
                <a:ea typeface="Meiryo UI" pitchFamily="34" charset="-122"/>
                <a:cs typeface="Meiryo UI" pitchFamily="34" charset="-120"/>
              </a:rPr>
              <a:t>セッションホスト VM（OS イメージ・アプリ含む）を管理します</a:t>
            </a:r>
            <a:endParaRPr lang="en-US" sz="1100" dirty="0"/>
          </a:p>
        </p:txBody>
      </p:sp>
      <p:sp>
        <p:nvSpPr>
          <p:cNvPr id="24" name="Shape 22"/>
          <p:cNvSpPr/>
          <p:nvPr/>
        </p:nvSpPr>
        <p:spPr>
          <a:xfrm>
            <a:off x="6766560" y="2606040"/>
            <a:ext cx="4754880" cy="594360"/>
          </a:xfrm>
          <a:prstGeom prst="roundRect">
            <a:avLst>
              <a:gd name="adj" fmla="val 15385"/>
            </a:avLst>
          </a:prstGeom>
          <a:solidFill>
            <a:srgbClr val="FFFFFF"/>
          </a:solidFill>
          <a:ln w="12700">
            <a:solidFill>
              <a:srgbClr val="107C10"/>
            </a:solidFill>
            <a:prstDash val="solid"/>
          </a:ln>
        </p:spPr>
      </p:sp>
      <p:sp>
        <p:nvSpPr>
          <p:cNvPr id="25" name="Text 23"/>
          <p:cNvSpPr/>
          <p:nvPr/>
        </p:nvSpPr>
        <p:spPr>
          <a:xfrm>
            <a:off x="6949440" y="2606040"/>
            <a:ext cx="4389120" cy="594360"/>
          </a:xfrm>
          <a:prstGeom prst="rect">
            <a:avLst/>
          </a:prstGeom>
          <a:noFill/>
          <a:ln/>
        </p:spPr>
        <p:txBody>
          <a:bodyPr wrap="square" rtlCol="0" anchor="ctr"/>
          <a:lstStyle/>
          <a:p>
            <a:pPr indent="0" marL="0">
              <a:buNone/>
            </a:pPr>
            <a:r>
              <a:rPr lang="en-US" sz="1100" dirty="0">
                <a:solidFill>
                  <a:srgbClr val="000000"/>
                </a:solidFill>
                <a:latin typeface="Meiryo UI" pitchFamily="34" charset="0"/>
                <a:ea typeface="Meiryo UI" pitchFamily="34" charset="-122"/>
                <a:cs typeface="Meiryo UI" pitchFamily="34" charset="-120"/>
              </a:rPr>
              <a:t>仮想ネットワーク接続を構成します</a:t>
            </a:r>
            <a:endParaRPr lang="en-US" sz="1100" dirty="0"/>
          </a:p>
        </p:txBody>
      </p:sp>
      <p:sp>
        <p:nvSpPr>
          <p:cNvPr id="26" name="Shape 24"/>
          <p:cNvSpPr/>
          <p:nvPr/>
        </p:nvSpPr>
        <p:spPr>
          <a:xfrm>
            <a:off x="6766560" y="3383280"/>
            <a:ext cx="4754880" cy="594360"/>
          </a:xfrm>
          <a:prstGeom prst="roundRect">
            <a:avLst>
              <a:gd name="adj" fmla="val 15385"/>
            </a:avLst>
          </a:prstGeom>
          <a:solidFill>
            <a:srgbClr val="FFFFFF"/>
          </a:solidFill>
          <a:ln w="12700">
            <a:solidFill>
              <a:srgbClr val="107C10"/>
            </a:solidFill>
            <a:prstDash val="solid"/>
          </a:ln>
        </p:spPr>
      </p:sp>
      <p:sp>
        <p:nvSpPr>
          <p:cNvPr id="27" name="Text 25"/>
          <p:cNvSpPr/>
          <p:nvPr/>
        </p:nvSpPr>
        <p:spPr>
          <a:xfrm>
            <a:off x="6949440" y="3383280"/>
            <a:ext cx="4389120" cy="594360"/>
          </a:xfrm>
          <a:prstGeom prst="rect">
            <a:avLst/>
          </a:prstGeom>
          <a:noFill/>
          <a:ln/>
        </p:spPr>
        <p:txBody>
          <a:bodyPr wrap="square" rtlCol="0" anchor="ctr"/>
          <a:lstStyle/>
          <a:p>
            <a:pPr indent="0" marL="0">
              <a:buNone/>
            </a:pPr>
            <a:r>
              <a:rPr lang="en-US" sz="1100" dirty="0">
                <a:solidFill>
                  <a:srgbClr val="000000"/>
                </a:solidFill>
                <a:latin typeface="Meiryo UI" pitchFamily="34" charset="0"/>
                <a:ea typeface="Meiryo UI" pitchFamily="34" charset="-122"/>
                <a:cs typeface="Meiryo UI" pitchFamily="34" charset="-120"/>
              </a:rPr>
              <a:t>ユーザー ID 管理・アクセス制御を行います</a:t>
            </a:r>
            <a:endParaRPr lang="en-US" sz="1100" dirty="0"/>
          </a:p>
        </p:txBody>
      </p:sp>
      <p:sp>
        <p:nvSpPr>
          <p:cNvPr id="28" name="Shape 26"/>
          <p:cNvSpPr/>
          <p:nvPr/>
        </p:nvSpPr>
        <p:spPr>
          <a:xfrm>
            <a:off x="6492240" y="4754880"/>
            <a:ext cx="5303520" cy="1188720"/>
          </a:xfrm>
          <a:prstGeom prst="roundRect">
            <a:avLst>
              <a:gd name="adj" fmla="val 11538"/>
            </a:avLst>
          </a:prstGeom>
          <a:solidFill>
            <a:srgbClr val="F3F2F1"/>
          </a:solidFill>
          <a:ln w="19050">
            <a:solidFill>
              <a:srgbClr val="FF8C00"/>
            </a:solidFill>
            <a:prstDash val="solid"/>
          </a:ln>
        </p:spPr>
      </p:sp>
      <p:sp>
        <p:nvSpPr>
          <p:cNvPr id="29" name="Text 27"/>
          <p:cNvSpPr/>
          <p:nvPr/>
        </p:nvSpPr>
        <p:spPr>
          <a:xfrm>
            <a:off x="6675120" y="4846320"/>
            <a:ext cx="4937760" cy="320040"/>
          </a:xfrm>
          <a:prstGeom prst="rect">
            <a:avLst/>
          </a:prstGeom>
          <a:noFill/>
          <a:ln/>
        </p:spPr>
        <p:txBody>
          <a:bodyPr wrap="square" rtlCol="0" anchor="ctr"/>
          <a:lstStyle/>
          <a:p>
            <a:pPr indent="0" marL="0">
              <a:buNone/>
            </a:pPr>
            <a:r>
              <a:rPr lang="en-US" sz="1300" b="1" dirty="0">
                <a:solidFill>
                  <a:srgbClr val="FF8C00"/>
                </a:solidFill>
                <a:latin typeface="Meiryo UI" pitchFamily="34" charset="0"/>
                <a:ea typeface="Meiryo UI" pitchFamily="34" charset="-122"/>
                <a:cs typeface="Meiryo UI" pitchFamily="34" charset="-120"/>
              </a:rPr>
              <a:t>🌐  サービスの回復性</a:t>
            </a:r>
            <a:endParaRPr lang="en-US" sz="1300" dirty="0"/>
          </a:p>
        </p:txBody>
      </p:sp>
      <p:sp>
        <p:nvSpPr>
          <p:cNvPr id="30" name="Text 28"/>
          <p:cNvSpPr/>
          <p:nvPr/>
        </p:nvSpPr>
        <p:spPr>
          <a:xfrm>
            <a:off x="6675120" y="5212080"/>
            <a:ext cx="4937760" cy="640080"/>
          </a:xfrm>
          <a:prstGeom prst="rect">
            <a:avLst/>
          </a:prstGeom>
          <a:noFill/>
          <a:ln/>
        </p:spPr>
        <p:txBody>
          <a:bodyPr wrap="square" rtlCol="0" anchor="t"/>
          <a:lstStyle/>
          <a:p>
            <a:pPr indent="0" marL="0">
              <a:lnSpc>
                <a:spcPct val="130000"/>
              </a:lnSpc>
              <a:buNone/>
            </a:pPr>
            <a:r>
              <a:rPr lang="en-US" sz="1050" dirty="0">
                <a:solidFill>
                  <a:srgbClr val="000000"/>
                </a:solidFill>
                <a:latin typeface="Meiryo UI" pitchFamily="34" charset="0"/>
                <a:ea typeface="Meiryo UI" pitchFamily="34" charset="-122"/>
                <a:cs typeface="Meiryo UI" pitchFamily="34" charset="-120"/>
              </a:rPr>
              <a:t>約40の Azure リージョンに分散配置され、Azure Traffic Manager と Front Door により最寄りのエントリポイントへ自動ルーティングされます</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セッションホストの種類と構成オプション</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5 / 10</a:t>
            </a:r>
            <a:endParaRPr lang="en-US" sz="900" dirty="0"/>
          </a:p>
        </p:txBody>
      </p:sp>
      <p:sp>
        <p:nvSpPr>
          <p:cNvPr id="5" name="Text 3"/>
          <p:cNvSpPr/>
          <p:nvPr/>
        </p:nvSpPr>
        <p:spPr>
          <a:xfrm>
            <a:off x="457200" y="1188720"/>
            <a:ext cx="11274552" cy="320040"/>
          </a:xfrm>
          <a:prstGeom prst="rect">
            <a:avLst/>
          </a:prstGeom>
          <a:noFill/>
          <a:ln/>
        </p:spPr>
        <p:txBody>
          <a:bodyPr wrap="square" rtlCol="0" anchor="ctr"/>
          <a:lstStyle/>
          <a:p>
            <a:pPr indent="0" marL="0">
              <a:buNone/>
            </a:pPr>
            <a:r>
              <a:rPr lang="en-US" sz="1400" b="1" dirty="0">
                <a:solidFill>
                  <a:srgbClr val="0078D4"/>
                </a:solidFill>
                <a:latin typeface="Meiryo UI" pitchFamily="34" charset="0"/>
                <a:ea typeface="Meiryo UI" pitchFamily="34" charset="-122"/>
                <a:cs typeface="Meiryo UI" pitchFamily="34" charset="-120"/>
              </a:rPr>
              <a:t>ホストプール × セッション構成マトリクス</a:t>
            </a:r>
            <a:endParaRPr lang="en-US" sz="1400" dirty="0"/>
          </a:p>
        </p:txBody>
      </p:sp>
      <p:sp>
        <p:nvSpPr>
          <p:cNvPr id="6" name="Shape 4"/>
          <p:cNvSpPr/>
          <p:nvPr/>
        </p:nvSpPr>
        <p:spPr>
          <a:xfrm>
            <a:off x="2926080" y="1645920"/>
            <a:ext cx="4114800" cy="502920"/>
          </a:xfrm>
          <a:prstGeom prst="rect">
            <a:avLst/>
          </a:prstGeom>
          <a:solidFill>
            <a:srgbClr val="0078D4"/>
          </a:solidFill>
          <a:ln/>
        </p:spPr>
      </p:sp>
      <p:sp>
        <p:nvSpPr>
          <p:cNvPr id="7" name="Text 5"/>
          <p:cNvSpPr/>
          <p:nvPr/>
        </p:nvSpPr>
        <p:spPr>
          <a:xfrm>
            <a:off x="2926080" y="1645920"/>
            <a:ext cx="4114800" cy="50292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シングルセッション</a:t>
            </a:r>
            <a:endParaRPr lang="en-US" sz="1200" dirty="0"/>
          </a:p>
        </p:txBody>
      </p:sp>
      <p:sp>
        <p:nvSpPr>
          <p:cNvPr id="8" name="Shape 6"/>
          <p:cNvSpPr/>
          <p:nvPr/>
        </p:nvSpPr>
        <p:spPr>
          <a:xfrm>
            <a:off x="7132320" y="1645920"/>
            <a:ext cx="4114800" cy="502920"/>
          </a:xfrm>
          <a:prstGeom prst="rect">
            <a:avLst/>
          </a:prstGeom>
          <a:solidFill>
            <a:srgbClr val="5C2D91"/>
          </a:solidFill>
          <a:ln/>
        </p:spPr>
      </p:sp>
      <p:sp>
        <p:nvSpPr>
          <p:cNvPr id="9" name="Text 7"/>
          <p:cNvSpPr/>
          <p:nvPr/>
        </p:nvSpPr>
        <p:spPr>
          <a:xfrm>
            <a:off x="7132320" y="1645920"/>
            <a:ext cx="4114800" cy="50292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マルチセッション</a:t>
            </a:r>
            <a:endParaRPr lang="en-US" sz="1200" dirty="0"/>
          </a:p>
        </p:txBody>
      </p:sp>
      <p:sp>
        <p:nvSpPr>
          <p:cNvPr id="10" name="Shape 8"/>
          <p:cNvSpPr/>
          <p:nvPr/>
        </p:nvSpPr>
        <p:spPr>
          <a:xfrm>
            <a:off x="457200" y="2240280"/>
            <a:ext cx="2377440" cy="1828800"/>
          </a:xfrm>
          <a:prstGeom prst="rect">
            <a:avLst/>
          </a:prstGeom>
          <a:solidFill>
            <a:srgbClr val="107C10"/>
          </a:solidFill>
          <a:ln/>
        </p:spPr>
      </p:sp>
      <p:sp>
        <p:nvSpPr>
          <p:cNvPr id="11" name="Text 9"/>
          <p:cNvSpPr/>
          <p:nvPr/>
        </p:nvSpPr>
        <p:spPr>
          <a:xfrm>
            <a:off x="457200" y="2240280"/>
            <a:ext cx="2377440" cy="1828800"/>
          </a:xfrm>
          <a:prstGeom prst="rect">
            <a:avLst/>
          </a:prstGeom>
          <a:noFill/>
          <a:ln/>
        </p:spPr>
        <p:txBody>
          <a:bodyPr wrap="square"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プールド</a:t>
            </a:r>
            <a:endParaRPr lang="en-US" sz="1300" dirty="0"/>
          </a:p>
          <a:p>
            <a:pPr algn="ctr" indent="0" marL="0">
              <a:buNone/>
            </a:pPr>
            <a:r>
              <a:rPr lang="en-US" sz="1300" b="1" dirty="0">
                <a:solidFill>
                  <a:srgbClr val="FFFFFF"/>
                </a:solidFill>
                <a:latin typeface="Meiryo UI" pitchFamily="34" charset="0"/>
                <a:ea typeface="Meiryo UI" pitchFamily="34" charset="-122"/>
                <a:cs typeface="Meiryo UI" pitchFamily="34" charset="-120"/>
              </a:rPr>
              <a:t>（共有）</a:t>
            </a:r>
            <a:endParaRPr lang="en-US" sz="1300" dirty="0"/>
          </a:p>
        </p:txBody>
      </p:sp>
      <p:sp>
        <p:nvSpPr>
          <p:cNvPr id="12" name="Shape 10"/>
          <p:cNvSpPr/>
          <p:nvPr/>
        </p:nvSpPr>
        <p:spPr>
          <a:xfrm>
            <a:off x="457200" y="4160520"/>
            <a:ext cx="2377440" cy="1828800"/>
          </a:xfrm>
          <a:prstGeom prst="rect">
            <a:avLst/>
          </a:prstGeom>
          <a:solidFill>
            <a:srgbClr val="FF8C00"/>
          </a:solidFill>
          <a:ln/>
        </p:spPr>
      </p:sp>
      <p:sp>
        <p:nvSpPr>
          <p:cNvPr id="13" name="Text 11"/>
          <p:cNvSpPr/>
          <p:nvPr/>
        </p:nvSpPr>
        <p:spPr>
          <a:xfrm>
            <a:off x="457200" y="4160520"/>
            <a:ext cx="2377440" cy="1828800"/>
          </a:xfrm>
          <a:prstGeom prst="rect">
            <a:avLst/>
          </a:prstGeom>
          <a:noFill/>
          <a:ln/>
        </p:spPr>
        <p:txBody>
          <a:bodyPr wrap="square"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パーソナル</a:t>
            </a:r>
            <a:endParaRPr lang="en-US" sz="1300" dirty="0"/>
          </a:p>
          <a:p>
            <a:pPr algn="ctr" indent="0" marL="0">
              <a:buNone/>
            </a:pPr>
            <a:r>
              <a:rPr lang="en-US" sz="1300" b="1" dirty="0">
                <a:solidFill>
                  <a:srgbClr val="FFFFFF"/>
                </a:solidFill>
                <a:latin typeface="Meiryo UI" pitchFamily="34" charset="0"/>
                <a:ea typeface="Meiryo UI" pitchFamily="34" charset="-122"/>
                <a:cs typeface="Meiryo UI" pitchFamily="34" charset="-120"/>
              </a:rPr>
              <a:t>（専用）</a:t>
            </a:r>
            <a:endParaRPr lang="en-US" sz="1300" dirty="0"/>
          </a:p>
        </p:txBody>
      </p:sp>
      <p:sp>
        <p:nvSpPr>
          <p:cNvPr id="14" name="Shape 12"/>
          <p:cNvSpPr/>
          <p:nvPr/>
        </p:nvSpPr>
        <p:spPr>
          <a:xfrm>
            <a:off x="2926080" y="2240280"/>
            <a:ext cx="4114800" cy="1828800"/>
          </a:xfrm>
          <a:prstGeom prst="rect">
            <a:avLst/>
          </a:prstGeom>
          <a:solidFill>
            <a:srgbClr val="F3F2F1"/>
          </a:solidFill>
          <a:ln w="6350">
            <a:solidFill>
              <a:srgbClr val="CCCCCC"/>
            </a:solidFill>
            <a:prstDash val="solid"/>
          </a:ln>
        </p:spPr>
      </p:sp>
      <p:sp>
        <p:nvSpPr>
          <p:cNvPr id="15" name="Text 13"/>
          <p:cNvSpPr/>
          <p:nvPr/>
        </p:nvSpPr>
        <p:spPr>
          <a:xfrm>
            <a:off x="3063240" y="2331720"/>
            <a:ext cx="3840480" cy="1645920"/>
          </a:xfrm>
          <a:prstGeom prst="rect">
            <a:avLst/>
          </a:prstGeom>
          <a:noFill/>
          <a:ln/>
        </p:spPr>
        <p:txBody>
          <a:bodyPr wrap="square" rtlCol="0" anchor="ctr"/>
          <a:lstStyle/>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1VM に 1 ユーザーを割り当てます</a:t>
            </a: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共有ホストプールから</a:t>
            </a: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負荷分散で割り当てられます</a:t>
            </a:r>
            <a:endParaRPr lang="en-US" sz="1050" dirty="0"/>
          </a:p>
          <a:p>
            <a:pPr algn="ctr" indent="0" marL="0">
              <a:lnSpc>
                <a:spcPct val="125000"/>
              </a:lnSpc>
              <a:buNone/>
            </a:pP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高パフォーマンス用途に最適です</a:t>
            </a:r>
            <a:endParaRPr lang="en-US" sz="1050" dirty="0"/>
          </a:p>
        </p:txBody>
      </p:sp>
      <p:sp>
        <p:nvSpPr>
          <p:cNvPr id="16" name="Shape 14"/>
          <p:cNvSpPr/>
          <p:nvPr/>
        </p:nvSpPr>
        <p:spPr>
          <a:xfrm>
            <a:off x="7132320" y="2240280"/>
            <a:ext cx="4114800" cy="1828800"/>
          </a:xfrm>
          <a:prstGeom prst="rect">
            <a:avLst/>
          </a:prstGeom>
          <a:solidFill>
            <a:srgbClr val="DEECF9"/>
          </a:solidFill>
          <a:ln w="6350">
            <a:solidFill>
              <a:srgbClr val="CCCCCC"/>
            </a:solidFill>
            <a:prstDash val="solid"/>
          </a:ln>
        </p:spPr>
      </p:sp>
      <p:sp>
        <p:nvSpPr>
          <p:cNvPr id="17" name="Text 15"/>
          <p:cNvSpPr/>
          <p:nvPr/>
        </p:nvSpPr>
        <p:spPr>
          <a:xfrm>
            <a:off x="7269480" y="2331720"/>
            <a:ext cx="3840480" cy="1645920"/>
          </a:xfrm>
          <a:prstGeom prst="rect">
            <a:avLst/>
          </a:prstGeom>
          <a:noFill/>
          <a:ln/>
        </p:spPr>
        <p:txBody>
          <a:bodyPr wrap="square" rtlCol="0" anchor="ctr"/>
          <a:lstStyle/>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1VM に複数ユーザーが接続します</a:t>
            </a: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Windows 11/10 マルチセッション</a:t>
            </a: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負荷分散で割り当てられます</a:t>
            </a:r>
            <a:endParaRPr lang="en-US" sz="1050" dirty="0"/>
          </a:p>
          <a:p>
            <a:pPr algn="ctr" indent="0" marL="0">
              <a:lnSpc>
                <a:spcPct val="125000"/>
              </a:lnSpc>
              <a:buNone/>
            </a:pP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コスト最適化に最適です</a:t>
            </a:r>
            <a:endParaRPr lang="en-US" sz="1050" dirty="0"/>
          </a:p>
        </p:txBody>
      </p:sp>
      <p:sp>
        <p:nvSpPr>
          <p:cNvPr id="18" name="Shape 16"/>
          <p:cNvSpPr/>
          <p:nvPr/>
        </p:nvSpPr>
        <p:spPr>
          <a:xfrm>
            <a:off x="2926080" y="4160520"/>
            <a:ext cx="4114800" cy="1828800"/>
          </a:xfrm>
          <a:prstGeom prst="rect">
            <a:avLst/>
          </a:prstGeom>
          <a:solidFill>
            <a:srgbClr val="F3F2F1"/>
          </a:solidFill>
          <a:ln w="6350">
            <a:solidFill>
              <a:srgbClr val="CCCCCC"/>
            </a:solidFill>
            <a:prstDash val="solid"/>
          </a:ln>
        </p:spPr>
      </p:sp>
      <p:sp>
        <p:nvSpPr>
          <p:cNvPr id="19" name="Text 17"/>
          <p:cNvSpPr/>
          <p:nvPr/>
        </p:nvSpPr>
        <p:spPr>
          <a:xfrm>
            <a:off x="3063240" y="4251960"/>
            <a:ext cx="3840480" cy="1645920"/>
          </a:xfrm>
          <a:prstGeom prst="rect">
            <a:avLst/>
          </a:prstGeom>
          <a:noFill/>
          <a:ln/>
        </p:spPr>
        <p:txBody>
          <a:bodyPr wrap="square" rtlCol="0" anchor="ctr"/>
          <a:lstStyle/>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1VM を 1 ユーザーに専用で割り当てます</a:t>
            </a: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永続デスクトップ環境を提供します</a:t>
            </a:r>
            <a:endParaRPr lang="en-US" sz="1050" dirty="0"/>
          </a:p>
          <a:p>
            <a:pPr algn="ctr" indent="0" marL="0">
              <a:lnSpc>
                <a:spcPct val="125000"/>
              </a:lnSpc>
              <a:buNone/>
            </a:pP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カスタム構成が必要な</a:t>
            </a: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ワークロードに最適です</a:t>
            </a:r>
            <a:endParaRPr lang="en-US" sz="1050" dirty="0"/>
          </a:p>
        </p:txBody>
      </p:sp>
      <p:sp>
        <p:nvSpPr>
          <p:cNvPr id="20" name="Shape 18"/>
          <p:cNvSpPr/>
          <p:nvPr/>
        </p:nvSpPr>
        <p:spPr>
          <a:xfrm>
            <a:off x="7132320" y="4160520"/>
            <a:ext cx="4114800" cy="1828800"/>
          </a:xfrm>
          <a:prstGeom prst="rect">
            <a:avLst/>
          </a:prstGeom>
          <a:solidFill>
            <a:srgbClr val="E8E8E8"/>
          </a:solidFill>
          <a:ln w="6350">
            <a:solidFill>
              <a:srgbClr val="CCCCCC"/>
            </a:solidFill>
            <a:prstDash val="solid"/>
          </a:ln>
        </p:spPr>
      </p:sp>
      <p:sp>
        <p:nvSpPr>
          <p:cNvPr id="21" name="Text 19"/>
          <p:cNvSpPr/>
          <p:nvPr/>
        </p:nvSpPr>
        <p:spPr>
          <a:xfrm>
            <a:off x="7269480" y="4251960"/>
            <a:ext cx="3840480" cy="1645920"/>
          </a:xfrm>
          <a:prstGeom prst="rect">
            <a:avLst/>
          </a:prstGeom>
          <a:noFill/>
          <a:ln/>
        </p:spPr>
        <p:txBody>
          <a:bodyPr wrap="square" rtlCol="0" anchor="ctr"/>
          <a:lstStyle/>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一般的には選択されない</a:t>
            </a:r>
            <a:endParaRPr lang="en-US" sz="1050" dirty="0"/>
          </a:p>
          <a:p>
            <a:pPr algn="ctr" indent="0" marL="0">
              <a:lnSpc>
                <a:spcPct val="125000"/>
              </a:lnSpc>
              <a:buNone/>
            </a:pPr>
            <a:r>
              <a:rPr lang="en-US" sz="1050" dirty="0">
                <a:solidFill>
                  <a:srgbClr val="000000"/>
                </a:solidFill>
                <a:latin typeface="Meiryo UI" pitchFamily="34" charset="0"/>
                <a:ea typeface="Meiryo UI" pitchFamily="34" charset="-122"/>
                <a:cs typeface="Meiryo UI" pitchFamily="34" charset="-120"/>
              </a:rPr>
              <a:t>組み合わせです</a:t>
            </a:r>
            <a:endParaRPr lang="en-US" sz="1050" dirty="0"/>
          </a:p>
        </p:txBody>
      </p:sp>
      <p:sp>
        <p:nvSpPr>
          <p:cNvPr id="22" name="Text 20"/>
          <p:cNvSpPr/>
          <p:nvPr/>
        </p:nvSpPr>
        <p:spPr>
          <a:xfrm>
            <a:off x="457200" y="6126480"/>
            <a:ext cx="11274552" cy="320040"/>
          </a:xfrm>
          <a:prstGeom prst="rect">
            <a:avLst/>
          </a:prstGeom>
          <a:noFill/>
          <a:ln/>
        </p:spPr>
        <p:txBody>
          <a:bodyPr wrap="square" rtlCol="0" anchor="ctr"/>
          <a:lstStyle/>
          <a:p>
            <a:pPr indent="0" marL="0">
              <a:buNone/>
            </a:pPr>
            <a:r>
              <a:rPr lang="en-US" sz="1000" b="1" dirty="0">
                <a:solidFill>
                  <a:srgbClr val="0078D4"/>
                </a:solidFill>
                <a:latin typeface="Meiryo UI" pitchFamily="34" charset="0"/>
                <a:ea typeface="Meiryo UI" pitchFamily="34" charset="-122"/>
                <a:cs typeface="Meiryo UI" pitchFamily="34" charset="-120"/>
              </a:rPr>
              <a:t>負荷分散: </a:t>
            </a:r>
            <a:pPr indent="0" marL="0">
              <a:buNone/>
            </a:pPr>
            <a:r>
              <a:rPr lang="en-US" sz="1000" dirty="0">
                <a:solidFill>
                  <a:srgbClr val="000000"/>
                </a:solidFill>
                <a:latin typeface="Meiryo UI" pitchFamily="34" charset="0"/>
                <a:ea typeface="Meiryo UI" pitchFamily="34" charset="-122"/>
                <a:cs typeface="Meiryo UI" pitchFamily="34" charset="-120"/>
              </a:rPr>
              <a:t>幅優先（最も接続数の少ない VM に割り当て）と深さ優先（1台を容量いっぱいまで使用）の 2 方式があります</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ネットワークと接続要件</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6 / 10</a:t>
            </a:r>
            <a:endParaRPr lang="en-US" sz="900" dirty="0"/>
          </a:p>
        </p:txBody>
      </p:sp>
      <p:sp>
        <p:nvSpPr>
          <p:cNvPr id="5" name="Text 3"/>
          <p:cNvSpPr/>
          <p:nvPr/>
        </p:nvSpPr>
        <p:spPr>
          <a:xfrm>
            <a:off x="457200" y="1188720"/>
            <a:ext cx="11274552" cy="320040"/>
          </a:xfrm>
          <a:prstGeom prst="rect">
            <a:avLst/>
          </a:prstGeom>
          <a:noFill/>
          <a:ln/>
        </p:spPr>
        <p:txBody>
          <a:bodyPr wrap="square" rtlCol="0" anchor="ctr"/>
          <a:lstStyle/>
          <a:p>
            <a:pPr indent="0" marL="0">
              <a:buNone/>
            </a:pPr>
            <a:r>
              <a:rPr lang="en-US" sz="1400" b="1" dirty="0">
                <a:solidFill>
                  <a:srgbClr val="0078D4"/>
                </a:solidFill>
                <a:latin typeface="Meiryo UI" pitchFamily="34" charset="0"/>
                <a:ea typeface="Meiryo UI" pitchFamily="34" charset="-122"/>
                <a:cs typeface="Meiryo UI" pitchFamily="34" charset="-120"/>
              </a:rPr>
              <a:t>接続パターン</a:t>
            </a:r>
            <a:endParaRPr lang="en-US" sz="1400" dirty="0"/>
          </a:p>
        </p:txBody>
      </p:sp>
      <p:sp>
        <p:nvSpPr>
          <p:cNvPr id="6" name="Shape 4"/>
          <p:cNvSpPr/>
          <p:nvPr/>
        </p:nvSpPr>
        <p:spPr>
          <a:xfrm>
            <a:off x="457200" y="1645920"/>
            <a:ext cx="3474720" cy="2286000"/>
          </a:xfrm>
          <a:prstGeom prst="roundRect">
            <a:avLst>
              <a:gd name="adj" fmla="val 6000"/>
            </a:avLst>
          </a:prstGeom>
          <a:solidFill>
            <a:srgbClr val="F3F2F1"/>
          </a:solidFill>
          <a:ln w="25400">
            <a:solidFill>
              <a:srgbClr val="0078D4"/>
            </a:solidFill>
            <a:prstDash val="solid"/>
          </a:ln>
        </p:spPr>
      </p:sp>
      <p:sp>
        <p:nvSpPr>
          <p:cNvPr id="7" name="Text 5"/>
          <p:cNvSpPr/>
          <p:nvPr/>
        </p:nvSpPr>
        <p:spPr>
          <a:xfrm>
            <a:off x="594360" y="1783080"/>
            <a:ext cx="3200400" cy="640080"/>
          </a:xfrm>
          <a:prstGeom prst="rect">
            <a:avLst/>
          </a:prstGeom>
          <a:noFill/>
          <a:ln/>
        </p:spPr>
        <p:txBody>
          <a:bodyPr wrap="square" rtlCol="0" anchor="ctr"/>
          <a:lstStyle/>
          <a:p>
            <a:pPr algn="ctr" indent="0" marL="0">
              <a:buNone/>
            </a:pPr>
            <a:r>
              <a:rPr lang="en-US" sz="1200" b="1" dirty="0">
                <a:solidFill>
                  <a:srgbClr val="0078D4"/>
                </a:solidFill>
                <a:latin typeface="Meiryo UI" pitchFamily="34" charset="0"/>
                <a:ea typeface="Meiryo UI" pitchFamily="34" charset="-122"/>
                <a:cs typeface="Meiryo UI" pitchFamily="34" charset="-120"/>
              </a:rPr>
              <a:t>🔄  TCP 逆接続（既定）</a:t>
            </a:r>
            <a:endParaRPr lang="en-US" sz="1200" dirty="0"/>
          </a:p>
        </p:txBody>
      </p:sp>
      <p:sp>
        <p:nvSpPr>
          <p:cNvPr id="8" name="Text 6"/>
          <p:cNvSpPr/>
          <p:nvPr/>
        </p:nvSpPr>
        <p:spPr>
          <a:xfrm>
            <a:off x="594360" y="2514600"/>
            <a:ext cx="3200400" cy="1280160"/>
          </a:xfrm>
          <a:prstGeom prst="rect">
            <a:avLst/>
          </a:prstGeom>
          <a:noFill/>
          <a:ln/>
        </p:spPr>
        <p:txBody>
          <a:bodyPr wrap="square" rtlCol="0" anchor="t"/>
          <a:lstStyle/>
          <a:p>
            <a:pPr indent="0" marL="0">
              <a:lnSpc>
                <a:spcPct val="130000"/>
              </a:lnSpc>
              <a:buNone/>
            </a:pPr>
            <a:r>
              <a:rPr lang="en-US" sz="1050" dirty="0">
                <a:solidFill>
                  <a:srgbClr val="000000"/>
                </a:solidFill>
                <a:latin typeface="Meiryo UI" pitchFamily="34" charset="0"/>
                <a:ea typeface="Meiryo UI" pitchFamily="34" charset="-122"/>
                <a:cs typeface="Meiryo UI" pitchFamily="34" charset="-120"/>
              </a:rPr>
              <a:t>TCP 443 を使用し、受信ポートの開放は不要です。ゲートウェイサービスが WebSocket 経由で RDP を中継します</a:t>
            </a:r>
            <a:endParaRPr lang="en-US" sz="1050" dirty="0"/>
          </a:p>
        </p:txBody>
      </p:sp>
      <p:sp>
        <p:nvSpPr>
          <p:cNvPr id="9" name="Shape 7"/>
          <p:cNvSpPr/>
          <p:nvPr/>
        </p:nvSpPr>
        <p:spPr>
          <a:xfrm>
            <a:off x="4251960" y="1645920"/>
            <a:ext cx="3474720" cy="2286000"/>
          </a:xfrm>
          <a:prstGeom prst="roundRect">
            <a:avLst>
              <a:gd name="adj" fmla="val 6000"/>
            </a:avLst>
          </a:prstGeom>
          <a:solidFill>
            <a:srgbClr val="F3F2F1"/>
          </a:solidFill>
          <a:ln w="25400">
            <a:solidFill>
              <a:srgbClr val="107C10"/>
            </a:solidFill>
            <a:prstDash val="solid"/>
          </a:ln>
        </p:spPr>
      </p:sp>
      <p:sp>
        <p:nvSpPr>
          <p:cNvPr id="10" name="Text 8"/>
          <p:cNvSpPr/>
          <p:nvPr/>
        </p:nvSpPr>
        <p:spPr>
          <a:xfrm>
            <a:off x="4389120" y="1783080"/>
            <a:ext cx="3200400" cy="640080"/>
          </a:xfrm>
          <a:prstGeom prst="rect">
            <a:avLst/>
          </a:prstGeom>
          <a:noFill/>
          <a:ln/>
        </p:spPr>
        <p:txBody>
          <a:bodyPr wrap="square" rtlCol="0" anchor="ctr"/>
          <a:lstStyle/>
          <a:p>
            <a:pPr algn="ctr" indent="0" marL="0">
              <a:buNone/>
            </a:pPr>
            <a:r>
              <a:rPr lang="en-US" sz="1200" b="1" dirty="0">
                <a:solidFill>
                  <a:srgbClr val="107C10"/>
                </a:solidFill>
                <a:latin typeface="Meiryo UI" pitchFamily="34" charset="0"/>
                <a:ea typeface="Meiryo UI" pitchFamily="34" charset="-122"/>
                <a:cs typeface="Meiryo UI" pitchFamily="34" charset="-120"/>
              </a:rPr>
              <a:t>⚡  RDP Shortpath</a:t>
            </a:r>
            <a:endParaRPr lang="en-US" sz="1200" dirty="0"/>
          </a:p>
          <a:p>
            <a:pPr algn="ctr" indent="0" marL="0">
              <a:buNone/>
            </a:pPr>
            <a:r>
              <a:rPr lang="en-US" sz="1200" b="1" dirty="0">
                <a:solidFill>
                  <a:srgbClr val="107C10"/>
                </a:solidFill>
                <a:latin typeface="Meiryo UI" pitchFamily="34" charset="0"/>
                <a:ea typeface="Meiryo UI" pitchFamily="34" charset="-122"/>
                <a:cs typeface="Meiryo UI" pitchFamily="34" charset="-120"/>
              </a:rPr>
              <a:t>（マネージドネットワーク）</a:t>
            </a:r>
            <a:endParaRPr lang="en-US" sz="1200" dirty="0"/>
          </a:p>
        </p:txBody>
      </p:sp>
      <p:sp>
        <p:nvSpPr>
          <p:cNvPr id="11" name="Text 9"/>
          <p:cNvSpPr/>
          <p:nvPr/>
        </p:nvSpPr>
        <p:spPr>
          <a:xfrm>
            <a:off x="4389120" y="2514600"/>
            <a:ext cx="3200400" cy="1280160"/>
          </a:xfrm>
          <a:prstGeom prst="rect">
            <a:avLst/>
          </a:prstGeom>
          <a:noFill/>
          <a:ln/>
        </p:spPr>
        <p:txBody>
          <a:bodyPr wrap="square" rtlCol="0" anchor="t"/>
          <a:lstStyle/>
          <a:p>
            <a:pPr indent="0" marL="0">
              <a:lnSpc>
                <a:spcPct val="130000"/>
              </a:lnSpc>
              <a:buNone/>
            </a:pPr>
            <a:r>
              <a:rPr lang="en-US" sz="1050" dirty="0">
                <a:solidFill>
                  <a:srgbClr val="000000"/>
                </a:solidFill>
                <a:latin typeface="Meiryo UI" pitchFamily="34" charset="0"/>
                <a:ea typeface="Meiryo UI" pitchFamily="34" charset="-122"/>
                <a:cs typeface="Meiryo UI" pitchFamily="34" charset="-120"/>
              </a:rPr>
              <a:t>ExpressRoute/VPN 経由で直接 UDP 接続を確立し、低遅延・高信頼な接続を実現します</a:t>
            </a:r>
            <a:endParaRPr lang="en-US" sz="1050" dirty="0"/>
          </a:p>
        </p:txBody>
      </p:sp>
      <p:sp>
        <p:nvSpPr>
          <p:cNvPr id="12" name="Shape 10"/>
          <p:cNvSpPr/>
          <p:nvPr/>
        </p:nvSpPr>
        <p:spPr>
          <a:xfrm>
            <a:off x="8046720" y="1645920"/>
            <a:ext cx="3474720" cy="2286000"/>
          </a:xfrm>
          <a:prstGeom prst="roundRect">
            <a:avLst>
              <a:gd name="adj" fmla="val 6000"/>
            </a:avLst>
          </a:prstGeom>
          <a:solidFill>
            <a:srgbClr val="F3F2F1"/>
          </a:solidFill>
          <a:ln w="25400">
            <a:solidFill>
              <a:srgbClr val="FF8C00"/>
            </a:solidFill>
            <a:prstDash val="solid"/>
          </a:ln>
        </p:spPr>
      </p:sp>
      <p:sp>
        <p:nvSpPr>
          <p:cNvPr id="13" name="Text 11"/>
          <p:cNvSpPr/>
          <p:nvPr/>
        </p:nvSpPr>
        <p:spPr>
          <a:xfrm>
            <a:off x="8183880" y="1783080"/>
            <a:ext cx="3200400" cy="640080"/>
          </a:xfrm>
          <a:prstGeom prst="rect">
            <a:avLst/>
          </a:prstGeom>
          <a:noFill/>
          <a:ln/>
        </p:spPr>
        <p:txBody>
          <a:bodyPr wrap="square" rtlCol="0" anchor="ctr"/>
          <a:lstStyle/>
          <a:p>
            <a:pPr algn="ctr" indent="0" marL="0">
              <a:buNone/>
            </a:pPr>
            <a:r>
              <a:rPr lang="en-US" sz="1200" b="1" dirty="0">
                <a:solidFill>
                  <a:srgbClr val="FF8C00"/>
                </a:solidFill>
                <a:latin typeface="Meiryo UI" pitchFamily="34" charset="0"/>
                <a:ea typeface="Meiryo UI" pitchFamily="34" charset="-122"/>
                <a:cs typeface="Meiryo UI" pitchFamily="34" charset="-120"/>
              </a:rPr>
              <a:t>🌐  RDP Shortpath</a:t>
            </a:r>
            <a:endParaRPr lang="en-US" sz="1200" dirty="0"/>
          </a:p>
          <a:p>
            <a:pPr algn="ctr" indent="0" marL="0">
              <a:buNone/>
            </a:pPr>
            <a:r>
              <a:rPr lang="en-US" sz="1200" b="1" dirty="0">
                <a:solidFill>
                  <a:srgbClr val="FF8C00"/>
                </a:solidFill>
                <a:latin typeface="Meiryo UI" pitchFamily="34" charset="0"/>
                <a:ea typeface="Meiryo UI" pitchFamily="34" charset="-122"/>
                <a:cs typeface="Meiryo UI" pitchFamily="34" charset="-120"/>
              </a:rPr>
              <a:t>（パブリックネットワーク）</a:t>
            </a:r>
            <a:endParaRPr lang="en-US" sz="1200" dirty="0"/>
          </a:p>
        </p:txBody>
      </p:sp>
      <p:sp>
        <p:nvSpPr>
          <p:cNvPr id="14" name="Text 12"/>
          <p:cNvSpPr/>
          <p:nvPr/>
        </p:nvSpPr>
        <p:spPr>
          <a:xfrm>
            <a:off x="8183880" y="2514600"/>
            <a:ext cx="3200400" cy="1280160"/>
          </a:xfrm>
          <a:prstGeom prst="rect">
            <a:avLst/>
          </a:prstGeom>
          <a:noFill/>
          <a:ln/>
        </p:spPr>
        <p:txBody>
          <a:bodyPr wrap="square" rtlCol="0" anchor="t"/>
          <a:lstStyle/>
          <a:p>
            <a:pPr indent="0" marL="0">
              <a:lnSpc>
                <a:spcPct val="130000"/>
              </a:lnSpc>
              <a:buNone/>
            </a:pPr>
            <a:r>
              <a:rPr lang="en-US" sz="1050" dirty="0">
                <a:solidFill>
                  <a:srgbClr val="000000"/>
                </a:solidFill>
                <a:latin typeface="Meiryo UI" pitchFamily="34" charset="0"/>
                <a:ea typeface="Meiryo UI" pitchFamily="34" charset="-122"/>
                <a:cs typeface="Meiryo UI" pitchFamily="34" charset="-120"/>
              </a:rPr>
              <a:t>ICE/STUN/TURN プロトコルでインターネット経由 UDP 接続を確立します。失敗時は TCP にフォールバックします</a:t>
            </a:r>
            <a:endParaRPr lang="en-US" sz="1050" dirty="0"/>
          </a:p>
        </p:txBody>
      </p:sp>
      <p:sp>
        <p:nvSpPr>
          <p:cNvPr id="15" name="Shape 13"/>
          <p:cNvSpPr/>
          <p:nvPr/>
        </p:nvSpPr>
        <p:spPr>
          <a:xfrm>
            <a:off x="457200" y="4114800"/>
            <a:ext cx="7772400" cy="2194560"/>
          </a:xfrm>
          <a:prstGeom prst="roundRect">
            <a:avLst>
              <a:gd name="adj" fmla="val 5000"/>
            </a:avLst>
          </a:prstGeom>
          <a:solidFill>
            <a:srgbClr val="DEECF9"/>
          </a:solidFill>
          <a:ln/>
        </p:spPr>
      </p:sp>
      <p:sp>
        <p:nvSpPr>
          <p:cNvPr id="16" name="Text 14"/>
          <p:cNvSpPr/>
          <p:nvPr/>
        </p:nvSpPr>
        <p:spPr>
          <a:xfrm>
            <a:off x="640080" y="4206240"/>
            <a:ext cx="7406640" cy="365760"/>
          </a:xfrm>
          <a:prstGeom prst="rect">
            <a:avLst/>
          </a:prstGeom>
          <a:noFill/>
          <a:ln/>
        </p:spPr>
        <p:txBody>
          <a:bodyPr wrap="square" rtlCol="0" anchor="ctr"/>
          <a:lstStyle/>
          <a:p>
            <a:pPr indent="0" marL="0">
              <a:buNone/>
            </a:pPr>
            <a:r>
              <a:rPr lang="en-US" sz="1300" b="1" dirty="0">
                <a:solidFill>
                  <a:srgbClr val="0078D4"/>
                </a:solidFill>
                <a:latin typeface="Meiryo UI" pitchFamily="34" charset="0"/>
                <a:ea typeface="Meiryo UI" pitchFamily="34" charset="-122"/>
                <a:cs typeface="Meiryo UI" pitchFamily="34" charset="-120"/>
              </a:rPr>
              <a:t>📋  ネットワーク要件</a:t>
            </a:r>
            <a:endParaRPr lang="en-US" sz="1300" dirty="0"/>
          </a:p>
        </p:txBody>
      </p:sp>
      <p:sp>
        <p:nvSpPr>
          <p:cNvPr id="17" name="Text 15"/>
          <p:cNvSpPr/>
          <p:nvPr/>
        </p:nvSpPr>
        <p:spPr>
          <a:xfrm>
            <a:off x="640080" y="4617720"/>
            <a:ext cx="7406640" cy="1554480"/>
          </a:xfrm>
          <a:prstGeom prst="rect">
            <a:avLst/>
          </a:prstGeom>
          <a:noFill/>
          <a:ln/>
        </p:spPr>
        <p:txBody>
          <a:bodyPr wrap="square" rtlCol="0" anchor="t"/>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 セッションホスト用の仮想ネットワークとサブネットが必要です
</a:t>
            </a:r>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 ドメインコントローラーと DNS サーバーへの接続が必要です（AD DS / Entra Domain Services 使用時）
</a:t>
            </a:r>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 AVD サービスの必須 URL リストへの TCP 443 アクセスが必要です
</a:t>
            </a:r>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 クライアント → セッションホストの RTT レイテンシは 150ms 未満を推奨しています</a:t>
            </a:r>
            <a:endParaRPr lang="en-US" sz="1100" dirty="0"/>
          </a:p>
        </p:txBody>
      </p:sp>
      <p:sp>
        <p:nvSpPr>
          <p:cNvPr id="18" name="Shape 16"/>
          <p:cNvSpPr/>
          <p:nvPr/>
        </p:nvSpPr>
        <p:spPr>
          <a:xfrm>
            <a:off x="8412480" y="4114800"/>
            <a:ext cx="3291840" cy="2194560"/>
          </a:xfrm>
          <a:prstGeom prst="roundRect">
            <a:avLst>
              <a:gd name="adj" fmla="val 5000"/>
            </a:avLst>
          </a:prstGeom>
          <a:solidFill>
            <a:srgbClr val="F3F2F1"/>
          </a:solidFill>
          <a:ln w="19050">
            <a:solidFill>
              <a:srgbClr val="5C2D91"/>
            </a:solidFill>
            <a:prstDash val="solid"/>
          </a:ln>
        </p:spPr>
      </p:sp>
      <p:sp>
        <p:nvSpPr>
          <p:cNvPr id="19" name="Text 17"/>
          <p:cNvSpPr/>
          <p:nvPr/>
        </p:nvSpPr>
        <p:spPr>
          <a:xfrm>
            <a:off x="8595360" y="4206240"/>
            <a:ext cx="2926080" cy="365760"/>
          </a:xfrm>
          <a:prstGeom prst="rect">
            <a:avLst/>
          </a:prstGeom>
          <a:noFill/>
          <a:ln/>
        </p:spPr>
        <p:txBody>
          <a:bodyPr wrap="square" rtlCol="0" anchor="ctr"/>
          <a:lstStyle/>
          <a:p>
            <a:pPr indent="0" marL="0">
              <a:buNone/>
            </a:pPr>
            <a:r>
              <a:rPr lang="en-US" sz="1300" b="1" dirty="0">
                <a:solidFill>
                  <a:srgbClr val="5C2D91"/>
                </a:solidFill>
                <a:latin typeface="Meiryo UI" pitchFamily="34" charset="0"/>
                <a:ea typeface="Meiryo UI" pitchFamily="34" charset="-122"/>
                <a:cs typeface="Meiryo UI" pitchFamily="34" charset="-120"/>
              </a:rPr>
              <a:t>🔒  Azure Private Link</a:t>
            </a:r>
            <a:endParaRPr lang="en-US" sz="1300" dirty="0"/>
          </a:p>
        </p:txBody>
      </p:sp>
      <p:sp>
        <p:nvSpPr>
          <p:cNvPr id="20" name="Text 18"/>
          <p:cNvSpPr/>
          <p:nvPr/>
        </p:nvSpPr>
        <p:spPr>
          <a:xfrm>
            <a:off x="8595360" y="4617720"/>
            <a:ext cx="2926080" cy="1554480"/>
          </a:xfrm>
          <a:prstGeom prst="rect">
            <a:avLst/>
          </a:prstGeom>
          <a:noFill/>
          <a:ln/>
        </p:spPr>
        <p:txBody>
          <a:bodyPr wrap="square" rtlCol="0" anchor="t"/>
          <a:lstStyle/>
          <a:p>
            <a:pPr indent="0" marL="0">
              <a:lnSpc>
                <a:spcPct val="130000"/>
              </a:lnSpc>
              <a:buNone/>
            </a:pPr>
            <a:r>
              <a:rPr lang="en-US" sz="1050" dirty="0">
                <a:solidFill>
                  <a:srgbClr val="000000"/>
                </a:solidFill>
                <a:latin typeface="Meiryo UI" pitchFamily="34" charset="0"/>
                <a:ea typeface="Meiryo UI" pitchFamily="34" charset="-122"/>
                <a:cs typeface="Meiryo UI" pitchFamily="34" charset="-120"/>
              </a:rPr>
              <a:t>プライベートエンドポイント経由で Microsoft バックボーンネットワーク上を通信し、パブリックインターネットへの露出を回避できます</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セキュリティ機能</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7 / 10</a:t>
            </a:r>
            <a:endParaRPr lang="en-US" sz="900" dirty="0"/>
          </a:p>
        </p:txBody>
      </p:sp>
      <p:sp>
        <p:nvSpPr>
          <p:cNvPr id="5" name="Shape 3"/>
          <p:cNvSpPr/>
          <p:nvPr/>
        </p:nvSpPr>
        <p:spPr>
          <a:xfrm>
            <a:off x="457200" y="1188720"/>
            <a:ext cx="11274552" cy="1188720"/>
          </a:xfrm>
          <a:prstGeom prst="roundRect">
            <a:avLst>
              <a:gd name="adj" fmla="val 9231"/>
            </a:avLst>
          </a:prstGeom>
          <a:solidFill>
            <a:srgbClr val="F3F2F1"/>
          </a:solidFill>
          <a:ln w="25400">
            <a:solidFill>
              <a:srgbClr val="0078D4"/>
            </a:solidFill>
            <a:prstDash val="solid"/>
          </a:ln>
        </p:spPr>
      </p:sp>
      <p:sp>
        <p:nvSpPr>
          <p:cNvPr id="6" name="Shape 4"/>
          <p:cNvSpPr/>
          <p:nvPr/>
        </p:nvSpPr>
        <p:spPr>
          <a:xfrm>
            <a:off x="457200" y="1188720"/>
            <a:ext cx="3200400" cy="1188720"/>
          </a:xfrm>
          <a:prstGeom prst="roundRect">
            <a:avLst>
              <a:gd name="adj" fmla="val 9231"/>
            </a:avLst>
          </a:prstGeom>
          <a:solidFill>
            <a:srgbClr val="0078D4"/>
          </a:solidFill>
          <a:ln/>
        </p:spPr>
      </p:sp>
      <p:sp>
        <p:nvSpPr>
          <p:cNvPr id="7" name="Shape 5"/>
          <p:cNvSpPr/>
          <p:nvPr/>
        </p:nvSpPr>
        <p:spPr>
          <a:xfrm>
            <a:off x="2286000" y="1188720"/>
            <a:ext cx="1463040" cy="1188720"/>
          </a:xfrm>
          <a:prstGeom prst="rect">
            <a:avLst/>
          </a:prstGeom>
          <a:solidFill>
            <a:srgbClr val="0078D4"/>
          </a:solidFill>
          <a:ln/>
        </p:spPr>
      </p:sp>
      <p:sp>
        <p:nvSpPr>
          <p:cNvPr id="8" name="Text 6"/>
          <p:cNvSpPr/>
          <p:nvPr/>
        </p:nvSpPr>
        <p:spPr>
          <a:xfrm>
            <a:off x="640080" y="1188720"/>
            <a:ext cx="2834640" cy="1188720"/>
          </a:xfrm>
          <a:prstGeom prst="rect">
            <a:avLst/>
          </a:prstGeom>
          <a:noFill/>
          <a:ln/>
        </p:spPr>
        <p:txBody>
          <a:bodyPr wrap="square" rtlCol="0" anchor="ctr"/>
          <a:lstStyle/>
          <a:p>
            <a:pPr indent="0" marL="0">
              <a:buNone/>
            </a:pPr>
            <a:r>
              <a:rPr lang="en-US" sz="1300" b="1" dirty="0">
                <a:solidFill>
                  <a:srgbClr val="FFFFFF"/>
                </a:solidFill>
                <a:latin typeface="Meiryo UI" pitchFamily="34" charset="0"/>
                <a:ea typeface="Meiryo UI" pitchFamily="34" charset="-122"/>
                <a:cs typeface="Meiryo UI" pitchFamily="34" charset="-120"/>
              </a:rPr>
              <a:t>🔑  ID・アクセス管理</a:t>
            </a:r>
            <a:endParaRPr lang="en-US" sz="1300" dirty="0"/>
          </a:p>
        </p:txBody>
      </p:sp>
      <p:sp>
        <p:nvSpPr>
          <p:cNvPr id="9" name="Text 7"/>
          <p:cNvSpPr/>
          <p:nvPr/>
        </p:nvSpPr>
        <p:spPr>
          <a:xfrm>
            <a:off x="3931920" y="1280160"/>
            <a:ext cx="7589520" cy="1005840"/>
          </a:xfrm>
          <a:prstGeom prst="rect">
            <a:avLst/>
          </a:prstGeom>
          <a:noFill/>
          <a:ln/>
        </p:spPr>
        <p:txBody>
          <a:bodyPr wrap="square" rtlCol="0" anchor="ctr"/>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Microsoft Entra ID 認証・MFA、条件付きアクセスポリシー（デバイス・場所・リスクレベル）、Entra ID 参加/ハイブリッド参加をサポートしています</a:t>
            </a:r>
            <a:endParaRPr lang="en-US" sz="1100" dirty="0"/>
          </a:p>
        </p:txBody>
      </p:sp>
      <p:sp>
        <p:nvSpPr>
          <p:cNvPr id="10" name="Shape 8"/>
          <p:cNvSpPr/>
          <p:nvPr/>
        </p:nvSpPr>
        <p:spPr>
          <a:xfrm>
            <a:off x="457200" y="2560320"/>
            <a:ext cx="11274552" cy="1188720"/>
          </a:xfrm>
          <a:prstGeom prst="roundRect">
            <a:avLst>
              <a:gd name="adj" fmla="val 9231"/>
            </a:avLst>
          </a:prstGeom>
          <a:solidFill>
            <a:srgbClr val="F3F2F1"/>
          </a:solidFill>
          <a:ln w="25400">
            <a:solidFill>
              <a:srgbClr val="107C10"/>
            </a:solidFill>
            <a:prstDash val="solid"/>
          </a:ln>
        </p:spPr>
      </p:sp>
      <p:sp>
        <p:nvSpPr>
          <p:cNvPr id="11" name="Shape 9"/>
          <p:cNvSpPr/>
          <p:nvPr/>
        </p:nvSpPr>
        <p:spPr>
          <a:xfrm>
            <a:off x="457200" y="2560320"/>
            <a:ext cx="3200400" cy="1188720"/>
          </a:xfrm>
          <a:prstGeom prst="roundRect">
            <a:avLst>
              <a:gd name="adj" fmla="val 9231"/>
            </a:avLst>
          </a:prstGeom>
          <a:solidFill>
            <a:srgbClr val="107C10"/>
          </a:solidFill>
          <a:ln/>
        </p:spPr>
      </p:sp>
      <p:sp>
        <p:nvSpPr>
          <p:cNvPr id="12" name="Shape 10"/>
          <p:cNvSpPr/>
          <p:nvPr/>
        </p:nvSpPr>
        <p:spPr>
          <a:xfrm>
            <a:off x="2286000" y="2560320"/>
            <a:ext cx="1463040" cy="1188720"/>
          </a:xfrm>
          <a:prstGeom prst="rect">
            <a:avLst/>
          </a:prstGeom>
          <a:solidFill>
            <a:srgbClr val="107C10"/>
          </a:solidFill>
          <a:ln/>
        </p:spPr>
      </p:sp>
      <p:sp>
        <p:nvSpPr>
          <p:cNvPr id="13" name="Text 11"/>
          <p:cNvSpPr/>
          <p:nvPr/>
        </p:nvSpPr>
        <p:spPr>
          <a:xfrm>
            <a:off x="640080" y="2560320"/>
            <a:ext cx="2834640" cy="1188720"/>
          </a:xfrm>
          <a:prstGeom prst="rect">
            <a:avLst/>
          </a:prstGeom>
          <a:noFill/>
          <a:ln/>
        </p:spPr>
        <p:txBody>
          <a:bodyPr wrap="square" rtlCol="0" anchor="ctr"/>
          <a:lstStyle/>
          <a:p>
            <a:pPr indent="0" marL="0">
              <a:buNone/>
            </a:pPr>
            <a:r>
              <a:rPr lang="en-US" sz="1300" b="1" dirty="0">
                <a:solidFill>
                  <a:srgbClr val="FFFFFF"/>
                </a:solidFill>
                <a:latin typeface="Meiryo UI" pitchFamily="34" charset="0"/>
                <a:ea typeface="Meiryo UI" pitchFamily="34" charset="-122"/>
                <a:cs typeface="Meiryo UI" pitchFamily="34" charset="-120"/>
              </a:rPr>
              <a:t>🌐  接続・トランスポートセキュリティ</a:t>
            </a:r>
            <a:endParaRPr lang="en-US" sz="1300" dirty="0"/>
          </a:p>
        </p:txBody>
      </p:sp>
      <p:sp>
        <p:nvSpPr>
          <p:cNvPr id="14" name="Text 12"/>
          <p:cNvSpPr/>
          <p:nvPr/>
        </p:nvSpPr>
        <p:spPr>
          <a:xfrm>
            <a:off x="3931920" y="2651760"/>
            <a:ext cx="7589520" cy="1005840"/>
          </a:xfrm>
          <a:prstGeom prst="rect">
            <a:avLst/>
          </a:prstGeom>
          <a:noFill/>
          <a:ln/>
        </p:spPr>
        <p:txBody>
          <a:bodyPr wrap="square" rtlCol="0" anchor="ctr"/>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逆接続（受信ポート不要）、RDP Shortpath UDP 暗号化、Azure Private Link プライベート接続を提供しています</a:t>
            </a:r>
            <a:endParaRPr lang="en-US" sz="1100" dirty="0"/>
          </a:p>
        </p:txBody>
      </p:sp>
      <p:sp>
        <p:nvSpPr>
          <p:cNvPr id="15" name="Shape 13"/>
          <p:cNvSpPr/>
          <p:nvPr/>
        </p:nvSpPr>
        <p:spPr>
          <a:xfrm>
            <a:off x="457200" y="3931920"/>
            <a:ext cx="11274552" cy="1188720"/>
          </a:xfrm>
          <a:prstGeom prst="roundRect">
            <a:avLst>
              <a:gd name="adj" fmla="val 9231"/>
            </a:avLst>
          </a:prstGeom>
          <a:solidFill>
            <a:srgbClr val="F3F2F1"/>
          </a:solidFill>
          <a:ln w="25400">
            <a:solidFill>
              <a:srgbClr val="5C2D91"/>
            </a:solidFill>
            <a:prstDash val="solid"/>
          </a:ln>
        </p:spPr>
      </p:sp>
      <p:sp>
        <p:nvSpPr>
          <p:cNvPr id="16" name="Shape 14"/>
          <p:cNvSpPr/>
          <p:nvPr/>
        </p:nvSpPr>
        <p:spPr>
          <a:xfrm>
            <a:off x="457200" y="3931920"/>
            <a:ext cx="3200400" cy="1188720"/>
          </a:xfrm>
          <a:prstGeom prst="roundRect">
            <a:avLst>
              <a:gd name="adj" fmla="val 9231"/>
            </a:avLst>
          </a:prstGeom>
          <a:solidFill>
            <a:srgbClr val="5C2D91"/>
          </a:solidFill>
          <a:ln/>
        </p:spPr>
      </p:sp>
      <p:sp>
        <p:nvSpPr>
          <p:cNvPr id="17" name="Shape 15"/>
          <p:cNvSpPr/>
          <p:nvPr/>
        </p:nvSpPr>
        <p:spPr>
          <a:xfrm>
            <a:off x="2286000" y="3931920"/>
            <a:ext cx="1463040" cy="1188720"/>
          </a:xfrm>
          <a:prstGeom prst="rect">
            <a:avLst/>
          </a:prstGeom>
          <a:solidFill>
            <a:srgbClr val="5C2D91"/>
          </a:solidFill>
          <a:ln/>
        </p:spPr>
      </p:sp>
      <p:sp>
        <p:nvSpPr>
          <p:cNvPr id="18" name="Text 16"/>
          <p:cNvSpPr/>
          <p:nvPr/>
        </p:nvSpPr>
        <p:spPr>
          <a:xfrm>
            <a:off x="640080" y="3931920"/>
            <a:ext cx="2834640" cy="1188720"/>
          </a:xfrm>
          <a:prstGeom prst="rect">
            <a:avLst/>
          </a:prstGeom>
          <a:noFill/>
          <a:ln/>
        </p:spPr>
        <p:txBody>
          <a:bodyPr wrap="square" rtlCol="0" anchor="ctr"/>
          <a:lstStyle/>
          <a:p>
            <a:pPr indent="0" marL="0">
              <a:buNone/>
            </a:pPr>
            <a:r>
              <a:rPr lang="en-US" sz="1300" b="1" dirty="0">
                <a:solidFill>
                  <a:srgbClr val="FFFFFF"/>
                </a:solidFill>
                <a:latin typeface="Meiryo UI" pitchFamily="34" charset="0"/>
                <a:ea typeface="Meiryo UI" pitchFamily="34" charset="-122"/>
                <a:cs typeface="Meiryo UI" pitchFamily="34" charset="-120"/>
              </a:rPr>
              <a:t>🖥️  VM・インフラストラクチャ保護</a:t>
            </a:r>
            <a:endParaRPr lang="en-US" sz="1300" dirty="0"/>
          </a:p>
        </p:txBody>
      </p:sp>
      <p:sp>
        <p:nvSpPr>
          <p:cNvPr id="19" name="Text 17"/>
          <p:cNvSpPr/>
          <p:nvPr/>
        </p:nvSpPr>
        <p:spPr>
          <a:xfrm>
            <a:off x="3931920" y="4023360"/>
            <a:ext cx="7589520" cy="1005840"/>
          </a:xfrm>
          <a:prstGeom prst="rect">
            <a:avLst/>
          </a:prstGeom>
          <a:noFill/>
          <a:ln/>
        </p:spPr>
        <p:txBody>
          <a:bodyPr wrap="square" rtlCol="0" anchor="ctr"/>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Trusted Launch VM（セキュアブート + vTPM）、Confidential VM に対応し、Microsoft Defender for Cloud でセキュリティポスチャ評価・脅威検出を行います</a:t>
            </a:r>
            <a:endParaRPr lang="en-US" sz="1100" dirty="0"/>
          </a:p>
        </p:txBody>
      </p:sp>
      <p:sp>
        <p:nvSpPr>
          <p:cNvPr id="20" name="Shape 18"/>
          <p:cNvSpPr/>
          <p:nvPr/>
        </p:nvSpPr>
        <p:spPr>
          <a:xfrm>
            <a:off x="457200" y="5303520"/>
            <a:ext cx="11274552" cy="1188720"/>
          </a:xfrm>
          <a:prstGeom prst="roundRect">
            <a:avLst>
              <a:gd name="adj" fmla="val 9231"/>
            </a:avLst>
          </a:prstGeom>
          <a:solidFill>
            <a:srgbClr val="F3F2F1"/>
          </a:solidFill>
          <a:ln w="25400">
            <a:solidFill>
              <a:srgbClr val="FF8C00"/>
            </a:solidFill>
            <a:prstDash val="solid"/>
          </a:ln>
        </p:spPr>
      </p:sp>
      <p:sp>
        <p:nvSpPr>
          <p:cNvPr id="21" name="Shape 19"/>
          <p:cNvSpPr/>
          <p:nvPr/>
        </p:nvSpPr>
        <p:spPr>
          <a:xfrm>
            <a:off x="457200" y="5303520"/>
            <a:ext cx="3200400" cy="1188720"/>
          </a:xfrm>
          <a:prstGeom prst="roundRect">
            <a:avLst>
              <a:gd name="adj" fmla="val 9231"/>
            </a:avLst>
          </a:prstGeom>
          <a:solidFill>
            <a:srgbClr val="FF8C00"/>
          </a:solidFill>
          <a:ln/>
        </p:spPr>
      </p:sp>
      <p:sp>
        <p:nvSpPr>
          <p:cNvPr id="22" name="Shape 20"/>
          <p:cNvSpPr/>
          <p:nvPr/>
        </p:nvSpPr>
        <p:spPr>
          <a:xfrm>
            <a:off x="2286000" y="5303520"/>
            <a:ext cx="1463040" cy="1188720"/>
          </a:xfrm>
          <a:prstGeom prst="rect">
            <a:avLst/>
          </a:prstGeom>
          <a:solidFill>
            <a:srgbClr val="FF8C00"/>
          </a:solidFill>
          <a:ln/>
        </p:spPr>
      </p:sp>
      <p:sp>
        <p:nvSpPr>
          <p:cNvPr id="23" name="Text 21"/>
          <p:cNvSpPr/>
          <p:nvPr/>
        </p:nvSpPr>
        <p:spPr>
          <a:xfrm>
            <a:off x="640080" y="5303520"/>
            <a:ext cx="2834640" cy="1188720"/>
          </a:xfrm>
          <a:prstGeom prst="rect">
            <a:avLst/>
          </a:prstGeom>
          <a:noFill/>
          <a:ln/>
        </p:spPr>
        <p:txBody>
          <a:bodyPr wrap="square" rtlCol="0" anchor="ctr"/>
          <a:lstStyle/>
          <a:p>
            <a:pPr indent="0" marL="0">
              <a:buNone/>
            </a:pPr>
            <a:r>
              <a:rPr lang="en-US" sz="1300" b="1" dirty="0">
                <a:solidFill>
                  <a:srgbClr val="FFFFFF"/>
                </a:solidFill>
                <a:latin typeface="Meiryo UI" pitchFamily="34" charset="0"/>
                <a:ea typeface="Meiryo UI" pitchFamily="34" charset="-122"/>
                <a:cs typeface="Meiryo UI" pitchFamily="34" charset="-120"/>
              </a:rPr>
              <a:t>🛡️  運用セキュリティ</a:t>
            </a:r>
            <a:endParaRPr lang="en-US" sz="1300" dirty="0"/>
          </a:p>
        </p:txBody>
      </p:sp>
      <p:sp>
        <p:nvSpPr>
          <p:cNvPr id="24" name="Text 22"/>
          <p:cNvSpPr/>
          <p:nvPr/>
        </p:nvSpPr>
        <p:spPr>
          <a:xfrm>
            <a:off x="3931920" y="5394960"/>
            <a:ext cx="7589520" cy="1005840"/>
          </a:xfrm>
          <a:prstGeom prst="rect">
            <a:avLst/>
          </a:prstGeom>
          <a:noFill/>
          <a:ln/>
        </p:spPr>
        <p:txBody>
          <a:bodyPr wrap="square" rtlCol="0" anchor="ctr"/>
          <a:lstStyle/>
          <a:p>
            <a:pPr indent="0" marL="0">
              <a:lnSpc>
                <a:spcPct val="130000"/>
              </a:lnSpc>
              <a:buNone/>
            </a:pPr>
            <a:r>
              <a:rPr lang="en-US" sz="1100" dirty="0">
                <a:solidFill>
                  <a:srgbClr val="000000"/>
                </a:solidFill>
                <a:latin typeface="Meiryo UI" pitchFamily="34" charset="0"/>
                <a:ea typeface="Meiryo UI" pitchFamily="34" charset="-122"/>
                <a:cs typeface="Meiryo UI" pitchFamily="34" charset="-120"/>
              </a:rPr>
              <a:t>Just-in-Time（JIT）アクセス、Azure Firewall・NSG ネットワーク制御、Microsoft Sentinel 連携（SIEM/SOAR）に対応しています</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ライセンスと料金体系</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8 / 10</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286000"/>
                <a:gridCol w="5943600"/>
                <a:gridCol w="3044952"/>
              </a:tblGrid>
              <a:tr h="457200">
                <a:tc>
                  <a:txBody>
                    <a:bodyP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OS 種別</a:t>
                      </a:r>
                      <a:endParaRPr lang="en-US" sz="11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100" b="1" dirty="0">
                          <a:solidFill>
                            <a:srgbClr val="FFFFFF"/>
                          </a:solidFill>
                          <a:latin typeface="Meiryo UI" pitchFamily="34" charset="0"/>
                          <a:ea typeface="Meiryo UI" pitchFamily="34" charset="-122"/>
                          <a:cs typeface="Meiryo UI" pitchFamily="34" charset="-120"/>
                        </a:rPr>
                        <a:t>対象ライセンス</a:t>
                      </a:r>
                      <a:endParaRPr lang="en-US" sz="11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100" b="1" dirty="0">
                          <a:solidFill>
                            <a:srgbClr val="FFFFFF"/>
                          </a:solidFill>
                          <a:latin typeface="Meiryo UI" pitchFamily="34" charset="0"/>
                          <a:ea typeface="Meiryo UI" pitchFamily="34" charset="-122"/>
                          <a:cs typeface="Meiryo UI" pitchFamily="34" charset="-120"/>
                        </a:rPr>
                        <a:t>外部商用利用</a:t>
                      </a:r>
                      <a:endParaRPr lang="en-US" sz="11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r>
              <a:tr h="1188720">
                <a:tc>
                  <a:txBody>
                    <a:bodyPr/>
                    <a:lstStyle/>
                    <a:p>
                      <a:pPr algn="ctr" indent="0" marL="0">
                        <a:buNone/>
                      </a:pPr>
                      <a:r>
                        <a:rPr lang="en-US" sz="1000" b="1" dirty="0">
                          <a:solidFill>
                            <a:srgbClr val="000000"/>
                          </a:solidFill>
                          <a:latin typeface="Meiryo UI" pitchFamily="34" charset="0"/>
                          <a:ea typeface="Meiryo UI" pitchFamily="34" charset="-122"/>
                          <a:cs typeface="Meiryo UI" pitchFamily="34" charset="-120"/>
                        </a:rPr>
                        <a:t>Windows</a:t>
                      </a:r>
                      <a:endParaRPr lang="en-US" sz="1000" dirty="0">
                        <a:latin typeface="Meiryo UI" charset="0"/>
                        <a:ea typeface="Meiryo UI" charset="0"/>
                        <a:cs typeface="Meiryo UI" charset="0"/>
                      </a:endParaRPr>
                    </a:p>
                    <a:p>
                      <a:pPr algn="ctr" indent="0" marL="0">
                        <a:buNone/>
                      </a:pPr>
                      <a:r>
                        <a:rPr lang="en-US" sz="1000" b="1" dirty="0">
                          <a:solidFill>
                            <a:srgbClr val="000000"/>
                          </a:solidFill>
                          <a:latin typeface="Meiryo UI" pitchFamily="34" charset="0"/>
                          <a:ea typeface="Meiryo UI" pitchFamily="34" charset="-122"/>
                          <a:cs typeface="Meiryo UI" pitchFamily="34" charset="-120"/>
                        </a:rPr>
                        <a:t>クライアント OS</a:t>
                      </a:r>
                      <a:endParaRPr lang="en-US" sz="10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Microsoft 365 E3/E5/A3/A5/F3/Business Premium</a:t>
                      </a:r>
                      <a:endParaRPr lang="en-US" sz="950" dirty="0">
                        <a:latin typeface="Meiryo UI" charset="0"/>
                        <a:ea typeface="Meiryo UI" charset="0"/>
                        <a:cs typeface="Meiryo UI" charset="0"/>
                      </a:endParaRPr>
                    </a:p>
                    <a:p>
                      <a:pPr indent="0" marL="0">
                        <a:buNone/>
                      </a:pPr>
                      <a:r>
                        <a:rPr lang="en-US" sz="950" dirty="0">
                          <a:solidFill>
                            <a:srgbClr val="000000"/>
                          </a:solidFill>
                          <a:latin typeface="Meiryo UI" pitchFamily="34" charset="0"/>
                          <a:ea typeface="Meiryo UI" pitchFamily="34" charset="-122"/>
                          <a:cs typeface="Meiryo UI" pitchFamily="34" charset="-120"/>
                        </a:rPr>
                        <a:t>Windows Enterprise E3/E5</a:t>
                      </a:r>
                      <a:endParaRPr lang="en-US" sz="950" dirty="0">
                        <a:latin typeface="Meiryo UI" charset="0"/>
                        <a:ea typeface="Meiryo UI" charset="0"/>
                        <a:cs typeface="Meiryo UI" charset="0"/>
                      </a:endParaRPr>
                    </a:p>
                    <a:p>
                      <a:pPr indent="0" marL="0">
                        <a:buNone/>
                      </a:pPr>
                      <a:r>
                        <a:rPr lang="en-US" sz="950" dirty="0">
                          <a:solidFill>
                            <a:srgbClr val="000000"/>
                          </a:solidFill>
                          <a:latin typeface="Meiryo UI" pitchFamily="34" charset="0"/>
                          <a:ea typeface="Meiryo UI" pitchFamily="34" charset="-122"/>
                          <a:cs typeface="Meiryo UI" pitchFamily="34" charset="-120"/>
                        </a:rPr>
                        <a:t>Windows Education A3/A5</a:t>
                      </a:r>
                      <a:endParaRPr lang="en-US" sz="950" dirty="0">
                        <a:latin typeface="Meiryo UI" charset="0"/>
                        <a:ea typeface="Meiryo UI" charset="0"/>
                        <a:cs typeface="Meiryo UI" charset="0"/>
                      </a:endParaRPr>
                    </a:p>
                    <a:p>
                      <a:pPr indent="0" marL="0">
                        <a:buNone/>
                      </a:pPr>
                      <a:r>
                        <a:rPr lang="en-US" sz="950" dirty="0">
                          <a:solidFill>
                            <a:srgbClr val="000000"/>
                          </a:solidFill>
                          <a:latin typeface="Meiryo UI" pitchFamily="34" charset="0"/>
                          <a:ea typeface="Meiryo UI" pitchFamily="34" charset="-122"/>
                          <a:cs typeface="Meiryo UI" pitchFamily="34" charset="-120"/>
                        </a:rPr>
                        <a:t>Windows VDA（ユーザーあたり）</a:t>
                      </a:r>
                      <a:endParaRPr lang="en-US" sz="9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algn="ctr" indent="0" marL="0">
                        <a:buNone/>
                      </a:pPr>
                      <a:r>
                        <a:rPr lang="en-US" sz="1000" dirty="0">
                          <a:solidFill>
                            <a:srgbClr val="000000"/>
                          </a:solidFill>
                          <a:latin typeface="Meiryo UI" pitchFamily="34" charset="0"/>
                          <a:ea typeface="Meiryo UI" pitchFamily="34" charset="-122"/>
                          <a:cs typeface="Meiryo UI" pitchFamily="34" charset="-120"/>
                        </a:rPr>
                        <a:t>ユーザーあたりの</a:t>
                      </a:r>
                      <a:endParaRPr lang="en-US" sz="1000" dirty="0">
                        <a:latin typeface="Meiryo UI" charset="0"/>
                        <a:ea typeface="Meiryo UI" charset="0"/>
                        <a:cs typeface="Meiryo UI" charset="0"/>
                      </a:endParaRPr>
                    </a:p>
                    <a:p>
                      <a:pPr algn="ctr" indent="0" marL="0">
                        <a:buNone/>
                      </a:pPr>
                      <a:r>
                        <a:rPr lang="en-US" sz="1000" dirty="0">
                          <a:solidFill>
                            <a:srgbClr val="000000"/>
                          </a:solidFill>
                          <a:latin typeface="Meiryo UI" pitchFamily="34" charset="0"/>
                          <a:ea typeface="Meiryo UI" pitchFamily="34" charset="-122"/>
                          <a:cs typeface="Meiryo UI" pitchFamily="34" charset="-120"/>
                        </a:rPr>
                        <a:t>アクセス価格で利用可能</a:t>
                      </a:r>
                      <a:endParaRPr lang="en-US" sz="10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822960">
                <a:tc>
                  <a:txBody>
                    <a:bodyPr/>
                    <a:lstStyle/>
                    <a:p>
                      <a:pPr algn="ctr" indent="0" marL="0">
                        <a:buNone/>
                      </a:pPr>
                      <a:r>
                        <a:rPr lang="en-US" sz="1000" b="1" dirty="0">
                          <a:solidFill>
                            <a:srgbClr val="000000"/>
                          </a:solidFill>
                          <a:latin typeface="Meiryo UI" pitchFamily="34" charset="0"/>
                          <a:ea typeface="Meiryo UI" pitchFamily="34" charset="-122"/>
                          <a:cs typeface="Meiryo UI" pitchFamily="34" charset="-120"/>
                        </a:rPr>
                        <a:t>Windows</a:t>
                      </a:r>
                      <a:endParaRPr lang="en-US" sz="1000" dirty="0">
                        <a:latin typeface="Meiryo UI" charset="0"/>
                        <a:ea typeface="Meiryo UI" charset="0"/>
                        <a:cs typeface="Meiryo UI" charset="0"/>
                      </a:endParaRPr>
                    </a:p>
                    <a:p>
                      <a:pPr algn="ctr" indent="0" marL="0">
                        <a:buNone/>
                      </a:pPr>
                      <a:r>
                        <a:rPr lang="en-US" sz="1000" b="1" dirty="0">
                          <a:solidFill>
                            <a:srgbClr val="000000"/>
                          </a:solidFill>
                          <a:latin typeface="Meiryo UI" pitchFamily="34" charset="0"/>
                          <a:ea typeface="Meiryo UI" pitchFamily="34" charset="-122"/>
                          <a:cs typeface="Meiryo UI" pitchFamily="34" charset="-120"/>
                        </a:rPr>
                        <a:t>Server OS</a:t>
                      </a:r>
                      <a:endParaRPr lang="en-US" sz="10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000000"/>
                          </a:solidFill>
                          <a:latin typeface="Meiryo UI" pitchFamily="34" charset="0"/>
                          <a:ea typeface="Meiryo UI" pitchFamily="34" charset="-122"/>
                          <a:cs typeface="Meiryo UI" pitchFamily="34" charset="-120"/>
                        </a:rPr>
                        <a:t>RDS CAL + Software Assurance</a:t>
                      </a:r>
                      <a:endParaRPr lang="en-US" sz="950" dirty="0">
                        <a:latin typeface="Meiryo UI" charset="0"/>
                        <a:ea typeface="Meiryo UI" charset="0"/>
                        <a:cs typeface="Meiryo UI" charset="0"/>
                      </a:endParaRPr>
                    </a:p>
                    <a:p>
                      <a:pPr indent="0" marL="0">
                        <a:buNone/>
                      </a:pPr>
                      <a:r>
                        <a:rPr lang="en-US" sz="950" dirty="0">
                          <a:solidFill>
                            <a:srgbClr val="000000"/>
                          </a:solidFill>
                          <a:latin typeface="Meiryo UI" pitchFamily="34" charset="0"/>
                          <a:ea typeface="Meiryo UI" pitchFamily="34" charset="-122"/>
                          <a:cs typeface="Meiryo UI" pitchFamily="34" charset="-120"/>
                        </a:rPr>
                        <a:t>RDS ユーザーサブスクリプションライセンス</a:t>
                      </a:r>
                      <a:endParaRPr lang="en-US" sz="9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b="1" dirty="0">
                          <a:solidFill>
                            <a:srgbClr val="D13438"/>
                          </a:solidFill>
                          <a:latin typeface="Meiryo UI" pitchFamily="34" charset="0"/>
                          <a:ea typeface="Meiryo UI" pitchFamily="34" charset="-122"/>
                          <a:cs typeface="Meiryo UI" pitchFamily="34" charset="-120"/>
                        </a:rPr>
                        <a:t>非対応</a:t>
                      </a:r>
                      <a:endParaRPr lang="en-US" sz="10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6" name="Shape 3"/>
          <p:cNvSpPr/>
          <p:nvPr/>
        </p:nvSpPr>
        <p:spPr>
          <a:xfrm>
            <a:off x="457200" y="3840480"/>
            <a:ext cx="5486400" cy="2377440"/>
          </a:xfrm>
          <a:prstGeom prst="roundRect">
            <a:avLst>
              <a:gd name="adj" fmla="val 4615"/>
            </a:avLst>
          </a:prstGeom>
          <a:solidFill>
            <a:srgbClr val="DEECF9"/>
          </a:solidFill>
          <a:ln/>
        </p:spPr>
      </p:sp>
      <p:sp>
        <p:nvSpPr>
          <p:cNvPr id="7" name="Text 4"/>
          <p:cNvSpPr/>
          <p:nvPr/>
        </p:nvSpPr>
        <p:spPr>
          <a:xfrm>
            <a:off x="640080" y="3931920"/>
            <a:ext cx="5120640" cy="365760"/>
          </a:xfrm>
          <a:prstGeom prst="rect">
            <a:avLst/>
          </a:prstGeom>
          <a:noFill/>
          <a:ln/>
        </p:spPr>
        <p:txBody>
          <a:bodyPr wrap="square" rtlCol="0" anchor="ctr"/>
          <a:lstStyle/>
          <a:p>
            <a:pPr indent="0" marL="0">
              <a:buNone/>
            </a:pPr>
            <a:r>
              <a:rPr lang="en-US" sz="1400" b="1" dirty="0">
                <a:solidFill>
                  <a:srgbClr val="0078D4"/>
                </a:solidFill>
                <a:latin typeface="Meiryo UI" pitchFamily="34" charset="0"/>
                <a:ea typeface="Meiryo UI" pitchFamily="34" charset="-122"/>
                <a:cs typeface="Meiryo UI" pitchFamily="34" charset="-120"/>
              </a:rPr>
              <a:t>💡  コスト最適化策</a:t>
            </a:r>
            <a:endParaRPr lang="en-US" sz="1400" dirty="0"/>
          </a:p>
        </p:txBody>
      </p:sp>
      <p:sp>
        <p:nvSpPr>
          <p:cNvPr id="8" name="Text 5"/>
          <p:cNvSpPr/>
          <p:nvPr/>
        </p:nvSpPr>
        <p:spPr>
          <a:xfrm>
            <a:off x="640080" y="4389120"/>
            <a:ext cx="5120640" cy="1645920"/>
          </a:xfrm>
          <a:prstGeom prst="rect">
            <a:avLst/>
          </a:prstGeom>
          <a:noFill/>
          <a:ln/>
        </p:spPr>
        <p:txBody>
          <a:bodyPr wrap="square" rtlCol="0" anchor="t"/>
          <a:lstStyle/>
          <a:p>
            <a:pPr indent="0" marL="0">
              <a:lnSpc>
                <a:spcPct val="140000"/>
              </a:lnSpc>
              <a:buNone/>
            </a:pPr>
            <a:r>
              <a:rPr lang="en-US" sz="1100" dirty="0">
                <a:solidFill>
                  <a:srgbClr val="000000"/>
                </a:solidFill>
                <a:latin typeface="Meiryo UI" pitchFamily="34" charset="0"/>
                <a:ea typeface="Meiryo UI" pitchFamily="34" charset="-122"/>
                <a:cs typeface="Meiryo UI" pitchFamily="34" charset="-120"/>
              </a:rPr>
              <a:t>• オートスケールによる VM 稼働時間の最適化が可能です
</a:t>
            </a:r>
            <a:pPr indent="0" marL="0">
              <a:lnSpc>
                <a:spcPct val="140000"/>
              </a:lnSpc>
              <a:buNone/>
            </a:pPr>
            <a:r>
              <a:rPr lang="en-US" sz="1100" dirty="0">
                <a:solidFill>
                  <a:srgbClr val="000000"/>
                </a:solidFill>
                <a:latin typeface="Meiryo UI" pitchFamily="34" charset="0"/>
                <a:ea typeface="Meiryo UI" pitchFamily="34" charset="-122"/>
                <a:cs typeface="Meiryo UI" pitchFamily="34" charset="-120"/>
              </a:rPr>
              <a:t>• Azure Reserved Instances の活用でコンピュートコストを削減できます
</a:t>
            </a:r>
            <a:pPr indent="0" marL="0">
              <a:lnSpc>
                <a:spcPct val="140000"/>
              </a:lnSpc>
              <a:buNone/>
            </a:pPr>
            <a:r>
              <a:rPr lang="en-US" sz="1100" dirty="0">
                <a:solidFill>
                  <a:srgbClr val="000000"/>
                </a:solidFill>
                <a:latin typeface="Meiryo UI" pitchFamily="34" charset="0"/>
                <a:ea typeface="Meiryo UI" pitchFamily="34" charset="-122"/>
                <a:cs typeface="Meiryo UI" pitchFamily="34" charset="-120"/>
              </a:rPr>
              <a:t>• マルチセッション活用で VM 台数を削減できます</a:t>
            </a:r>
            <a:endParaRPr lang="en-US" sz="1100" dirty="0"/>
          </a:p>
        </p:txBody>
      </p:sp>
      <p:sp>
        <p:nvSpPr>
          <p:cNvPr id="9" name="Shape 6"/>
          <p:cNvSpPr/>
          <p:nvPr/>
        </p:nvSpPr>
        <p:spPr>
          <a:xfrm>
            <a:off x="6126480" y="3840480"/>
            <a:ext cx="5605272" cy="2377440"/>
          </a:xfrm>
          <a:prstGeom prst="roundRect">
            <a:avLst>
              <a:gd name="adj" fmla="val 4615"/>
            </a:avLst>
          </a:prstGeom>
          <a:solidFill>
            <a:srgbClr val="F3F2F1"/>
          </a:solidFill>
          <a:ln w="19050">
            <a:solidFill>
              <a:srgbClr val="FF8C00"/>
            </a:solidFill>
            <a:prstDash val="solid"/>
          </a:ln>
        </p:spPr>
      </p:sp>
      <p:sp>
        <p:nvSpPr>
          <p:cNvPr id="10" name="Text 7"/>
          <p:cNvSpPr/>
          <p:nvPr/>
        </p:nvSpPr>
        <p:spPr>
          <a:xfrm>
            <a:off x="6309360" y="3931920"/>
            <a:ext cx="5239512" cy="365760"/>
          </a:xfrm>
          <a:prstGeom prst="rect">
            <a:avLst/>
          </a:prstGeom>
          <a:noFill/>
          <a:ln/>
        </p:spPr>
        <p:txBody>
          <a:bodyPr wrap="square" rtlCol="0" anchor="ctr"/>
          <a:lstStyle/>
          <a:p>
            <a:pPr indent="0" marL="0">
              <a:buNone/>
            </a:pPr>
            <a:r>
              <a:rPr lang="en-US" sz="1400" b="1" dirty="0">
                <a:solidFill>
                  <a:srgbClr val="FF8C00"/>
                </a:solidFill>
                <a:latin typeface="Meiryo UI" pitchFamily="34" charset="0"/>
                <a:ea typeface="Meiryo UI" pitchFamily="34" charset="-122"/>
                <a:cs typeface="Meiryo UI" pitchFamily="34" charset="-120"/>
              </a:rPr>
              <a:t>☁️  AVD on Azure Local</a:t>
            </a:r>
            <a:endParaRPr lang="en-US" sz="1400" dirty="0"/>
          </a:p>
        </p:txBody>
      </p:sp>
      <p:sp>
        <p:nvSpPr>
          <p:cNvPr id="11" name="Text 8"/>
          <p:cNvSpPr/>
          <p:nvPr/>
        </p:nvSpPr>
        <p:spPr>
          <a:xfrm>
            <a:off x="6309360" y="4389120"/>
            <a:ext cx="5239512" cy="1645920"/>
          </a:xfrm>
          <a:prstGeom prst="rect">
            <a:avLst/>
          </a:prstGeom>
          <a:noFill/>
          <a:ln/>
        </p:spPr>
        <p:txBody>
          <a:bodyPr wrap="square" rtlCol="0" anchor="t"/>
          <a:lstStyle/>
          <a:p>
            <a:pPr indent="0" marL="0">
              <a:lnSpc>
                <a:spcPct val="140000"/>
              </a:lnSpc>
              <a:buNone/>
            </a:pPr>
            <a:r>
              <a:rPr lang="en-US" sz="1100" dirty="0">
                <a:solidFill>
                  <a:srgbClr val="000000"/>
                </a:solidFill>
                <a:latin typeface="Meiryo UI" pitchFamily="34" charset="0"/>
                <a:ea typeface="Meiryo UI" pitchFamily="34" charset="-122"/>
                <a:cs typeface="Meiryo UI" pitchFamily="34" charset="-120"/>
              </a:rPr>
              <a:t>Azure Local サービス料金に加え、セッションホストのアクティブ vCPU あたりの AVD サービス料金が必要です</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まとめと参考リンク</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9 / 10</a:t>
            </a:r>
            <a:endParaRPr lang="en-US" sz="900" dirty="0"/>
          </a:p>
        </p:txBody>
      </p:sp>
      <p:sp>
        <p:nvSpPr>
          <p:cNvPr id="5" name="Shape 3"/>
          <p:cNvSpPr/>
          <p:nvPr/>
        </p:nvSpPr>
        <p:spPr>
          <a:xfrm>
            <a:off x="457200" y="1188720"/>
            <a:ext cx="5486400" cy="3200400"/>
          </a:xfrm>
          <a:prstGeom prst="roundRect">
            <a:avLst>
              <a:gd name="adj" fmla="val 4286"/>
            </a:avLst>
          </a:prstGeom>
          <a:solidFill>
            <a:srgbClr val="DEECF9"/>
          </a:solidFill>
          <a:ln/>
        </p:spPr>
      </p:sp>
      <p:sp>
        <p:nvSpPr>
          <p:cNvPr id="6" name="Text 4"/>
          <p:cNvSpPr/>
          <p:nvPr/>
        </p:nvSpPr>
        <p:spPr>
          <a:xfrm>
            <a:off x="640080" y="1280160"/>
            <a:ext cx="5120640" cy="320040"/>
          </a:xfrm>
          <a:prstGeom prst="rect">
            <a:avLst/>
          </a:prstGeom>
          <a:noFill/>
          <a:ln/>
        </p:spPr>
        <p:txBody>
          <a:bodyPr wrap="square" rtlCol="0" anchor="ctr"/>
          <a:lstStyle/>
          <a:p>
            <a:pPr indent="0" marL="0">
              <a:buNone/>
            </a:pPr>
            <a:r>
              <a:rPr lang="en-US" sz="1400" b="1" dirty="0">
                <a:solidFill>
                  <a:srgbClr val="0078D4"/>
                </a:solidFill>
                <a:latin typeface="Meiryo UI" pitchFamily="34" charset="0"/>
                <a:ea typeface="Meiryo UI" pitchFamily="34" charset="-122"/>
                <a:cs typeface="Meiryo UI" pitchFamily="34" charset="-120"/>
              </a:rPr>
              <a:t>✅  Azure Virtual Desktop の価値</a:t>
            </a:r>
            <a:endParaRPr lang="en-US" sz="1400" dirty="0"/>
          </a:p>
        </p:txBody>
      </p:sp>
      <p:sp>
        <p:nvSpPr>
          <p:cNvPr id="7" name="Text 5"/>
          <p:cNvSpPr/>
          <p:nvPr/>
        </p:nvSpPr>
        <p:spPr>
          <a:xfrm>
            <a:off x="640080" y="1645920"/>
            <a:ext cx="5120640" cy="2560320"/>
          </a:xfrm>
          <a:prstGeom prst="rect">
            <a:avLst/>
          </a:prstGeom>
          <a:noFill/>
          <a:ln/>
        </p:spPr>
        <p:txBody>
          <a:bodyPr wrap="square" rtlCol="0" anchor="t"/>
          <a:lstStyle/>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ゲートウェイ不要でフルデスクトップ仮想化環境を Azure 上に構築できます</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Windows Enterprise マルチセッションによりコスト最適化と柔軟なスケーリングを実現します</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Microsoft 管理のコントロールプレーンでインフラ運用負荷を大幅に削減します</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条件付きアクセス・MFA・Trusted Launch 等のエンタープライズセキュリティを標準提供しています</a:t>
            </a:r>
            <a:endParaRPr lang="en-US" sz="1100" dirty="0"/>
          </a:p>
          <a:p>
            <a:pPr marL="342900" indent="-342900">
              <a:lnSpc>
                <a:spcPct val="140000"/>
              </a:lnSpc>
              <a:buSzPct val="100000"/>
              <a:buChar char="•"/>
            </a:pPr>
            <a:r>
              <a:rPr lang="en-US" sz="1100" dirty="0">
                <a:solidFill>
                  <a:srgbClr val="000000"/>
                </a:solidFill>
                <a:latin typeface="Meiryo UI" pitchFamily="34" charset="0"/>
                <a:ea typeface="Meiryo UI" pitchFamily="34" charset="-122"/>
                <a:cs typeface="Meiryo UI" pitchFamily="34" charset="-120"/>
              </a:rPr>
              <a:t>Azure Portal・CLI による一元管理と AVD Insights による監視に対応しています</a:t>
            </a:r>
            <a:endParaRPr lang="en-US" sz="1100" dirty="0"/>
          </a:p>
        </p:txBody>
      </p:sp>
      <p:sp>
        <p:nvSpPr>
          <p:cNvPr id="8" name="Shape 6"/>
          <p:cNvSpPr/>
          <p:nvPr/>
        </p:nvSpPr>
        <p:spPr>
          <a:xfrm>
            <a:off x="6126480" y="1188720"/>
            <a:ext cx="5605272" cy="3200400"/>
          </a:xfrm>
          <a:prstGeom prst="roundRect">
            <a:avLst>
              <a:gd name="adj" fmla="val 4286"/>
            </a:avLst>
          </a:prstGeom>
          <a:solidFill>
            <a:srgbClr val="F3F2F1"/>
          </a:solidFill>
          <a:ln w="19050">
            <a:solidFill>
              <a:srgbClr val="107C10"/>
            </a:solidFill>
            <a:prstDash val="solid"/>
          </a:ln>
        </p:spPr>
      </p:sp>
      <p:sp>
        <p:nvSpPr>
          <p:cNvPr id="9" name="Text 7"/>
          <p:cNvSpPr/>
          <p:nvPr/>
        </p:nvSpPr>
        <p:spPr>
          <a:xfrm>
            <a:off x="6309360" y="1280160"/>
            <a:ext cx="5239512" cy="320040"/>
          </a:xfrm>
          <a:prstGeom prst="rect">
            <a:avLst/>
          </a:prstGeom>
          <a:noFill/>
          <a:ln/>
        </p:spPr>
        <p:txBody>
          <a:bodyPr wrap="square" rtlCol="0" anchor="ctr"/>
          <a:lstStyle/>
          <a:p>
            <a:pPr indent="0" marL="0">
              <a:buNone/>
            </a:pPr>
            <a:r>
              <a:rPr lang="en-US" sz="1400" b="1" dirty="0">
                <a:solidFill>
                  <a:srgbClr val="107C10"/>
                </a:solidFill>
                <a:latin typeface="Meiryo UI" pitchFamily="34" charset="0"/>
                <a:ea typeface="Meiryo UI" pitchFamily="34" charset="-122"/>
                <a:cs typeface="Meiryo UI" pitchFamily="34" charset="-120"/>
              </a:rPr>
              <a:t>🚀  次のステップ</a:t>
            </a:r>
            <a:endParaRPr lang="en-US" sz="1400" dirty="0"/>
          </a:p>
        </p:txBody>
      </p:sp>
      <p:sp>
        <p:nvSpPr>
          <p:cNvPr id="10" name="Shape 8"/>
          <p:cNvSpPr/>
          <p:nvPr/>
        </p:nvSpPr>
        <p:spPr>
          <a:xfrm>
            <a:off x="6492240" y="1709928"/>
            <a:ext cx="365760" cy="365760"/>
          </a:xfrm>
          <a:prstGeom prst="ellipse">
            <a:avLst/>
          </a:prstGeom>
          <a:solidFill>
            <a:srgbClr val="107C10"/>
          </a:solidFill>
          <a:ln/>
        </p:spPr>
      </p:sp>
      <p:sp>
        <p:nvSpPr>
          <p:cNvPr id="11" name="Text 9"/>
          <p:cNvSpPr/>
          <p:nvPr/>
        </p:nvSpPr>
        <p:spPr>
          <a:xfrm>
            <a:off x="6492240" y="1709928"/>
            <a:ext cx="365760" cy="36576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Text 10"/>
          <p:cNvSpPr/>
          <p:nvPr/>
        </p:nvSpPr>
        <p:spPr>
          <a:xfrm>
            <a:off x="7040880" y="1691640"/>
            <a:ext cx="4480560" cy="457200"/>
          </a:xfrm>
          <a:prstGeom prst="rect">
            <a:avLst/>
          </a:prstGeom>
          <a:noFill/>
          <a:ln/>
        </p:spPr>
        <p:txBody>
          <a:bodyPr wrap="square" rtlCol="0" anchor="ctr"/>
          <a:lstStyle/>
          <a:p>
            <a:pPr indent="0" marL="0">
              <a:lnSpc>
                <a:spcPct val="120000"/>
              </a:lnSpc>
              <a:buNone/>
            </a:pPr>
            <a:r>
              <a:rPr lang="en-US" sz="1050" dirty="0">
                <a:solidFill>
                  <a:srgbClr val="000000"/>
                </a:solidFill>
                <a:latin typeface="Meiryo UI" pitchFamily="34" charset="0"/>
                <a:ea typeface="Meiryo UI" pitchFamily="34" charset="-122"/>
                <a:cs typeface="Meiryo UI" pitchFamily="34" charset="-120"/>
              </a:rPr>
              <a:t>Azure Portal で AVD 環境のデプロイを開始してください</a:t>
            </a:r>
            <a:endParaRPr lang="en-US" sz="1050" dirty="0"/>
          </a:p>
        </p:txBody>
      </p:sp>
      <p:sp>
        <p:nvSpPr>
          <p:cNvPr id="13" name="Shape 11"/>
          <p:cNvSpPr/>
          <p:nvPr/>
        </p:nvSpPr>
        <p:spPr>
          <a:xfrm>
            <a:off x="6492240" y="2231136"/>
            <a:ext cx="365760" cy="365760"/>
          </a:xfrm>
          <a:prstGeom prst="ellipse">
            <a:avLst/>
          </a:prstGeom>
          <a:solidFill>
            <a:srgbClr val="107C10"/>
          </a:solidFill>
          <a:ln/>
        </p:spPr>
      </p:sp>
      <p:sp>
        <p:nvSpPr>
          <p:cNvPr id="14" name="Text 12"/>
          <p:cNvSpPr/>
          <p:nvPr/>
        </p:nvSpPr>
        <p:spPr>
          <a:xfrm>
            <a:off x="6492240" y="2231136"/>
            <a:ext cx="365760" cy="36576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Text 13"/>
          <p:cNvSpPr/>
          <p:nvPr/>
        </p:nvSpPr>
        <p:spPr>
          <a:xfrm>
            <a:off x="7040880" y="2212848"/>
            <a:ext cx="4480560" cy="457200"/>
          </a:xfrm>
          <a:prstGeom prst="rect">
            <a:avLst/>
          </a:prstGeom>
          <a:noFill/>
          <a:ln/>
        </p:spPr>
        <p:txBody>
          <a:bodyPr wrap="square" rtlCol="0" anchor="ctr"/>
          <a:lstStyle/>
          <a:p>
            <a:pPr indent="0" marL="0">
              <a:lnSpc>
                <a:spcPct val="120000"/>
              </a:lnSpc>
              <a:buNone/>
            </a:pPr>
            <a:r>
              <a:rPr lang="en-US" sz="1050" dirty="0">
                <a:solidFill>
                  <a:srgbClr val="000000"/>
                </a:solidFill>
                <a:latin typeface="Meiryo UI" pitchFamily="34" charset="0"/>
                <a:ea typeface="Meiryo UI" pitchFamily="34" charset="-122"/>
                <a:cs typeface="Meiryo UI" pitchFamily="34" charset="-120"/>
              </a:rPr>
              <a:t>VM サイズガイドラインを参照し、適切なサイジングを検討してください</a:t>
            </a:r>
            <a:endParaRPr lang="en-US" sz="1050" dirty="0"/>
          </a:p>
        </p:txBody>
      </p:sp>
      <p:sp>
        <p:nvSpPr>
          <p:cNvPr id="16" name="Shape 14"/>
          <p:cNvSpPr/>
          <p:nvPr/>
        </p:nvSpPr>
        <p:spPr>
          <a:xfrm>
            <a:off x="6492240" y="2752344"/>
            <a:ext cx="365760" cy="365760"/>
          </a:xfrm>
          <a:prstGeom prst="ellipse">
            <a:avLst/>
          </a:prstGeom>
          <a:solidFill>
            <a:srgbClr val="107C10"/>
          </a:solidFill>
          <a:ln/>
        </p:spPr>
      </p:sp>
      <p:sp>
        <p:nvSpPr>
          <p:cNvPr id="17" name="Text 15"/>
          <p:cNvSpPr/>
          <p:nvPr/>
        </p:nvSpPr>
        <p:spPr>
          <a:xfrm>
            <a:off x="6492240" y="2752344"/>
            <a:ext cx="365760" cy="36576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6"/>
          <p:cNvSpPr/>
          <p:nvPr/>
        </p:nvSpPr>
        <p:spPr>
          <a:xfrm>
            <a:off x="7040880" y="2734056"/>
            <a:ext cx="4480560" cy="457200"/>
          </a:xfrm>
          <a:prstGeom prst="rect">
            <a:avLst/>
          </a:prstGeom>
          <a:noFill/>
          <a:ln/>
        </p:spPr>
        <p:txBody>
          <a:bodyPr wrap="square" rtlCol="0" anchor="ctr"/>
          <a:lstStyle/>
          <a:p>
            <a:pPr indent="0" marL="0">
              <a:lnSpc>
                <a:spcPct val="120000"/>
              </a:lnSpc>
              <a:buNone/>
            </a:pPr>
            <a:r>
              <a:rPr lang="en-US" sz="1050" dirty="0">
                <a:solidFill>
                  <a:srgbClr val="000000"/>
                </a:solidFill>
                <a:latin typeface="Meiryo UI" pitchFamily="34" charset="0"/>
                <a:ea typeface="Meiryo UI" pitchFamily="34" charset="-122"/>
                <a:cs typeface="Meiryo UI" pitchFamily="34" charset="-120"/>
              </a:rPr>
              <a:t>FSLogix プロファイルコンテナの設計・構成を計画してください</a:t>
            </a:r>
            <a:endParaRPr lang="en-US" sz="1050" dirty="0"/>
          </a:p>
        </p:txBody>
      </p:sp>
      <p:sp>
        <p:nvSpPr>
          <p:cNvPr id="19" name="Shape 17"/>
          <p:cNvSpPr/>
          <p:nvPr/>
        </p:nvSpPr>
        <p:spPr>
          <a:xfrm>
            <a:off x="6492240" y="3273552"/>
            <a:ext cx="365760" cy="365760"/>
          </a:xfrm>
          <a:prstGeom prst="ellipse">
            <a:avLst/>
          </a:prstGeom>
          <a:solidFill>
            <a:srgbClr val="107C10"/>
          </a:solidFill>
          <a:ln/>
        </p:spPr>
      </p:sp>
      <p:sp>
        <p:nvSpPr>
          <p:cNvPr id="20" name="Text 18"/>
          <p:cNvSpPr/>
          <p:nvPr/>
        </p:nvSpPr>
        <p:spPr>
          <a:xfrm>
            <a:off x="6492240" y="3273552"/>
            <a:ext cx="365760" cy="36576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4</a:t>
            </a:r>
            <a:endParaRPr lang="en-US" sz="1200" dirty="0"/>
          </a:p>
        </p:txBody>
      </p:sp>
      <p:sp>
        <p:nvSpPr>
          <p:cNvPr id="21" name="Text 19"/>
          <p:cNvSpPr/>
          <p:nvPr/>
        </p:nvSpPr>
        <p:spPr>
          <a:xfrm>
            <a:off x="7040880" y="3255264"/>
            <a:ext cx="4480560" cy="457200"/>
          </a:xfrm>
          <a:prstGeom prst="rect">
            <a:avLst/>
          </a:prstGeom>
          <a:noFill/>
          <a:ln/>
        </p:spPr>
        <p:txBody>
          <a:bodyPr wrap="square" rtlCol="0" anchor="ctr"/>
          <a:lstStyle/>
          <a:p>
            <a:pPr indent="0" marL="0">
              <a:lnSpc>
                <a:spcPct val="120000"/>
              </a:lnSpc>
              <a:buNone/>
            </a:pPr>
            <a:r>
              <a:rPr lang="en-US" sz="1050" dirty="0">
                <a:solidFill>
                  <a:srgbClr val="000000"/>
                </a:solidFill>
                <a:latin typeface="Meiryo UI" pitchFamily="34" charset="0"/>
                <a:ea typeface="Meiryo UI" pitchFamily="34" charset="-122"/>
                <a:cs typeface="Meiryo UI" pitchFamily="34" charset="-120"/>
              </a:rPr>
              <a:t>オートスケーリングプランを作成し、コスト最適化を図ってください</a:t>
            </a:r>
            <a:endParaRPr lang="en-US" sz="1050" dirty="0"/>
          </a:p>
        </p:txBody>
      </p:sp>
      <p:sp>
        <p:nvSpPr>
          <p:cNvPr id="22" name="Shape 20"/>
          <p:cNvSpPr/>
          <p:nvPr/>
        </p:nvSpPr>
        <p:spPr>
          <a:xfrm>
            <a:off x="6492240" y="3794760"/>
            <a:ext cx="365760" cy="365760"/>
          </a:xfrm>
          <a:prstGeom prst="ellipse">
            <a:avLst/>
          </a:prstGeom>
          <a:solidFill>
            <a:srgbClr val="107C10"/>
          </a:solidFill>
          <a:ln/>
        </p:spPr>
      </p:sp>
      <p:sp>
        <p:nvSpPr>
          <p:cNvPr id="23" name="Text 21"/>
          <p:cNvSpPr/>
          <p:nvPr/>
        </p:nvSpPr>
        <p:spPr>
          <a:xfrm>
            <a:off x="6492240" y="3794760"/>
            <a:ext cx="365760" cy="36576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5</a:t>
            </a:r>
            <a:endParaRPr lang="en-US" sz="1200" dirty="0"/>
          </a:p>
        </p:txBody>
      </p:sp>
      <p:sp>
        <p:nvSpPr>
          <p:cNvPr id="24" name="Text 22"/>
          <p:cNvSpPr/>
          <p:nvPr/>
        </p:nvSpPr>
        <p:spPr>
          <a:xfrm>
            <a:off x="7040880" y="3776472"/>
            <a:ext cx="4480560" cy="457200"/>
          </a:xfrm>
          <a:prstGeom prst="rect">
            <a:avLst/>
          </a:prstGeom>
          <a:noFill/>
          <a:ln/>
        </p:spPr>
        <p:txBody>
          <a:bodyPr wrap="square" rtlCol="0" anchor="ctr"/>
          <a:lstStyle/>
          <a:p>
            <a:pPr indent="0" marL="0">
              <a:lnSpc>
                <a:spcPct val="120000"/>
              </a:lnSpc>
              <a:buNone/>
            </a:pPr>
            <a:r>
              <a:rPr lang="en-US" sz="1050" dirty="0">
                <a:solidFill>
                  <a:srgbClr val="000000"/>
                </a:solidFill>
                <a:latin typeface="Meiryo UI" pitchFamily="34" charset="0"/>
                <a:ea typeface="Meiryo UI" pitchFamily="34" charset="-122"/>
                <a:cs typeface="Meiryo UI" pitchFamily="34" charset="-120"/>
              </a:rPr>
              <a:t>AVD Insights を有効化し、運用監視体制を整備してください</a:t>
            </a:r>
            <a:endParaRPr lang="en-US" sz="1050" dirty="0"/>
          </a:p>
        </p:txBody>
      </p:sp>
      <p:sp>
        <p:nvSpPr>
          <p:cNvPr id="25" name="Text 23"/>
          <p:cNvSpPr/>
          <p:nvPr/>
        </p:nvSpPr>
        <p:spPr>
          <a:xfrm>
            <a:off x="457200" y="4572000"/>
            <a:ext cx="11274552" cy="320040"/>
          </a:xfrm>
          <a:prstGeom prst="rect">
            <a:avLst/>
          </a:prstGeom>
          <a:noFill/>
          <a:ln/>
        </p:spPr>
        <p:txBody>
          <a:bodyPr wrap="square" rtlCol="0" anchor="ctr"/>
          <a:lstStyle/>
          <a:p>
            <a:pPr indent="0" marL="0">
              <a:buNone/>
            </a:pPr>
            <a:r>
              <a:rPr lang="en-US" sz="1300" b="1" dirty="0">
                <a:solidFill>
                  <a:srgbClr val="0078D4"/>
                </a:solidFill>
                <a:latin typeface="Meiryo UI" pitchFamily="34" charset="0"/>
                <a:ea typeface="Meiryo UI" pitchFamily="34" charset="-122"/>
                <a:cs typeface="Meiryo UI" pitchFamily="34" charset="-120"/>
              </a:rPr>
              <a:t>📚  参考リンク</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4937760"/>
          <a:ext cx="11274552" cy="914400"/>
        </p:xfrm>
        <a:graphic>
          <a:graphicData uri="http://schemas.openxmlformats.org/drawingml/2006/table">
            <a:tbl>
              <a:tblPr/>
              <a:tblGrid>
                <a:gridCol w="457200"/>
                <a:gridCol w="3657600"/>
                <a:gridCol w="7159752"/>
              </a:tblGrid>
              <a:tr h="210312">
                <a:tc>
                  <a:txBody>
                    <a:bodyPr/>
                    <a:lstStyle/>
                    <a:p>
                      <a:pPr algn="ctr" indent="0" marL="0">
                        <a:buNone/>
                      </a:pPr>
                      <a:r>
                        <a:rPr lang="en-US" sz="800" b="1" dirty="0">
                          <a:solidFill>
                            <a:srgbClr val="FFFFFF"/>
                          </a:solidFill>
                          <a:latin typeface="Meiryo UI" pitchFamily="34" charset="0"/>
                          <a:ea typeface="Meiryo UI" pitchFamily="34" charset="-122"/>
                          <a:cs typeface="Meiryo UI" pitchFamily="34" charset="-120"/>
                        </a:rPr>
                        <a:t>#</a:t>
                      </a:r>
                      <a:endParaRPr lang="en-US" sz="8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indent="0" marL="0">
                        <a:buNone/>
                      </a:pPr>
                      <a:r>
                        <a:rPr lang="en-US" sz="800" b="1" dirty="0">
                          <a:solidFill>
                            <a:srgbClr val="FFFFFF"/>
                          </a:solidFill>
                          <a:latin typeface="Meiryo UI" pitchFamily="34" charset="0"/>
                          <a:ea typeface="Meiryo UI" pitchFamily="34" charset="-122"/>
                          <a:cs typeface="Meiryo UI" pitchFamily="34" charset="-120"/>
                        </a:rPr>
                        <a:t>タイトル</a:t>
                      </a:r>
                      <a:endParaRPr lang="en-US" sz="8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indent="0" marL="0">
                        <a:buNone/>
                      </a:pPr>
                      <a:r>
                        <a:rPr lang="en-US" sz="800" b="1" dirty="0">
                          <a:solidFill>
                            <a:srgbClr val="FFFFFF"/>
                          </a:solidFill>
                          <a:latin typeface="Meiryo UI" pitchFamily="34" charset="0"/>
                          <a:ea typeface="Meiryo UI" pitchFamily="34" charset="-122"/>
                          <a:cs typeface="Meiryo UI" pitchFamily="34" charset="-120"/>
                        </a:rPr>
                        <a:t>URL</a:t>
                      </a:r>
                      <a:endParaRPr lang="en-US" sz="8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r>
              <a:tr h="210312">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1</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Azure Virtual Desktop とは</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650" dirty="0">
                          <a:solidFill>
                            <a:srgbClr val="000000"/>
                          </a:solidFill>
                          <a:latin typeface="Meiryo UI" pitchFamily="34" charset="0"/>
                          <a:ea typeface="Meiryo UI" pitchFamily="34" charset="-122"/>
                          <a:cs typeface="Meiryo UI" pitchFamily="34" charset="-120"/>
                        </a:rPr>
                        <a:t>https://learn.microsoft.com/azure/virtual-desktop/overview</a:t>
                      </a:r>
                      <a:endParaRPr lang="en-US" sz="6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210312">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2</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サービスアーキテクチャと回復性</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650" dirty="0">
                          <a:solidFill>
                            <a:srgbClr val="000000"/>
                          </a:solidFill>
                          <a:latin typeface="Meiryo UI" pitchFamily="34" charset="0"/>
                          <a:ea typeface="Meiryo UI" pitchFamily="34" charset="-122"/>
                          <a:cs typeface="Meiryo UI" pitchFamily="34" charset="-120"/>
                        </a:rPr>
                        <a:t>https://learn.microsoft.com/azure/virtual-desktop/service-architecture-resilience</a:t>
                      </a:r>
                      <a:endParaRPr lang="en-US" sz="6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10312">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3</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前提条件（ネットワーク・OS・ライセンス）</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650" dirty="0">
                          <a:solidFill>
                            <a:srgbClr val="000000"/>
                          </a:solidFill>
                          <a:latin typeface="Meiryo UI" pitchFamily="34" charset="0"/>
                          <a:ea typeface="Meiryo UI" pitchFamily="34" charset="-122"/>
                          <a:cs typeface="Meiryo UI" pitchFamily="34" charset="-120"/>
                        </a:rPr>
                        <a:t>https://learn.microsoft.com/azure/virtual-desktop/prerequisites</a:t>
                      </a:r>
                      <a:endParaRPr lang="en-US" sz="6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210312">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4</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RDP Shortpath / ライセンスガイド</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650" dirty="0">
                          <a:solidFill>
                            <a:srgbClr val="000000"/>
                          </a:solidFill>
                          <a:latin typeface="Meiryo UI" pitchFamily="34" charset="0"/>
                          <a:ea typeface="Meiryo UI" pitchFamily="34" charset="-122"/>
                          <a:cs typeface="Meiryo UI" pitchFamily="34" charset="-120"/>
                        </a:rPr>
                        <a:t>https://learn.microsoft.com/azure/virtual-desktop/rdp-shortpath</a:t>
                      </a:r>
                      <a:endParaRPr lang="en-US" sz="6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10312">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5</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AVD Insights / FSLogix / デプロイ手順</a:t>
                      </a:r>
                      <a:endParaRPr lang="en-US" sz="7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650" dirty="0">
                          <a:solidFill>
                            <a:srgbClr val="000000"/>
                          </a:solidFill>
                          <a:latin typeface="Meiryo UI" pitchFamily="34" charset="0"/>
                          <a:ea typeface="Meiryo UI" pitchFamily="34" charset="-122"/>
                          <a:cs typeface="Meiryo UI" pitchFamily="34" charset="-120"/>
                        </a:rPr>
                        <a:t>https://learn.microsoft.com/azure/virtual-desktop/insights</a:t>
                      </a:r>
                      <a:endParaRPr lang="en-US" sz="65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Azure Virtual Desktop 詳細仕様</dc:subject>
  <dc:creator>GitHub Copilot</dc:creator>
  <cp:lastModifiedBy>GitHub Copilot</cp:lastModifiedBy>
  <cp:revision>1</cp:revision>
  <dcterms:created xsi:type="dcterms:W3CDTF">2026-04-07T05:54:00Z</dcterms:created>
  <dcterms:modified xsi:type="dcterms:W3CDTF">2026-04-07T05:54:00Z</dcterms:modified>
</cp:coreProperties>
</file>