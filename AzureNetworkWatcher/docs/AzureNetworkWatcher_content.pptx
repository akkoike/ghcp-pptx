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Network Watcher とは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8</a:t>
            </a:r>
            <a:endParaRPr lang="en-US" sz="900" dirty="0"/>
          </a:p>
        </p:txBody>
      </p:sp>
      <p:sp>
        <p:nvSpPr>
          <p:cNvPr id="5" name="Shape 3"/>
          <p:cNvSpPr/>
          <p:nvPr/>
        </p:nvSpPr>
        <p:spPr>
          <a:xfrm>
            <a:off x="2286000" y="1188720"/>
            <a:ext cx="7772400" cy="1188720"/>
          </a:xfrm>
          <a:prstGeom prst="roundRect">
            <a:avLst>
              <a:gd name="adj" fmla="val 11538"/>
            </a:avLst>
          </a:prstGeom>
          <a:solidFill>
            <a:srgbClr val="DEECF9"/>
          </a:solidFill>
          <a:ln w="25400">
            <a:solidFill>
              <a:srgbClr val="0078D4"/>
            </a:solidFill>
            <a:prstDash val="solid"/>
          </a:ln>
        </p:spPr>
      </p:sp>
      <p:sp>
        <p:nvSpPr>
          <p:cNvPr id="6" name="Text 4"/>
          <p:cNvSpPr/>
          <p:nvPr/>
        </p:nvSpPr>
        <p:spPr>
          <a:xfrm>
            <a:off x="2468880" y="1280160"/>
            <a:ext cx="7406640" cy="365760"/>
          </a:xfrm>
          <a:prstGeom prst="rect">
            <a:avLst/>
          </a:prstGeom>
          <a:noFill/>
          <a:ln/>
        </p:spPr>
        <p:txBody>
          <a:bodyPr wrap="square" rtlCol="0" anchor="ctr"/>
          <a:lstStyle/>
          <a:p>
            <a:pPr algn="ctr" indent="0" marL="0">
              <a:buNone/>
            </a:pPr>
            <a:r>
              <a:rPr lang="en-US" sz="1600" b="1" dirty="0">
                <a:solidFill>
                  <a:srgbClr val="0078D4"/>
                </a:solidFill>
                <a:latin typeface="Meiryo UI" pitchFamily="34" charset="0"/>
                <a:ea typeface="Meiryo UI" pitchFamily="34" charset="-122"/>
                <a:cs typeface="Meiryo UI" pitchFamily="34" charset="-120"/>
              </a:rPr>
              <a:t>🔍  Azure Network Watcher</a:t>
            </a:r>
            <a:endParaRPr lang="en-US" sz="1600" dirty="0"/>
          </a:p>
        </p:txBody>
      </p:sp>
      <p:sp>
        <p:nvSpPr>
          <p:cNvPr id="7" name="Text 5"/>
          <p:cNvSpPr/>
          <p:nvPr/>
        </p:nvSpPr>
        <p:spPr>
          <a:xfrm>
            <a:off x="2468880" y="1691640"/>
            <a:ext cx="7406640" cy="457200"/>
          </a:xfrm>
          <a:prstGeom prst="rect">
            <a:avLst/>
          </a:prstGeom>
          <a:noFill/>
          <a:ln/>
        </p:spPr>
        <p:txBody>
          <a:bodyPr wrap="square" rtlCol="0" anchor="ctr"/>
          <a:lstStyle/>
          <a:p>
            <a:pPr algn="ctr" indent="0" marL="0">
              <a:buNone/>
            </a:pPr>
            <a:r>
              <a:rPr lang="en-US" sz="1200" dirty="0">
                <a:solidFill>
                  <a:srgbClr val="000000"/>
                </a:solidFill>
                <a:latin typeface="Meiryo UI" pitchFamily="34" charset="0"/>
                <a:ea typeface="Meiryo UI" pitchFamily="34" charset="-122"/>
                <a:cs typeface="Meiryo UI" pitchFamily="34" charset="-120"/>
              </a:rPr>
              <a:t>Azure IaaS リソースのネットワークを監視・診断するためのツール群</a:t>
            </a:r>
            <a:endParaRPr lang="en-US" sz="1200" dirty="0"/>
          </a:p>
        </p:txBody>
      </p:sp>
      <p:sp>
        <p:nvSpPr>
          <p:cNvPr id="8" name="Text 6"/>
          <p:cNvSpPr/>
          <p:nvPr/>
        </p:nvSpPr>
        <p:spPr>
          <a:xfrm>
            <a:off x="5486400" y="2468880"/>
            <a:ext cx="1188720" cy="457200"/>
          </a:xfrm>
          <a:prstGeom prst="rect">
            <a:avLst/>
          </a:prstGeom>
          <a:noFill/>
          <a:ln/>
        </p:spPr>
        <p:txBody>
          <a:bodyPr wrap="square" rtlCol="0" anchor="ctr"/>
          <a:lstStyle/>
          <a:p>
            <a:pPr algn="ctr" indent="0" marL="0">
              <a:buNone/>
            </a:pPr>
            <a:r>
              <a:rPr lang="en-US" sz="2000" dirty="0">
                <a:solidFill>
                  <a:srgbClr val="0078D4"/>
                </a:solidFill>
                <a:latin typeface="Meiryo UI" pitchFamily="34" charset="0"/>
                <a:ea typeface="Meiryo UI" pitchFamily="34" charset="-122"/>
                <a:cs typeface="Meiryo UI" pitchFamily="34" charset="-120"/>
              </a:rPr>
              <a:t>⬇</a:t>
            </a:r>
            <a:endParaRPr lang="en-US" sz="2000" dirty="0"/>
          </a:p>
        </p:txBody>
      </p:sp>
      <p:sp>
        <p:nvSpPr>
          <p:cNvPr id="9" name="Shape 7"/>
          <p:cNvSpPr/>
          <p:nvPr/>
        </p:nvSpPr>
        <p:spPr>
          <a:xfrm>
            <a:off x="640080" y="3017520"/>
            <a:ext cx="1920240" cy="1097280"/>
          </a:xfrm>
          <a:prstGeom prst="roundRect">
            <a:avLst>
              <a:gd name="adj" fmla="val 10000"/>
            </a:avLst>
          </a:prstGeom>
          <a:solidFill>
            <a:srgbClr val="F3F2F1"/>
          </a:solidFill>
          <a:ln w="19050">
            <a:solidFill>
              <a:srgbClr val="0078D4"/>
            </a:solidFill>
            <a:prstDash val="solid"/>
          </a:ln>
        </p:spPr>
      </p:sp>
      <p:sp>
        <p:nvSpPr>
          <p:cNvPr id="10" name="Text 8"/>
          <p:cNvSpPr/>
          <p:nvPr/>
        </p:nvSpPr>
        <p:spPr>
          <a:xfrm>
            <a:off x="640080" y="3017520"/>
            <a:ext cx="1920240" cy="109728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  仮想マシン</a:t>
            </a:r>
            <a:endParaRPr lang="en-US" sz="1100" dirty="0"/>
          </a:p>
          <a:p>
            <a:pPr algn="ctr" indent="0" marL="0">
              <a:buNone/>
            </a:pPr>
            <a:r>
              <a:rPr lang="en-US" sz="1100" b="1" dirty="0">
                <a:solidFill>
                  <a:srgbClr val="0078D4"/>
                </a:solidFill>
                <a:latin typeface="Meiryo UI" pitchFamily="34" charset="0"/>
                <a:ea typeface="Meiryo UI" pitchFamily="34" charset="-122"/>
                <a:cs typeface="Meiryo UI" pitchFamily="34" charset="-120"/>
              </a:rPr>
              <a:t>(VM)</a:t>
            </a:r>
            <a:endParaRPr lang="en-US" sz="1100" dirty="0"/>
          </a:p>
        </p:txBody>
      </p:sp>
      <p:sp>
        <p:nvSpPr>
          <p:cNvPr id="11" name="Shape 9"/>
          <p:cNvSpPr/>
          <p:nvPr/>
        </p:nvSpPr>
        <p:spPr>
          <a:xfrm>
            <a:off x="2926080" y="3017520"/>
            <a:ext cx="1920240" cy="1097280"/>
          </a:xfrm>
          <a:prstGeom prst="roundRect">
            <a:avLst>
              <a:gd name="adj" fmla="val 10000"/>
            </a:avLst>
          </a:prstGeom>
          <a:solidFill>
            <a:srgbClr val="F3F2F1"/>
          </a:solidFill>
          <a:ln w="19050">
            <a:solidFill>
              <a:srgbClr val="107C10"/>
            </a:solidFill>
            <a:prstDash val="solid"/>
          </a:ln>
        </p:spPr>
      </p:sp>
      <p:sp>
        <p:nvSpPr>
          <p:cNvPr id="12" name="Text 10"/>
          <p:cNvSpPr/>
          <p:nvPr/>
        </p:nvSpPr>
        <p:spPr>
          <a:xfrm>
            <a:off x="2926080" y="3017520"/>
            <a:ext cx="1920240" cy="109728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仮想ネットワーク</a:t>
            </a:r>
            <a:endParaRPr lang="en-US" sz="1100" dirty="0"/>
          </a:p>
          <a:p>
            <a:pPr algn="ctr" indent="0" marL="0">
              <a:buNone/>
            </a:pPr>
            <a:r>
              <a:rPr lang="en-US" sz="1100" b="1" dirty="0">
                <a:solidFill>
                  <a:srgbClr val="107C10"/>
                </a:solidFill>
                <a:latin typeface="Meiryo UI" pitchFamily="34" charset="0"/>
                <a:ea typeface="Meiryo UI" pitchFamily="34" charset="-122"/>
                <a:cs typeface="Meiryo UI" pitchFamily="34" charset="-120"/>
              </a:rPr>
              <a:t>(VNet)</a:t>
            </a:r>
            <a:endParaRPr lang="en-US" sz="1100" dirty="0"/>
          </a:p>
        </p:txBody>
      </p:sp>
      <p:sp>
        <p:nvSpPr>
          <p:cNvPr id="13" name="Shape 11"/>
          <p:cNvSpPr/>
          <p:nvPr/>
        </p:nvSpPr>
        <p:spPr>
          <a:xfrm>
            <a:off x="5212080" y="3017520"/>
            <a:ext cx="1920240" cy="1097280"/>
          </a:xfrm>
          <a:prstGeom prst="roundRect">
            <a:avLst>
              <a:gd name="adj" fmla="val 10000"/>
            </a:avLst>
          </a:prstGeom>
          <a:solidFill>
            <a:srgbClr val="F3F2F1"/>
          </a:solidFill>
          <a:ln w="19050">
            <a:solidFill>
              <a:srgbClr val="FF8C00"/>
            </a:solidFill>
            <a:prstDash val="solid"/>
          </a:ln>
        </p:spPr>
      </p:sp>
      <p:sp>
        <p:nvSpPr>
          <p:cNvPr id="14" name="Text 12"/>
          <p:cNvSpPr/>
          <p:nvPr/>
        </p:nvSpPr>
        <p:spPr>
          <a:xfrm>
            <a:off x="5212080" y="3017520"/>
            <a:ext cx="1920240" cy="1097280"/>
          </a:xfrm>
          <a:prstGeom prst="rect">
            <a:avLst/>
          </a:prstGeom>
          <a:noFill/>
          <a:ln/>
        </p:spPr>
        <p:txBody>
          <a:bodyPr wrap="square" rtlCol="0" anchor="ctr"/>
          <a:lstStyle/>
          <a:p>
            <a:pPr algn="ctr" indent="0" marL="0">
              <a:buNone/>
            </a:pPr>
            <a:r>
              <a:rPr lang="en-US" sz="1100" b="1" dirty="0">
                <a:solidFill>
                  <a:srgbClr val="FF8C00"/>
                </a:solidFill>
                <a:latin typeface="Meiryo UI" pitchFamily="34" charset="0"/>
                <a:ea typeface="Meiryo UI" pitchFamily="34" charset="-122"/>
                <a:cs typeface="Meiryo UI" pitchFamily="34" charset="-120"/>
              </a:rPr>
              <a:t>⚖️  ロード</a:t>
            </a:r>
            <a:endParaRPr lang="en-US" sz="1100" dirty="0"/>
          </a:p>
          <a:p>
            <a:pPr algn="ctr" indent="0" marL="0">
              <a:buNone/>
            </a:pPr>
            <a:r>
              <a:rPr lang="en-US" sz="1100" b="1" dirty="0">
                <a:solidFill>
                  <a:srgbClr val="FF8C00"/>
                </a:solidFill>
                <a:latin typeface="Meiryo UI" pitchFamily="34" charset="0"/>
                <a:ea typeface="Meiryo UI" pitchFamily="34" charset="-122"/>
                <a:cs typeface="Meiryo UI" pitchFamily="34" charset="-120"/>
              </a:rPr>
              <a:t>バランサー</a:t>
            </a:r>
            <a:endParaRPr lang="en-US" sz="1100" dirty="0"/>
          </a:p>
        </p:txBody>
      </p:sp>
      <p:sp>
        <p:nvSpPr>
          <p:cNvPr id="15" name="Shape 13"/>
          <p:cNvSpPr/>
          <p:nvPr/>
        </p:nvSpPr>
        <p:spPr>
          <a:xfrm>
            <a:off x="7498080" y="3017520"/>
            <a:ext cx="1920240" cy="1097280"/>
          </a:xfrm>
          <a:prstGeom prst="roundRect">
            <a:avLst>
              <a:gd name="adj" fmla="val 10000"/>
            </a:avLst>
          </a:prstGeom>
          <a:solidFill>
            <a:srgbClr val="F3F2F1"/>
          </a:solidFill>
          <a:ln w="19050">
            <a:solidFill>
              <a:srgbClr val="5C2D91"/>
            </a:solidFill>
            <a:prstDash val="solid"/>
          </a:ln>
        </p:spPr>
      </p:sp>
      <p:sp>
        <p:nvSpPr>
          <p:cNvPr id="16" name="Text 14"/>
          <p:cNvSpPr/>
          <p:nvPr/>
        </p:nvSpPr>
        <p:spPr>
          <a:xfrm>
            <a:off x="7498080" y="3017520"/>
            <a:ext cx="1920240" cy="109728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Application</a:t>
            </a:r>
            <a:endParaRPr lang="en-US" sz="1100" dirty="0"/>
          </a:p>
          <a:p>
            <a:pPr algn="ctr" indent="0" marL="0">
              <a:buNone/>
            </a:pPr>
            <a:r>
              <a:rPr lang="en-US" sz="1100" b="1" dirty="0">
                <a:solidFill>
                  <a:srgbClr val="5C2D91"/>
                </a:solidFill>
                <a:latin typeface="Meiryo UI" pitchFamily="34" charset="0"/>
                <a:ea typeface="Meiryo UI" pitchFamily="34" charset="-122"/>
                <a:cs typeface="Meiryo UI" pitchFamily="34" charset="-120"/>
              </a:rPr>
              <a:t>Gateway</a:t>
            </a:r>
            <a:endParaRPr lang="en-US" sz="1100" dirty="0"/>
          </a:p>
        </p:txBody>
      </p:sp>
      <p:sp>
        <p:nvSpPr>
          <p:cNvPr id="17" name="Shape 15"/>
          <p:cNvSpPr/>
          <p:nvPr/>
        </p:nvSpPr>
        <p:spPr>
          <a:xfrm>
            <a:off x="9784080" y="3017520"/>
            <a:ext cx="1920240" cy="1097280"/>
          </a:xfrm>
          <a:prstGeom prst="roundRect">
            <a:avLst>
              <a:gd name="adj" fmla="val 10000"/>
            </a:avLst>
          </a:prstGeom>
          <a:solidFill>
            <a:srgbClr val="F3F2F1"/>
          </a:solidFill>
          <a:ln w="19050">
            <a:solidFill>
              <a:srgbClr val="D13438"/>
            </a:solidFill>
            <a:prstDash val="solid"/>
          </a:ln>
        </p:spPr>
      </p:sp>
      <p:sp>
        <p:nvSpPr>
          <p:cNvPr id="18" name="Text 16"/>
          <p:cNvSpPr/>
          <p:nvPr/>
        </p:nvSpPr>
        <p:spPr>
          <a:xfrm>
            <a:off x="9784080" y="3017520"/>
            <a:ext cx="1920240" cy="1097280"/>
          </a:xfrm>
          <a:prstGeom prst="rect">
            <a:avLst/>
          </a:prstGeom>
          <a:noFill/>
          <a:ln/>
        </p:spPr>
        <p:txBody>
          <a:bodyPr wrap="square" rtlCol="0" anchor="ctr"/>
          <a:lstStyle/>
          <a:p>
            <a:pPr algn="ctr" indent="0" marL="0">
              <a:buNone/>
            </a:pPr>
            <a:r>
              <a:rPr lang="en-US" sz="1100" b="1" dirty="0">
                <a:solidFill>
                  <a:srgbClr val="D13438"/>
                </a:solidFill>
                <a:latin typeface="Meiryo UI" pitchFamily="34" charset="0"/>
                <a:ea typeface="Meiryo UI" pitchFamily="34" charset="-122"/>
                <a:cs typeface="Meiryo UI" pitchFamily="34" charset="-120"/>
              </a:rPr>
              <a:t>🔒  NSG</a:t>
            </a:r>
            <a:endParaRPr lang="en-US" sz="1100" dirty="0"/>
          </a:p>
        </p:txBody>
      </p:sp>
      <p:sp>
        <p:nvSpPr>
          <p:cNvPr id="19" name="Text 17"/>
          <p:cNvSpPr/>
          <p:nvPr/>
        </p:nvSpPr>
        <p:spPr>
          <a:xfrm>
            <a:off x="457200" y="4389120"/>
            <a:ext cx="11274552" cy="2103120"/>
          </a:xfrm>
          <a:prstGeom prst="rect">
            <a:avLst/>
          </a:prstGeom>
          <a:noFill/>
          <a:ln/>
        </p:spPr>
        <p:txBody>
          <a:bodyPr wrap="square" rtlCol="0" anchor="t"/>
          <a:lstStyle/>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Azure Network Watcher は、Azure IaaS リソースのネットワークを監視・診断するためのツール群を提供するサービスです</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サブスクリプション内で仮想ネットワークを作成・更新すると、そのリージョンで自動的に有効化されます</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自動有効化によるリソースへの影響やコストの発生はありません</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PaaS の監視や Web 分析を目的としたサービスではありません</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既定でゾーン冗長に対応しており、追加の構成は不要です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主要機能の全体像（3 つのカテゴリ）</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8</a:t>
            </a:r>
            <a:endParaRPr lang="en-US" sz="900" dirty="0"/>
          </a:p>
        </p:txBody>
      </p:sp>
      <p:sp>
        <p:nvSpPr>
          <p:cNvPr id="5" name="Shape 3"/>
          <p:cNvSpPr/>
          <p:nvPr/>
        </p:nvSpPr>
        <p:spPr>
          <a:xfrm>
            <a:off x="457200" y="1280160"/>
            <a:ext cx="3474720" cy="4389120"/>
          </a:xfrm>
          <a:prstGeom prst="roundRect">
            <a:avLst>
              <a:gd name="adj" fmla="val 3947"/>
            </a:avLst>
          </a:prstGeom>
          <a:solidFill>
            <a:srgbClr val="F3F2F1"/>
          </a:solidFill>
          <a:ln w="25400">
            <a:solidFill>
              <a:srgbClr val="0078D4"/>
            </a:solidFill>
            <a:prstDash val="solid"/>
          </a:ln>
        </p:spPr>
      </p:sp>
      <p:sp>
        <p:nvSpPr>
          <p:cNvPr id="6" name="Shape 4"/>
          <p:cNvSpPr/>
          <p:nvPr/>
        </p:nvSpPr>
        <p:spPr>
          <a:xfrm>
            <a:off x="548640" y="1371600"/>
            <a:ext cx="3291840" cy="548640"/>
          </a:xfrm>
          <a:prstGeom prst="roundRect">
            <a:avLst>
              <a:gd name="adj" fmla="val 16667"/>
            </a:avLst>
          </a:prstGeom>
          <a:solidFill>
            <a:srgbClr val="0078D4"/>
          </a:solidFill>
          <a:ln/>
        </p:spPr>
      </p:sp>
      <p:sp>
        <p:nvSpPr>
          <p:cNvPr id="7" name="Text 5"/>
          <p:cNvSpPr/>
          <p:nvPr/>
        </p:nvSpPr>
        <p:spPr>
          <a:xfrm>
            <a:off x="548640" y="1371600"/>
            <a:ext cx="3291840" cy="54864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監視（Monitoring）</a:t>
            </a:r>
            <a:endParaRPr lang="en-US" sz="1400" dirty="0"/>
          </a:p>
        </p:txBody>
      </p:sp>
      <p:sp>
        <p:nvSpPr>
          <p:cNvPr id="8" name="Text 6"/>
          <p:cNvSpPr/>
          <p:nvPr/>
        </p:nvSpPr>
        <p:spPr>
          <a:xfrm>
            <a:off x="640080" y="2103120"/>
            <a:ext cx="3108960" cy="338328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トポロジ — ネットワーク構成の可視化を行います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接続モニター — エンドポイント間の接続と遅延を継続的に監視します</a:t>
            </a:r>
            <a:endParaRPr lang="en-US" sz="1100" dirty="0"/>
          </a:p>
        </p:txBody>
      </p:sp>
      <p:sp>
        <p:nvSpPr>
          <p:cNvPr id="9" name="Shape 7"/>
          <p:cNvSpPr/>
          <p:nvPr/>
        </p:nvSpPr>
        <p:spPr>
          <a:xfrm>
            <a:off x="4251960" y="1280160"/>
            <a:ext cx="3474720" cy="4389120"/>
          </a:xfrm>
          <a:prstGeom prst="roundRect">
            <a:avLst>
              <a:gd name="adj" fmla="val 3947"/>
            </a:avLst>
          </a:prstGeom>
          <a:solidFill>
            <a:srgbClr val="F3F2F1"/>
          </a:solidFill>
          <a:ln w="25400">
            <a:solidFill>
              <a:srgbClr val="107C10"/>
            </a:solidFill>
            <a:prstDash val="solid"/>
          </a:ln>
        </p:spPr>
      </p:sp>
      <p:sp>
        <p:nvSpPr>
          <p:cNvPr id="10" name="Shape 8"/>
          <p:cNvSpPr/>
          <p:nvPr/>
        </p:nvSpPr>
        <p:spPr>
          <a:xfrm>
            <a:off x="4343400" y="1371600"/>
            <a:ext cx="3291840" cy="548640"/>
          </a:xfrm>
          <a:prstGeom prst="roundRect">
            <a:avLst>
              <a:gd name="adj" fmla="val 16667"/>
            </a:avLst>
          </a:prstGeom>
          <a:solidFill>
            <a:srgbClr val="107C10"/>
          </a:solidFill>
          <a:ln/>
        </p:spPr>
      </p:sp>
      <p:sp>
        <p:nvSpPr>
          <p:cNvPr id="11" name="Text 9"/>
          <p:cNvSpPr/>
          <p:nvPr/>
        </p:nvSpPr>
        <p:spPr>
          <a:xfrm>
            <a:off x="4343400" y="1371600"/>
            <a:ext cx="3291840" cy="54864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ネットワーク診断ツール</a:t>
            </a:r>
            <a:endParaRPr lang="en-US" sz="1400" dirty="0"/>
          </a:p>
        </p:txBody>
      </p:sp>
      <p:sp>
        <p:nvSpPr>
          <p:cNvPr id="12" name="Text 10"/>
          <p:cNvSpPr/>
          <p:nvPr/>
        </p:nvSpPr>
        <p:spPr>
          <a:xfrm>
            <a:off x="4434840" y="2103120"/>
            <a:ext cx="3108960" cy="338328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IP フロー検証</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NSG 診断</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次のホップ</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有効なセキュリティ規則</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接続のトラブルシューティング</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パケットキャプチャ</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VPN トラブルシューティング</a:t>
            </a:r>
            <a:endParaRPr lang="en-US" sz="1100" dirty="0"/>
          </a:p>
        </p:txBody>
      </p:sp>
      <p:sp>
        <p:nvSpPr>
          <p:cNvPr id="13" name="Shape 11"/>
          <p:cNvSpPr/>
          <p:nvPr/>
        </p:nvSpPr>
        <p:spPr>
          <a:xfrm>
            <a:off x="8046720" y="1280160"/>
            <a:ext cx="3474720" cy="4389120"/>
          </a:xfrm>
          <a:prstGeom prst="roundRect">
            <a:avLst>
              <a:gd name="adj" fmla="val 3947"/>
            </a:avLst>
          </a:prstGeom>
          <a:solidFill>
            <a:srgbClr val="F3F2F1"/>
          </a:solidFill>
          <a:ln w="25400">
            <a:solidFill>
              <a:srgbClr val="FF8C00"/>
            </a:solidFill>
            <a:prstDash val="solid"/>
          </a:ln>
        </p:spPr>
      </p:sp>
      <p:sp>
        <p:nvSpPr>
          <p:cNvPr id="14" name="Shape 12"/>
          <p:cNvSpPr/>
          <p:nvPr/>
        </p:nvSpPr>
        <p:spPr>
          <a:xfrm>
            <a:off x="8138160" y="1371600"/>
            <a:ext cx="3291840" cy="548640"/>
          </a:xfrm>
          <a:prstGeom prst="roundRect">
            <a:avLst>
              <a:gd name="adj" fmla="val 16667"/>
            </a:avLst>
          </a:prstGeom>
          <a:solidFill>
            <a:srgbClr val="FF8C00"/>
          </a:solidFill>
          <a:ln/>
        </p:spPr>
      </p:sp>
      <p:sp>
        <p:nvSpPr>
          <p:cNvPr id="15" name="Text 13"/>
          <p:cNvSpPr/>
          <p:nvPr/>
        </p:nvSpPr>
        <p:spPr>
          <a:xfrm>
            <a:off x="8138160" y="1371600"/>
            <a:ext cx="3291840" cy="54864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トラフィック（Traffic）</a:t>
            </a:r>
            <a:endParaRPr lang="en-US" sz="1400" dirty="0"/>
          </a:p>
        </p:txBody>
      </p:sp>
      <p:sp>
        <p:nvSpPr>
          <p:cNvPr id="16" name="Text 14"/>
          <p:cNvSpPr/>
          <p:nvPr/>
        </p:nvSpPr>
        <p:spPr>
          <a:xfrm>
            <a:off x="8229600" y="2103120"/>
            <a:ext cx="3108960" cy="338328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フローログ — NSG / VNet フローログでトラフィックを記録します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トラフィック分析 — フローログデータのリッチな可視化を提供します</a:t>
            </a:r>
            <a:endParaRPr lang="en-US" sz="1100" dirty="0"/>
          </a:p>
        </p:txBody>
      </p:sp>
      <p:sp>
        <p:nvSpPr>
          <p:cNvPr id="17" name="Shape 15"/>
          <p:cNvSpPr/>
          <p:nvPr/>
        </p:nvSpPr>
        <p:spPr>
          <a:xfrm>
            <a:off x="457200" y="5760720"/>
            <a:ext cx="11274552" cy="548640"/>
          </a:xfrm>
          <a:prstGeom prst="roundRect">
            <a:avLst>
              <a:gd name="adj" fmla="val 16667"/>
            </a:avLst>
          </a:prstGeom>
          <a:solidFill>
            <a:srgbClr val="DEECF9"/>
          </a:solidFill>
          <a:ln w="12700">
            <a:solidFill>
              <a:srgbClr val="0078D4"/>
            </a:solidFill>
            <a:prstDash val="solid"/>
          </a:ln>
        </p:spPr>
      </p:sp>
      <p:sp>
        <p:nvSpPr>
          <p:cNvPr id="18" name="Text 16"/>
          <p:cNvSpPr/>
          <p:nvPr/>
        </p:nvSpPr>
        <p:spPr>
          <a:xfrm>
            <a:off x="640080" y="5760720"/>
            <a:ext cx="10908792" cy="54864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  使用量 + クォータ: サブスクリプションとリージョンごとのネットワークリソースの使用状況と制限を確認できます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監視機能（Monitoring）</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8</a:t>
            </a:r>
            <a:endParaRPr lang="en-US" sz="900" dirty="0"/>
          </a:p>
        </p:txBody>
      </p:sp>
      <p:sp>
        <p:nvSpPr>
          <p:cNvPr id="5" name="Shape 3"/>
          <p:cNvSpPr/>
          <p:nvPr/>
        </p:nvSpPr>
        <p:spPr>
          <a:xfrm>
            <a:off x="457200" y="1188720"/>
            <a:ext cx="5303520" cy="5029200"/>
          </a:xfrm>
          <a:prstGeom prst="roundRect">
            <a:avLst>
              <a:gd name="adj" fmla="val 2727"/>
            </a:avLst>
          </a:prstGeom>
          <a:solidFill>
            <a:srgbClr val="F3F2F1"/>
          </a:solidFill>
          <a:ln w="25400">
            <a:solidFill>
              <a:srgbClr val="0078D4"/>
            </a:solidFill>
            <a:prstDash val="solid"/>
          </a:ln>
        </p:spPr>
      </p:sp>
      <p:sp>
        <p:nvSpPr>
          <p:cNvPr id="6" name="Shape 4"/>
          <p:cNvSpPr/>
          <p:nvPr/>
        </p:nvSpPr>
        <p:spPr>
          <a:xfrm>
            <a:off x="548640" y="1280160"/>
            <a:ext cx="5120640" cy="502920"/>
          </a:xfrm>
          <a:prstGeom prst="roundRect">
            <a:avLst>
              <a:gd name="adj" fmla="val 18182"/>
            </a:avLst>
          </a:prstGeom>
          <a:solidFill>
            <a:srgbClr val="0078D4"/>
          </a:solidFill>
          <a:ln/>
        </p:spPr>
      </p:sp>
      <p:sp>
        <p:nvSpPr>
          <p:cNvPr id="7" name="Text 5"/>
          <p:cNvSpPr/>
          <p:nvPr/>
        </p:nvSpPr>
        <p:spPr>
          <a:xfrm>
            <a:off x="548640" y="1280160"/>
            <a:ext cx="5120640" cy="502920"/>
          </a:xfrm>
          <a:prstGeom prst="rect">
            <a:avLst/>
          </a:prstGeom>
          <a:noFill/>
          <a:ln/>
        </p:spPr>
        <p:txBody>
          <a:bodyPr wrap="square"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  トポロジ（Topology）</a:t>
            </a:r>
            <a:endParaRPr lang="en-US" sz="1500" dirty="0"/>
          </a:p>
        </p:txBody>
      </p:sp>
      <p:sp>
        <p:nvSpPr>
          <p:cNvPr id="8" name="Text 6"/>
          <p:cNvSpPr/>
          <p:nvPr/>
        </p:nvSpPr>
        <p:spPr>
          <a:xfrm>
            <a:off x="731520" y="2011680"/>
            <a:ext cx="4754880" cy="1828800"/>
          </a:xfrm>
          <a:prstGeom prst="rect">
            <a:avLst/>
          </a:prstGeom>
          <a:noFill/>
          <a:ln/>
        </p:spPr>
        <p:txBody>
          <a:bodyPr wrap="square" rtlCol="0" anchor="t"/>
          <a:lstStyle/>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ネットワーク全体の構成を可視化するインタラクティブなインターフェースを提供します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複数のサブスクリプション、リソースグループ、リージョンにまたがるリソースとその関係性を表示できます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ネットワーク構成の理解と確認に役立ちます</a:t>
            </a:r>
            <a:endParaRPr lang="en-US" sz="1150" dirty="0"/>
          </a:p>
        </p:txBody>
      </p:sp>
      <p:sp>
        <p:nvSpPr>
          <p:cNvPr id="9" name="Shape 7"/>
          <p:cNvSpPr/>
          <p:nvPr/>
        </p:nvSpPr>
        <p:spPr>
          <a:xfrm>
            <a:off x="2011680" y="3840480"/>
            <a:ext cx="1371600" cy="594360"/>
          </a:xfrm>
          <a:prstGeom prst="roundRect">
            <a:avLst>
              <a:gd name="adj" fmla="val 15385"/>
            </a:avLst>
          </a:prstGeom>
          <a:solidFill>
            <a:srgbClr val="107C10"/>
          </a:solidFill>
          <a:ln/>
        </p:spPr>
      </p:sp>
      <p:sp>
        <p:nvSpPr>
          <p:cNvPr id="10" name="Text 8"/>
          <p:cNvSpPr/>
          <p:nvPr/>
        </p:nvSpPr>
        <p:spPr>
          <a:xfrm>
            <a:off x="2011680" y="384048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VNet</a:t>
            </a:r>
            <a:endParaRPr lang="en-US" sz="1000" dirty="0"/>
          </a:p>
        </p:txBody>
      </p:sp>
      <p:sp>
        <p:nvSpPr>
          <p:cNvPr id="11" name="Shape 9"/>
          <p:cNvSpPr/>
          <p:nvPr/>
        </p:nvSpPr>
        <p:spPr>
          <a:xfrm>
            <a:off x="914400" y="4846320"/>
            <a:ext cx="1371600" cy="594360"/>
          </a:xfrm>
          <a:prstGeom prst="roundRect">
            <a:avLst>
              <a:gd name="adj" fmla="val 15385"/>
            </a:avLst>
          </a:prstGeom>
          <a:solidFill>
            <a:srgbClr val="0078D4"/>
          </a:solidFill>
          <a:ln/>
        </p:spPr>
      </p:sp>
      <p:sp>
        <p:nvSpPr>
          <p:cNvPr id="12" name="Text 10"/>
          <p:cNvSpPr/>
          <p:nvPr/>
        </p:nvSpPr>
        <p:spPr>
          <a:xfrm>
            <a:off x="914400" y="484632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Subnet</a:t>
            </a:r>
            <a:endParaRPr lang="en-US" sz="1000" dirty="0"/>
          </a:p>
        </p:txBody>
      </p:sp>
      <p:sp>
        <p:nvSpPr>
          <p:cNvPr id="13" name="Shape 11"/>
          <p:cNvSpPr/>
          <p:nvPr/>
        </p:nvSpPr>
        <p:spPr>
          <a:xfrm>
            <a:off x="3108960" y="4846320"/>
            <a:ext cx="1371600" cy="594360"/>
          </a:xfrm>
          <a:prstGeom prst="roundRect">
            <a:avLst>
              <a:gd name="adj" fmla="val 15385"/>
            </a:avLst>
          </a:prstGeom>
          <a:solidFill>
            <a:srgbClr val="5C2D91"/>
          </a:solidFill>
          <a:ln/>
        </p:spPr>
      </p:sp>
      <p:sp>
        <p:nvSpPr>
          <p:cNvPr id="14" name="Text 12"/>
          <p:cNvSpPr/>
          <p:nvPr/>
        </p:nvSpPr>
        <p:spPr>
          <a:xfrm>
            <a:off x="3108960" y="484632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VM</a:t>
            </a:r>
            <a:endParaRPr lang="en-US" sz="1000" dirty="0"/>
          </a:p>
        </p:txBody>
      </p:sp>
      <p:sp>
        <p:nvSpPr>
          <p:cNvPr id="15" name="Shape 13"/>
          <p:cNvSpPr/>
          <p:nvPr/>
        </p:nvSpPr>
        <p:spPr>
          <a:xfrm>
            <a:off x="4206240" y="3840480"/>
            <a:ext cx="1371600" cy="594360"/>
          </a:xfrm>
          <a:prstGeom prst="roundRect">
            <a:avLst>
              <a:gd name="adj" fmla="val 15385"/>
            </a:avLst>
          </a:prstGeom>
          <a:solidFill>
            <a:srgbClr val="D13438"/>
          </a:solidFill>
          <a:ln/>
        </p:spPr>
      </p:sp>
      <p:sp>
        <p:nvSpPr>
          <p:cNvPr id="16" name="Text 14"/>
          <p:cNvSpPr/>
          <p:nvPr/>
        </p:nvSpPr>
        <p:spPr>
          <a:xfrm>
            <a:off x="4206240" y="384048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NSG</a:t>
            </a:r>
            <a:endParaRPr lang="en-US" sz="1000" dirty="0"/>
          </a:p>
        </p:txBody>
      </p:sp>
      <p:sp>
        <p:nvSpPr>
          <p:cNvPr id="17" name="Text 15"/>
          <p:cNvSpPr/>
          <p:nvPr/>
        </p:nvSpPr>
        <p:spPr>
          <a:xfrm>
            <a:off x="1554480" y="4389120"/>
            <a:ext cx="1371600" cy="274320"/>
          </a:xfrm>
          <a:prstGeom prst="rect">
            <a:avLst/>
          </a:prstGeom>
          <a:noFill/>
          <a:ln/>
        </p:spPr>
        <p:txBody>
          <a:bodyPr wrap="square" rtlCol="0" anchor="ctr"/>
          <a:lstStyle/>
          <a:p>
            <a:pPr algn="ctr" indent="0" marL="0">
              <a:buNone/>
            </a:pPr>
            <a:r>
              <a:rPr lang="en-US" sz="1000" dirty="0">
                <a:solidFill>
                  <a:srgbClr val="999999"/>
                </a:solidFill>
                <a:latin typeface="Meiryo UI" pitchFamily="34" charset="0"/>
                <a:ea typeface="Meiryo UI" pitchFamily="34" charset="-122"/>
                <a:cs typeface="Meiryo UI" pitchFamily="34" charset="-120"/>
              </a:rPr>
              <a:t>─────</a:t>
            </a:r>
            <a:endParaRPr lang="en-US" sz="1000" dirty="0"/>
          </a:p>
        </p:txBody>
      </p:sp>
      <p:sp>
        <p:nvSpPr>
          <p:cNvPr id="18" name="Text 16"/>
          <p:cNvSpPr/>
          <p:nvPr/>
        </p:nvSpPr>
        <p:spPr>
          <a:xfrm>
            <a:off x="2743200" y="4389120"/>
            <a:ext cx="1371600" cy="274320"/>
          </a:xfrm>
          <a:prstGeom prst="rect">
            <a:avLst/>
          </a:prstGeom>
          <a:noFill/>
          <a:ln/>
        </p:spPr>
        <p:txBody>
          <a:bodyPr wrap="square" rtlCol="0" anchor="ctr"/>
          <a:lstStyle/>
          <a:p>
            <a:pPr algn="ctr" indent="0" marL="0">
              <a:buNone/>
            </a:pPr>
            <a:r>
              <a:rPr lang="en-US" sz="1000" dirty="0">
                <a:solidFill>
                  <a:srgbClr val="999999"/>
                </a:solidFill>
                <a:latin typeface="Meiryo UI" pitchFamily="34" charset="0"/>
                <a:ea typeface="Meiryo UI" pitchFamily="34" charset="-122"/>
                <a:cs typeface="Meiryo UI" pitchFamily="34" charset="-120"/>
              </a:rPr>
              <a:t>─────</a:t>
            </a:r>
            <a:endParaRPr lang="en-US" sz="1000" dirty="0"/>
          </a:p>
        </p:txBody>
      </p:sp>
      <p:sp>
        <p:nvSpPr>
          <p:cNvPr id="19" name="Shape 17"/>
          <p:cNvSpPr/>
          <p:nvPr/>
        </p:nvSpPr>
        <p:spPr>
          <a:xfrm>
            <a:off x="6126480" y="1188720"/>
            <a:ext cx="5577840" cy="5029200"/>
          </a:xfrm>
          <a:prstGeom prst="roundRect">
            <a:avLst>
              <a:gd name="adj" fmla="val 2727"/>
            </a:avLst>
          </a:prstGeom>
          <a:solidFill>
            <a:srgbClr val="F3F2F1"/>
          </a:solidFill>
          <a:ln w="25400">
            <a:solidFill>
              <a:srgbClr val="107C10"/>
            </a:solidFill>
            <a:prstDash val="solid"/>
          </a:ln>
        </p:spPr>
      </p:sp>
      <p:sp>
        <p:nvSpPr>
          <p:cNvPr id="20" name="Shape 18"/>
          <p:cNvSpPr/>
          <p:nvPr/>
        </p:nvSpPr>
        <p:spPr>
          <a:xfrm>
            <a:off x="6217920" y="1280160"/>
            <a:ext cx="5394960" cy="502920"/>
          </a:xfrm>
          <a:prstGeom prst="roundRect">
            <a:avLst>
              <a:gd name="adj" fmla="val 18182"/>
            </a:avLst>
          </a:prstGeom>
          <a:solidFill>
            <a:srgbClr val="107C10"/>
          </a:solidFill>
          <a:ln/>
        </p:spPr>
      </p:sp>
      <p:sp>
        <p:nvSpPr>
          <p:cNvPr id="21" name="Text 19"/>
          <p:cNvSpPr/>
          <p:nvPr/>
        </p:nvSpPr>
        <p:spPr>
          <a:xfrm>
            <a:off x="6217920" y="1280160"/>
            <a:ext cx="5394960" cy="502920"/>
          </a:xfrm>
          <a:prstGeom prst="rect">
            <a:avLst/>
          </a:prstGeom>
          <a:noFill/>
          <a:ln/>
        </p:spPr>
        <p:txBody>
          <a:bodyPr wrap="square"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  接続モニター（Connection Monitor）</a:t>
            </a:r>
            <a:endParaRPr lang="en-US" sz="1500" dirty="0"/>
          </a:p>
        </p:txBody>
      </p:sp>
      <p:sp>
        <p:nvSpPr>
          <p:cNvPr id="22" name="Text 20"/>
          <p:cNvSpPr/>
          <p:nvPr/>
        </p:nvSpPr>
        <p:spPr>
          <a:xfrm>
            <a:off x="6309360" y="2011680"/>
            <a:ext cx="5212080" cy="1828800"/>
          </a:xfrm>
          <a:prstGeom prst="rect">
            <a:avLst/>
          </a:prstGeom>
          <a:noFill/>
          <a:ln/>
        </p:spPr>
        <p:txBody>
          <a:bodyPr wrap="square" rtlCol="0" anchor="t"/>
          <a:lstStyle/>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エンドツーエンドの接続監視を行います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TCP、ICMP、HTTP、HTTPS プロトコルによるテストをサポートしています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テストグループごとにソース、宛先、テスト構成を柔軟に設定できます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Azure Monitor と統合して、アラートおよびメトリクスのダッシュボードを提供しています</a:t>
            </a:r>
            <a:endParaRPr lang="en-US" sz="1150" dirty="0"/>
          </a:p>
        </p:txBody>
      </p:sp>
      <p:sp>
        <p:nvSpPr>
          <p:cNvPr id="23" name="Shape 21"/>
          <p:cNvSpPr/>
          <p:nvPr/>
        </p:nvSpPr>
        <p:spPr>
          <a:xfrm>
            <a:off x="6400800" y="4114800"/>
            <a:ext cx="1371600" cy="914400"/>
          </a:xfrm>
          <a:prstGeom prst="roundRect">
            <a:avLst>
              <a:gd name="adj" fmla="val 10000"/>
            </a:avLst>
          </a:prstGeom>
          <a:solidFill>
            <a:srgbClr val="0078D4"/>
          </a:solidFill>
          <a:ln/>
        </p:spPr>
      </p:sp>
      <p:sp>
        <p:nvSpPr>
          <p:cNvPr id="24" name="Text 22"/>
          <p:cNvSpPr/>
          <p:nvPr/>
        </p:nvSpPr>
        <p:spPr>
          <a:xfrm>
            <a:off x="6400800" y="4114800"/>
            <a:ext cx="1371600" cy="9144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ソース</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(VM)</a:t>
            </a:r>
            <a:endParaRPr lang="en-US" sz="1000" dirty="0"/>
          </a:p>
        </p:txBody>
      </p:sp>
      <p:sp>
        <p:nvSpPr>
          <p:cNvPr id="25" name="Shape 23"/>
          <p:cNvSpPr/>
          <p:nvPr/>
        </p:nvSpPr>
        <p:spPr>
          <a:xfrm>
            <a:off x="8229600" y="4114800"/>
            <a:ext cx="1371600" cy="914400"/>
          </a:xfrm>
          <a:prstGeom prst="roundRect">
            <a:avLst>
              <a:gd name="adj" fmla="val 10000"/>
            </a:avLst>
          </a:prstGeom>
          <a:solidFill>
            <a:srgbClr val="FF8C00"/>
          </a:solidFill>
          <a:ln/>
        </p:spPr>
      </p:sp>
      <p:sp>
        <p:nvSpPr>
          <p:cNvPr id="26" name="Text 24"/>
          <p:cNvSpPr/>
          <p:nvPr/>
        </p:nvSpPr>
        <p:spPr>
          <a:xfrm>
            <a:off x="8229600" y="4114800"/>
            <a:ext cx="1371600" cy="9144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テスト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グループ</a:t>
            </a:r>
            <a:endParaRPr lang="en-US" sz="1000" dirty="0"/>
          </a:p>
        </p:txBody>
      </p:sp>
      <p:sp>
        <p:nvSpPr>
          <p:cNvPr id="27" name="Shape 25"/>
          <p:cNvSpPr/>
          <p:nvPr/>
        </p:nvSpPr>
        <p:spPr>
          <a:xfrm>
            <a:off x="10058400" y="4114800"/>
            <a:ext cx="1371600" cy="914400"/>
          </a:xfrm>
          <a:prstGeom prst="roundRect">
            <a:avLst>
              <a:gd name="adj" fmla="val 10000"/>
            </a:avLst>
          </a:prstGeom>
          <a:solidFill>
            <a:srgbClr val="107C10"/>
          </a:solidFill>
          <a:ln/>
        </p:spPr>
      </p:sp>
      <p:sp>
        <p:nvSpPr>
          <p:cNvPr id="28" name="Text 26"/>
          <p:cNvSpPr/>
          <p:nvPr/>
        </p:nvSpPr>
        <p:spPr>
          <a:xfrm>
            <a:off x="10058400" y="4114800"/>
            <a:ext cx="1371600" cy="9144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宛先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(Endpoint)</a:t>
            </a:r>
            <a:endParaRPr lang="en-US" sz="1000" dirty="0"/>
          </a:p>
        </p:txBody>
      </p:sp>
      <p:sp>
        <p:nvSpPr>
          <p:cNvPr id="29" name="Text 27"/>
          <p:cNvSpPr/>
          <p:nvPr/>
        </p:nvSpPr>
        <p:spPr>
          <a:xfrm>
            <a:off x="7772400" y="4297680"/>
            <a:ext cx="45720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30" name="Text 28"/>
          <p:cNvSpPr/>
          <p:nvPr/>
        </p:nvSpPr>
        <p:spPr>
          <a:xfrm>
            <a:off x="9601200" y="4297680"/>
            <a:ext cx="45720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31" name="Shape 29"/>
          <p:cNvSpPr/>
          <p:nvPr/>
        </p:nvSpPr>
        <p:spPr>
          <a:xfrm>
            <a:off x="7772400" y="5303520"/>
            <a:ext cx="2743200" cy="502920"/>
          </a:xfrm>
          <a:prstGeom prst="roundRect">
            <a:avLst>
              <a:gd name="adj" fmla="val 14545"/>
            </a:avLst>
          </a:prstGeom>
          <a:solidFill>
            <a:srgbClr val="DEECF9"/>
          </a:solidFill>
          <a:ln w="12700">
            <a:solidFill>
              <a:srgbClr val="0078D4"/>
            </a:solidFill>
            <a:prstDash val="solid"/>
          </a:ln>
        </p:spPr>
      </p:sp>
      <p:sp>
        <p:nvSpPr>
          <p:cNvPr id="32" name="Text 30"/>
          <p:cNvSpPr/>
          <p:nvPr/>
        </p:nvSpPr>
        <p:spPr>
          <a:xfrm>
            <a:off x="7772400" y="5303520"/>
            <a:ext cx="2743200" cy="502920"/>
          </a:xfrm>
          <a:prstGeom prst="rect">
            <a:avLst/>
          </a:prstGeom>
          <a:noFill/>
          <a:ln/>
        </p:spPr>
        <p:txBody>
          <a:bodyPr wrap="square" rtlCol="0" anchor="ctr"/>
          <a:lstStyle/>
          <a:p>
            <a:pPr algn="ctr" indent="0" marL="0">
              <a:buNone/>
            </a:pPr>
            <a:r>
              <a:rPr lang="en-US" sz="1000" b="1" dirty="0">
                <a:solidFill>
                  <a:srgbClr val="0078D4"/>
                </a:solidFill>
                <a:latin typeface="Meiryo UI" pitchFamily="34" charset="0"/>
                <a:ea typeface="Meiryo UI" pitchFamily="34" charset="-122"/>
                <a:cs typeface="Meiryo UI" pitchFamily="34" charset="-120"/>
              </a:rPr>
              <a:t>📊 Azure Monitor 連携</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ネットワーク診断ツール（前半）</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8</a:t>
            </a:r>
            <a:endParaRPr lang="en-US" sz="900" dirty="0"/>
          </a:p>
        </p:txBody>
      </p:sp>
      <p:sp>
        <p:nvSpPr>
          <p:cNvPr id="5" name="Shape 3"/>
          <p:cNvSpPr/>
          <p:nvPr/>
        </p:nvSpPr>
        <p:spPr>
          <a:xfrm>
            <a:off x="457200" y="1280160"/>
            <a:ext cx="5394960" cy="2286000"/>
          </a:xfrm>
          <a:prstGeom prst="roundRect">
            <a:avLst>
              <a:gd name="adj" fmla="val 4800"/>
            </a:avLst>
          </a:prstGeom>
          <a:solidFill>
            <a:srgbClr val="F3F2F1"/>
          </a:solidFill>
          <a:ln w="25400">
            <a:solidFill>
              <a:srgbClr val="0078D4"/>
            </a:solidFill>
            <a:prstDash val="solid"/>
          </a:ln>
        </p:spPr>
      </p:sp>
      <p:sp>
        <p:nvSpPr>
          <p:cNvPr id="6" name="Shape 4"/>
          <p:cNvSpPr/>
          <p:nvPr/>
        </p:nvSpPr>
        <p:spPr>
          <a:xfrm>
            <a:off x="548640" y="1353312"/>
            <a:ext cx="5212080" cy="457200"/>
          </a:xfrm>
          <a:prstGeom prst="roundRect">
            <a:avLst>
              <a:gd name="adj" fmla="val 16000"/>
            </a:avLst>
          </a:prstGeom>
          <a:solidFill>
            <a:srgbClr val="0078D4"/>
          </a:solidFill>
          <a:ln/>
        </p:spPr>
      </p:sp>
      <p:sp>
        <p:nvSpPr>
          <p:cNvPr id="7" name="Text 5"/>
          <p:cNvSpPr/>
          <p:nvPr/>
        </p:nvSpPr>
        <p:spPr>
          <a:xfrm>
            <a:off x="548640" y="135331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IP フロー検証</a:t>
            </a:r>
            <a:endParaRPr lang="en-US" sz="1300" dirty="0"/>
          </a:p>
        </p:txBody>
      </p:sp>
      <p:sp>
        <p:nvSpPr>
          <p:cNvPr id="8" name="Text 6"/>
          <p:cNvSpPr/>
          <p:nvPr/>
        </p:nvSpPr>
        <p:spPr>
          <a:xfrm>
            <a:off x="640080" y="192024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 レベルでトラフィックのフィルタリング問題を検出します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5 タプル（送信元/宛先 IP・ポート、プロトコル）でパケットの許可・拒否を判定します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拒否した場合、該当するセキュリティ規則を返却します</a:t>
            </a:r>
            <a:endParaRPr lang="en-US" sz="1050" dirty="0"/>
          </a:p>
        </p:txBody>
      </p:sp>
      <p:sp>
        <p:nvSpPr>
          <p:cNvPr id="9" name="Shape 7"/>
          <p:cNvSpPr/>
          <p:nvPr/>
        </p:nvSpPr>
        <p:spPr>
          <a:xfrm>
            <a:off x="6263640" y="1280160"/>
            <a:ext cx="5394960" cy="2286000"/>
          </a:xfrm>
          <a:prstGeom prst="roundRect">
            <a:avLst>
              <a:gd name="adj" fmla="val 4800"/>
            </a:avLst>
          </a:prstGeom>
          <a:solidFill>
            <a:srgbClr val="F3F2F1"/>
          </a:solidFill>
          <a:ln w="25400">
            <a:solidFill>
              <a:srgbClr val="107C10"/>
            </a:solidFill>
            <a:prstDash val="solid"/>
          </a:ln>
        </p:spPr>
      </p:sp>
      <p:sp>
        <p:nvSpPr>
          <p:cNvPr id="10" name="Shape 8"/>
          <p:cNvSpPr/>
          <p:nvPr/>
        </p:nvSpPr>
        <p:spPr>
          <a:xfrm>
            <a:off x="6355080" y="1353312"/>
            <a:ext cx="5212080" cy="457200"/>
          </a:xfrm>
          <a:prstGeom prst="roundRect">
            <a:avLst>
              <a:gd name="adj" fmla="val 16000"/>
            </a:avLst>
          </a:prstGeom>
          <a:solidFill>
            <a:srgbClr val="107C10"/>
          </a:solidFill>
          <a:ln/>
        </p:spPr>
      </p:sp>
      <p:sp>
        <p:nvSpPr>
          <p:cNvPr id="11" name="Text 9"/>
          <p:cNvSpPr/>
          <p:nvPr/>
        </p:nvSpPr>
        <p:spPr>
          <a:xfrm>
            <a:off x="6355080" y="135331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NSG 診断</a:t>
            </a:r>
            <a:endParaRPr lang="en-US" sz="1300" dirty="0"/>
          </a:p>
        </p:txBody>
      </p:sp>
      <p:sp>
        <p:nvSpPr>
          <p:cNvPr id="12" name="Text 10"/>
          <p:cNvSpPr/>
          <p:nvPr/>
        </p:nvSpPr>
        <p:spPr>
          <a:xfrm>
            <a:off x="6446520" y="192024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VM、VMSS、Application Gateway レベルでのフィルタリング問題を検出します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IP アドレス、IP プレフィックス、サービスタグに対するパケットの許可・拒否を判定します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より高い優先度のセキュリティ規則の追加も可能です</a:t>
            </a:r>
            <a:endParaRPr lang="en-US" sz="1050" dirty="0"/>
          </a:p>
        </p:txBody>
      </p:sp>
      <p:sp>
        <p:nvSpPr>
          <p:cNvPr id="13" name="Shape 11"/>
          <p:cNvSpPr/>
          <p:nvPr/>
        </p:nvSpPr>
        <p:spPr>
          <a:xfrm>
            <a:off x="457200" y="3840480"/>
            <a:ext cx="5394960" cy="2286000"/>
          </a:xfrm>
          <a:prstGeom prst="roundRect">
            <a:avLst>
              <a:gd name="adj" fmla="val 4800"/>
            </a:avLst>
          </a:prstGeom>
          <a:solidFill>
            <a:srgbClr val="F3F2F1"/>
          </a:solidFill>
          <a:ln w="25400">
            <a:solidFill>
              <a:srgbClr val="FF8C00"/>
            </a:solidFill>
            <a:prstDash val="solid"/>
          </a:ln>
        </p:spPr>
      </p:sp>
      <p:sp>
        <p:nvSpPr>
          <p:cNvPr id="14" name="Shape 12"/>
          <p:cNvSpPr/>
          <p:nvPr/>
        </p:nvSpPr>
        <p:spPr>
          <a:xfrm>
            <a:off x="548640" y="3913632"/>
            <a:ext cx="5212080" cy="457200"/>
          </a:xfrm>
          <a:prstGeom prst="roundRect">
            <a:avLst>
              <a:gd name="adj" fmla="val 16000"/>
            </a:avLst>
          </a:prstGeom>
          <a:solidFill>
            <a:srgbClr val="FF8C00"/>
          </a:solidFill>
          <a:ln/>
        </p:spPr>
      </p:sp>
      <p:sp>
        <p:nvSpPr>
          <p:cNvPr id="15" name="Text 13"/>
          <p:cNvSpPr/>
          <p:nvPr/>
        </p:nvSpPr>
        <p:spPr>
          <a:xfrm>
            <a:off x="548640" y="391363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次のホップ</a:t>
            </a:r>
            <a:endParaRPr lang="en-US" sz="1300" dirty="0"/>
          </a:p>
        </p:txBody>
      </p:sp>
      <p:sp>
        <p:nvSpPr>
          <p:cNvPr id="16" name="Text 14"/>
          <p:cNvSpPr/>
          <p:nvPr/>
        </p:nvSpPr>
        <p:spPr>
          <a:xfrm>
            <a:off x="640080" y="448056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ルーティングの問題を検出するために使用します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宛先 IP に対するネクストホップの種類、IP アドレス、ルートテーブル ID を返却します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ユーザー定義ルートの構成ミスを診断できます</a:t>
            </a:r>
            <a:endParaRPr lang="en-US" sz="1050" dirty="0"/>
          </a:p>
        </p:txBody>
      </p:sp>
      <p:sp>
        <p:nvSpPr>
          <p:cNvPr id="17" name="Shape 15"/>
          <p:cNvSpPr/>
          <p:nvPr/>
        </p:nvSpPr>
        <p:spPr>
          <a:xfrm>
            <a:off x="6263640" y="3840480"/>
            <a:ext cx="5394960" cy="2286000"/>
          </a:xfrm>
          <a:prstGeom prst="roundRect">
            <a:avLst>
              <a:gd name="adj" fmla="val 4800"/>
            </a:avLst>
          </a:prstGeom>
          <a:solidFill>
            <a:srgbClr val="F3F2F1"/>
          </a:solidFill>
          <a:ln w="25400">
            <a:solidFill>
              <a:srgbClr val="5C2D91"/>
            </a:solidFill>
            <a:prstDash val="solid"/>
          </a:ln>
        </p:spPr>
      </p:sp>
      <p:sp>
        <p:nvSpPr>
          <p:cNvPr id="18" name="Shape 16"/>
          <p:cNvSpPr/>
          <p:nvPr/>
        </p:nvSpPr>
        <p:spPr>
          <a:xfrm>
            <a:off x="6355080" y="3913632"/>
            <a:ext cx="5212080" cy="457200"/>
          </a:xfrm>
          <a:prstGeom prst="roundRect">
            <a:avLst>
              <a:gd name="adj" fmla="val 16000"/>
            </a:avLst>
          </a:prstGeom>
          <a:solidFill>
            <a:srgbClr val="5C2D91"/>
          </a:solidFill>
          <a:ln/>
        </p:spPr>
      </p:sp>
      <p:sp>
        <p:nvSpPr>
          <p:cNvPr id="19" name="Text 17"/>
          <p:cNvSpPr/>
          <p:nvPr/>
        </p:nvSpPr>
        <p:spPr>
          <a:xfrm>
            <a:off x="6355080" y="391363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有効なセキュリティ規則</a:t>
            </a:r>
            <a:endParaRPr lang="en-US" sz="1300" dirty="0"/>
          </a:p>
        </p:txBody>
      </p:sp>
      <p:sp>
        <p:nvSpPr>
          <p:cNvPr id="20" name="Text 18"/>
          <p:cNvSpPr/>
          <p:nvPr/>
        </p:nvSpPr>
        <p:spPr>
          <a:xfrm>
            <a:off x="6446520" y="448056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ネットワークインターフェースに適用されている有効なセキュリティ規則を表示します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NIC のルール、サブネットのルール、集約結果を確認できます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ネットワーク診断ツール（後半）</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8</a:t>
            </a:r>
            <a:endParaRPr lang="en-US" sz="900" dirty="0"/>
          </a:p>
        </p:txBody>
      </p:sp>
      <p:sp>
        <p:nvSpPr>
          <p:cNvPr id="5" name="Shape 3"/>
          <p:cNvSpPr/>
          <p:nvPr/>
        </p:nvSpPr>
        <p:spPr>
          <a:xfrm>
            <a:off x="457200" y="1280160"/>
            <a:ext cx="3474720" cy="3200400"/>
          </a:xfrm>
          <a:prstGeom prst="roundRect">
            <a:avLst>
              <a:gd name="adj" fmla="val 3429"/>
            </a:avLst>
          </a:prstGeom>
          <a:solidFill>
            <a:srgbClr val="F3F2F1"/>
          </a:solidFill>
          <a:ln w="25400">
            <a:solidFill>
              <a:srgbClr val="0078D4"/>
            </a:solidFill>
            <a:prstDash val="solid"/>
          </a:ln>
        </p:spPr>
      </p:sp>
      <p:sp>
        <p:nvSpPr>
          <p:cNvPr id="6" name="Shape 4"/>
          <p:cNvSpPr/>
          <p:nvPr/>
        </p:nvSpPr>
        <p:spPr>
          <a:xfrm>
            <a:off x="548640" y="1353312"/>
            <a:ext cx="3291840" cy="457200"/>
          </a:xfrm>
          <a:prstGeom prst="roundRect">
            <a:avLst>
              <a:gd name="adj" fmla="val 16000"/>
            </a:avLst>
          </a:prstGeom>
          <a:solidFill>
            <a:srgbClr val="0078D4"/>
          </a:solidFill>
          <a:ln/>
        </p:spPr>
      </p:sp>
      <p:sp>
        <p:nvSpPr>
          <p:cNvPr id="7" name="Text 5"/>
          <p:cNvSpPr/>
          <p:nvPr/>
        </p:nvSpPr>
        <p:spPr>
          <a:xfrm>
            <a:off x="548640" y="1353312"/>
            <a:ext cx="3291840" cy="45720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接続のトラブルシューティング</a:t>
            </a:r>
            <a:endParaRPr lang="en-US" sz="1200" dirty="0"/>
          </a:p>
        </p:txBody>
      </p:sp>
      <p:sp>
        <p:nvSpPr>
          <p:cNvPr id="8" name="Text 6"/>
          <p:cNvSpPr/>
          <p:nvPr/>
        </p:nvSpPr>
        <p:spPr>
          <a:xfrm>
            <a:off x="640080" y="1920240"/>
            <a:ext cx="3108960" cy="23774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VM、VMSS、Application Gateway、Bastion ホストから宛先への接続をテストします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宛先として VM、FQDN、URI、IPv4 アドレスを指定できます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ポイントインタイムでの単発テストを実行します</a:t>
            </a:r>
            <a:endParaRPr lang="en-US" sz="1050" dirty="0"/>
          </a:p>
        </p:txBody>
      </p:sp>
      <p:sp>
        <p:nvSpPr>
          <p:cNvPr id="9" name="Shape 7"/>
          <p:cNvSpPr/>
          <p:nvPr/>
        </p:nvSpPr>
        <p:spPr>
          <a:xfrm>
            <a:off x="4251960" y="1280160"/>
            <a:ext cx="3474720" cy="3200400"/>
          </a:xfrm>
          <a:prstGeom prst="roundRect">
            <a:avLst>
              <a:gd name="adj" fmla="val 3429"/>
            </a:avLst>
          </a:prstGeom>
          <a:solidFill>
            <a:srgbClr val="F3F2F1"/>
          </a:solidFill>
          <a:ln w="25400">
            <a:solidFill>
              <a:srgbClr val="107C10"/>
            </a:solidFill>
            <a:prstDash val="solid"/>
          </a:ln>
        </p:spPr>
      </p:sp>
      <p:sp>
        <p:nvSpPr>
          <p:cNvPr id="10" name="Shape 8"/>
          <p:cNvSpPr/>
          <p:nvPr/>
        </p:nvSpPr>
        <p:spPr>
          <a:xfrm>
            <a:off x="4343400" y="1353312"/>
            <a:ext cx="3291840" cy="457200"/>
          </a:xfrm>
          <a:prstGeom prst="roundRect">
            <a:avLst>
              <a:gd name="adj" fmla="val 16000"/>
            </a:avLst>
          </a:prstGeom>
          <a:solidFill>
            <a:srgbClr val="107C10"/>
          </a:solidFill>
          <a:ln/>
        </p:spPr>
      </p:sp>
      <p:sp>
        <p:nvSpPr>
          <p:cNvPr id="11" name="Text 9"/>
          <p:cNvSpPr/>
          <p:nvPr/>
        </p:nvSpPr>
        <p:spPr>
          <a:xfrm>
            <a:off x="4343400" y="1353312"/>
            <a:ext cx="3291840" cy="45720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パケットキャプチャ</a:t>
            </a:r>
            <a:endParaRPr lang="en-US" sz="1200" dirty="0"/>
          </a:p>
        </p:txBody>
      </p:sp>
      <p:sp>
        <p:nvSpPr>
          <p:cNvPr id="12" name="Text 10"/>
          <p:cNvSpPr/>
          <p:nvPr/>
        </p:nvSpPr>
        <p:spPr>
          <a:xfrm>
            <a:off x="4434840" y="1920240"/>
            <a:ext cx="3108960" cy="23774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 や VMSS のトラフィックをリモートでキャプチャするセッションを作成します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Network Watcher Agent VM 拡張機能のインストールが必要です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キャプチャデータはローカルディスクまたは Azure Storage Blob に保存できます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Portal、PowerShell、Azure CLI、REST API からトリガーでき、VM アラートによる自動起動も可能です</a:t>
            </a:r>
            <a:endParaRPr lang="en-US" sz="1050" dirty="0"/>
          </a:p>
        </p:txBody>
      </p:sp>
      <p:sp>
        <p:nvSpPr>
          <p:cNvPr id="13" name="Shape 11"/>
          <p:cNvSpPr/>
          <p:nvPr/>
        </p:nvSpPr>
        <p:spPr>
          <a:xfrm>
            <a:off x="8046720" y="1280160"/>
            <a:ext cx="3474720" cy="3200400"/>
          </a:xfrm>
          <a:prstGeom prst="roundRect">
            <a:avLst>
              <a:gd name="adj" fmla="val 3429"/>
            </a:avLst>
          </a:prstGeom>
          <a:solidFill>
            <a:srgbClr val="F3F2F1"/>
          </a:solidFill>
          <a:ln w="25400">
            <a:solidFill>
              <a:srgbClr val="FF8C00"/>
            </a:solidFill>
            <a:prstDash val="solid"/>
          </a:ln>
        </p:spPr>
      </p:sp>
      <p:sp>
        <p:nvSpPr>
          <p:cNvPr id="14" name="Shape 12"/>
          <p:cNvSpPr/>
          <p:nvPr/>
        </p:nvSpPr>
        <p:spPr>
          <a:xfrm>
            <a:off x="8138160" y="1353312"/>
            <a:ext cx="3291840" cy="457200"/>
          </a:xfrm>
          <a:prstGeom prst="roundRect">
            <a:avLst>
              <a:gd name="adj" fmla="val 16000"/>
            </a:avLst>
          </a:prstGeom>
          <a:solidFill>
            <a:srgbClr val="FF8C00"/>
          </a:solidFill>
          <a:ln/>
        </p:spPr>
      </p:sp>
      <p:sp>
        <p:nvSpPr>
          <p:cNvPr id="15" name="Text 13"/>
          <p:cNvSpPr/>
          <p:nvPr/>
        </p:nvSpPr>
        <p:spPr>
          <a:xfrm>
            <a:off x="8138160" y="1353312"/>
            <a:ext cx="3291840" cy="45720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VPN トラブルシューティング</a:t>
            </a:r>
            <a:endParaRPr lang="en-US" sz="1200" dirty="0"/>
          </a:p>
        </p:txBody>
      </p:sp>
      <p:sp>
        <p:nvSpPr>
          <p:cNvPr id="16" name="Text 14"/>
          <p:cNvSpPr/>
          <p:nvPr/>
        </p:nvSpPr>
        <p:spPr>
          <a:xfrm>
            <a:off x="8229600" y="1920240"/>
            <a:ext cx="3108960" cy="23774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仮想ネットワークゲートウェイおよびその接続に対して複数の診断チェックを実行します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VPN ゲートウェイと接続の問題をデバッグするために使用します</a:t>
            </a:r>
            <a:endParaRPr lang="en-US" sz="1050" dirty="0"/>
          </a:p>
        </p:txBody>
      </p:sp>
      <p:sp>
        <p:nvSpPr>
          <p:cNvPr id="17" name="Shape 15"/>
          <p:cNvSpPr/>
          <p:nvPr/>
        </p:nvSpPr>
        <p:spPr>
          <a:xfrm>
            <a:off x="457200" y="4754880"/>
            <a:ext cx="11274552" cy="1463040"/>
          </a:xfrm>
          <a:prstGeom prst="roundRect">
            <a:avLst>
              <a:gd name="adj" fmla="val 7500"/>
            </a:avLst>
          </a:prstGeom>
          <a:solidFill>
            <a:srgbClr val="DEECF9"/>
          </a:solidFill>
          <a:ln w="12700">
            <a:solidFill>
              <a:srgbClr val="0078D4"/>
            </a:solidFill>
            <a:prstDash val="solid"/>
          </a:ln>
        </p:spPr>
      </p:sp>
      <p:sp>
        <p:nvSpPr>
          <p:cNvPr id="18" name="Text 16"/>
          <p:cNvSpPr/>
          <p:nvPr/>
        </p:nvSpPr>
        <p:spPr>
          <a:xfrm>
            <a:off x="640080" y="4846320"/>
            <a:ext cx="2743200" cy="32004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  接続テストのフロー</a:t>
            </a:r>
            <a:endParaRPr lang="en-US" sz="1200" dirty="0"/>
          </a:p>
        </p:txBody>
      </p:sp>
      <p:sp>
        <p:nvSpPr>
          <p:cNvPr id="19" name="Shape 17"/>
          <p:cNvSpPr/>
          <p:nvPr/>
        </p:nvSpPr>
        <p:spPr>
          <a:xfrm>
            <a:off x="914400" y="5303520"/>
            <a:ext cx="2103120" cy="731520"/>
          </a:xfrm>
          <a:prstGeom prst="roundRect">
            <a:avLst>
              <a:gd name="adj" fmla="val 12500"/>
            </a:avLst>
          </a:prstGeom>
          <a:solidFill>
            <a:srgbClr val="0078D4"/>
          </a:solidFill>
          <a:ln/>
        </p:spPr>
      </p:sp>
      <p:sp>
        <p:nvSpPr>
          <p:cNvPr id="20" name="Text 18"/>
          <p:cNvSpPr/>
          <p:nvPr/>
        </p:nvSpPr>
        <p:spPr>
          <a:xfrm>
            <a:off x="914400" y="5303520"/>
            <a:ext cx="210312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ソース</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(VM/GW/Bastion)</a:t>
            </a:r>
            <a:endParaRPr lang="en-US" sz="1000" dirty="0"/>
          </a:p>
        </p:txBody>
      </p:sp>
      <p:sp>
        <p:nvSpPr>
          <p:cNvPr id="21" name="Shape 19"/>
          <p:cNvSpPr/>
          <p:nvPr/>
        </p:nvSpPr>
        <p:spPr>
          <a:xfrm>
            <a:off x="3840480" y="5303520"/>
            <a:ext cx="1828800" cy="731520"/>
          </a:xfrm>
          <a:prstGeom prst="roundRect">
            <a:avLst>
              <a:gd name="adj" fmla="val 12500"/>
            </a:avLst>
          </a:prstGeom>
          <a:solidFill>
            <a:srgbClr val="FF8C00"/>
          </a:solidFill>
          <a:ln/>
        </p:spPr>
      </p:sp>
      <p:sp>
        <p:nvSpPr>
          <p:cNvPr id="22" name="Text 20"/>
          <p:cNvSpPr/>
          <p:nvPr/>
        </p:nvSpPr>
        <p:spPr>
          <a:xfrm>
            <a:off x="3840480" y="5303520"/>
            <a:ext cx="182880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接続テスト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実行</a:t>
            </a:r>
            <a:endParaRPr lang="en-US" sz="1000" dirty="0"/>
          </a:p>
        </p:txBody>
      </p:sp>
      <p:sp>
        <p:nvSpPr>
          <p:cNvPr id="23" name="Shape 21"/>
          <p:cNvSpPr/>
          <p:nvPr/>
        </p:nvSpPr>
        <p:spPr>
          <a:xfrm>
            <a:off x="6492240" y="5303520"/>
            <a:ext cx="2103120" cy="731520"/>
          </a:xfrm>
          <a:prstGeom prst="roundRect">
            <a:avLst>
              <a:gd name="adj" fmla="val 12500"/>
            </a:avLst>
          </a:prstGeom>
          <a:solidFill>
            <a:srgbClr val="107C10"/>
          </a:solidFill>
          <a:ln/>
        </p:spPr>
      </p:sp>
      <p:sp>
        <p:nvSpPr>
          <p:cNvPr id="24" name="Text 22"/>
          <p:cNvSpPr/>
          <p:nvPr/>
        </p:nvSpPr>
        <p:spPr>
          <a:xfrm>
            <a:off x="6492240" y="5303520"/>
            <a:ext cx="210312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宛先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(VM/FQDN/IP)</a:t>
            </a:r>
            <a:endParaRPr lang="en-US" sz="1000" dirty="0"/>
          </a:p>
        </p:txBody>
      </p:sp>
      <p:sp>
        <p:nvSpPr>
          <p:cNvPr id="25" name="Shape 23"/>
          <p:cNvSpPr/>
          <p:nvPr/>
        </p:nvSpPr>
        <p:spPr>
          <a:xfrm>
            <a:off x="9326880" y="5303520"/>
            <a:ext cx="2103120" cy="731520"/>
          </a:xfrm>
          <a:prstGeom prst="roundRect">
            <a:avLst>
              <a:gd name="adj" fmla="val 12500"/>
            </a:avLst>
          </a:prstGeom>
          <a:solidFill>
            <a:srgbClr val="5C2D91"/>
          </a:solidFill>
          <a:ln/>
        </p:spPr>
      </p:sp>
      <p:sp>
        <p:nvSpPr>
          <p:cNvPr id="26" name="Text 24"/>
          <p:cNvSpPr/>
          <p:nvPr/>
        </p:nvSpPr>
        <p:spPr>
          <a:xfrm>
            <a:off x="9326880" y="5303520"/>
            <a:ext cx="210312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結果</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(到達性/遅延)</a:t>
            </a:r>
            <a:endParaRPr lang="en-US" sz="1000" dirty="0"/>
          </a:p>
        </p:txBody>
      </p:sp>
      <p:sp>
        <p:nvSpPr>
          <p:cNvPr id="27" name="Text 25"/>
          <p:cNvSpPr/>
          <p:nvPr/>
        </p:nvSpPr>
        <p:spPr>
          <a:xfrm>
            <a:off x="3108960" y="5394960"/>
            <a:ext cx="64008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28" name="Text 26"/>
          <p:cNvSpPr/>
          <p:nvPr/>
        </p:nvSpPr>
        <p:spPr>
          <a:xfrm>
            <a:off x="5760720" y="5394960"/>
            <a:ext cx="64008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29" name="Text 27"/>
          <p:cNvSpPr/>
          <p:nvPr/>
        </p:nvSpPr>
        <p:spPr>
          <a:xfrm>
            <a:off x="8686800" y="5394960"/>
            <a:ext cx="64008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フローログとトラフィック分析</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8</a:t>
            </a:r>
            <a:endParaRPr lang="en-US" sz="900" dirty="0"/>
          </a:p>
        </p:txBody>
      </p:sp>
      <p:sp>
        <p:nvSpPr>
          <p:cNvPr id="5" name="Shape 3"/>
          <p:cNvSpPr/>
          <p:nvPr/>
        </p:nvSpPr>
        <p:spPr>
          <a:xfrm>
            <a:off x="457200" y="1188720"/>
            <a:ext cx="1828800" cy="822960"/>
          </a:xfrm>
          <a:prstGeom prst="roundRect">
            <a:avLst>
              <a:gd name="adj" fmla="val 11111"/>
            </a:avLst>
          </a:prstGeom>
          <a:solidFill>
            <a:srgbClr val="0078D4"/>
          </a:solidFill>
          <a:ln/>
        </p:spPr>
      </p:sp>
      <p:sp>
        <p:nvSpPr>
          <p:cNvPr id="6" name="Text 4"/>
          <p:cNvSpPr/>
          <p:nvPr/>
        </p:nvSpPr>
        <p:spPr>
          <a:xfrm>
            <a:off x="457200" y="1188720"/>
            <a:ext cx="182880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VNet / NSG</a:t>
            </a:r>
            <a:endParaRPr lang="en-US" sz="1100" dirty="0"/>
          </a:p>
        </p:txBody>
      </p:sp>
      <p:sp>
        <p:nvSpPr>
          <p:cNvPr id="7" name="Shape 5"/>
          <p:cNvSpPr/>
          <p:nvPr/>
        </p:nvSpPr>
        <p:spPr>
          <a:xfrm>
            <a:off x="2926080" y="1188720"/>
            <a:ext cx="1645920" cy="822960"/>
          </a:xfrm>
          <a:prstGeom prst="roundRect">
            <a:avLst>
              <a:gd name="adj" fmla="val 11111"/>
            </a:avLst>
          </a:prstGeom>
          <a:solidFill>
            <a:srgbClr val="107C10"/>
          </a:solidFill>
          <a:ln/>
        </p:spPr>
      </p:sp>
      <p:sp>
        <p:nvSpPr>
          <p:cNvPr id="8" name="Text 6"/>
          <p:cNvSpPr/>
          <p:nvPr/>
        </p:nvSpPr>
        <p:spPr>
          <a:xfrm>
            <a:off x="2926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フロー</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ログ</a:t>
            </a:r>
            <a:endParaRPr lang="en-US" sz="1100" dirty="0"/>
          </a:p>
        </p:txBody>
      </p:sp>
      <p:sp>
        <p:nvSpPr>
          <p:cNvPr id="9" name="Shape 7"/>
          <p:cNvSpPr/>
          <p:nvPr/>
        </p:nvSpPr>
        <p:spPr>
          <a:xfrm>
            <a:off x="5212080" y="1188720"/>
            <a:ext cx="1645920" cy="822960"/>
          </a:xfrm>
          <a:prstGeom prst="roundRect">
            <a:avLst>
              <a:gd name="adj" fmla="val 11111"/>
            </a:avLst>
          </a:prstGeom>
          <a:solidFill>
            <a:srgbClr val="FF8C00"/>
          </a:solidFill>
          <a:ln/>
        </p:spPr>
      </p:sp>
      <p:sp>
        <p:nvSpPr>
          <p:cNvPr id="10" name="Text 8"/>
          <p:cNvSpPr/>
          <p:nvPr/>
        </p:nvSpPr>
        <p:spPr>
          <a:xfrm>
            <a:off x="5212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Azure</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Storage</a:t>
            </a:r>
            <a:endParaRPr lang="en-US" sz="1100" dirty="0"/>
          </a:p>
        </p:txBody>
      </p:sp>
      <p:sp>
        <p:nvSpPr>
          <p:cNvPr id="11" name="Shape 9"/>
          <p:cNvSpPr/>
          <p:nvPr/>
        </p:nvSpPr>
        <p:spPr>
          <a:xfrm>
            <a:off x="7498080" y="1188720"/>
            <a:ext cx="1645920" cy="822960"/>
          </a:xfrm>
          <a:prstGeom prst="roundRect">
            <a:avLst>
              <a:gd name="adj" fmla="val 11111"/>
            </a:avLst>
          </a:prstGeom>
          <a:solidFill>
            <a:srgbClr val="5C2D91"/>
          </a:solidFill>
          <a:ln/>
        </p:spPr>
      </p:sp>
      <p:sp>
        <p:nvSpPr>
          <p:cNvPr id="12" name="Text 10"/>
          <p:cNvSpPr/>
          <p:nvPr/>
        </p:nvSpPr>
        <p:spPr>
          <a:xfrm>
            <a:off x="7498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トラフィック</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分析</a:t>
            </a:r>
            <a:endParaRPr lang="en-US" sz="1100" dirty="0"/>
          </a:p>
        </p:txBody>
      </p:sp>
      <p:sp>
        <p:nvSpPr>
          <p:cNvPr id="13" name="Shape 11"/>
          <p:cNvSpPr/>
          <p:nvPr/>
        </p:nvSpPr>
        <p:spPr>
          <a:xfrm>
            <a:off x="9784080" y="1188720"/>
            <a:ext cx="1645920" cy="822960"/>
          </a:xfrm>
          <a:prstGeom prst="roundRect">
            <a:avLst>
              <a:gd name="adj" fmla="val 11111"/>
            </a:avLst>
          </a:prstGeom>
          <a:solidFill>
            <a:srgbClr val="002050"/>
          </a:solidFill>
          <a:ln/>
        </p:spPr>
      </p:sp>
      <p:sp>
        <p:nvSpPr>
          <p:cNvPr id="14" name="Text 12"/>
          <p:cNvSpPr/>
          <p:nvPr/>
        </p:nvSpPr>
        <p:spPr>
          <a:xfrm>
            <a:off x="9784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Log</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Analytics</a:t>
            </a:r>
            <a:endParaRPr lang="en-US" sz="1100" dirty="0"/>
          </a:p>
        </p:txBody>
      </p:sp>
      <p:sp>
        <p:nvSpPr>
          <p:cNvPr id="15" name="Text 13"/>
          <p:cNvSpPr/>
          <p:nvPr/>
        </p:nvSpPr>
        <p:spPr>
          <a:xfrm>
            <a:off x="2377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6" name="Text 14"/>
          <p:cNvSpPr/>
          <p:nvPr/>
        </p:nvSpPr>
        <p:spPr>
          <a:xfrm>
            <a:off x="4663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7" name="Text 15"/>
          <p:cNvSpPr/>
          <p:nvPr/>
        </p:nvSpPr>
        <p:spPr>
          <a:xfrm>
            <a:off x="6949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8" name="Text 16"/>
          <p:cNvSpPr/>
          <p:nvPr/>
        </p:nvSpPr>
        <p:spPr>
          <a:xfrm>
            <a:off x="9235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9" name="Shape 17"/>
          <p:cNvSpPr/>
          <p:nvPr/>
        </p:nvSpPr>
        <p:spPr>
          <a:xfrm>
            <a:off x="457200" y="2377440"/>
            <a:ext cx="5486400" cy="3840480"/>
          </a:xfrm>
          <a:prstGeom prst="roundRect">
            <a:avLst>
              <a:gd name="adj" fmla="val 2857"/>
            </a:avLst>
          </a:prstGeom>
          <a:solidFill>
            <a:srgbClr val="F3F2F1"/>
          </a:solidFill>
          <a:ln w="25400">
            <a:solidFill>
              <a:srgbClr val="107C10"/>
            </a:solidFill>
            <a:prstDash val="solid"/>
          </a:ln>
        </p:spPr>
      </p:sp>
      <p:sp>
        <p:nvSpPr>
          <p:cNvPr id="20" name="Shape 18"/>
          <p:cNvSpPr/>
          <p:nvPr/>
        </p:nvSpPr>
        <p:spPr>
          <a:xfrm>
            <a:off x="548640" y="2450592"/>
            <a:ext cx="5303520" cy="457200"/>
          </a:xfrm>
          <a:prstGeom prst="roundRect">
            <a:avLst>
              <a:gd name="adj" fmla="val 16000"/>
            </a:avLst>
          </a:prstGeom>
          <a:solidFill>
            <a:srgbClr val="107C10"/>
          </a:solidFill>
          <a:ln/>
        </p:spPr>
      </p:sp>
      <p:sp>
        <p:nvSpPr>
          <p:cNvPr id="21" name="Text 19"/>
          <p:cNvSpPr/>
          <p:nvPr/>
        </p:nvSpPr>
        <p:spPr>
          <a:xfrm>
            <a:off x="548640" y="245059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フローログ（Flow Logs）</a:t>
            </a:r>
            <a:endParaRPr lang="en-US" sz="1400" dirty="0"/>
          </a:p>
        </p:txBody>
      </p:sp>
      <p:sp>
        <p:nvSpPr>
          <p:cNvPr id="22" name="Text 20"/>
          <p:cNvSpPr/>
          <p:nvPr/>
        </p:nvSpPr>
        <p:spPr>
          <a:xfrm>
            <a:off x="731520" y="3063240"/>
            <a:ext cx="4937760" cy="1463040"/>
          </a:xfrm>
          <a:prstGeom prst="rect">
            <a:avLst/>
          </a:prstGeom>
          <a:noFill/>
          <a:ln/>
        </p:spPr>
        <p:txBody>
          <a:bodyPr wrap="square" rtlCol="0" anchor="t"/>
          <a:lstStyle/>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Azure IP トラフィックの情報をログに記録し、Azure Storage に保存します</a:t>
            </a:r>
            <a:endParaRPr lang="en-US" sz="1100" dirty="0"/>
          </a:p>
          <a:p>
            <a:pPr marL="342900" indent="-342900">
              <a:lnSpc>
                <a:spcPct val="135000"/>
              </a:lnSpc>
              <a:buSzPct val="100000"/>
              <a:buChar char="•"/>
            </a:pPr>
            <a:r>
              <a:rPr lang="en-US" sz="1100" b="1" dirty="0">
                <a:solidFill>
                  <a:srgbClr val="000000"/>
                </a:solidFill>
                <a:latin typeface="Meiryo UI" pitchFamily="34" charset="0"/>
                <a:ea typeface="Meiryo UI" pitchFamily="34" charset="-122"/>
                <a:cs typeface="Meiryo UI" pitchFamily="34" charset="-120"/>
              </a:rPr>
              <a:t>VNet フローログ: 仮想ネットワーク単位でトラフィックを記録します（推奨）</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NSG フローログ: ネットワークセキュリティグループ単位でトラフィックを記録します</a:t>
            </a:r>
            <a:endParaRPr lang="en-US" sz="1100" dirty="0"/>
          </a:p>
        </p:txBody>
      </p:sp>
      <p:sp>
        <p:nvSpPr>
          <p:cNvPr id="23" name="Shape 21"/>
          <p:cNvSpPr/>
          <p:nvPr/>
        </p:nvSpPr>
        <p:spPr>
          <a:xfrm>
            <a:off x="731520" y="4663440"/>
            <a:ext cx="4937760" cy="1371600"/>
          </a:xfrm>
          <a:prstGeom prst="roundRect">
            <a:avLst>
              <a:gd name="adj" fmla="val 6667"/>
            </a:avLst>
          </a:prstGeom>
          <a:solidFill>
            <a:srgbClr val="FFF4CE"/>
          </a:solidFill>
          <a:ln w="19050">
            <a:solidFill>
              <a:srgbClr val="FF8C00"/>
            </a:solidFill>
            <a:prstDash val="solid"/>
          </a:ln>
        </p:spPr>
      </p:sp>
      <p:sp>
        <p:nvSpPr>
          <p:cNvPr id="24" name="Text 22"/>
          <p:cNvSpPr/>
          <p:nvPr/>
        </p:nvSpPr>
        <p:spPr>
          <a:xfrm>
            <a:off x="914400" y="4754880"/>
            <a:ext cx="4572000" cy="320040"/>
          </a:xfrm>
          <a:prstGeom prst="rect">
            <a:avLst/>
          </a:prstGeom>
          <a:noFill/>
          <a:ln/>
        </p:spPr>
        <p:txBody>
          <a:bodyPr wrap="square" rtlCol="0" anchor="ctr"/>
          <a:lstStyle/>
          <a:p>
            <a:pPr indent="0" marL="0">
              <a:buNone/>
            </a:pPr>
            <a:r>
              <a:rPr lang="en-US" sz="1100" b="1" dirty="0">
                <a:solidFill>
                  <a:srgbClr val="D13438"/>
                </a:solidFill>
                <a:latin typeface="Meiryo UI" pitchFamily="34" charset="0"/>
                <a:ea typeface="Meiryo UI" pitchFamily="34" charset="-122"/>
                <a:cs typeface="Meiryo UI" pitchFamily="34" charset="-120"/>
              </a:rPr>
              <a:t>⚠️  重要: NSG フローログの廃止予定</a:t>
            </a:r>
            <a:endParaRPr lang="en-US" sz="1100" dirty="0"/>
          </a:p>
        </p:txBody>
      </p:sp>
      <p:sp>
        <p:nvSpPr>
          <p:cNvPr id="25" name="Text 23"/>
          <p:cNvSpPr/>
          <p:nvPr/>
        </p:nvSpPr>
        <p:spPr>
          <a:xfrm>
            <a:off x="914400" y="5074920"/>
            <a:ext cx="4572000" cy="914400"/>
          </a:xfrm>
          <a:prstGeom prst="rect">
            <a:avLst/>
          </a:prstGeom>
          <a:noFill/>
          <a:ln/>
        </p:spPr>
        <p:txBody>
          <a:bodyPr wrap="square" rtlCol="0" anchor="t"/>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 NSG フローログは 2027 年 9 月 30 日 に廃止予定です
</a:t>
            </a:r>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 2025 年 6 月 30 日以降、新規作成ができなくなります
</a:t>
            </a:r>
            <a:pPr indent="0" marL="0">
              <a:lnSpc>
                <a:spcPct val="120000"/>
              </a:lnSpc>
              <a:buNone/>
            </a:pPr>
            <a:r>
              <a:rPr lang="en-US" sz="1050" b="1" dirty="0">
                <a:solidFill>
                  <a:srgbClr val="000000"/>
                </a:solidFill>
                <a:latin typeface="Meiryo UI" pitchFamily="34" charset="0"/>
                <a:ea typeface="Meiryo UI" pitchFamily="34" charset="-122"/>
                <a:cs typeface="Meiryo UI" pitchFamily="34" charset="-120"/>
              </a:rPr>
              <a:t>• VNet フローログへの移行が推奨されています</a:t>
            </a:r>
            <a:endParaRPr lang="en-US" sz="1050" dirty="0"/>
          </a:p>
        </p:txBody>
      </p:sp>
      <p:sp>
        <p:nvSpPr>
          <p:cNvPr id="26" name="Shape 24"/>
          <p:cNvSpPr/>
          <p:nvPr/>
        </p:nvSpPr>
        <p:spPr>
          <a:xfrm>
            <a:off x="6217920" y="2377440"/>
            <a:ext cx="5486400" cy="3840480"/>
          </a:xfrm>
          <a:prstGeom prst="roundRect">
            <a:avLst>
              <a:gd name="adj" fmla="val 2857"/>
            </a:avLst>
          </a:prstGeom>
          <a:solidFill>
            <a:srgbClr val="F3F2F1"/>
          </a:solidFill>
          <a:ln w="25400">
            <a:solidFill>
              <a:srgbClr val="5C2D91"/>
            </a:solidFill>
            <a:prstDash val="solid"/>
          </a:ln>
        </p:spPr>
      </p:sp>
      <p:sp>
        <p:nvSpPr>
          <p:cNvPr id="27" name="Shape 25"/>
          <p:cNvSpPr/>
          <p:nvPr/>
        </p:nvSpPr>
        <p:spPr>
          <a:xfrm>
            <a:off x="6309360" y="2450592"/>
            <a:ext cx="5303520" cy="457200"/>
          </a:xfrm>
          <a:prstGeom prst="roundRect">
            <a:avLst>
              <a:gd name="adj" fmla="val 16000"/>
            </a:avLst>
          </a:prstGeom>
          <a:solidFill>
            <a:srgbClr val="5C2D91"/>
          </a:solidFill>
          <a:ln/>
        </p:spPr>
      </p:sp>
      <p:sp>
        <p:nvSpPr>
          <p:cNvPr id="28" name="Text 26"/>
          <p:cNvSpPr/>
          <p:nvPr/>
        </p:nvSpPr>
        <p:spPr>
          <a:xfrm>
            <a:off x="6309360" y="245059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トラフィック分析（Traffic Analytics）</a:t>
            </a:r>
            <a:endParaRPr lang="en-US" sz="1400" dirty="0"/>
          </a:p>
        </p:txBody>
      </p:sp>
      <p:sp>
        <p:nvSpPr>
          <p:cNvPr id="29" name="Text 27"/>
          <p:cNvSpPr/>
          <p:nvPr/>
        </p:nvSpPr>
        <p:spPr>
          <a:xfrm>
            <a:off x="6400800" y="3063240"/>
            <a:ext cx="5120640" cy="3017520"/>
          </a:xfrm>
          <a:prstGeom prst="rect">
            <a:avLst/>
          </a:prstGeom>
          <a:noFill/>
          <a:ln/>
        </p:spPr>
        <p:txBody>
          <a:bodyPr wrap="square" rtlCol="0" anchor="t"/>
          <a:lstStyle/>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フローログデータのリッチな可視化・クエリ・分析機能を提供します</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Log Analytics ワークスペースと連携し、ネットワークトラフィックのパターンを把握できます</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データ収集ルール（DCR）とデータ収集エンドポイント（DCE）リソースを自動作成します</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処理される生フローログデータ量に基づいて課金されます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セキュリティ・料金体系・利用制限</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8</a:t>
            </a:r>
            <a:endParaRPr lang="en-US" sz="900" dirty="0"/>
          </a:p>
        </p:txBody>
      </p:sp>
      <p:sp>
        <p:nvSpPr>
          <p:cNvPr id="5" name="Shape 3"/>
          <p:cNvSpPr/>
          <p:nvPr/>
        </p:nvSpPr>
        <p:spPr>
          <a:xfrm>
            <a:off x="457200" y="1188720"/>
            <a:ext cx="5486400" cy="5029200"/>
          </a:xfrm>
          <a:prstGeom prst="roundRect">
            <a:avLst>
              <a:gd name="adj" fmla="val 2182"/>
            </a:avLst>
          </a:prstGeom>
          <a:solidFill>
            <a:srgbClr val="F3F2F1"/>
          </a:solidFill>
          <a:ln w="25400">
            <a:solidFill>
              <a:srgbClr val="0078D4"/>
            </a:solidFill>
            <a:prstDash val="solid"/>
          </a:ln>
        </p:spPr>
      </p:sp>
      <p:sp>
        <p:nvSpPr>
          <p:cNvPr id="6" name="Shape 4"/>
          <p:cNvSpPr/>
          <p:nvPr/>
        </p:nvSpPr>
        <p:spPr>
          <a:xfrm>
            <a:off x="548640" y="1261872"/>
            <a:ext cx="5303520" cy="457200"/>
          </a:xfrm>
          <a:prstGeom prst="roundRect">
            <a:avLst>
              <a:gd name="adj" fmla="val 16000"/>
            </a:avLst>
          </a:prstGeom>
          <a:solidFill>
            <a:srgbClr val="0078D4"/>
          </a:solidFill>
          <a:ln/>
        </p:spPr>
      </p:sp>
      <p:sp>
        <p:nvSpPr>
          <p:cNvPr id="7" name="Text 5"/>
          <p:cNvSpPr/>
          <p:nvPr/>
        </p:nvSpPr>
        <p:spPr>
          <a:xfrm>
            <a:off x="548640" y="126187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セキュリティとアクセス制御</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5120640" cy="1828800"/>
        </p:xfrm>
        <a:graphic>
          <a:graphicData uri="http://schemas.openxmlformats.org/drawingml/2006/table">
            <a:tbl>
              <a:tblPr/>
              <a:tblGrid>
                <a:gridCol w="1828800"/>
                <a:gridCol w="3291840"/>
              </a:tblGrid>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ロール</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説明</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Owner</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すべての権限を持ちます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Contributor</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所有権の割り当て以外の全権限を持ちます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Network Contributor</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ネットワーク関連の権限を持ちます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カスタムロール</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必要最小限のアクションのみを割り当てます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9" name="Text 6"/>
          <p:cNvSpPr/>
          <p:nvPr/>
        </p:nvSpPr>
        <p:spPr>
          <a:xfrm>
            <a:off x="640080" y="4114800"/>
            <a:ext cx="5120640" cy="2011680"/>
          </a:xfrm>
          <a:prstGeom prst="rect">
            <a:avLst/>
          </a:prstGeom>
          <a:noFill/>
          <a:ln/>
        </p:spPr>
        <p:txBody>
          <a:bodyPr wrap="square" rtlCol="0" anchor="t"/>
          <a:lstStyle/>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Network Contributor には Storage、Compute、OperationalInsights 関連アクションが含まれません</a:t>
            </a:r>
            <a:endParaRPr lang="en-US" sz="1000" dirty="0"/>
          </a:p>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フローログやトラフィック分析には追加の権限が必要です</a:t>
            </a:r>
            <a:endParaRPr lang="en-US" sz="1000" dirty="0"/>
          </a:p>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Azure Policy でフローログの構成を組織全体で統一的に管理できます</a:t>
            </a:r>
            <a:endParaRPr lang="en-US" sz="1000" dirty="0"/>
          </a:p>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Network Watcher は顧客データを保存しません（接続モニターを除く）</a:t>
            </a:r>
            <a:endParaRPr lang="en-US" sz="1000" dirty="0"/>
          </a:p>
        </p:txBody>
      </p:sp>
      <p:sp>
        <p:nvSpPr>
          <p:cNvPr id="10" name="Shape 7"/>
          <p:cNvSpPr/>
          <p:nvPr/>
        </p:nvSpPr>
        <p:spPr>
          <a:xfrm>
            <a:off x="6217920" y="1188720"/>
            <a:ext cx="5486400" cy="5029200"/>
          </a:xfrm>
          <a:prstGeom prst="roundRect">
            <a:avLst>
              <a:gd name="adj" fmla="val 2182"/>
            </a:avLst>
          </a:prstGeom>
          <a:solidFill>
            <a:srgbClr val="F3F2F1"/>
          </a:solidFill>
          <a:ln w="25400">
            <a:solidFill>
              <a:srgbClr val="FF8C00"/>
            </a:solidFill>
            <a:prstDash val="solid"/>
          </a:ln>
        </p:spPr>
      </p:sp>
      <p:sp>
        <p:nvSpPr>
          <p:cNvPr id="11" name="Shape 8"/>
          <p:cNvSpPr/>
          <p:nvPr/>
        </p:nvSpPr>
        <p:spPr>
          <a:xfrm>
            <a:off x="6309360" y="1261872"/>
            <a:ext cx="5303520" cy="457200"/>
          </a:xfrm>
          <a:prstGeom prst="roundRect">
            <a:avLst>
              <a:gd name="adj" fmla="val 16000"/>
            </a:avLst>
          </a:prstGeom>
          <a:solidFill>
            <a:srgbClr val="FF8C00"/>
          </a:solidFill>
          <a:ln/>
        </p:spPr>
      </p:sp>
      <p:sp>
        <p:nvSpPr>
          <p:cNvPr id="12" name="Text 9"/>
          <p:cNvSpPr/>
          <p:nvPr/>
        </p:nvSpPr>
        <p:spPr>
          <a:xfrm>
            <a:off x="6309360" y="126187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料金体系と利用制限</a:t>
            </a:r>
            <a:endParaRPr lang="en-US" sz="1400" dirty="0"/>
          </a:p>
        </p:txBody>
      </p:sp>
      <p:sp>
        <p:nvSpPr>
          <p:cNvPr id="13" name="Text 10"/>
          <p:cNvSpPr/>
          <p:nvPr/>
        </p:nvSpPr>
        <p:spPr>
          <a:xfrm>
            <a:off x="6400800" y="1874520"/>
            <a:ext cx="5120640" cy="1371600"/>
          </a:xfrm>
          <a:prstGeom prst="rect">
            <a:avLst/>
          </a:prstGeom>
          <a:noFill/>
          <a:ln/>
        </p:spPr>
        <p:txBody>
          <a:bodyPr wrap="square" rtlCol="0" anchor="t"/>
          <a:lstStyle/>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自動有効化自体には課金は発生しません</a:t>
            </a:r>
            <a:endParaRPr lang="en-US" sz="1000" dirty="0"/>
          </a:p>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各機能の使用量に基づいて個別に課金されます</a:t>
            </a:r>
            <a:endParaRPr lang="en-US" sz="1000" dirty="0"/>
          </a:p>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トラフィック分析は生フローログデータ量に基づきます</a:t>
            </a:r>
            <a:endParaRPr lang="en-US" sz="1000" dirty="0"/>
          </a:p>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Log Analytics への取り込みは Azure Monitor 料金が適用されます</a:t>
            </a:r>
            <a:endParaRPr lang="en-US" sz="10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00800" y="3291840"/>
          <a:ext cx="5120640" cy="2743200"/>
        </p:xfrm>
        <a:graphic>
          <a:graphicData uri="http://schemas.openxmlformats.org/drawingml/2006/table">
            <a:tbl>
              <a:tblPr/>
              <a:tblGrid>
                <a:gridCol w="2926080"/>
                <a:gridCol w="2194560"/>
              </a:tblGrid>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リソース</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制限</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NW インスタンス / リージョン</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接続モニター / リージョン</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100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テストグループ / モニター</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20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ソース・宛先 / モニター</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100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テスト構成 / モニター</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20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パケットキャプチャ / リージョン</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10,000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VPN トラブルシュート (同時)</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まとめと次のステップ</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8</a:t>
            </a:r>
            <a:endParaRPr lang="en-US" sz="900" dirty="0"/>
          </a:p>
        </p:txBody>
      </p:sp>
      <p:sp>
        <p:nvSpPr>
          <p:cNvPr id="5" name="Shape 3"/>
          <p:cNvSpPr/>
          <p:nvPr/>
        </p:nvSpPr>
        <p:spPr>
          <a:xfrm>
            <a:off x="457200" y="1188720"/>
            <a:ext cx="11274552" cy="2103120"/>
          </a:xfrm>
          <a:prstGeom prst="roundRect">
            <a:avLst>
              <a:gd name="adj" fmla="val 5217"/>
            </a:avLst>
          </a:prstGeom>
          <a:solidFill>
            <a:srgbClr val="DEECF9"/>
          </a:solidFill>
          <a:ln w="25400">
            <a:solidFill>
              <a:srgbClr val="0078D4"/>
            </a:solidFill>
            <a:prstDash val="solid"/>
          </a:ln>
        </p:spPr>
      </p:sp>
      <p:sp>
        <p:nvSpPr>
          <p:cNvPr id="6" name="Text 4"/>
          <p:cNvSpPr/>
          <p:nvPr/>
        </p:nvSpPr>
        <p:spPr>
          <a:xfrm>
            <a:off x="640080" y="1261872"/>
            <a:ext cx="10908792"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Azure Network Watcher の価値</a:t>
            </a:r>
            <a:endParaRPr lang="en-US" sz="1400" dirty="0"/>
          </a:p>
        </p:txBody>
      </p:sp>
      <p:sp>
        <p:nvSpPr>
          <p:cNvPr id="7" name="Text 5"/>
          <p:cNvSpPr/>
          <p:nvPr/>
        </p:nvSpPr>
        <p:spPr>
          <a:xfrm>
            <a:off x="640080" y="1645920"/>
            <a:ext cx="10908792" cy="155448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IaaS ネットワークの監視・診断・トラフィック分析を一元的に提供します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仮想ネットワーク作成時に自動有効化されるため、追加の構成なしで利用を開始できます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7 つの診断ツールにより、NSG、ルーティング、VPN、接続の問題を迅速に特定・解決できます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VNet フローログとトラフィック分析により、ネットワークトラフィックの可視化と分析が可能です</a:t>
            </a:r>
            <a:endParaRPr lang="en-US" sz="1100" dirty="0"/>
          </a:p>
        </p:txBody>
      </p:sp>
      <p:sp>
        <p:nvSpPr>
          <p:cNvPr id="8" name="Shape 6"/>
          <p:cNvSpPr/>
          <p:nvPr/>
        </p:nvSpPr>
        <p:spPr>
          <a:xfrm>
            <a:off x="457200" y="3520440"/>
            <a:ext cx="5486400" cy="1645920"/>
          </a:xfrm>
          <a:prstGeom prst="roundRect">
            <a:avLst>
              <a:gd name="adj" fmla="val 6667"/>
            </a:avLst>
          </a:prstGeom>
          <a:solidFill>
            <a:srgbClr val="F3F2F1"/>
          </a:solidFill>
          <a:ln w="19050">
            <a:solidFill>
              <a:srgbClr val="107C10"/>
            </a:solidFill>
            <a:prstDash val="solid"/>
          </a:ln>
        </p:spPr>
      </p:sp>
      <p:sp>
        <p:nvSpPr>
          <p:cNvPr id="9" name="Text 7"/>
          <p:cNvSpPr/>
          <p:nvPr/>
        </p:nvSpPr>
        <p:spPr>
          <a:xfrm>
            <a:off x="640080" y="3584448"/>
            <a:ext cx="5120640" cy="320040"/>
          </a:xfrm>
          <a:prstGeom prst="rect">
            <a:avLst/>
          </a:prstGeom>
          <a:noFill/>
          <a:ln/>
        </p:spPr>
        <p:txBody>
          <a:bodyPr wrap="square" rtlCol="0" anchor="ctr"/>
          <a:lstStyle/>
          <a:p>
            <a:pPr indent="0" marL="0">
              <a:buNone/>
            </a:pPr>
            <a:r>
              <a:rPr lang="en-US" sz="1300" b="1" dirty="0">
                <a:solidFill>
                  <a:srgbClr val="107C10"/>
                </a:solidFill>
                <a:latin typeface="Meiryo UI" pitchFamily="34" charset="0"/>
                <a:ea typeface="Meiryo UI" pitchFamily="34" charset="-122"/>
                <a:cs typeface="Meiryo UI" pitchFamily="34" charset="-120"/>
              </a:rPr>
              <a:t>🚀  次のステップ</a:t>
            </a:r>
            <a:endParaRPr lang="en-US" sz="1300" dirty="0"/>
          </a:p>
        </p:txBody>
      </p:sp>
      <p:sp>
        <p:nvSpPr>
          <p:cNvPr id="10" name="Text 8"/>
          <p:cNvSpPr/>
          <p:nvPr/>
        </p:nvSpPr>
        <p:spPr>
          <a:xfrm>
            <a:off x="640080" y="3931920"/>
            <a:ext cx="5120640" cy="1097280"/>
          </a:xfrm>
          <a:prstGeom prst="rect">
            <a:avLst/>
          </a:prstGeom>
          <a:noFill/>
          <a:ln/>
        </p:spPr>
        <p:txBody>
          <a:bodyPr wrap="square" rtlCol="0" anchor="t"/>
          <a:lstStyle/>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Azure Portal で Network Watcher の有効化状態を確認してください</a:t>
            </a:r>
            <a:endParaRPr lang="en-US" sz="1050" dirty="0"/>
          </a:p>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VNet フローログを有効化し、トラフィック分析で可視化環境を構築してください</a:t>
            </a:r>
            <a:endParaRPr lang="en-US" sz="1050" dirty="0"/>
          </a:p>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NSG フローログ使用中の場合は VNet フローログへの移行を検討してください</a:t>
            </a:r>
            <a:endParaRPr lang="en-US" sz="1050" dirty="0"/>
          </a:p>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RBAC のカスタムロールで最小権限の原則に基づくアクセス制御を設計してください</a:t>
            </a:r>
            <a:endParaRPr lang="en-US" sz="1050" dirty="0"/>
          </a:p>
        </p:txBody>
      </p:sp>
      <p:sp>
        <p:nvSpPr>
          <p:cNvPr id="11" name="Shape 9"/>
          <p:cNvSpPr/>
          <p:nvPr/>
        </p:nvSpPr>
        <p:spPr>
          <a:xfrm>
            <a:off x="6217920" y="3520440"/>
            <a:ext cx="5486400" cy="1645920"/>
          </a:xfrm>
          <a:prstGeom prst="roundRect">
            <a:avLst>
              <a:gd name="adj" fmla="val 6667"/>
            </a:avLst>
          </a:prstGeom>
          <a:solidFill>
            <a:srgbClr val="F3F2F1"/>
          </a:solidFill>
          <a:ln w="19050">
            <a:solidFill>
              <a:srgbClr val="5C2D91"/>
            </a:solidFill>
            <a:prstDash val="solid"/>
          </a:ln>
        </p:spPr>
      </p:sp>
      <p:sp>
        <p:nvSpPr>
          <p:cNvPr id="12" name="Text 10"/>
          <p:cNvSpPr/>
          <p:nvPr/>
        </p:nvSpPr>
        <p:spPr>
          <a:xfrm>
            <a:off x="6400800" y="3584448"/>
            <a:ext cx="5120640" cy="320040"/>
          </a:xfrm>
          <a:prstGeom prst="rect">
            <a:avLst/>
          </a:prstGeom>
          <a:noFill/>
          <a:ln/>
        </p:spPr>
        <p:txBody>
          <a:bodyPr wrap="square" rtlCol="0" anchor="ctr"/>
          <a:lstStyle/>
          <a:p>
            <a:pPr indent="0" marL="0">
              <a:buNone/>
            </a:pPr>
            <a:r>
              <a:rPr lang="en-US" sz="1300" b="1" dirty="0">
                <a:solidFill>
                  <a:srgbClr val="5C2D91"/>
                </a:solidFill>
                <a:latin typeface="Meiryo UI" pitchFamily="34" charset="0"/>
                <a:ea typeface="Meiryo UI" pitchFamily="34" charset="-122"/>
                <a:cs typeface="Meiryo UI" pitchFamily="34" charset="-120"/>
              </a:rPr>
              <a:t>📎  参考リンク（主要）</a:t>
            </a:r>
            <a:endParaRPr lang="en-US" sz="1300" dirty="0"/>
          </a:p>
        </p:txBody>
      </p:sp>
      <p:sp>
        <p:nvSpPr>
          <p:cNvPr id="13" name="Text 11"/>
          <p:cNvSpPr/>
          <p:nvPr/>
        </p:nvSpPr>
        <p:spPr>
          <a:xfrm>
            <a:off x="6400800" y="3931920"/>
            <a:ext cx="5120640" cy="1097280"/>
          </a:xfrm>
          <a:prstGeom prst="rect">
            <a:avLst/>
          </a:prstGeom>
          <a:noFill/>
          <a:ln/>
        </p:spPr>
        <p:txBody>
          <a:bodyPr wrap="square" rtlCol="0" anchor="t"/>
          <a:lstStyle/>
          <a:p>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Azure Network Watcher とは</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Network Watcher FAQ</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VNet フローログの概要</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トラフィック分析</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Network Watcher の料金</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5303520"/>
          <a:ext cx="11274552" cy="1143000"/>
        </p:xfrm>
        <a:graphic>
          <a:graphicData uri="http://schemas.openxmlformats.org/drawingml/2006/table">
            <a:tbl>
              <a:tblPr/>
              <a:tblGrid>
                <a:gridCol w="365760"/>
                <a:gridCol w="3200400"/>
                <a:gridCol w="7708392"/>
              </a:tblGrid>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タイトル</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URL</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1</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Azure Network Watcher とは</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learn.microsoft.com/azure/network-watcher/network-watcher-overview</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2</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Network Watcher FAQ</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learn.microsoft.com/azure/network-watcher/frequently-asked-questions</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3</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接続モニターの概要</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learn.microsoft.com/azure/network-watcher/connection-monitor-overview</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4</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VNet フローログの概要</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learn.microsoft.com/azure/network-watcher/vnet-flow-logs-overview</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5</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トラフィック分析</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learn.microsoft.com/azure/network-watcher/traffic-analytics</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6</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RBAC 権限</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learn.microsoft.com/azure/network-watcher/required-rbac-permissions</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7</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料金</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azure.microsoft.com/pricing/details/network-watcher/</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Azure Network Watcher 詳細仕様</dc:subject>
  <dc:creator>GitHub Copilot</dc:creator>
  <cp:lastModifiedBy>GitHub Copilot</cp:lastModifiedBy>
  <cp:revision>1</cp:revision>
  <dcterms:created xsi:type="dcterms:W3CDTF">2026-04-07T06:51:09Z</dcterms:created>
  <dcterms:modified xsi:type="dcterms:W3CDTF">2026-04-07T06:51:09Z</dcterms:modified>
</cp:coreProperties>
</file>