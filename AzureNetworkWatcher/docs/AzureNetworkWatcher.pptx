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1631" r:id="rId2"/>
    <p:sldId id="1632" r:id="rId8"/>
    <p:sldId id="1633" r:id="rId9"/>
    <p:sldId id="1634" r:id="rId10"/>
    <p:sldId id="1635" r:id="rId11"/>
    <p:sldId id="1636" r:id="rId12"/>
    <p:sldId id="1637" r:id="rId13"/>
    <p:sldId id="1638" r:id="rId14"/>
    <p:sldId id="1639" r:id="rId15"/>
    <p:sldId id="1640" r:id="rId16"/>
  </p:sldIdLst>
  <p:sldSz cx="12191695"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1" autoAdjust="0"/>
    <p:restoredTop sz="94660"/>
  </p:normalViewPr>
  <p:slideViewPr>
    <p:cSldViewPr snapToGrid="0">
      <p:cViewPr varScale="1">
        <p:scale>
          <a:sx n="45" d="100"/>
          <a:sy n="45" d="100"/>
        </p:scale>
        <p:origin x="316"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1BA762-84CE-4F53-8E60-26065AF87875}" type="datetimeFigureOut">
              <a:rPr kumimoji="1" lang="ja-JP" altLang="en-US" smtClean="0"/>
              <a:t>2026/3/27</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DFF419-6077-47DD-A5DE-F4CBD2CB562F}" type="slidenum">
              <a:rPr kumimoji="1" lang="ja-JP" altLang="en-US" smtClean="0"/>
              <a:t>‹#›</a:t>
            </a:fld>
            <a:endParaRPr kumimoji="1" lang="ja-JP" altLang="en-US"/>
          </a:p>
        </p:txBody>
      </p:sp>
    </p:spTree>
    <p:extLst>
      <p:ext uri="{BB962C8B-B14F-4D97-AF65-F5344CB8AC3E}">
        <p14:creationId xmlns:p14="http://schemas.microsoft.com/office/powerpoint/2010/main" val="326667838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7" name="Slide Number Placeholder 6"/>
          <p:cNvSpPr>
            <a:spLocks noGrp="1"/>
          </p:cNvSpPr>
          <p:nvPr>
            <p:ph type="sldNum" sz="quarter" idx="13"/>
          </p:nvPr>
        </p:nvSpPr>
        <p:spPr/>
        <p:txBody>
          <a:bodyPr/>
          <a:lstStyle/>
          <a:p>
            <a:fld id="{B4008EB6-D09E-4580-8CD6-DDB14511944F}" type="slidenum">
              <a:rPr lang="en-US" smtClean="0"/>
              <a:pPr/>
              <a:t>1</a:t>
            </a:fld>
            <a:endParaRPr lang="en-US" dirty="0"/>
          </a:p>
        </p:txBody>
      </p:sp>
    </p:spTree>
    <p:extLst>
      <p:ext uri="{BB962C8B-B14F-4D97-AF65-F5344CB8AC3E}">
        <p14:creationId xmlns:p14="http://schemas.microsoft.com/office/powerpoint/2010/main" val="7775540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emf"/></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BD86A7A-9864-A2C9-BB91-CDB272FF58BE}"/>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0194FC2E-1A68-CF0F-F0DF-338CAE121FE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B0285EA0-9454-0B93-F32A-2F25FB77F208}"/>
              </a:ext>
            </a:extLst>
          </p:cNvPr>
          <p:cNvSpPr>
            <a:spLocks noGrp="1"/>
          </p:cNvSpPr>
          <p:nvPr>
            <p:ph type="dt" sz="half" idx="10"/>
          </p:nvPr>
        </p:nvSpPr>
        <p:spPr/>
        <p:txBody>
          <a:bodyPr/>
          <a:lstStyle/>
          <a:p>
            <a:fld id="{BD92BF0F-4C4E-4C20-B7A0-DBBE649AEBF0}" type="datetimeFigureOut">
              <a:rPr kumimoji="1" lang="ja-JP" altLang="en-US" smtClean="0"/>
              <a:t>2026/3/27</a:t>
            </a:fld>
            <a:endParaRPr kumimoji="1" lang="ja-JP" altLang="en-US"/>
          </a:p>
        </p:txBody>
      </p:sp>
      <p:sp>
        <p:nvSpPr>
          <p:cNvPr id="5" name="フッター プレースホルダー 4">
            <a:extLst>
              <a:ext uri="{FF2B5EF4-FFF2-40B4-BE49-F238E27FC236}">
                <a16:creationId xmlns:a16="http://schemas.microsoft.com/office/drawing/2014/main" id="{67C5CBB5-6567-5F50-2A16-02ED47D583E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9BD8687-E082-42D7-222C-329168CD4A14}"/>
              </a:ext>
            </a:extLst>
          </p:cNvPr>
          <p:cNvSpPr>
            <a:spLocks noGrp="1"/>
          </p:cNvSpPr>
          <p:nvPr>
            <p:ph type="sldNum" sz="quarter" idx="12"/>
          </p:nvPr>
        </p:nvSpPr>
        <p:spPr/>
        <p:txBody>
          <a:bodyPr/>
          <a:lstStyle/>
          <a:p>
            <a:fld id="{261FE82B-A1D7-4DB1-A425-67003437CDD9}" type="slidenum">
              <a:rPr kumimoji="1" lang="ja-JP" altLang="en-US" smtClean="0"/>
              <a:t>‹#›</a:t>
            </a:fld>
            <a:endParaRPr kumimoji="1" lang="ja-JP" altLang="en-US"/>
          </a:p>
        </p:txBody>
      </p:sp>
    </p:spTree>
    <p:extLst>
      <p:ext uri="{BB962C8B-B14F-4D97-AF65-F5344CB8AC3E}">
        <p14:creationId xmlns:p14="http://schemas.microsoft.com/office/powerpoint/2010/main" val="9546177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7751148-113A-9699-171A-1860B262921A}"/>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DB956E1-02B7-4F83-C11F-17DD11647E8E}"/>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2E00FF1-0301-FF3B-1713-AA5A51917A45}"/>
              </a:ext>
            </a:extLst>
          </p:cNvPr>
          <p:cNvSpPr>
            <a:spLocks noGrp="1"/>
          </p:cNvSpPr>
          <p:nvPr>
            <p:ph type="dt" sz="half" idx="10"/>
          </p:nvPr>
        </p:nvSpPr>
        <p:spPr/>
        <p:txBody>
          <a:bodyPr/>
          <a:lstStyle/>
          <a:p>
            <a:fld id="{BD92BF0F-4C4E-4C20-B7A0-DBBE649AEBF0}" type="datetimeFigureOut">
              <a:rPr kumimoji="1" lang="ja-JP" altLang="en-US" smtClean="0"/>
              <a:t>2026/3/27</a:t>
            </a:fld>
            <a:endParaRPr kumimoji="1" lang="ja-JP" altLang="en-US"/>
          </a:p>
        </p:txBody>
      </p:sp>
      <p:sp>
        <p:nvSpPr>
          <p:cNvPr id="5" name="フッター プレースホルダー 4">
            <a:extLst>
              <a:ext uri="{FF2B5EF4-FFF2-40B4-BE49-F238E27FC236}">
                <a16:creationId xmlns:a16="http://schemas.microsoft.com/office/drawing/2014/main" id="{3AD77C81-72FA-B1BB-8CF1-F61EF2686FA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8574FF5-A3C0-C577-1DC2-299C7A6244BA}"/>
              </a:ext>
            </a:extLst>
          </p:cNvPr>
          <p:cNvSpPr>
            <a:spLocks noGrp="1"/>
          </p:cNvSpPr>
          <p:nvPr>
            <p:ph type="sldNum" sz="quarter" idx="12"/>
          </p:nvPr>
        </p:nvSpPr>
        <p:spPr/>
        <p:txBody>
          <a:bodyPr/>
          <a:lstStyle/>
          <a:p>
            <a:fld id="{261FE82B-A1D7-4DB1-A425-67003437CDD9}" type="slidenum">
              <a:rPr kumimoji="1" lang="ja-JP" altLang="en-US" smtClean="0"/>
              <a:t>‹#›</a:t>
            </a:fld>
            <a:endParaRPr kumimoji="1" lang="ja-JP" altLang="en-US"/>
          </a:p>
        </p:txBody>
      </p:sp>
    </p:spTree>
    <p:extLst>
      <p:ext uri="{BB962C8B-B14F-4D97-AF65-F5344CB8AC3E}">
        <p14:creationId xmlns:p14="http://schemas.microsoft.com/office/powerpoint/2010/main" val="5678055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8423724-0819-0195-2F32-4D6128AA905D}"/>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FA9AC08-40AB-5AC0-819D-3F0984BBEC4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27E45FF1-B253-B6E7-87C5-0F5223F38F51}"/>
              </a:ext>
            </a:extLst>
          </p:cNvPr>
          <p:cNvSpPr>
            <a:spLocks noGrp="1"/>
          </p:cNvSpPr>
          <p:nvPr>
            <p:ph type="dt" sz="half" idx="10"/>
          </p:nvPr>
        </p:nvSpPr>
        <p:spPr/>
        <p:txBody>
          <a:bodyPr/>
          <a:lstStyle/>
          <a:p>
            <a:fld id="{BD92BF0F-4C4E-4C20-B7A0-DBBE649AEBF0}" type="datetimeFigureOut">
              <a:rPr kumimoji="1" lang="ja-JP" altLang="en-US" smtClean="0"/>
              <a:t>2026/3/27</a:t>
            </a:fld>
            <a:endParaRPr kumimoji="1" lang="ja-JP" altLang="en-US"/>
          </a:p>
        </p:txBody>
      </p:sp>
      <p:sp>
        <p:nvSpPr>
          <p:cNvPr id="5" name="フッター プレースホルダー 4">
            <a:extLst>
              <a:ext uri="{FF2B5EF4-FFF2-40B4-BE49-F238E27FC236}">
                <a16:creationId xmlns:a16="http://schemas.microsoft.com/office/drawing/2014/main" id="{8E65E4A9-9A66-C339-5EBD-FA254B38E08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45D7A7A-277A-4BD1-846A-A499A0031ED4}"/>
              </a:ext>
            </a:extLst>
          </p:cNvPr>
          <p:cNvSpPr>
            <a:spLocks noGrp="1"/>
          </p:cNvSpPr>
          <p:nvPr>
            <p:ph type="sldNum" sz="quarter" idx="12"/>
          </p:nvPr>
        </p:nvSpPr>
        <p:spPr/>
        <p:txBody>
          <a:bodyPr/>
          <a:lstStyle/>
          <a:p>
            <a:fld id="{261FE82B-A1D7-4DB1-A425-67003437CDD9}" type="slidenum">
              <a:rPr kumimoji="1" lang="ja-JP" altLang="en-US" smtClean="0"/>
              <a:t>‹#›</a:t>
            </a:fld>
            <a:endParaRPr kumimoji="1" lang="ja-JP" altLang="en-US"/>
          </a:p>
        </p:txBody>
      </p:sp>
    </p:spTree>
    <p:extLst>
      <p:ext uri="{BB962C8B-B14F-4D97-AF65-F5344CB8AC3E}">
        <p14:creationId xmlns:p14="http://schemas.microsoft.com/office/powerpoint/2010/main" val="24856276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BCE5D74-62E4-B23E-2EE8-CDE1CDF31001}"/>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A577BF7-C7FE-45BA-A705-3FD82B441147}"/>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8F1BFF64-79C9-31D5-2355-69A9068F9CF5}"/>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A4A87A3E-4A6D-0E02-680A-EE40DAA42EFA}"/>
              </a:ext>
            </a:extLst>
          </p:cNvPr>
          <p:cNvSpPr>
            <a:spLocks noGrp="1"/>
          </p:cNvSpPr>
          <p:nvPr>
            <p:ph type="dt" sz="half" idx="10"/>
          </p:nvPr>
        </p:nvSpPr>
        <p:spPr/>
        <p:txBody>
          <a:bodyPr/>
          <a:lstStyle/>
          <a:p>
            <a:fld id="{BD92BF0F-4C4E-4C20-B7A0-DBBE649AEBF0}" type="datetimeFigureOut">
              <a:rPr kumimoji="1" lang="ja-JP" altLang="en-US" smtClean="0"/>
              <a:t>2026/3/27</a:t>
            </a:fld>
            <a:endParaRPr kumimoji="1" lang="ja-JP" altLang="en-US"/>
          </a:p>
        </p:txBody>
      </p:sp>
      <p:sp>
        <p:nvSpPr>
          <p:cNvPr id="6" name="フッター プレースホルダー 5">
            <a:extLst>
              <a:ext uri="{FF2B5EF4-FFF2-40B4-BE49-F238E27FC236}">
                <a16:creationId xmlns:a16="http://schemas.microsoft.com/office/drawing/2014/main" id="{FFC62478-2A7C-3578-7477-B69D897C526E}"/>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BC40B1C4-C095-E474-0940-9127779E8815}"/>
              </a:ext>
            </a:extLst>
          </p:cNvPr>
          <p:cNvSpPr>
            <a:spLocks noGrp="1"/>
          </p:cNvSpPr>
          <p:nvPr>
            <p:ph type="sldNum" sz="quarter" idx="12"/>
          </p:nvPr>
        </p:nvSpPr>
        <p:spPr/>
        <p:txBody>
          <a:bodyPr/>
          <a:lstStyle/>
          <a:p>
            <a:fld id="{261FE82B-A1D7-4DB1-A425-67003437CDD9}" type="slidenum">
              <a:rPr kumimoji="1" lang="ja-JP" altLang="en-US" smtClean="0"/>
              <a:t>‹#›</a:t>
            </a:fld>
            <a:endParaRPr kumimoji="1" lang="ja-JP" altLang="en-US"/>
          </a:p>
        </p:txBody>
      </p:sp>
    </p:spTree>
    <p:extLst>
      <p:ext uri="{BB962C8B-B14F-4D97-AF65-F5344CB8AC3E}">
        <p14:creationId xmlns:p14="http://schemas.microsoft.com/office/powerpoint/2010/main" val="21365346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57B5F74-EEBA-59D2-5AEF-76C7C181C2BB}"/>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1410586-7DD6-A757-F280-B2186819F53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84118E91-6A28-4ADA-5750-9FA2DDAC5299}"/>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93C456E8-54F2-1B55-3258-12D77DF5564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9882FC2D-14F8-57FB-26DD-EAD043AF2186}"/>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CDB90E8F-FC67-C75A-D5C8-3C645FD3157C}"/>
              </a:ext>
            </a:extLst>
          </p:cNvPr>
          <p:cNvSpPr>
            <a:spLocks noGrp="1"/>
          </p:cNvSpPr>
          <p:nvPr>
            <p:ph type="dt" sz="half" idx="10"/>
          </p:nvPr>
        </p:nvSpPr>
        <p:spPr/>
        <p:txBody>
          <a:bodyPr/>
          <a:lstStyle/>
          <a:p>
            <a:fld id="{BD92BF0F-4C4E-4C20-B7A0-DBBE649AEBF0}" type="datetimeFigureOut">
              <a:rPr kumimoji="1" lang="ja-JP" altLang="en-US" smtClean="0"/>
              <a:t>2026/3/27</a:t>
            </a:fld>
            <a:endParaRPr kumimoji="1" lang="ja-JP" altLang="en-US"/>
          </a:p>
        </p:txBody>
      </p:sp>
      <p:sp>
        <p:nvSpPr>
          <p:cNvPr id="8" name="フッター プレースホルダー 7">
            <a:extLst>
              <a:ext uri="{FF2B5EF4-FFF2-40B4-BE49-F238E27FC236}">
                <a16:creationId xmlns:a16="http://schemas.microsoft.com/office/drawing/2014/main" id="{3EE0370F-F5E5-A358-4434-7515C1480D35}"/>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49F68596-4893-159C-4C2A-3E7B829B97D9}"/>
              </a:ext>
            </a:extLst>
          </p:cNvPr>
          <p:cNvSpPr>
            <a:spLocks noGrp="1"/>
          </p:cNvSpPr>
          <p:nvPr>
            <p:ph type="sldNum" sz="quarter" idx="12"/>
          </p:nvPr>
        </p:nvSpPr>
        <p:spPr/>
        <p:txBody>
          <a:bodyPr/>
          <a:lstStyle/>
          <a:p>
            <a:fld id="{261FE82B-A1D7-4DB1-A425-67003437CDD9}" type="slidenum">
              <a:rPr kumimoji="1" lang="ja-JP" altLang="en-US" smtClean="0"/>
              <a:t>‹#›</a:t>
            </a:fld>
            <a:endParaRPr kumimoji="1" lang="ja-JP" altLang="en-US"/>
          </a:p>
        </p:txBody>
      </p:sp>
    </p:spTree>
    <p:extLst>
      <p:ext uri="{BB962C8B-B14F-4D97-AF65-F5344CB8AC3E}">
        <p14:creationId xmlns:p14="http://schemas.microsoft.com/office/powerpoint/2010/main" val="26852636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6DD11B7-6F1B-7866-62BB-9758A9D20F51}"/>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F20E8490-99BD-FA9B-2C9C-DE574D326A81}"/>
              </a:ext>
            </a:extLst>
          </p:cNvPr>
          <p:cNvSpPr>
            <a:spLocks noGrp="1"/>
          </p:cNvSpPr>
          <p:nvPr>
            <p:ph type="dt" sz="half" idx="10"/>
          </p:nvPr>
        </p:nvSpPr>
        <p:spPr/>
        <p:txBody>
          <a:bodyPr/>
          <a:lstStyle/>
          <a:p>
            <a:fld id="{BD92BF0F-4C4E-4C20-B7A0-DBBE649AEBF0}" type="datetimeFigureOut">
              <a:rPr kumimoji="1" lang="ja-JP" altLang="en-US" smtClean="0"/>
              <a:t>2026/3/27</a:t>
            </a:fld>
            <a:endParaRPr kumimoji="1" lang="ja-JP" altLang="en-US"/>
          </a:p>
        </p:txBody>
      </p:sp>
      <p:sp>
        <p:nvSpPr>
          <p:cNvPr id="4" name="フッター プレースホルダー 3">
            <a:extLst>
              <a:ext uri="{FF2B5EF4-FFF2-40B4-BE49-F238E27FC236}">
                <a16:creationId xmlns:a16="http://schemas.microsoft.com/office/drawing/2014/main" id="{4FCA5493-846F-678A-275B-E5E6336680BA}"/>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5461346F-8B80-B556-6F37-B399C00C281D}"/>
              </a:ext>
            </a:extLst>
          </p:cNvPr>
          <p:cNvSpPr>
            <a:spLocks noGrp="1"/>
          </p:cNvSpPr>
          <p:nvPr>
            <p:ph type="sldNum" sz="quarter" idx="12"/>
          </p:nvPr>
        </p:nvSpPr>
        <p:spPr/>
        <p:txBody>
          <a:bodyPr/>
          <a:lstStyle/>
          <a:p>
            <a:fld id="{261FE82B-A1D7-4DB1-A425-67003437CDD9}" type="slidenum">
              <a:rPr kumimoji="1" lang="ja-JP" altLang="en-US" smtClean="0"/>
              <a:t>‹#›</a:t>
            </a:fld>
            <a:endParaRPr kumimoji="1" lang="ja-JP" altLang="en-US"/>
          </a:p>
        </p:txBody>
      </p:sp>
    </p:spTree>
    <p:extLst>
      <p:ext uri="{BB962C8B-B14F-4D97-AF65-F5344CB8AC3E}">
        <p14:creationId xmlns:p14="http://schemas.microsoft.com/office/powerpoint/2010/main" val="17882274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7AFCEA22-08C2-7A41-986C-45A459EB60C4}"/>
              </a:ext>
            </a:extLst>
          </p:cNvPr>
          <p:cNvSpPr>
            <a:spLocks noGrp="1"/>
          </p:cNvSpPr>
          <p:nvPr>
            <p:ph type="dt" sz="half" idx="10"/>
          </p:nvPr>
        </p:nvSpPr>
        <p:spPr/>
        <p:txBody>
          <a:bodyPr/>
          <a:lstStyle/>
          <a:p>
            <a:fld id="{BD92BF0F-4C4E-4C20-B7A0-DBBE649AEBF0}" type="datetimeFigureOut">
              <a:rPr kumimoji="1" lang="ja-JP" altLang="en-US" smtClean="0"/>
              <a:t>2026/3/27</a:t>
            </a:fld>
            <a:endParaRPr kumimoji="1" lang="ja-JP" altLang="en-US"/>
          </a:p>
        </p:txBody>
      </p:sp>
      <p:sp>
        <p:nvSpPr>
          <p:cNvPr id="3" name="フッター プレースホルダー 2">
            <a:extLst>
              <a:ext uri="{FF2B5EF4-FFF2-40B4-BE49-F238E27FC236}">
                <a16:creationId xmlns:a16="http://schemas.microsoft.com/office/drawing/2014/main" id="{0DCEDDF2-E80A-1D04-F03E-3FBDBCD215D2}"/>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160C4A85-1A77-EE01-D351-5B7CFF71C48B}"/>
              </a:ext>
            </a:extLst>
          </p:cNvPr>
          <p:cNvSpPr>
            <a:spLocks noGrp="1"/>
          </p:cNvSpPr>
          <p:nvPr>
            <p:ph type="sldNum" sz="quarter" idx="12"/>
          </p:nvPr>
        </p:nvSpPr>
        <p:spPr/>
        <p:txBody>
          <a:bodyPr/>
          <a:lstStyle/>
          <a:p>
            <a:fld id="{261FE82B-A1D7-4DB1-A425-67003437CDD9}" type="slidenum">
              <a:rPr kumimoji="1" lang="ja-JP" altLang="en-US" smtClean="0"/>
              <a:t>‹#›</a:t>
            </a:fld>
            <a:endParaRPr kumimoji="1" lang="ja-JP" altLang="en-US"/>
          </a:p>
        </p:txBody>
      </p:sp>
    </p:spTree>
    <p:extLst>
      <p:ext uri="{BB962C8B-B14F-4D97-AF65-F5344CB8AC3E}">
        <p14:creationId xmlns:p14="http://schemas.microsoft.com/office/powerpoint/2010/main" val="33073374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9FA729D-9B80-C64C-F8D9-2E00FDAEA2B1}"/>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1C6C049E-212F-7B7E-19A3-720335B899C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67B7320E-DB16-CD19-3A99-2EB5AA625F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8CB56C5-945E-4860-6962-52AB09A771F2}"/>
              </a:ext>
            </a:extLst>
          </p:cNvPr>
          <p:cNvSpPr>
            <a:spLocks noGrp="1"/>
          </p:cNvSpPr>
          <p:nvPr>
            <p:ph type="dt" sz="half" idx="10"/>
          </p:nvPr>
        </p:nvSpPr>
        <p:spPr/>
        <p:txBody>
          <a:bodyPr/>
          <a:lstStyle/>
          <a:p>
            <a:fld id="{BD92BF0F-4C4E-4C20-B7A0-DBBE649AEBF0}" type="datetimeFigureOut">
              <a:rPr kumimoji="1" lang="ja-JP" altLang="en-US" smtClean="0"/>
              <a:t>2026/3/27</a:t>
            </a:fld>
            <a:endParaRPr kumimoji="1" lang="ja-JP" altLang="en-US"/>
          </a:p>
        </p:txBody>
      </p:sp>
      <p:sp>
        <p:nvSpPr>
          <p:cNvPr id="6" name="フッター プレースホルダー 5">
            <a:extLst>
              <a:ext uri="{FF2B5EF4-FFF2-40B4-BE49-F238E27FC236}">
                <a16:creationId xmlns:a16="http://schemas.microsoft.com/office/drawing/2014/main" id="{1834E892-635E-ACBE-6CC1-E7CC9CC37EA3}"/>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68FAFEC-C489-BEA0-48B5-013BD2511283}"/>
              </a:ext>
            </a:extLst>
          </p:cNvPr>
          <p:cNvSpPr>
            <a:spLocks noGrp="1"/>
          </p:cNvSpPr>
          <p:nvPr>
            <p:ph type="sldNum" sz="quarter" idx="12"/>
          </p:nvPr>
        </p:nvSpPr>
        <p:spPr/>
        <p:txBody>
          <a:bodyPr/>
          <a:lstStyle/>
          <a:p>
            <a:fld id="{261FE82B-A1D7-4DB1-A425-67003437CDD9}" type="slidenum">
              <a:rPr kumimoji="1" lang="ja-JP" altLang="en-US" smtClean="0"/>
              <a:t>‹#›</a:t>
            </a:fld>
            <a:endParaRPr kumimoji="1" lang="ja-JP" altLang="en-US"/>
          </a:p>
        </p:txBody>
      </p:sp>
    </p:spTree>
    <p:extLst>
      <p:ext uri="{BB962C8B-B14F-4D97-AF65-F5344CB8AC3E}">
        <p14:creationId xmlns:p14="http://schemas.microsoft.com/office/powerpoint/2010/main" val="40674339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D860A2A-4827-9764-0A9F-5FECD333ED7A}"/>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63E0FD7E-1EC8-AF77-F907-59A5372E164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AEA551E6-F0BC-81E3-F7E9-755A6AC88D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7372CFF-ABEF-4F1F-C588-DBAB083ECA19}"/>
              </a:ext>
            </a:extLst>
          </p:cNvPr>
          <p:cNvSpPr>
            <a:spLocks noGrp="1"/>
          </p:cNvSpPr>
          <p:nvPr>
            <p:ph type="dt" sz="half" idx="10"/>
          </p:nvPr>
        </p:nvSpPr>
        <p:spPr/>
        <p:txBody>
          <a:bodyPr/>
          <a:lstStyle/>
          <a:p>
            <a:fld id="{BD92BF0F-4C4E-4C20-B7A0-DBBE649AEBF0}" type="datetimeFigureOut">
              <a:rPr kumimoji="1" lang="ja-JP" altLang="en-US" smtClean="0"/>
              <a:t>2026/3/27</a:t>
            </a:fld>
            <a:endParaRPr kumimoji="1" lang="ja-JP" altLang="en-US"/>
          </a:p>
        </p:txBody>
      </p:sp>
      <p:sp>
        <p:nvSpPr>
          <p:cNvPr id="6" name="フッター プレースホルダー 5">
            <a:extLst>
              <a:ext uri="{FF2B5EF4-FFF2-40B4-BE49-F238E27FC236}">
                <a16:creationId xmlns:a16="http://schemas.microsoft.com/office/drawing/2014/main" id="{2CFD42AC-3BFD-C7E2-79E2-54940DBB257B}"/>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EC18B67-9605-4E17-A283-15AB9B31B70B}"/>
              </a:ext>
            </a:extLst>
          </p:cNvPr>
          <p:cNvSpPr>
            <a:spLocks noGrp="1"/>
          </p:cNvSpPr>
          <p:nvPr>
            <p:ph type="sldNum" sz="quarter" idx="12"/>
          </p:nvPr>
        </p:nvSpPr>
        <p:spPr/>
        <p:txBody>
          <a:bodyPr/>
          <a:lstStyle/>
          <a:p>
            <a:fld id="{261FE82B-A1D7-4DB1-A425-67003437CDD9}" type="slidenum">
              <a:rPr kumimoji="1" lang="ja-JP" altLang="en-US" smtClean="0"/>
              <a:t>‹#›</a:t>
            </a:fld>
            <a:endParaRPr kumimoji="1" lang="ja-JP" altLang="en-US"/>
          </a:p>
        </p:txBody>
      </p:sp>
    </p:spTree>
    <p:extLst>
      <p:ext uri="{BB962C8B-B14F-4D97-AF65-F5344CB8AC3E}">
        <p14:creationId xmlns:p14="http://schemas.microsoft.com/office/powerpoint/2010/main" val="35936555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6C64655-BCE2-12C6-5F0A-AFECA6DA5D85}"/>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D20D1D92-A46C-021B-052B-592AAF84A66B}"/>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A4BB17F-99C0-941D-A4E7-7EA1E248DF09}"/>
              </a:ext>
            </a:extLst>
          </p:cNvPr>
          <p:cNvSpPr>
            <a:spLocks noGrp="1"/>
          </p:cNvSpPr>
          <p:nvPr>
            <p:ph type="dt" sz="half" idx="10"/>
          </p:nvPr>
        </p:nvSpPr>
        <p:spPr/>
        <p:txBody>
          <a:bodyPr/>
          <a:lstStyle/>
          <a:p>
            <a:fld id="{BD92BF0F-4C4E-4C20-B7A0-DBBE649AEBF0}" type="datetimeFigureOut">
              <a:rPr kumimoji="1" lang="ja-JP" altLang="en-US" smtClean="0"/>
              <a:t>2026/3/27</a:t>
            </a:fld>
            <a:endParaRPr kumimoji="1" lang="ja-JP" altLang="en-US"/>
          </a:p>
        </p:txBody>
      </p:sp>
      <p:sp>
        <p:nvSpPr>
          <p:cNvPr id="5" name="フッター プレースホルダー 4">
            <a:extLst>
              <a:ext uri="{FF2B5EF4-FFF2-40B4-BE49-F238E27FC236}">
                <a16:creationId xmlns:a16="http://schemas.microsoft.com/office/drawing/2014/main" id="{C966FFF1-AFB4-F7DC-CE20-9EA9C38E2A0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E55B1F3-8301-045D-D742-679FFCD48A5D}"/>
              </a:ext>
            </a:extLst>
          </p:cNvPr>
          <p:cNvSpPr>
            <a:spLocks noGrp="1"/>
          </p:cNvSpPr>
          <p:nvPr>
            <p:ph type="sldNum" sz="quarter" idx="12"/>
          </p:nvPr>
        </p:nvSpPr>
        <p:spPr/>
        <p:txBody>
          <a:bodyPr/>
          <a:lstStyle/>
          <a:p>
            <a:fld id="{261FE82B-A1D7-4DB1-A425-67003437CDD9}" type="slidenum">
              <a:rPr kumimoji="1" lang="ja-JP" altLang="en-US" smtClean="0"/>
              <a:t>‹#›</a:t>
            </a:fld>
            <a:endParaRPr kumimoji="1" lang="ja-JP" altLang="en-US"/>
          </a:p>
        </p:txBody>
      </p:sp>
    </p:spTree>
    <p:extLst>
      <p:ext uri="{BB962C8B-B14F-4D97-AF65-F5344CB8AC3E}">
        <p14:creationId xmlns:p14="http://schemas.microsoft.com/office/powerpoint/2010/main" val="4122913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A51C7BDF-514F-37A6-137E-82F989C4F430}"/>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877BFC6E-E74D-D451-DF66-294BF2CBEBFE}"/>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DD5D36B-2EA0-7753-381A-043DA6879575}"/>
              </a:ext>
            </a:extLst>
          </p:cNvPr>
          <p:cNvSpPr>
            <a:spLocks noGrp="1"/>
          </p:cNvSpPr>
          <p:nvPr>
            <p:ph type="dt" sz="half" idx="10"/>
          </p:nvPr>
        </p:nvSpPr>
        <p:spPr/>
        <p:txBody>
          <a:bodyPr/>
          <a:lstStyle/>
          <a:p>
            <a:fld id="{BD92BF0F-4C4E-4C20-B7A0-DBBE649AEBF0}" type="datetimeFigureOut">
              <a:rPr kumimoji="1" lang="ja-JP" altLang="en-US" smtClean="0"/>
              <a:t>2026/3/27</a:t>
            </a:fld>
            <a:endParaRPr kumimoji="1" lang="ja-JP" altLang="en-US"/>
          </a:p>
        </p:txBody>
      </p:sp>
      <p:sp>
        <p:nvSpPr>
          <p:cNvPr id="5" name="フッター プレースホルダー 4">
            <a:extLst>
              <a:ext uri="{FF2B5EF4-FFF2-40B4-BE49-F238E27FC236}">
                <a16:creationId xmlns:a16="http://schemas.microsoft.com/office/drawing/2014/main" id="{277AE700-8374-FCA9-EE94-0564CDF01AF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E269848-6CD0-B12D-F3E3-9779A5DC6356}"/>
              </a:ext>
            </a:extLst>
          </p:cNvPr>
          <p:cNvSpPr>
            <a:spLocks noGrp="1"/>
          </p:cNvSpPr>
          <p:nvPr>
            <p:ph type="sldNum" sz="quarter" idx="12"/>
          </p:nvPr>
        </p:nvSpPr>
        <p:spPr/>
        <p:txBody>
          <a:bodyPr/>
          <a:lstStyle/>
          <a:p>
            <a:fld id="{261FE82B-A1D7-4DB1-A425-67003437CDD9}" type="slidenum">
              <a:rPr kumimoji="1" lang="ja-JP" altLang="en-US" smtClean="0"/>
              <a:t>‹#›</a:t>
            </a:fld>
            <a:endParaRPr kumimoji="1" lang="ja-JP" altLang="en-US"/>
          </a:p>
        </p:txBody>
      </p:sp>
    </p:spTree>
    <p:extLst>
      <p:ext uri="{BB962C8B-B14F-4D97-AF65-F5344CB8AC3E}">
        <p14:creationId xmlns:p14="http://schemas.microsoft.com/office/powerpoint/2010/main" val="17250829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lide 12">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B498CFD-6F0F-1548-B3CF-58EC8479BA8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6218210" y="0"/>
            <a:ext cx="5973790" cy="6858000"/>
          </a:xfrm>
          <a:prstGeom prst="rect">
            <a:avLst/>
          </a:prstGeom>
        </p:spPr>
      </p:pic>
      <p:pic>
        <p:nvPicPr>
          <p:cNvPr id="4" name="Picture 3">
            <a:extLst>
              <a:ext uri="{FF2B5EF4-FFF2-40B4-BE49-F238E27FC236}">
                <a16:creationId xmlns:a16="http://schemas.microsoft.com/office/drawing/2014/main" id="{BCFF9732-E389-084D-A7F3-09AC5EED739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28681" y="472516"/>
            <a:ext cx="1335673" cy="190278"/>
          </a:xfrm>
          <a:prstGeom prst="rect">
            <a:avLst/>
          </a:prstGeom>
        </p:spPr>
      </p:pic>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5" strike="noStrike" spc="-49" baseline="0">
                <a:solidFill>
                  <a:srgbClr val="000000"/>
                </a:solidFill>
              </a:defRPr>
            </a:lvl1pPr>
          </a:lstStyle>
          <a:p>
            <a:r>
              <a:rPr lang="en-US" dirty="0"/>
              <a:t>Azure presentation</a:t>
            </a:r>
            <a:br>
              <a:rPr lang="en-US" dirty="0"/>
            </a:br>
            <a:r>
              <a:rPr lang="en-US" dirty="0"/>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dirty="0"/>
              <a:t>Author name</a:t>
            </a:r>
            <a:br>
              <a:rPr lang="en-US" dirty="0"/>
            </a:br>
            <a:r>
              <a:rPr lang="en-US" dirty="0"/>
              <a:t>Date</a:t>
            </a:r>
          </a:p>
        </p:txBody>
      </p:sp>
    </p:spTree>
    <p:extLst>
      <p:ext uri="{BB962C8B-B14F-4D97-AF65-F5344CB8AC3E}">
        <p14:creationId xmlns:p14="http://schemas.microsoft.com/office/powerpoint/2010/main" val="3664136778"/>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F00508FD-2C25-9551-BA42-623F9346A87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A18D9AB-3577-CECD-743A-08057620EDC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C34A028-73C1-76CC-20BB-74B66BC0975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D92BF0F-4C4E-4C20-B7A0-DBBE649AEBF0}" type="datetimeFigureOut">
              <a:rPr kumimoji="1" lang="ja-JP" altLang="en-US" smtClean="0"/>
              <a:t>2026/3/27</a:t>
            </a:fld>
            <a:endParaRPr kumimoji="1" lang="ja-JP" altLang="en-US"/>
          </a:p>
        </p:txBody>
      </p:sp>
      <p:sp>
        <p:nvSpPr>
          <p:cNvPr id="5" name="フッター プレースホルダー 4">
            <a:extLst>
              <a:ext uri="{FF2B5EF4-FFF2-40B4-BE49-F238E27FC236}">
                <a16:creationId xmlns:a16="http://schemas.microsoft.com/office/drawing/2014/main" id="{EB346127-E541-5455-7048-C1FD1756D08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8B89979A-1F4F-6B34-7F3D-82487A49B4B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61FE82B-A1D7-4DB1-A425-67003437CDD9}" type="slidenum">
              <a:rPr kumimoji="1" lang="ja-JP" altLang="en-US" smtClean="0"/>
              <a:t>‹#›</a:t>
            </a:fld>
            <a:endParaRPr kumimoji="1" lang="ja-JP" altLang="en-US"/>
          </a:p>
        </p:txBody>
      </p:sp>
    </p:spTree>
    <p:extLst>
      <p:ext uri="{BB962C8B-B14F-4D97-AF65-F5344CB8AC3E}">
        <p14:creationId xmlns:p14="http://schemas.microsoft.com/office/powerpoint/2010/main" val="29363962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56C5E9C-3C1A-E248-B670-BD999514AA02}"/>
              </a:ext>
            </a:extLst>
          </p:cNvPr>
          <p:cNvSpPr>
            <a:spLocks noGrp="1"/>
          </p:cNvSpPr>
          <p:nvPr>
            <p:ph type="title"/>
          </p:nvPr>
        </p:nvSpPr>
        <p:spPr/>
        <p:txBody>
          <a:bodyPr/>
          <a:lstStyle/>
          <a:p>
            <a:r>
              <a:rPr lang="en-US" dirty="0">
                <a:latin typeface="Meiryo UI"/>
              </a:rPr>
              <a:t>Azure Network Watcher 詳細仕様</a:t>
            </a:r>
          </a:p>
        </p:txBody>
      </p:sp>
      <p:sp>
        <p:nvSpPr>
          <p:cNvPr id="4" name="Text Placeholder 3">
            <a:extLst>
              <a:ext uri="{FF2B5EF4-FFF2-40B4-BE49-F238E27FC236}">
                <a16:creationId xmlns:a16="http://schemas.microsoft.com/office/drawing/2014/main" id="{F87B223C-04E8-1B45-B254-34B68081F7E6}"/>
              </a:ext>
            </a:extLst>
          </p:cNvPr>
          <p:cNvSpPr>
            <a:spLocks noGrp="1"/>
          </p:cNvSpPr>
          <p:nvPr>
            <p:ph type="body" sz="quarter" idx="15"/>
          </p:nvPr>
        </p:nvSpPr>
        <p:spPr/>
        <p:txBody>
          <a:bodyPr/>
          <a:lstStyle/>
          <a:p>
            <a:pPr marL="0" indent="0">
              <a:buNone/>
            </a:pPr>
            <a:r>
              <a:rPr lang="en-US" dirty="0"/>
              <a:t>Customer Success Unit</a:t>
            </a:r>
          </a:p>
        </p:txBody>
      </p:sp>
    </p:spTree>
    <p:extLst>
      <p:ext uri="{BB962C8B-B14F-4D97-AF65-F5344CB8AC3E}">
        <p14:creationId xmlns:p14="http://schemas.microsoft.com/office/powerpoint/2010/main" val="110825601"/>
      </p:ext>
    </p:extLst>
  </p:cSld>
  <p:clrMapOvr>
    <a:masterClrMapping/>
  </p:clrMapOvr>
  <p:transition>
    <p:fade/>
  </p:transition>
</p:sld>
</file>

<file path=ppt/slides/slide2.xml><?xml version="1.0" encoding="utf-8"?>
<p:sld xmlns:a="http://schemas.openxmlformats.org/drawingml/2006/main" xmlns:p="http://schemas.openxmlformats.org/presentationml/2006/main" xmlns:r="http://schemas.openxmlformats.org/officeDocument/2006/relationships">
  <p:cSld>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Azure Network Watcher とは</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2 / 8</a:t>
              </a:r>
              <a:endParaRPr lang="en-US" sz="900" dirty="0"/>
            </a:p>
          </p:txBody>
        </p:sp>
        <p:sp>
          <p:nvSpPr>
            <p:cNvPr id="5" name="Shape 3"/>
            <p:cNvSpPr/>
            <p:nvPr/>
          </p:nvSpPr>
          <p:spPr>
            <a:xfrm>
              <a:off x="2286000" y="1188720"/>
              <a:ext cx="7772400" cy="1188720"/>
            </a:xfrm>
            <a:prstGeom prst="roundRect">
              <a:avLst>
                <a:gd name="adj" fmla="val 11538"/>
              </a:avLst>
            </a:prstGeom>
            <a:solidFill>
              <a:srgbClr val="DEECF9"/>
            </a:solidFill>
            <a:ln w="25400">
              <a:solidFill>
                <a:srgbClr val="0078D4"/>
              </a:solidFill>
              <a:prstDash val="solid"/>
            </a:ln>
          </p:spPr>
        </p:sp>
        <p:sp>
          <p:nvSpPr>
            <p:cNvPr id="6" name="Text 4"/>
            <p:cNvSpPr/>
            <p:nvPr/>
          </p:nvSpPr>
          <p:spPr>
            <a:xfrm>
              <a:off x="2468880" y="1280160"/>
              <a:ext cx="7406640" cy="365760"/>
            </a:xfrm>
            <a:prstGeom prst="rect">
              <a:avLst/>
            </a:prstGeom>
            <a:noFill/>
            <a:ln/>
          </p:spPr>
          <p:txBody>
            <a:bodyPr wrap="square" rtlCol="0" anchor="ctr"/>
            <a:lstStyle/>
            <a:p>
              <a:pPr algn="ctr" indent="0" marL="0">
                <a:buNone/>
              </a:pPr>
              <a:r>
                <a:rPr lang="en-US" sz="1600" b="1" dirty="0">
                  <a:solidFill>
                    <a:srgbClr val="0078D4"/>
                  </a:solidFill>
                  <a:latin typeface="Meiryo UI" pitchFamily="34" charset="0"/>
                  <a:ea typeface="Meiryo UI" pitchFamily="34" charset="-122"/>
                  <a:cs typeface="Meiryo UI" pitchFamily="34" charset="-120"/>
                </a:rPr>
                <a:t>🔍  Azure Network Watcher</a:t>
              </a:r>
              <a:endParaRPr lang="en-US" sz="1600" dirty="0"/>
            </a:p>
          </p:txBody>
        </p:sp>
        <p:sp>
          <p:nvSpPr>
            <p:cNvPr id="7" name="Text 5"/>
            <p:cNvSpPr/>
            <p:nvPr/>
          </p:nvSpPr>
          <p:spPr>
            <a:xfrm>
              <a:off x="2468880" y="1691640"/>
              <a:ext cx="7406640" cy="457200"/>
            </a:xfrm>
            <a:prstGeom prst="rect">
              <a:avLst/>
            </a:prstGeom>
            <a:noFill/>
            <a:ln/>
          </p:spPr>
          <p:txBody>
            <a:bodyPr wrap="square" rtlCol="0" anchor="ctr"/>
            <a:lstStyle/>
            <a:p>
              <a:pPr algn="ctr" indent="0" marL="0">
                <a:buNone/>
              </a:pPr>
              <a:r>
                <a:rPr lang="en-US" sz="1200" dirty="0">
                  <a:solidFill>
                    <a:srgbClr val="000000"/>
                  </a:solidFill>
                  <a:latin typeface="Meiryo UI" pitchFamily="34" charset="0"/>
                  <a:ea typeface="Meiryo UI" pitchFamily="34" charset="-122"/>
                  <a:cs typeface="Meiryo UI" pitchFamily="34" charset="-120"/>
                </a:rPr>
                <a:t>Azure IaaS リソースのネットワークを監視・診断するためのツール群</a:t>
              </a:r>
              <a:endParaRPr lang="en-US" sz="1200" dirty="0"/>
            </a:p>
          </p:txBody>
        </p:sp>
        <p:sp>
          <p:nvSpPr>
            <p:cNvPr id="8" name="Text 6"/>
            <p:cNvSpPr/>
            <p:nvPr/>
          </p:nvSpPr>
          <p:spPr>
            <a:xfrm>
              <a:off x="5486400" y="2468880"/>
              <a:ext cx="1188720" cy="457200"/>
            </a:xfrm>
            <a:prstGeom prst="rect">
              <a:avLst/>
            </a:prstGeom>
            <a:noFill/>
            <a:ln/>
          </p:spPr>
          <p:txBody>
            <a:bodyPr wrap="square" rtlCol="0" anchor="ctr"/>
            <a:lstStyle/>
            <a:p>
              <a:pPr algn="ctr" indent="0" marL="0">
                <a:buNone/>
              </a:pPr>
              <a:r>
                <a:rPr lang="en-US" sz="2000" dirty="0">
                  <a:solidFill>
                    <a:srgbClr val="0078D4"/>
                  </a:solidFill>
                  <a:latin typeface="Meiryo UI" pitchFamily="34" charset="0"/>
                  <a:ea typeface="Meiryo UI" pitchFamily="34" charset="-122"/>
                  <a:cs typeface="Meiryo UI" pitchFamily="34" charset="-120"/>
                </a:rPr>
                <a:t>⬇</a:t>
              </a:r>
              <a:endParaRPr lang="en-US" sz="2000" dirty="0"/>
            </a:p>
          </p:txBody>
        </p:sp>
        <p:sp>
          <p:nvSpPr>
            <p:cNvPr id="9" name="Shape 7"/>
            <p:cNvSpPr/>
            <p:nvPr/>
          </p:nvSpPr>
          <p:spPr>
            <a:xfrm>
              <a:off x="640080" y="3017520"/>
              <a:ext cx="1920240" cy="1097280"/>
            </a:xfrm>
            <a:prstGeom prst="roundRect">
              <a:avLst>
                <a:gd name="adj" fmla="val 10000"/>
              </a:avLst>
            </a:prstGeom>
            <a:solidFill>
              <a:srgbClr val="F3F2F1"/>
            </a:solidFill>
            <a:ln w="19050">
              <a:solidFill>
                <a:srgbClr val="0078D4"/>
              </a:solidFill>
              <a:prstDash val="solid"/>
            </a:ln>
          </p:spPr>
        </p:sp>
        <p:sp>
          <p:nvSpPr>
            <p:cNvPr id="10" name="Text 8"/>
            <p:cNvSpPr/>
            <p:nvPr/>
          </p:nvSpPr>
          <p:spPr>
            <a:xfrm>
              <a:off x="640080" y="3017520"/>
              <a:ext cx="1920240" cy="1097280"/>
            </a:xfrm>
            <a:prstGeom prst="rect">
              <a:avLst/>
            </a:prstGeom>
            <a:noFill/>
            <a:ln/>
          </p:spPr>
          <p:txBody>
            <a:bodyPr wrap="square" rtlCol="0" anchor="ctr"/>
            <a:lstStyle/>
            <a:p>
              <a:pPr algn="ctr" indent="0" marL="0">
                <a:buNone/>
              </a:pPr>
              <a:r>
                <a:rPr lang="en-US" sz="1100" b="1" dirty="0">
                  <a:solidFill>
                    <a:srgbClr val="0078D4"/>
                  </a:solidFill>
                  <a:latin typeface="Meiryo UI" pitchFamily="34" charset="0"/>
                  <a:ea typeface="Meiryo UI" pitchFamily="34" charset="-122"/>
                  <a:cs typeface="Meiryo UI" pitchFamily="34" charset="-120"/>
                </a:rPr>
                <a:t>🖥️  仮想マシン</a:t>
              </a:r>
              <a:endParaRPr lang="en-US" sz="1100" dirty="0"/>
            </a:p>
            <a:p>
              <a:pPr algn="ctr" indent="0" marL="0">
                <a:buNone/>
              </a:pPr>
              <a:r>
                <a:rPr lang="en-US" sz="1100" b="1" dirty="0">
                  <a:solidFill>
                    <a:srgbClr val="0078D4"/>
                  </a:solidFill>
                  <a:latin typeface="Meiryo UI" pitchFamily="34" charset="0"/>
                  <a:ea typeface="Meiryo UI" pitchFamily="34" charset="-122"/>
                  <a:cs typeface="Meiryo UI" pitchFamily="34" charset="-120"/>
                </a:rPr>
                <a:t>(VM)</a:t>
              </a:r>
              <a:endParaRPr lang="en-US" sz="1100" dirty="0"/>
            </a:p>
          </p:txBody>
        </p:sp>
        <p:sp>
          <p:nvSpPr>
            <p:cNvPr id="11" name="Shape 9"/>
            <p:cNvSpPr/>
            <p:nvPr/>
          </p:nvSpPr>
          <p:spPr>
            <a:xfrm>
              <a:off x="2926080" y="3017520"/>
              <a:ext cx="1920240" cy="1097280"/>
            </a:xfrm>
            <a:prstGeom prst="roundRect">
              <a:avLst>
                <a:gd name="adj" fmla="val 10000"/>
              </a:avLst>
            </a:prstGeom>
            <a:solidFill>
              <a:srgbClr val="F3F2F1"/>
            </a:solidFill>
            <a:ln w="19050">
              <a:solidFill>
                <a:srgbClr val="107C10"/>
              </a:solidFill>
              <a:prstDash val="solid"/>
            </a:ln>
          </p:spPr>
        </p:sp>
        <p:sp>
          <p:nvSpPr>
            <p:cNvPr id="12" name="Text 10"/>
            <p:cNvSpPr/>
            <p:nvPr/>
          </p:nvSpPr>
          <p:spPr>
            <a:xfrm>
              <a:off x="2926080" y="3017520"/>
              <a:ext cx="1920240" cy="1097280"/>
            </a:xfrm>
            <a:prstGeom prst="rect">
              <a:avLst/>
            </a:prstGeom>
            <a:noFill/>
            <a:ln/>
          </p:spPr>
          <p:txBody>
            <a:bodyPr wrap="square" rtlCol="0" anchor="ctr"/>
            <a:lstStyle/>
            <a:p>
              <a:pPr algn="ctr" indent="0" marL="0">
                <a:buNone/>
              </a:pPr>
              <a:r>
                <a:rPr lang="en-US" sz="1100" b="1" dirty="0">
                  <a:solidFill>
                    <a:srgbClr val="107C10"/>
                  </a:solidFill>
                  <a:latin typeface="Meiryo UI" pitchFamily="34" charset="0"/>
                  <a:ea typeface="Meiryo UI" pitchFamily="34" charset="-122"/>
                  <a:cs typeface="Meiryo UI" pitchFamily="34" charset="-120"/>
                </a:rPr>
                <a:t>🌐  仮想ネットワーク</a:t>
              </a:r>
              <a:endParaRPr lang="en-US" sz="1100" dirty="0"/>
            </a:p>
            <a:p>
              <a:pPr algn="ctr" indent="0" marL="0">
                <a:buNone/>
              </a:pPr>
              <a:r>
                <a:rPr lang="en-US" sz="1100" b="1" dirty="0">
                  <a:solidFill>
                    <a:srgbClr val="107C10"/>
                  </a:solidFill>
                  <a:latin typeface="Meiryo UI" pitchFamily="34" charset="0"/>
                  <a:ea typeface="Meiryo UI" pitchFamily="34" charset="-122"/>
                  <a:cs typeface="Meiryo UI" pitchFamily="34" charset="-120"/>
                </a:rPr>
                <a:t>(VNet)</a:t>
              </a:r>
              <a:endParaRPr lang="en-US" sz="1100" dirty="0"/>
            </a:p>
          </p:txBody>
        </p:sp>
        <p:sp>
          <p:nvSpPr>
            <p:cNvPr id="13" name="Shape 11"/>
            <p:cNvSpPr/>
            <p:nvPr/>
          </p:nvSpPr>
          <p:spPr>
            <a:xfrm>
              <a:off x="5212080" y="3017520"/>
              <a:ext cx="1920240" cy="1097280"/>
            </a:xfrm>
            <a:prstGeom prst="roundRect">
              <a:avLst>
                <a:gd name="adj" fmla="val 10000"/>
              </a:avLst>
            </a:prstGeom>
            <a:solidFill>
              <a:srgbClr val="F3F2F1"/>
            </a:solidFill>
            <a:ln w="19050">
              <a:solidFill>
                <a:srgbClr val="FF8C00"/>
              </a:solidFill>
              <a:prstDash val="solid"/>
            </a:ln>
          </p:spPr>
        </p:sp>
        <p:sp>
          <p:nvSpPr>
            <p:cNvPr id="14" name="Text 12"/>
            <p:cNvSpPr/>
            <p:nvPr/>
          </p:nvSpPr>
          <p:spPr>
            <a:xfrm>
              <a:off x="5212080" y="3017520"/>
              <a:ext cx="1920240" cy="1097280"/>
            </a:xfrm>
            <a:prstGeom prst="rect">
              <a:avLst/>
            </a:prstGeom>
            <a:noFill/>
            <a:ln/>
          </p:spPr>
          <p:txBody>
            <a:bodyPr wrap="square" rtlCol="0" anchor="ctr"/>
            <a:lstStyle/>
            <a:p>
              <a:pPr algn="ctr" indent="0" marL="0">
                <a:buNone/>
              </a:pPr>
              <a:r>
                <a:rPr lang="en-US" sz="1100" b="1" dirty="0">
                  <a:solidFill>
                    <a:srgbClr val="FF8C00"/>
                  </a:solidFill>
                  <a:latin typeface="Meiryo UI" pitchFamily="34" charset="0"/>
                  <a:ea typeface="Meiryo UI" pitchFamily="34" charset="-122"/>
                  <a:cs typeface="Meiryo UI" pitchFamily="34" charset="-120"/>
                </a:rPr>
                <a:t>⚖️  ロード</a:t>
              </a:r>
              <a:endParaRPr lang="en-US" sz="1100" dirty="0"/>
            </a:p>
            <a:p>
              <a:pPr algn="ctr" indent="0" marL="0">
                <a:buNone/>
              </a:pPr>
              <a:r>
                <a:rPr lang="en-US" sz="1100" b="1" dirty="0">
                  <a:solidFill>
                    <a:srgbClr val="FF8C00"/>
                  </a:solidFill>
                  <a:latin typeface="Meiryo UI" pitchFamily="34" charset="0"/>
                  <a:ea typeface="Meiryo UI" pitchFamily="34" charset="-122"/>
                  <a:cs typeface="Meiryo UI" pitchFamily="34" charset="-120"/>
                </a:rPr>
                <a:t>バランサー</a:t>
              </a:r>
              <a:endParaRPr lang="en-US" sz="1100" dirty="0"/>
            </a:p>
          </p:txBody>
        </p:sp>
        <p:sp>
          <p:nvSpPr>
            <p:cNvPr id="15" name="Shape 13"/>
            <p:cNvSpPr/>
            <p:nvPr/>
          </p:nvSpPr>
          <p:spPr>
            <a:xfrm>
              <a:off x="7498080" y="3017520"/>
              <a:ext cx="1920240" cy="1097280"/>
            </a:xfrm>
            <a:prstGeom prst="roundRect">
              <a:avLst>
                <a:gd name="adj" fmla="val 10000"/>
              </a:avLst>
            </a:prstGeom>
            <a:solidFill>
              <a:srgbClr val="F3F2F1"/>
            </a:solidFill>
            <a:ln w="19050">
              <a:solidFill>
                <a:srgbClr val="5C2D91"/>
              </a:solidFill>
              <a:prstDash val="solid"/>
            </a:ln>
          </p:spPr>
        </p:sp>
        <p:sp>
          <p:nvSpPr>
            <p:cNvPr id="16" name="Text 14"/>
            <p:cNvSpPr/>
            <p:nvPr/>
          </p:nvSpPr>
          <p:spPr>
            <a:xfrm>
              <a:off x="7498080" y="3017520"/>
              <a:ext cx="1920240" cy="1097280"/>
            </a:xfrm>
            <a:prstGeom prst="rect">
              <a:avLst/>
            </a:prstGeom>
            <a:noFill/>
            <a:ln/>
          </p:spPr>
          <p:txBody>
            <a:bodyPr wrap="square" rtlCol="0" anchor="ctr"/>
            <a:lstStyle/>
            <a:p>
              <a:pPr algn="ctr" indent="0" marL="0">
                <a:buNone/>
              </a:pPr>
              <a:r>
                <a:rPr lang="en-US" sz="1100" b="1" dirty="0">
                  <a:solidFill>
                    <a:srgbClr val="5C2D91"/>
                  </a:solidFill>
                  <a:latin typeface="Meiryo UI" pitchFamily="34" charset="0"/>
                  <a:ea typeface="Meiryo UI" pitchFamily="34" charset="-122"/>
                  <a:cs typeface="Meiryo UI" pitchFamily="34" charset="-120"/>
                </a:rPr>
                <a:t>🛡️  Application</a:t>
              </a:r>
              <a:endParaRPr lang="en-US" sz="1100" dirty="0"/>
            </a:p>
            <a:p>
              <a:pPr algn="ctr" indent="0" marL="0">
                <a:buNone/>
              </a:pPr>
              <a:r>
                <a:rPr lang="en-US" sz="1100" b="1" dirty="0">
                  <a:solidFill>
                    <a:srgbClr val="5C2D91"/>
                  </a:solidFill>
                  <a:latin typeface="Meiryo UI" pitchFamily="34" charset="0"/>
                  <a:ea typeface="Meiryo UI" pitchFamily="34" charset="-122"/>
                  <a:cs typeface="Meiryo UI" pitchFamily="34" charset="-120"/>
                </a:rPr>
                <a:t>Gateway</a:t>
              </a:r>
              <a:endParaRPr lang="en-US" sz="1100" dirty="0"/>
            </a:p>
          </p:txBody>
        </p:sp>
        <p:sp>
          <p:nvSpPr>
            <p:cNvPr id="17" name="Shape 15"/>
            <p:cNvSpPr/>
            <p:nvPr/>
          </p:nvSpPr>
          <p:spPr>
            <a:xfrm>
              <a:off x="9784080" y="3017520"/>
              <a:ext cx="1920240" cy="1097280"/>
            </a:xfrm>
            <a:prstGeom prst="roundRect">
              <a:avLst>
                <a:gd name="adj" fmla="val 10000"/>
              </a:avLst>
            </a:prstGeom>
            <a:solidFill>
              <a:srgbClr val="F3F2F1"/>
            </a:solidFill>
            <a:ln w="19050">
              <a:solidFill>
                <a:srgbClr val="D13438"/>
              </a:solidFill>
              <a:prstDash val="solid"/>
            </a:ln>
          </p:spPr>
        </p:sp>
        <p:sp>
          <p:nvSpPr>
            <p:cNvPr id="18" name="Text 16"/>
            <p:cNvSpPr/>
            <p:nvPr/>
          </p:nvSpPr>
          <p:spPr>
            <a:xfrm>
              <a:off x="9784080" y="3017520"/>
              <a:ext cx="1920240" cy="1097280"/>
            </a:xfrm>
            <a:prstGeom prst="rect">
              <a:avLst/>
            </a:prstGeom>
            <a:noFill/>
            <a:ln/>
          </p:spPr>
          <p:txBody>
            <a:bodyPr wrap="square" rtlCol="0" anchor="ctr"/>
            <a:lstStyle/>
            <a:p>
              <a:pPr algn="ctr" indent="0" marL="0">
                <a:buNone/>
              </a:pPr>
              <a:r>
                <a:rPr lang="en-US" sz="1100" b="1" dirty="0">
                  <a:solidFill>
                    <a:srgbClr val="D13438"/>
                  </a:solidFill>
                  <a:latin typeface="Meiryo UI" pitchFamily="34" charset="0"/>
                  <a:ea typeface="Meiryo UI" pitchFamily="34" charset="-122"/>
                  <a:cs typeface="Meiryo UI" pitchFamily="34" charset="-120"/>
                </a:rPr>
                <a:t>🔒  NSG</a:t>
              </a:r>
              <a:endParaRPr lang="en-US" sz="1100" dirty="0"/>
            </a:p>
          </p:txBody>
        </p:sp>
        <p:sp>
          <p:nvSpPr>
            <p:cNvPr id="19" name="Text 17"/>
            <p:cNvSpPr/>
            <p:nvPr/>
          </p:nvSpPr>
          <p:spPr>
            <a:xfrm>
              <a:off x="457200" y="4389120"/>
              <a:ext cx="11274552" cy="2103120"/>
            </a:xfrm>
            <a:prstGeom prst="rect">
              <a:avLst/>
            </a:prstGeom>
            <a:noFill/>
            <a:ln/>
          </p:spPr>
          <p:txBody>
            <a:bodyPr wrap="square" rtlCol="0" anchor="t"/>
            <a:lstStyle/>
            <a:p>
              <a:pPr marL="342900" indent="-342900">
                <a:lnSpc>
                  <a:spcPct val="130000"/>
                </a:lnSpc>
                <a:buSzPct val="100000"/>
                <a:buChar char="•"/>
              </a:pPr>
              <a:r>
                <a:rPr lang="en-US" sz="1200" dirty="0">
                  <a:solidFill>
                    <a:srgbClr val="000000"/>
                  </a:solidFill>
                  <a:latin typeface="Meiryo UI" pitchFamily="34" charset="0"/>
                  <a:ea typeface="Meiryo UI" pitchFamily="34" charset="-122"/>
                  <a:cs typeface="Meiryo UI" pitchFamily="34" charset="-120"/>
                </a:rPr>
                <a:t>Azure Network Watcher は、Azure IaaS リソースのネットワークを監視・診断するためのツール群を提供するサービスです</a:t>
              </a:r>
              <a:endParaRPr lang="en-US" sz="1200" dirty="0"/>
            </a:p>
            <a:p>
              <a:pPr marL="342900" indent="-342900">
                <a:lnSpc>
                  <a:spcPct val="130000"/>
                </a:lnSpc>
                <a:buSzPct val="100000"/>
                <a:buChar char="•"/>
              </a:pPr>
              <a:r>
                <a:rPr lang="en-US" sz="1200" dirty="0">
                  <a:solidFill>
                    <a:srgbClr val="000000"/>
                  </a:solidFill>
                  <a:latin typeface="Meiryo UI" pitchFamily="34" charset="0"/>
                  <a:ea typeface="Meiryo UI" pitchFamily="34" charset="-122"/>
                  <a:cs typeface="Meiryo UI" pitchFamily="34" charset="-120"/>
                </a:rPr>
                <a:t>サブスクリプション内で仮想ネットワークを作成・更新すると、そのリージョンで自動的に有効化されます</a:t>
              </a:r>
              <a:endParaRPr lang="en-US" sz="1200" dirty="0"/>
            </a:p>
            <a:p>
              <a:pPr marL="342900" indent="-342900">
                <a:lnSpc>
                  <a:spcPct val="130000"/>
                </a:lnSpc>
                <a:buSzPct val="100000"/>
                <a:buChar char="•"/>
              </a:pPr>
              <a:r>
                <a:rPr lang="en-US" sz="1200" dirty="0">
                  <a:solidFill>
                    <a:srgbClr val="000000"/>
                  </a:solidFill>
                  <a:latin typeface="Meiryo UI" pitchFamily="34" charset="0"/>
                  <a:ea typeface="Meiryo UI" pitchFamily="34" charset="-122"/>
                  <a:cs typeface="Meiryo UI" pitchFamily="34" charset="-120"/>
                </a:rPr>
                <a:t>自動有効化によるリソースへの影響やコストの発生はありません</a:t>
              </a:r>
              <a:endParaRPr lang="en-US" sz="1200" dirty="0"/>
            </a:p>
            <a:p>
              <a:pPr marL="342900" indent="-342900">
                <a:lnSpc>
                  <a:spcPct val="130000"/>
                </a:lnSpc>
                <a:buSzPct val="100000"/>
                <a:buChar char="•"/>
              </a:pPr>
              <a:r>
                <a:rPr lang="en-US" sz="1200" dirty="0">
                  <a:solidFill>
                    <a:srgbClr val="000000"/>
                  </a:solidFill>
                  <a:latin typeface="Meiryo UI" pitchFamily="34" charset="0"/>
                  <a:ea typeface="Meiryo UI" pitchFamily="34" charset="-122"/>
                  <a:cs typeface="Meiryo UI" pitchFamily="34" charset="-120"/>
                </a:rPr>
                <a:t>PaaS の監視や Web 分析を目的としたサービスではありません</a:t>
              </a:r>
              <a:endParaRPr lang="en-US" sz="1200" dirty="0"/>
            </a:p>
            <a:p>
              <a:pPr marL="342900" indent="-342900">
                <a:lnSpc>
                  <a:spcPct val="130000"/>
                </a:lnSpc>
                <a:buSzPct val="100000"/>
                <a:buChar char="•"/>
              </a:pPr>
              <a:r>
                <a:rPr lang="en-US" sz="1200" dirty="0">
                  <a:solidFill>
                    <a:srgbClr val="000000"/>
                  </a:solidFill>
                  <a:latin typeface="Meiryo UI" pitchFamily="34" charset="0"/>
                  <a:ea typeface="Meiryo UI" pitchFamily="34" charset="-122"/>
                  <a:cs typeface="Meiryo UI" pitchFamily="34" charset="-120"/>
                </a:rPr>
                <a:t>既定でゾーン冗長に対応しており、追加の構成は不要です</a:t>
              </a:r>
              <a:endParaRPr lang="en-US" sz="1200" dirty="0"/>
            </a:p>
          </p:txBody>
        </p:sp>
      </p:spTree>
    </p:cSld>
    <p:spTree>
      <p:nvGrpSpPr>
        <p:cNvPr id="1" name=""/>
        <p:cNvGrpSpPr/>
        <p:nvPr/>
      </p:nvGrpSpPr>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Azure Network Watcher とは</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2 / 8</a:t>
            </a:r>
            <a:endParaRPr lang="en-US" sz="900" dirty="0"/>
          </a:p>
        </p:txBody>
      </p:sp>
      <p:sp>
        <p:nvSpPr>
          <p:cNvPr id="5" name="Shape 3"/>
          <p:cNvSpPr/>
          <p:nvPr/>
        </p:nvSpPr>
        <p:spPr>
          <a:xfrm>
            <a:off x="2286000" y="1188720"/>
            <a:ext cx="7772400" cy="1188720"/>
          </a:xfrm>
          <a:prstGeom prst="roundRect">
            <a:avLst>
              <a:gd name="adj" fmla="val 11538"/>
            </a:avLst>
          </a:prstGeom>
          <a:solidFill>
            <a:srgbClr val="DEECF9"/>
          </a:solidFill>
          <a:ln w="25400">
            <a:solidFill>
              <a:srgbClr val="0078D4"/>
            </a:solidFill>
            <a:prstDash val="solid"/>
          </a:ln>
        </p:spPr>
      </p:sp>
      <p:sp>
        <p:nvSpPr>
          <p:cNvPr id="6" name="Text 4"/>
          <p:cNvSpPr/>
          <p:nvPr/>
        </p:nvSpPr>
        <p:spPr>
          <a:xfrm>
            <a:off x="2468880" y="1280160"/>
            <a:ext cx="7406640" cy="365760"/>
          </a:xfrm>
          <a:prstGeom prst="rect">
            <a:avLst/>
          </a:prstGeom>
          <a:noFill/>
          <a:ln/>
        </p:spPr>
        <p:txBody>
          <a:bodyPr wrap="square" rtlCol="0" anchor="ctr"/>
          <a:lstStyle/>
          <a:p>
            <a:pPr algn="ctr" indent="0" marL="0">
              <a:buNone/>
            </a:pPr>
            <a:r>
              <a:rPr lang="en-US" sz="1600" b="1" dirty="0">
                <a:solidFill>
                  <a:srgbClr val="0078D4"/>
                </a:solidFill>
                <a:latin typeface="Meiryo UI" pitchFamily="34" charset="0"/>
                <a:ea typeface="Meiryo UI" pitchFamily="34" charset="-122"/>
                <a:cs typeface="Meiryo UI" pitchFamily="34" charset="-120"/>
              </a:rPr>
              <a:t>🔍  Azure Network Watcher</a:t>
            </a:r>
            <a:endParaRPr lang="en-US" sz="1600" dirty="0"/>
          </a:p>
        </p:txBody>
      </p:sp>
      <p:sp>
        <p:nvSpPr>
          <p:cNvPr id="7" name="Text 5"/>
          <p:cNvSpPr/>
          <p:nvPr/>
        </p:nvSpPr>
        <p:spPr>
          <a:xfrm>
            <a:off x="2468880" y="1691640"/>
            <a:ext cx="7406640" cy="457200"/>
          </a:xfrm>
          <a:prstGeom prst="rect">
            <a:avLst/>
          </a:prstGeom>
          <a:noFill/>
          <a:ln/>
        </p:spPr>
        <p:txBody>
          <a:bodyPr wrap="square" rtlCol="0" anchor="ctr"/>
          <a:lstStyle/>
          <a:p>
            <a:pPr algn="ctr" indent="0" marL="0">
              <a:buNone/>
            </a:pPr>
            <a:r>
              <a:rPr lang="en-US" sz="1200" dirty="0">
                <a:solidFill>
                  <a:srgbClr val="000000"/>
                </a:solidFill>
                <a:latin typeface="Meiryo UI" pitchFamily="34" charset="0"/>
                <a:ea typeface="Meiryo UI" pitchFamily="34" charset="-122"/>
                <a:cs typeface="Meiryo UI" pitchFamily="34" charset="-120"/>
              </a:rPr>
              <a:t>Azure IaaS リソースのネットワークを監視・診断するためのツール群</a:t>
            </a:r>
            <a:endParaRPr lang="en-US" sz="1200" dirty="0"/>
          </a:p>
        </p:txBody>
      </p:sp>
      <p:sp>
        <p:nvSpPr>
          <p:cNvPr id="8" name="Text 6"/>
          <p:cNvSpPr/>
          <p:nvPr/>
        </p:nvSpPr>
        <p:spPr>
          <a:xfrm>
            <a:off x="5486400" y="2468880"/>
            <a:ext cx="1188720" cy="457200"/>
          </a:xfrm>
          <a:prstGeom prst="rect">
            <a:avLst/>
          </a:prstGeom>
          <a:noFill/>
          <a:ln/>
        </p:spPr>
        <p:txBody>
          <a:bodyPr wrap="square" rtlCol="0" anchor="ctr"/>
          <a:lstStyle/>
          <a:p>
            <a:pPr algn="ctr" indent="0" marL="0">
              <a:buNone/>
            </a:pPr>
            <a:r>
              <a:rPr lang="en-US" sz="2000" dirty="0">
                <a:solidFill>
                  <a:srgbClr val="0078D4"/>
                </a:solidFill>
                <a:latin typeface="Meiryo UI" pitchFamily="34" charset="0"/>
                <a:ea typeface="Meiryo UI" pitchFamily="34" charset="-122"/>
                <a:cs typeface="Meiryo UI" pitchFamily="34" charset="-120"/>
              </a:rPr>
              <a:t>⬇</a:t>
            </a:r>
            <a:endParaRPr lang="en-US" sz="2000" dirty="0"/>
          </a:p>
        </p:txBody>
      </p:sp>
      <p:sp>
        <p:nvSpPr>
          <p:cNvPr id="9" name="Shape 7"/>
          <p:cNvSpPr/>
          <p:nvPr/>
        </p:nvSpPr>
        <p:spPr>
          <a:xfrm>
            <a:off x="640080" y="3017520"/>
            <a:ext cx="1920240" cy="1097280"/>
          </a:xfrm>
          <a:prstGeom prst="roundRect">
            <a:avLst>
              <a:gd name="adj" fmla="val 10000"/>
            </a:avLst>
          </a:prstGeom>
          <a:solidFill>
            <a:srgbClr val="F3F2F1"/>
          </a:solidFill>
          <a:ln w="19050">
            <a:solidFill>
              <a:srgbClr val="0078D4"/>
            </a:solidFill>
            <a:prstDash val="solid"/>
          </a:ln>
        </p:spPr>
      </p:sp>
      <p:sp>
        <p:nvSpPr>
          <p:cNvPr id="10" name="Text 8"/>
          <p:cNvSpPr/>
          <p:nvPr/>
        </p:nvSpPr>
        <p:spPr>
          <a:xfrm>
            <a:off x="640080" y="3017520"/>
            <a:ext cx="1920240" cy="1097280"/>
          </a:xfrm>
          <a:prstGeom prst="rect">
            <a:avLst/>
          </a:prstGeom>
          <a:noFill/>
          <a:ln/>
        </p:spPr>
        <p:txBody>
          <a:bodyPr wrap="square" rtlCol="0" anchor="ctr"/>
          <a:lstStyle/>
          <a:p>
            <a:pPr algn="ctr" indent="0" marL="0">
              <a:buNone/>
            </a:pPr>
            <a:r>
              <a:rPr lang="en-US" sz="1100" b="1" dirty="0">
                <a:solidFill>
                  <a:srgbClr val="0078D4"/>
                </a:solidFill>
                <a:latin typeface="Meiryo UI" pitchFamily="34" charset="0"/>
                <a:ea typeface="Meiryo UI" pitchFamily="34" charset="-122"/>
                <a:cs typeface="Meiryo UI" pitchFamily="34" charset="-120"/>
              </a:rPr>
              <a:t>🖥️  仮想マシン</a:t>
            </a:r>
            <a:endParaRPr lang="en-US" sz="1100" dirty="0"/>
          </a:p>
          <a:p>
            <a:pPr algn="ctr" indent="0" marL="0">
              <a:buNone/>
            </a:pPr>
            <a:r>
              <a:rPr lang="en-US" sz="1100" b="1" dirty="0">
                <a:solidFill>
                  <a:srgbClr val="0078D4"/>
                </a:solidFill>
                <a:latin typeface="Meiryo UI" pitchFamily="34" charset="0"/>
                <a:ea typeface="Meiryo UI" pitchFamily="34" charset="-122"/>
                <a:cs typeface="Meiryo UI" pitchFamily="34" charset="-120"/>
              </a:rPr>
              <a:t>(VM)</a:t>
            </a:r>
            <a:endParaRPr lang="en-US" sz="1100" dirty="0"/>
          </a:p>
        </p:txBody>
      </p:sp>
      <p:sp>
        <p:nvSpPr>
          <p:cNvPr id="11" name="Shape 9"/>
          <p:cNvSpPr/>
          <p:nvPr/>
        </p:nvSpPr>
        <p:spPr>
          <a:xfrm>
            <a:off x="2926080" y="3017520"/>
            <a:ext cx="1920240" cy="1097280"/>
          </a:xfrm>
          <a:prstGeom prst="roundRect">
            <a:avLst>
              <a:gd name="adj" fmla="val 10000"/>
            </a:avLst>
          </a:prstGeom>
          <a:solidFill>
            <a:srgbClr val="F3F2F1"/>
          </a:solidFill>
          <a:ln w="19050">
            <a:solidFill>
              <a:srgbClr val="107C10"/>
            </a:solidFill>
            <a:prstDash val="solid"/>
          </a:ln>
        </p:spPr>
      </p:sp>
      <p:sp>
        <p:nvSpPr>
          <p:cNvPr id="12" name="Text 10"/>
          <p:cNvSpPr/>
          <p:nvPr/>
        </p:nvSpPr>
        <p:spPr>
          <a:xfrm>
            <a:off x="2926080" y="3017520"/>
            <a:ext cx="1920240" cy="1097280"/>
          </a:xfrm>
          <a:prstGeom prst="rect">
            <a:avLst/>
          </a:prstGeom>
          <a:noFill/>
          <a:ln/>
        </p:spPr>
        <p:txBody>
          <a:bodyPr wrap="square" rtlCol="0" anchor="ctr"/>
          <a:lstStyle/>
          <a:p>
            <a:pPr algn="ctr" indent="0" marL="0">
              <a:buNone/>
            </a:pPr>
            <a:r>
              <a:rPr lang="en-US" sz="1100" b="1" dirty="0">
                <a:solidFill>
                  <a:srgbClr val="107C10"/>
                </a:solidFill>
                <a:latin typeface="Meiryo UI" pitchFamily="34" charset="0"/>
                <a:ea typeface="Meiryo UI" pitchFamily="34" charset="-122"/>
                <a:cs typeface="Meiryo UI" pitchFamily="34" charset="-120"/>
              </a:rPr>
              <a:t>🌐  仮想ネットワーク</a:t>
            </a:r>
            <a:endParaRPr lang="en-US" sz="1100" dirty="0"/>
          </a:p>
          <a:p>
            <a:pPr algn="ctr" indent="0" marL="0">
              <a:buNone/>
            </a:pPr>
            <a:r>
              <a:rPr lang="en-US" sz="1100" b="1" dirty="0">
                <a:solidFill>
                  <a:srgbClr val="107C10"/>
                </a:solidFill>
                <a:latin typeface="Meiryo UI" pitchFamily="34" charset="0"/>
                <a:ea typeface="Meiryo UI" pitchFamily="34" charset="-122"/>
                <a:cs typeface="Meiryo UI" pitchFamily="34" charset="-120"/>
              </a:rPr>
              <a:t>(VNet)</a:t>
            </a:r>
            <a:endParaRPr lang="en-US" sz="1100" dirty="0"/>
          </a:p>
        </p:txBody>
      </p:sp>
      <p:sp>
        <p:nvSpPr>
          <p:cNvPr id="13" name="Shape 11"/>
          <p:cNvSpPr/>
          <p:nvPr/>
        </p:nvSpPr>
        <p:spPr>
          <a:xfrm>
            <a:off x="5212080" y="3017520"/>
            <a:ext cx="1920240" cy="1097280"/>
          </a:xfrm>
          <a:prstGeom prst="roundRect">
            <a:avLst>
              <a:gd name="adj" fmla="val 10000"/>
            </a:avLst>
          </a:prstGeom>
          <a:solidFill>
            <a:srgbClr val="F3F2F1"/>
          </a:solidFill>
          <a:ln w="19050">
            <a:solidFill>
              <a:srgbClr val="FF8C00"/>
            </a:solidFill>
            <a:prstDash val="solid"/>
          </a:ln>
        </p:spPr>
      </p:sp>
      <p:sp>
        <p:nvSpPr>
          <p:cNvPr id="14" name="Text 12"/>
          <p:cNvSpPr/>
          <p:nvPr/>
        </p:nvSpPr>
        <p:spPr>
          <a:xfrm>
            <a:off x="5212080" y="3017520"/>
            <a:ext cx="1920240" cy="1097280"/>
          </a:xfrm>
          <a:prstGeom prst="rect">
            <a:avLst/>
          </a:prstGeom>
          <a:noFill/>
          <a:ln/>
        </p:spPr>
        <p:txBody>
          <a:bodyPr wrap="square" rtlCol="0" anchor="ctr"/>
          <a:lstStyle/>
          <a:p>
            <a:pPr algn="ctr" indent="0" marL="0">
              <a:buNone/>
            </a:pPr>
            <a:r>
              <a:rPr lang="en-US" sz="1100" b="1" dirty="0">
                <a:solidFill>
                  <a:srgbClr val="FF8C00"/>
                </a:solidFill>
                <a:latin typeface="Meiryo UI" pitchFamily="34" charset="0"/>
                <a:ea typeface="Meiryo UI" pitchFamily="34" charset="-122"/>
                <a:cs typeface="Meiryo UI" pitchFamily="34" charset="-120"/>
              </a:rPr>
              <a:t>⚖️  ロード</a:t>
            </a:r>
            <a:endParaRPr lang="en-US" sz="1100" dirty="0"/>
          </a:p>
          <a:p>
            <a:pPr algn="ctr" indent="0" marL="0">
              <a:buNone/>
            </a:pPr>
            <a:r>
              <a:rPr lang="en-US" sz="1100" b="1" dirty="0">
                <a:solidFill>
                  <a:srgbClr val="FF8C00"/>
                </a:solidFill>
                <a:latin typeface="Meiryo UI" pitchFamily="34" charset="0"/>
                <a:ea typeface="Meiryo UI" pitchFamily="34" charset="-122"/>
                <a:cs typeface="Meiryo UI" pitchFamily="34" charset="-120"/>
              </a:rPr>
              <a:t>バランサー</a:t>
            </a:r>
            <a:endParaRPr lang="en-US" sz="1100" dirty="0"/>
          </a:p>
        </p:txBody>
      </p:sp>
      <p:sp>
        <p:nvSpPr>
          <p:cNvPr id="15" name="Shape 13"/>
          <p:cNvSpPr/>
          <p:nvPr/>
        </p:nvSpPr>
        <p:spPr>
          <a:xfrm>
            <a:off x="7498080" y="3017520"/>
            <a:ext cx="1920240" cy="1097280"/>
          </a:xfrm>
          <a:prstGeom prst="roundRect">
            <a:avLst>
              <a:gd name="adj" fmla="val 10000"/>
            </a:avLst>
          </a:prstGeom>
          <a:solidFill>
            <a:srgbClr val="F3F2F1"/>
          </a:solidFill>
          <a:ln w="19050">
            <a:solidFill>
              <a:srgbClr val="5C2D91"/>
            </a:solidFill>
            <a:prstDash val="solid"/>
          </a:ln>
        </p:spPr>
      </p:sp>
      <p:sp>
        <p:nvSpPr>
          <p:cNvPr id="16" name="Text 14"/>
          <p:cNvSpPr/>
          <p:nvPr/>
        </p:nvSpPr>
        <p:spPr>
          <a:xfrm>
            <a:off x="7498080" y="3017520"/>
            <a:ext cx="1920240" cy="1097280"/>
          </a:xfrm>
          <a:prstGeom prst="rect">
            <a:avLst/>
          </a:prstGeom>
          <a:noFill/>
          <a:ln/>
        </p:spPr>
        <p:txBody>
          <a:bodyPr wrap="square" rtlCol="0" anchor="ctr"/>
          <a:lstStyle/>
          <a:p>
            <a:pPr algn="ctr" indent="0" marL="0">
              <a:buNone/>
            </a:pPr>
            <a:r>
              <a:rPr lang="en-US" sz="1100" b="1" dirty="0">
                <a:solidFill>
                  <a:srgbClr val="5C2D91"/>
                </a:solidFill>
                <a:latin typeface="Meiryo UI" pitchFamily="34" charset="0"/>
                <a:ea typeface="Meiryo UI" pitchFamily="34" charset="-122"/>
                <a:cs typeface="Meiryo UI" pitchFamily="34" charset="-120"/>
              </a:rPr>
              <a:t>🛡️  Application</a:t>
            </a:r>
            <a:endParaRPr lang="en-US" sz="1100" dirty="0"/>
          </a:p>
          <a:p>
            <a:pPr algn="ctr" indent="0" marL="0">
              <a:buNone/>
            </a:pPr>
            <a:r>
              <a:rPr lang="en-US" sz="1100" b="1" dirty="0">
                <a:solidFill>
                  <a:srgbClr val="5C2D91"/>
                </a:solidFill>
                <a:latin typeface="Meiryo UI" pitchFamily="34" charset="0"/>
                <a:ea typeface="Meiryo UI" pitchFamily="34" charset="-122"/>
                <a:cs typeface="Meiryo UI" pitchFamily="34" charset="-120"/>
              </a:rPr>
              <a:t>Gateway</a:t>
            </a:r>
            <a:endParaRPr lang="en-US" sz="1100" dirty="0"/>
          </a:p>
        </p:txBody>
      </p:sp>
      <p:sp>
        <p:nvSpPr>
          <p:cNvPr id="17" name="Shape 15"/>
          <p:cNvSpPr/>
          <p:nvPr/>
        </p:nvSpPr>
        <p:spPr>
          <a:xfrm>
            <a:off x="9784080" y="3017520"/>
            <a:ext cx="1920240" cy="1097280"/>
          </a:xfrm>
          <a:prstGeom prst="roundRect">
            <a:avLst>
              <a:gd name="adj" fmla="val 10000"/>
            </a:avLst>
          </a:prstGeom>
          <a:solidFill>
            <a:srgbClr val="F3F2F1"/>
          </a:solidFill>
          <a:ln w="19050">
            <a:solidFill>
              <a:srgbClr val="D13438"/>
            </a:solidFill>
            <a:prstDash val="solid"/>
          </a:ln>
        </p:spPr>
      </p:sp>
      <p:sp>
        <p:nvSpPr>
          <p:cNvPr id="18" name="Text 16"/>
          <p:cNvSpPr/>
          <p:nvPr/>
        </p:nvSpPr>
        <p:spPr>
          <a:xfrm>
            <a:off x="9784080" y="3017520"/>
            <a:ext cx="1920240" cy="1097280"/>
          </a:xfrm>
          <a:prstGeom prst="rect">
            <a:avLst/>
          </a:prstGeom>
          <a:noFill/>
          <a:ln/>
        </p:spPr>
        <p:txBody>
          <a:bodyPr wrap="square" rtlCol="0" anchor="ctr"/>
          <a:lstStyle/>
          <a:p>
            <a:pPr algn="ctr" indent="0" marL="0">
              <a:buNone/>
            </a:pPr>
            <a:r>
              <a:rPr lang="en-US" sz="1100" b="1" dirty="0">
                <a:solidFill>
                  <a:srgbClr val="D13438"/>
                </a:solidFill>
                <a:latin typeface="Meiryo UI" pitchFamily="34" charset="0"/>
                <a:ea typeface="Meiryo UI" pitchFamily="34" charset="-122"/>
                <a:cs typeface="Meiryo UI" pitchFamily="34" charset="-120"/>
              </a:rPr>
              <a:t>🔒  NSG</a:t>
            </a:r>
            <a:endParaRPr lang="en-US" sz="1100" dirty="0"/>
          </a:p>
        </p:txBody>
      </p:sp>
      <p:sp>
        <p:nvSpPr>
          <p:cNvPr id="19" name="Text 17"/>
          <p:cNvSpPr/>
          <p:nvPr/>
        </p:nvSpPr>
        <p:spPr>
          <a:xfrm>
            <a:off x="457200" y="4389120"/>
            <a:ext cx="11274552" cy="2103120"/>
          </a:xfrm>
          <a:prstGeom prst="rect">
            <a:avLst/>
          </a:prstGeom>
          <a:noFill/>
          <a:ln/>
        </p:spPr>
        <p:txBody>
          <a:bodyPr wrap="square" rtlCol="0" anchor="t"/>
          <a:lstStyle/>
          <a:p>
            <a:pPr marL="342900" indent="-342900">
              <a:lnSpc>
                <a:spcPct val="130000"/>
              </a:lnSpc>
              <a:buSzPct val="100000"/>
              <a:buChar char="•"/>
            </a:pPr>
            <a:r>
              <a:rPr lang="en-US" sz="1200" dirty="0">
                <a:solidFill>
                  <a:srgbClr val="000000"/>
                </a:solidFill>
                <a:latin typeface="Meiryo UI" pitchFamily="34" charset="0"/>
                <a:ea typeface="Meiryo UI" pitchFamily="34" charset="-122"/>
                <a:cs typeface="Meiryo UI" pitchFamily="34" charset="-120"/>
              </a:rPr>
              <a:t>Azure Network Watcher は、Azure IaaS リソースのネットワークを監視・診断するためのツール群を提供するサービスです</a:t>
            </a:r>
            <a:endParaRPr lang="en-US" sz="1200" dirty="0"/>
          </a:p>
          <a:p>
            <a:pPr marL="342900" indent="-342900">
              <a:lnSpc>
                <a:spcPct val="130000"/>
              </a:lnSpc>
              <a:buSzPct val="100000"/>
              <a:buChar char="•"/>
            </a:pPr>
            <a:r>
              <a:rPr lang="en-US" sz="1200" dirty="0">
                <a:solidFill>
                  <a:srgbClr val="000000"/>
                </a:solidFill>
                <a:latin typeface="Meiryo UI" pitchFamily="34" charset="0"/>
                <a:ea typeface="Meiryo UI" pitchFamily="34" charset="-122"/>
                <a:cs typeface="Meiryo UI" pitchFamily="34" charset="-120"/>
              </a:rPr>
              <a:t>サブスクリプション内で仮想ネットワークを作成・更新すると、そのリージョンで自動的に有効化されます</a:t>
            </a:r>
            <a:endParaRPr lang="en-US" sz="1200" dirty="0"/>
          </a:p>
          <a:p>
            <a:pPr marL="342900" indent="-342900">
              <a:lnSpc>
                <a:spcPct val="130000"/>
              </a:lnSpc>
              <a:buSzPct val="100000"/>
              <a:buChar char="•"/>
            </a:pPr>
            <a:r>
              <a:rPr lang="en-US" sz="1200" dirty="0">
                <a:solidFill>
                  <a:srgbClr val="000000"/>
                </a:solidFill>
                <a:latin typeface="Meiryo UI" pitchFamily="34" charset="0"/>
                <a:ea typeface="Meiryo UI" pitchFamily="34" charset="-122"/>
                <a:cs typeface="Meiryo UI" pitchFamily="34" charset="-120"/>
              </a:rPr>
              <a:t>自動有効化によるリソースへの影響やコストの発生はありません</a:t>
            </a:r>
            <a:endParaRPr lang="en-US" sz="1200" dirty="0"/>
          </a:p>
          <a:p>
            <a:pPr marL="342900" indent="-342900">
              <a:lnSpc>
                <a:spcPct val="130000"/>
              </a:lnSpc>
              <a:buSzPct val="100000"/>
              <a:buChar char="•"/>
            </a:pPr>
            <a:r>
              <a:rPr lang="en-US" sz="1200" dirty="0">
                <a:solidFill>
                  <a:srgbClr val="000000"/>
                </a:solidFill>
                <a:latin typeface="Meiryo UI" pitchFamily="34" charset="0"/>
                <a:ea typeface="Meiryo UI" pitchFamily="34" charset="-122"/>
                <a:cs typeface="Meiryo UI" pitchFamily="34" charset="-120"/>
              </a:rPr>
              <a:t>PaaS の監視や Web 分析を目的としたサービスではありません</a:t>
            </a:r>
            <a:endParaRPr lang="en-US" sz="1200" dirty="0"/>
          </a:p>
          <a:p>
            <a:pPr marL="342900" indent="-342900">
              <a:lnSpc>
                <a:spcPct val="130000"/>
              </a:lnSpc>
              <a:buSzPct val="100000"/>
              <a:buChar char="•"/>
            </a:pPr>
            <a:r>
              <a:rPr lang="en-US" sz="1200" dirty="0">
                <a:solidFill>
                  <a:srgbClr val="000000"/>
                </a:solidFill>
                <a:latin typeface="Meiryo UI" pitchFamily="34" charset="0"/>
                <a:ea typeface="Meiryo UI" pitchFamily="34" charset="-122"/>
                <a:cs typeface="Meiryo UI" pitchFamily="34" charset="-120"/>
              </a:rPr>
              <a:t>既定でゾーン冗長に対応しており、追加の構成は不要です</a:t>
            </a:r>
            <a:endParaRPr lang="en-US" sz="1200" dirty="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主要機能の全体像（3 つのカテゴリ）</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3 / 8</a:t>
              </a:r>
              <a:endParaRPr lang="en-US" sz="900" dirty="0"/>
            </a:p>
          </p:txBody>
        </p:sp>
        <p:sp>
          <p:nvSpPr>
            <p:cNvPr id="5" name="Shape 3"/>
            <p:cNvSpPr/>
            <p:nvPr/>
          </p:nvSpPr>
          <p:spPr>
            <a:xfrm>
              <a:off x="457200" y="1280160"/>
              <a:ext cx="3474720" cy="4389120"/>
            </a:xfrm>
            <a:prstGeom prst="roundRect">
              <a:avLst>
                <a:gd name="adj" fmla="val 3947"/>
              </a:avLst>
            </a:prstGeom>
            <a:solidFill>
              <a:srgbClr val="F3F2F1"/>
            </a:solidFill>
            <a:ln w="25400">
              <a:solidFill>
                <a:srgbClr val="0078D4"/>
              </a:solidFill>
              <a:prstDash val="solid"/>
            </a:ln>
          </p:spPr>
        </p:sp>
        <p:sp>
          <p:nvSpPr>
            <p:cNvPr id="6" name="Shape 4"/>
            <p:cNvSpPr/>
            <p:nvPr/>
          </p:nvSpPr>
          <p:spPr>
            <a:xfrm>
              <a:off x="548640" y="1371600"/>
              <a:ext cx="3291840" cy="548640"/>
            </a:xfrm>
            <a:prstGeom prst="roundRect">
              <a:avLst>
                <a:gd name="adj" fmla="val 16667"/>
              </a:avLst>
            </a:prstGeom>
            <a:solidFill>
              <a:srgbClr val="0078D4"/>
            </a:solidFill>
            <a:ln/>
          </p:spPr>
        </p:sp>
        <p:sp>
          <p:nvSpPr>
            <p:cNvPr id="7" name="Text 5"/>
            <p:cNvSpPr/>
            <p:nvPr/>
          </p:nvSpPr>
          <p:spPr>
            <a:xfrm>
              <a:off x="548640" y="1371600"/>
              <a:ext cx="3291840" cy="548640"/>
            </a:xfrm>
            <a:prstGeom prst="rect">
              <a:avLst/>
            </a:prstGeom>
            <a:noFill/>
            <a:ln/>
          </p:spPr>
          <p:txBody>
            <a:bodyPr wrap="square"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  監視（Monitoring）</a:t>
              </a:r>
              <a:endParaRPr lang="en-US" sz="1400" dirty="0"/>
            </a:p>
          </p:txBody>
        </p:sp>
        <p:sp>
          <p:nvSpPr>
            <p:cNvPr id="8" name="Text 6"/>
            <p:cNvSpPr/>
            <p:nvPr/>
          </p:nvSpPr>
          <p:spPr>
            <a:xfrm>
              <a:off x="640080" y="2103120"/>
              <a:ext cx="3108960" cy="3383280"/>
            </a:xfrm>
            <a:prstGeom prst="rect">
              <a:avLst/>
            </a:prstGeom>
            <a:noFill/>
            <a:ln/>
          </p:spPr>
          <p:txBody>
            <a:bodyPr wrap="square" rtlCol="0" anchor="t"/>
            <a:lstStyle/>
            <a:p>
              <a:pPr marL="342900" indent="-342900">
                <a:lnSpc>
                  <a:spcPct val="140000"/>
                </a:lnSpc>
                <a:buSzPct val="100000"/>
                <a:buChar char="•"/>
              </a:pPr>
              <a:r>
                <a:rPr lang="en-US" sz="1100" dirty="0">
                  <a:solidFill>
                    <a:srgbClr val="000000"/>
                  </a:solidFill>
                  <a:latin typeface="Meiryo UI" pitchFamily="34" charset="0"/>
                  <a:ea typeface="Meiryo UI" pitchFamily="34" charset="-122"/>
                  <a:cs typeface="Meiryo UI" pitchFamily="34" charset="-120"/>
                </a:rPr>
                <a:t>トポロジ — ネットワーク構成の可視化を行います</a:t>
              </a:r>
              <a:endParaRPr lang="en-US" sz="1100" dirty="0"/>
            </a:p>
            <a:p>
              <a:pPr marL="342900" indent="-342900">
                <a:lnSpc>
                  <a:spcPct val="140000"/>
                </a:lnSpc>
                <a:buSzPct val="100000"/>
                <a:buChar char="•"/>
              </a:pPr>
              <a:r>
                <a:rPr lang="en-US" sz="1100" dirty="0">
                  <a:solidFill>
                    <a:srgbClr val="000000"/>
                  </a:solidFill>
                  <a:latin typeface="Meiryo UI" pitchFamily="34" charset="0"/>
                  <a:ea typeface="Meiryo UI" pitchFamily="34" charset="-122"/>
                  <a:cs typeface="Meiryo UI" pitchFamily="34" charset="-120"/>
                </a:rPr>
                <a:t>接続モニター — エンドポイント間の接続と遅延を継続的に監視します</a:t>
              </a:r>
              <a:endParaRPr lang="en-US" sz="1100" dirty="0"/>
            </a:p>
          </p:txBody>
        </p:sp>
        <p:sp>
          <p:nvSpPr>
            <p:cNvPr id="9" name="Shape 7"/>
            <p:cNvSpPr/>
            <p:nvPr/>
          </p:nvSpPr>
          <p:spPr>
            <a:xfrm>
              <a:off x="4251960" y="1280160"/>
              <a:ext cx="3474720" cy="4389120"/>
            </a:xfrm>
            <a:prstGeom prst="roundRect">
              <a:avLst>
                <a:gd name="adj" fmla="val 3947"/>
              </a:avLst>
            </a:prstGeom>
            <a:solidFill>
              <a:srgbClr val="F3F2F1"/>
            </a:solidFill>
            <a:ln w="25400">
              <a:solidFill>
                <a:srgbClr val="107C10"/>
              </a:solidFill>
              <a:prstDash val="solid"/>
            </a:ln>
          </p:spPr>
        </p:sp>
        <p:sp>
          <p:nvSpPr>
            <p:cNvPr id="10" name="Shape 8"/>
            <p:cNvSpPr/>
            <p:nvPr/>
          </p:nvSpPr>
          <p:spPr>
            <a:xfrm>
              <a:off x="4343400" y="1371600"/>
              <a:ext cx="3291840" cy="548640"/>
            </a:xfrm>
            <a:prstGeom prst="roundRect">
              <a:avLst>
                <a:gd name="adj" fmla="val 16667"/>
              </a:avLst>
            </a:prstGeom>
            <a:solidFill>
              <a:srgbClr val="107C10"/>
            </a:solidFill>
            <a:ln/>
          </p:spPr>
        </p:sp>
        <p:sp>
          <p:nvSpPr>
            <p:cNvPr id="11" name="Text 9"/>
            <p:cNvSpPr/>
            <p:nvPr/>
          </p:nvSpPr>
          <p:spPr>
            <a:xfrm>
              <a:off x="4343400" y="1371600"/>
              <a:ext cx="3291840" cy="548640"/>
            </a:xfrm>
            <a:prstGeom prst="rect">
              <a:avLst/>
            </a:prstGeom>
            <a:noFill/>
            <a:ln/>
          </p:spPr>
          <p:txBody>
            <a:bodyPr wrap="square"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  ネットワーク診断ツール</a:t>
              </a:r>
              <a:endParaRPr lang="en-US" sz="1400" dirty="0"/>
            </a:p>
          </p:txBody>
        </p:sp>
        <p:sp>
          <p:nvSpPr>
            <p:cNvPr id="12" name="Text 10"/>
            <p:cNvSpPr/>
            <p:nvPr/>
          </p:nvSpPr>
          <p:spPr>
            <a:xfrm>
              <a:off x="4434840" y="2103120"/>
              <a:ext cx="3108960" cy="3383280"/>
            </a:xfrm>
            <a:prstGeom prst="rect">
              <a:avLst/>
            </a:prstGeom>
            <a:noFill/>
            <a:ln/>
          </p:spPr>
          <p:txBody>
            <a:bodyPr wrap="square" rtlCol="0" anchor="t"/>
            <a:lstStyle/>
            <a:p>
              <a:pPr marL="342900" indent="-342900">
                <a:lnSpc>
                  <a:spcPct val="140000"/>
                </a:lnSpc>
                <a:buSzPct val="100000"/>
                <a:buChar char="•"/>
              </a:pPr>
              <a:r>
                <a:rPr lang="en-US" sz="1100" dirty="0">
                  <a:solidFill>
                    <a:srgbClr val="000000"/>
                  </a:solidFill>
                  <a:latin typeface="Meiryo UI" pitchFamily="34" charset="0"/>
                  <a:ea typeface="Meiryo UI" pitchFamily="34" charset="-122"/>
                  <a:cs typeface="Meiryo UI" pitchFamily="34" charset="-120"/>
                </a:rPr>
                <a:t>IP フロー検証</a:t>
              </a:r>
              <a:endParaRPr lang="en-US" sz="1100" dirty="0"/>
            </a:p>
            <a:p>
              <a:pPr marL="342900" indent="-342900">
                <a:lnSpc>
                  <a:spcPct val="140000"/>
                </a:lnSpc>
                <a:buSzPct val="100000"/>
                <a:buChar char="•"/>
              </a:pPr>
              <a:r>
                <a:rPr lang="en-US" sz="1100" dirty="0">
                  <a:solidFill>
                    <a:srgbClr val="000000"/>
                  </a:solidFill>
                  <a:latin typeface="Meiryo UI" pitchFamily="34" charset="0"/>
                  <a:ea typeface="Meiryo UI" pitchFamily="34" charset="-122"/>
                  <a:cs typeface="Meiryo UI" pitchFamily="34" charset="-120"/>
                </a:rPr>
                <a:t>NSG 診断</a:t>
              </a:r>
              <a:endParaRPr lang="en-US" sz="1100" dirty="0"/>
            </a:p>
            <a:p>
              <a:pPr marL="342900" indent="-342900">
                <a:lnSpc>
                  <a:spcPct val="140000"/>
                </a:lnSpc>
                <a:buSzPct val="100000"/>
                <a:buChar char="•"/>
              </a:pPr>
              <a:r>
                <a:rPr lang="en-US" sz="1100" dirty="0">
                  <a:solidFill>
                    <a:srgbClr val="000000"/>
                  </a:solidFill>
                  <a:latin typeface="Meiryo UI" pitchFamily="34" charset="0"/>
                  <a:ea typeface="Meiryo UI" pitchFamily="34" charset="-122"/>
                  <a:cs typeface="Meiryo UI" pitchFamily="34" charset="-120"/>
                </a:rPr>
                <a:t>次のホップ</a:t>
              </a:r>
              <a:endParaRPr lang="en-US" sz="1100" dirty="0"/>
            </a:p>
            <a:p>
              <a:pPr marL="342900" indent="-342900">
                <a:lnSpc>
                  <a:spcPct val="140000"/>
                </a:lnSpc>
                <a:buSzPct val="100000"/>
                <a:buChar char="•"/>
              </a:pPr>
              <a:r>
                <a:rPr lang="en-US" sz="1100" dirty="0">
                  <a:solidFill>
                    <a:srgbClr val="000000"/>
                  </a:solidFill>
                  <a:latin typeface="Meiryo UI" pitchFamily="34" charset="0"/>
                  <a:ea typeface="Meiryo UI" pitchFamily="34" charset="-122"/>
                  <a:cs typeface="Meiryo UI" pitchFamily="34" charset="-120"/>
                </a:rPr>
                <a:t>有効なセキュリティ規則</a:t>
              </a:r>
              <a:endParaRPr lang="en-US" sz="1100" dirty="0"/>
            </a:p>
            <a:p>
              <a:pPr marL="342900" indent="-342900">
                <a:lnSpc>
                  <a:spcPct val="140000"/>
                </a:lnSpc>
                <a:buSzPct val="100000"/>
                <a:buChar char="•"/>
              </a:pPr>
              <a:r>
                <a:rPr lang="en-US" sz="1100" dirty="0">
                  <a:solidFill>
                    <a:srgbClr val="000000"/>
                  </a:solidFill>
                  <a:latin typeface="Meiryo UI" pitchFamily="34" charset="0"/>
                  <a:ea typeface="Meiryo UI" pitchFamily="34" charset="-122"/>
                  <a:cs typeface="Meiryo UI" pitchFamily="34" charset="-120"/>
                </a:rPr>
                <a:t>接続のトラブルシューティング</a:t>
              </a:r>
              <a:endParaRPr lang="en-US" sz="1100" dirty="0"/>
            </a:p>
            <a:p>
              <a:pPr marL="342900" indent="-342900">
                <a:lnSpc>
                  <a:spcPct val="140000"/>
                </a:lnSpc>
                <a:buSzPct val="100000"/>
                <a:buChar char="•"/>
              </a:pPr>
              <a:r>
                <a:rPr lang="en-US" sz="1100" dirty="0">
                  <a:solidFill>
                    <a:srgbClr val="000000"/>
                  </a:solidFill>
                  <a:latin typeface="Meiryo UI" pitchFamily="34" charset="0"/>
                  <a:ea typeface="Meiryo UI" pitchFamily="34" charset="-122"/>
                  <a:cs typeface="Meiryo UI" pitchFamily="34" charset="-120"/>
                </a:rPr>
                <a:t>パケットキャプチャ</a:t>
              </a:r>
              <a:endParaRPr lang="en-US" sz="1100" dirty="0"/>
            </a:p>
            <a:p>
              <a:pPr marL="342900" indent="-342900">
                <a:lnSpc>
                  <a:spcPct val="140000"/>
                </a:lnSpc>
                <a:buSzPct val="100000"/>
                <a:buChar char="•"/>
              </a:pPr>
              <a:r>
                <a:rPr lang="en-US" sz="1100" dirty="0">
                  <a:solidFill>
                    <a:srgbClr val="000000"/>
                  </a:solidFill>
                  <a:latin typeface="Meiryo UI" pitchFamily="34" charset="0"/>
                  <a:ea typeface="Meiryo UI" pitchFamily="34" charset="-122"/>
                  <a:cs typeface="Meiryo UI" pitchFamily="34" charset="-120"/>
                </a:rPr>
                <a:t>VPN トラブルシューティング</a:t>
              </a:r>
              <a:endParaRPr lang="en-US" sz="1100" dirty="0"/>
            </a:p>
          </p:txBody>
        </p:sp>
        <p:sp>
          <p:nvSpPr>
            <p:cNvPr id="13" name="Shape 11"/>
            <p:cNvSpPr/>
            <p:nvPr/>
          </p:nvSpPr>
          <p:spPr>
            <a:xfrm>
              <a:off x="8046720" y="1280160"/>
              <a:ext cx="3474720" cy="4389120"/>
            </a:xfrm>
            <a:prstGeom prst="roundRect">
              <a:avLst>
                <a:gd name="adj" fmla="val 3947"/>
              </a:avLst>
            </a:prstGeom>
            <a:solidFill>
              <a:srgbClr val="F3F2F1"/>
            </a:solidFill>
            <a:ln w="25400">
              <a:solidFill>
                <a:srgbClr val="FF8C00"/>
              </a:solidFill>
              <a:prstDash val="solid"/>
            </a:ln>
          </p:spPr>
        </p:sp>
        <p:sp>
          <p:nvSpPr>
            <p:cNvPr id="14" name="Shape 12"/>
            <p:cNvSpPr/>
            <p:nvPr/>
          </p:nvSpPr>
          <p:spPr>
            <a:xfrm>
              <a:off x="8138160" y="1371600"/>
              <a:ext cx="3291840" cy="548640"/>
            </a:xfrm>
            <a:prstGeom prst="roundRect">
              <a:avLst>
                <a:gd name="adj" fmla="val 16667"/>
              </a:avLst>
            </a:prstGeom>
            <a:solidFill>
              <a:srgbClr val="FF8C00"/>
            </a:solidFill>
            <a:ln/>
          </p:spPr>
        </p:sp>
        <p:sp>
          <p:nvSpPr>
            <p:cNvPr id="15" name="Text 13"/>
            <p:cNvSpPr/>
            <p:nvPr/>
          </p:nvSpPr>
          <p:spPr>
            <a:xfrm>
              <a:off x="8138160" y="1371600"/>
              <a:ext cx="3291840" cy="548640"/>
            </a:xfrm>
            <a:prstGeom prst="rect">
              <a:avLst/>
            </a:prstGeom>
            <a:noFill/>
            <a:ln/>
          </p:spPr>
          <p:txBody>
            <a:bodyPr wrap="square"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  トラフィック（Traffic）</a:t>
              </a:r>
              <a:endParaRPr lang="en-US" sz="1400" dirty="0"/>
            </a:p>
          </p:txBody>
        </p:sp>
        <p:sp>
          <p:nvSpPr>
            <p:cNvPr id="16" name="Text 14"/>
            <p:cNvSpPr/>
            <p:nvPr/>
          </p:nvSpPr>
          <p:spPr>
            <a:xfrm>
              <a:off x="8229600" y="2103120"/>
              <a:ext cx="3108960" cy="3383280"/>
            </a:xfrm>
            <a:prstGeom prst="rect">
              <a:avLst/>
            </a:prstGeom>
            <a:noFill/>
            <a:ln/>
          </p:spPr>
          <p:txBody>
            <a:bodyPr wrap="square" rtlCol="0" anchor="t"/>
            <a:lstStyle/>
            <a:p>
              <a:pPr marL="342900" indent="-342900">
                <a:lnSpc>
                  <a:spcPct val="140000"/>
                </a:lnSpc>
                <a:buSzPct val="100000"/>
                <a:buChar char="•"/>
              </a:pPr>
              <a:r>
                <a:rPr lang="en-US" sz="1100" dirty="0">
                  <a:solidFill>
                    <a:srgbClr val="000000"/>
                  </a:solidFill>
                  <a:latin typeface="Meiryo UI" pitchFamily="34" charset="0"/>
                  <a:ea typeface="Meiryo UI" pitchFamily="34" charset="-122"/>
                  <a:cs typeface="Meiryo UI" pitchFamily="34" charset="-120"/>
                </a:rPr>
                <a:t>フローログ — NSG / VNet フローログでトラフィックを記録します</a:t>
              </a:r>
              <a:endParaRPr lang="en-US" sz="1100" dirty="0"/>
            </a:p>
            <a:p>
              <a:pPr marL="342900" indent="-342900">
                <a:lnSpc>
                  <a:spcPct val="140000"/>
                </a:lnSpc>
                <a:buSzPct val="100000"/>
                <a:buChar char="•"/>
              </a:pPr>
              <a:r>
                <a:rPr lang="en-US" sz="1100" dirty="0">
                  <a:solidFill>
                    <a:srgbClr val="000000"/>
                  </a:solidFill>
                  <a:latin typeface="Meiryo UI" pitchFamily="34" charset="0"/>
                  <a:ea typeface="Meiryo UI" pitchFamily="34" charset="-122"/>
                  <a:cs typeface="Meiryo UI" pitchFamily="34" charset="-120"/>
                </a:rPr>
                <a:t>トラフィック分析 — フローログデータのリッチな可視化を提供します</a:t>
              </a:r>
              <a:endParaRPr lang="en-US" sz="1100" dirty="0"/>
            </a:p>
          </p:txBody>
        </p:sp>
        <p:sp>
          <p:nvSpPr>
            <p:cNvPr id="17" name="Shape 15"/>
            <p:cNvSpPr/>
            <p:nvPr/>
          </p:nvSpPr>
          <p:spPr>
            <a:xfrm>
              <a:off x="457200" y="5760720"/>
              <a:ext cx="11274552" cy="548640"/>
            </a:xfrm>
            <a:prstGeom prst="roundRect">
              <a:avLst>
                <a:gd name="adj" fmla="val 16667"/>
              </a:avLst>
            </a:prstGeom>
            <a:solidFill>
              <a:srgbClr val="DEECF9"/>
            </a:solidFill>
            <a:ln w="12700">
              <a:solidFill>
                <a:srgbClr val="0078D4"/>
              </a:solidFill>
              <a:prstDash val="solid"/>
            </a:ln>
          </p:spPr>
        </p:sp>
        <p:sp>
          <p:nvSpPr>
            <p:cNvPr id="18" name="Text 16"/>
            <p:cNvSpPr/>
            <p:nvPr/>
          </p:nvSpPr>
          <p:spPr>
            <a:xfrm>
              <a:off x="640080" y="5760720"/>
              <a:ext cx="10908792" cy="548640"/>
            </a:xfrm>
            <a:prstGeom prst="rect">
              <a:avLst/>
            </a:prstGeom>
            <a:noFill/>
            <a:ln/>
          </p:spPr>
          <p:txBody>
            <a:bodyPr wrap="square" rtlCol="0" anchor="ctr"/>
            <a:lstStyle/>
            <a:p>
              <a:pPr indent="0" marL="0">
                <a:buNone/>
              </a:pPr>
              <a:r>
                <a:rPr lang="en-US" sz="1100" dirty="0">
                  <a:solidFill>
                    <a:srgbClr val="000000"/>
                  </a:solidFill>
                  <a:latin typeface="Meiryo UI" pitchFamily="34" charset="0"/>
                  <a:ea typeface="Meiryo UI" pitchFamily="34" charset="-122"/>
                  <a:cs typeface="Meiryo UI" pitchFamily="34" charset="-120"/>
                </a:rPr>
                <a:t>📋  使用量 + クォータ: サブスクリプションとリージョンごとのネットワークリソースの使用状況と制限を確認できます</a:t>
              </a:r>
              <a:endParaRPr lang="en-US" sz="1100" dirty="0"/>
            </a:p>
          </p:txBody>
        </p:sp>
      </p:spTree>
    </p:cSld>
    <p:spTree>
      <p:nvGrpSpPr>
        <p:cNvPr id="1" name=""/>
        <p:cNvGrpSpPr/>
        <p:nvPr/>
      </p:nvGrpSpPr>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主要機能の全体像（3 つのカテゴリ）</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3 / 8</a:t>
            </a:r>
            <a:endParaRPr lang="en-US" sz="900" dirty="0"/>
          </a:p>
        </p:txBody>
      </p:sp>
      <p:sp>
        <p:nvSpPr>
          <p:cNvPr id="5" name="Shape 3"/>
          <p:cNvSpPr/>
          <p:nvPr/>
        </p:nvSpPr>
        <p:spPr>
          <a:xfrm>
            <a:off x="457200" y="1280160"/>
            <a:ext cx="3474720" cy="4389120"/>
          </a:xfrm>
          <a:prstGeom prst="roundRect">
            <a:avLst>
              <a:gd name="adj" fmla="val 3947"/>
            </a:avLst>
          </a:prstGeom>
          <a:solidFill>
            <a:srgbClr val="F3F2F1"/>
          </a:solidFill>
          <a:ln w="25400">
            <a:solidFill>
              <a:srgbClr val="0078D4"/>
            </a:solidFill>
            <a:prstDash val="solid"/>
          </a:ln>
        </p:spPr>
      </p:sp>
      <p:sp>
        <p:nvSpPr>
          <p:cNvPr id="6" name="Shape 4"/>
          <p:cNvSpPr/>
          <p:nvPr/>
        </p:nvSpPr>
        <p:spPr>
          <a:xfrm>
            <a:off x="548640" y="1371600"/>
            <a:ext cx="3291840" cy="548640"/>
          </a:xfrm>
          <a:prstGeom prst="roundRect">
            <a:avLst>
              <a:gd name="adj" fmla="val 16667"/>
            </a:avLst>
          </a:prstGeom>
          <a:solidFill>
            <a:srgbClr val="0078D4"/>
          </a:solidFill>
          <a:ln/>
        </p:spPr>
      </p:sp>
      <p:sp>
        <p:nvSpPr>
          <p:cNvPr id="7" name="Text 5"/>
          <p:cNvSpPr/>
          <p:nvPr/>
        </p:nvSpPr>
        <p:spPr>
          <a:xfrm>
            <a:off x="548640" y="1371600"/>
            <a:ext cx="3291840" cy="548640"/>
          </a:xfrm>
          <a:prstGeom prst="rect">
            <a:avLst/>
          </a:prstGeom>
          <a:noFill/>
          <a:ln/>
        </p:spPr>
        <p:txBody>
          <a:bodyPr wrap="square"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  監視（Monitoring）</a:t>
            </a:r>
            <a:endParaRPr lang="en-US" sz="1400" dirty="0"/>
          </a:p>
        </p:txBody>
      </p:sp>
      <p:sp>
        <p:nvSpPr>
          <p:cNvPr id="8" name="Text 6"/>
          <p:cNvSpPr/>
          <p:nvPr/>
        </p:nvSpPr>
        <p:spPr>
          <a:xfrm>
            <a:off x="640080" y="2103120"/>
            <a:ext cx="3108960" cy="3383280"/>
          </a:xfrm>
          <a:prstGeom prst="rect">
            <a:avLst/>
          </a:prstGeom>
          <a:noFill/>
          <a:ln/>
        </p:spPr>
        <p:txBody>
          <a:bodyPr wrap="square" rtlCol="0" anchor="t"/>
          <a:lstStyle/>
          <a:p>
            <a:pPr marL="342900" indent="-342900">
              <a:lnSpc>
                <a:spcPct val="140000"/>
              </a:lnSpc>
              <a:buSzPct val="100000"/>
              <a:buChar char="•"/>
            </a:pPr>
            <a:r>
              <a:rPr lang="en-US" sz="1100" dirty="0">
                <a:solidFill>
                  <a:srgbClr val="000000"/>
                </a:solidFill>
                <a:latin typeface="Meiryo UI" pitchFamily="34" charset="0"/>
                <a:ea typeface="Meiryo UI" pitchFamily="34" charset="-122"/>
                <a:cs typeface="Meiryo UI" pitchFamily="34" charset="-120"/>
              </a:rPr>
              <a:t>トポロジ — ネットワーク構成の可視化を行います</a:t>
            </a:r>
            <a:endParaRPr lang="en-US" sz="1100" dirty="0"/>
          </a:p>
          <a:p>
            <a:pPr marL="342900" indent="-342900">
              <a:lnSpc>
                <a:spcPct val="140000"/>
              </a:lnSpc>
              <a:buSzPct val="100000"/>
              <a:buChar char="•"/>
            </a:pPr>
            <a:r>
              <a:rPr lang="en-US" sz="1100" dirty="0">
                <a:solidFill>
                  <a:srgbClr val="000000"/>
                </a:solidFill>
                <a:latin typeface="Meiryo UI" pitchFamily="34" charset="0"/>
                <a:ea typeface="Meiryo UI" pitchFamily="34" charset="-122"/>
                <a:cs typeface="Meiryo UI" pitchFamily="34" charset="-120"/>
              </a:rPr>
              <a:t>接続モニター — エンドポイント間の接続と遅延を継続的に監視します</a:t>
            </a:r>
            <a:endParaRPr lang="en-US" sz="1100" dirty="0"/>
          </a:p>
        </p:txBody>
      </p:sp>
      <p:sp>
        <p:nvSpPr>
          <p:cNvPr id="9" name="Shape 7"/>
          <p:cNvSpPr/>
          <p:nvPr/>
        </p:nvSpPr>
        <p:spPr>
          <a:xfrm>
            <a:off x="4251960" y="1280160"/>
            <a:ext cx="3474720" cy="4389120"/>
          </a:xfrm>
          <a:prstGeom prst="roundRect">
            <a:avLst>
              <a:gd name="adj" fmla="val 3947"/>
            </a:avLst>
          </a:prstGeom>
          <a:solidFill>
            <a:srgbClr val="F3F2F1"/>
          </a:solidFill>
          <a:ln w="25400">
            <a:solidFill>
              <a:srgbClr val="107C10"/>
            </a:solidFill>
            <a:prstDash val="solid"/>
          </a:ln>
        </p:spPr>
      </p:sp>
      <p:sp>
        <p:nvSpPr>
          <p:cNvPr id="10" name="Shape 8"/>
          <p:cNvSpPr/>
          <p:nvPr/>
        </p:nvSpPr>
        <p:spPr>
          <a:xfrm>
            <a:off x="4343400" y="1371600"/>
            <a:ext cx="3291840" cy="548640"/>
          </a:xfrm>
          <a:prstGeom prst="roundRect">
            <a:avLst>
              <a:gd name="adj" fmla="val 16667"/>
            </a:avLst>
          </a:prstGeom>
          <a:solidFill>
            <a:srgbClr val="107C10"/>
          </a:solidFill>
          <a:ln/>
        </p:spPr>
      </p:sp>
      <p:sp>
        <p:nvSpPr>
          <p:cNvPr id="11" name="Text 9"/>
          <p:cNvSpPr/>
          <p:nvPr/>
        </p:nvSpPr>
        <p:spPr>
          <a:xfrm>
            <a:off x="4343400" y="1371600"/>
            <a:ext cx="3291840" cy="548640"/>
          </a:xfrm>
          <a:prstGeom prst="rect">
            <a:avLst/>
          </a:prstGeom>
          <a:noFill/>
          <a:ln/>
        </p:spPr>
        <p:txBody>
          <a:bodyPr wrap="square"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  ネットワーク診断ツール</a:t>
            </a:r>
            <a:endParaRPr lang="en-US" sz="1400" dirty="0"/>
          </a:p>
        </p:txBody>
      </p:sp>
      <p:sp>
        <p:nvSpPr>
          <p:cNvPr id="12" name="Text 10"/>
          <p:cNvSpPr/>
          <p:nvPr/>
        </p:nvSpPr>
        <p:spPr>
          <a:xfrm>
            <a:off x="4434840" y="2103120"/>
            <a:ext cx="3108960" cy="3383280"/>
          </a:xfrm>
          <a:prstGeom prst="rect">
            <a:avLst/>
          </a:prstGeom>
          <a:noFill/>
          <a:ln/>
        </p:spPr>
        <p:txBody>
          <a:bodyPr wrap="square" rtlCol="0" anchor="t"/>
          <a:lstStyle/>
          <a:p>
            <a:pPr marL="342900" indent="-342900">
              <a:lnSpc>
                <a:spcPct val="140000"/>
              </a:lnSpc>
              <a:buSzPct val="100000"/>
              <a:buChar char="•"/>
            </a:pPr>
            <a:r>
              <a:rPr lang="en-US" sz="1100" dirty="0">
                <a:solidFill>
                  <a:srgbClr val="000000"/>
                </a:solidFill>
                <a:latin typeface="Meiryo UI" pitchFamily="34" charset="0"/>
                <a:ea typeface="Meiryo UI" pitchFamily="34" charset="-122"/>
                <a:cs typeface="Meiryo UI" pitchFamily="34" charset="-120"/>
              </a:rPr>
              <a:t>IP フロー検証</a:t>
            </a:r>
            <a:endParaRPr lang="en-US" sz="1100" dirty="0"/>
          </a:p>
          <a:p>
            <a:pPr marL="342900" indent="-342900">
              <a:lnSpc>
                <a:spcPct val="140000"/>
              </a:lnSpc>
              <a:buSzPct val="100000"/>
              <a:buChar char="•"/>
            </a:pPr>
            <a:r>
              <a:rPr lang="en-US" sz="1100" dirty="0">
                <a:solidFill>
                  <a:srgbClr val="000000"/>
                </a:solidFill>
                <a:latin typeface="Meiryo UI" pitchFamily="34" charset="0"/>
                <a:ea typeface="Meiryo UI" pitchFamily="34" charset="-122"/>
                <a:cs typeface="Meiryo UI" pitchFamily="34" charset="-120"/>
              </a:rPr>
              <a:t>NSG 診断</a:t>
            </a:r>
            <a:endParaRPr lang="en-US" sz="1100" dirty="0"/>
          </a:p>
          <a:p>
            <a:pPr marL="342900" indent="-342900">
              <a:lnSpc>
                <a:spcPct val="140000"/>
              </a:lnSpc>
              <a:buSzPct val="100000"/>
              <a:buChar char="•"/>
            </a:pPr>
            <a:r>
              <a:rPr lang="en-US" sz="1100" dirty="0">
                <a:solidFill>
                  <a:srgbClr val="000000"/>
                </a:solidFill>
                <a:latin typeface="Meiryo UI" pitchFamily="34" charset="0"/>
                <a:ea typeface="Meiryo UI" pitchFamily="34" charset="-122"/>
                <a:cs typeface="Meiryo UI" pitchFamily="34" charset="-120"/>
              </a:rPr>
              <a:t>次のホップ</a:t>
            </a:r>
            <a:endParaRPr lang="en-US" sz="1100" dirty="0"/>
          </a:p>
          <a:p>
            <a:pPr marL="342900" indent="-342900">
              <a:lnSpc>
                <a:spcPct val="140000"/>
              </a:lnSpc>
              <a:buSzPct val="100000"/>
              <a:buChar char="•"/>
            </a:pPr>
            <a:r>
              <a:rPr lang="en-US" sz="1100" dirty="0">
                <a:solidFill>
                  <a:srgbClr val="000000"/>
                </a:solidFill>
                <a:latin typeface="Meiryo UI" pitchFamily="34" charset="0"/>
                <a:ea typeface="Meiryo UI" pitchFamily="34" charset="-122"/>
                <a:cs typeface="Meiryo UI" pitchFamily="34" charset="-120"/>
              </a:rPr>
              <a:t>有効なセキュリティ規則</a:t>
            </a:r>
            <a:endParaRPr lang="en-US" sz="1100" dirty="0"/>
          </a:p>
          <a:p>
            <a:pPr marL="342900" indent="-342900">
              <a:lnSpc>
                <a:spcPct val="140000"/>
              </a:lnSpc>
              <a:buSzPct val="100000"/>
              <a:buChar char="•"/>
            </a:pPr>
            <a:r>
              <a:rPr lang="en-US" sz="1100" dirty="0">
                <a:solidFill>
                  <a:srgbClr val="000000"/>
                </a:solidFill>
                <a:latin typeface="Meiryo UI" pitchFamily="34" charset="0"/>
                <a:ea typeface="Meiryo UI" pitchFamily="34" charset="-122"/>
                <a:cs typeface="Meiryo UI" pitchFamily="34" charset="-120"/>
              </a:rPr>
              <a:t>接続のトラブルシューティング</a:t>
            </a:r>
            <a:endParaRPr lang="en-US" sz="1100" dirty="0"/>
          </a:p>
          <a:p>
            <a:pPr marL="342900" indent="-342900">
              <a:lnSpc>
                <a:spcPct val="140000"/>
              </a:lnSpc>
              <a:buSzPct val="100000"/>
              <a:buChar char="•"/>
            </a:pPr>
            <a:r>
              <a:rPr lang="en-US" sz="1100" dirty="0">
                <a:solidFill>
                  <a:srgbClr val="000000"/>
                </a:solidFill>
                <a:latin typeface="Meiryo UI" pitchFamily="34" charset="0"/>
                <a:ea typeface="Meiryo UI" pitchFamily="34" charset="-122"/>
                <a:cs typeface="Meiryo UI" pitchFamily="34" charset="-120"/>
              </a:rPr>
              <a:t>パケットキャプチャ</a:t>
            </a:r>
            <a:endParaRPr lang="en-US" sz="1100" dirty="0"/>
          </a:p>
          <a:p>
            <a:pPr marL="342900" indent="-342900">
              <a:lnSpc>
                <a:spcPct val="140000"/>
              </a:lnSpc>
              <a:buSzPct val="100000"/>
              <a:buChar char="•"/>
            </a:pPr>
            <a:r>
              <a:rPr lang="en-US" sz="1100" dirty="0">
                <a:solidFill>
                  <a:srgbClr val="000000"/>
                </a:solidFill>
                <a:latin typeface="Meiryo UI" pitchFamily="34" charset="0"/>
                <a:ea typeface="Meiryo UI" pitchFamily="34" charset="-122"/>
                <a:cs typeface="Meiryo UI" pitchFamily="34" charset="-120"/>
              </a:rPr>
              <a:t>VPN トラブルシューティング</a:t>
            </a:r>
            <a:endParaRPr lang="en-US" sz="1100" dirty="0"/>
          </a:p>
        </p:txBody>
      </p:sp>
      <p:sp>
        <p:nvSpPr>
          <p:cNvPr id="13" name="Shape 11"/>
          <p:cNvSpPr/>
          <p:nvPr/>
        </p:nvSpPr>
        <p:spPr>
          <a:xfrm>
            <a:off x="8046720" y="1280160"/>
            <a:ext cx="3474720" cy="4389120"/>
          </a:xfrm>
          <a:prstGeom prst="roundRect">
            <a:avLst>
              <a:gd name="adj" fmla="val 3947"/>
            </a:avLst>
          </a:prstGeom>
          <a:solidFill>
            <a:srgbClr val="F3F2F1"/>
          </a:solidFill>
          <a:ln w="25400">
            <a:solidFill>
              <a:srgbClr val="FF8C00"/>
            </a:solidFill>
            <a:prstDash val="solid"/>
          </a:ln>
        </p:spPr>
      </p:sp>
      <p:sp>
        <p:nvSpPr>
          <p:cNvPr id="14" name="Shape 12"/>
          <p:cNvSpPr/>
          <p:nvPr/>
        </p:nvSpPr>
        <p:spPr>
          <a:xfrm>
            <a:off x="8138160" y="1371600"/>
            <a:ext cx="3291840" cy="548640"/>
          </a:xfrm>
          <a:prstGeom prst="roundRect">
            <a:avLst>
              <a:gd name="adj" fmla="val 16667"/>
            </a:avLst>
          </a:prstGeom>
          <a:solidFill>
            <a:srgbClr val="FF8C00"/>
          </a:solidFill>
          <a:ln/>
        </p:spPr>
      </p:sp>
      <p:sp>
        <p:nvSpPr>
          <p:cNvPr id="15" name="Text 13"/>
          <p:cNvSpPr/>
          <p:nvPr/>
        </p:nvSpPr>
        <p:spPr>
          <a:xfrm>
            <a:off x="8138160" y="1371600"/>
            <a:ext cx="3291840" cy="548640"/>
          </a:xfrm>
          <a:prstGeom prst="rect">
            <a:avLst/>
          </a:prstGeom>
          <a:noFill/>
          <a:ln/>
        </p:spPr>
        <p:txBody>
          <a:bodyPr wrap="square"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  トラフィック（Traffic）</a:t>
            </a:r>
            <a:endParaRPr lang="en-US" sz="1400" dirty="0"/>
          </a:p>
        </p:txBody>
      </p:sp>
      <p:sp>
        <p:nvSpPr>
          <p:cNvPr id="16" name="Text 14"/>
          <p:cNvSpPr/>
          <p:nvPr/>
        </p:nvSpPr>
        <p:spPr>
          <a:xfrm>
            <a:off x="8229600" y="2103120"/>
            <a:ext cx="3108960" cy="3383280"/>
          </a:xfrm>
          <a:prstGeom prst="rect">
            <a:avLst/>
          </a:prstGeom>
          <a:noFill/>
          <a:ln/>
        </p:spPr>
        <p:txBody>
          <a:bodyPr wrap="square" rtlCol="0" anchor="t"/>
          <a:lstStyle/>
          <a:p>
            <a:pPr marL="342900" indent="-342900">
              <a:lnSpc>
                <a:spcPct val="140000"/>
              </a:lnSpc>
              <a:buSzPct val="100000"/>
              <a:buChar char="•"/>
            </a:pPr>
            <a:r>
              <a:rPr lang="en-US" sz="1100" dirty="0">
                <a:solidFill>
                  <a:srgbClr val="000000"/>
                </a:solidFill>
                <a:latin typeface="Meiryo UI" pitchFamily="34" charset="0"/>
                <a:ea typeface="Meiryo UI" pitchFamily="34" charset="-122"/>
                <a:cs typeface="Meiryo UI" pitchFamily="34" charset="-120"/>
              </a:rPr>
              <a:t>フローログ — NSG / VNet フローログでトラフィックを記録します</a:t>
            </a:r>
            <a:endParaRPr lang="en-US" sz="1100" dirty="0"/>
          </a:p>
          <a:p>
            <a:pPr marL="342900" indent="-342900">
              <a:lnSpc>
                <a:spcPct val="140000"/>
              </a:lnSpc>
              <a:buSzPct val="100000"/>
              <a:buChar char="•"/>
            </a:pPr>
            <a:r>
              <a:rPr lang="en-US" sz="1100" dirty="0">
                <a:solidFill>
                  <a:srgbClr val="000000"/>
                </a:solidFill>
                <a:latin typeface="Meiryo UI" pitchFamily="34" charset="0"/>
                <a:ea typeface="Meiryo UI" pitchFamily="34" charset="-122"/>
                <a:cs typeface="Meiryo UI" pitchFamily="34" charset="-120"/>
              </a:rPr>
              <a:t>トラフィック分析 — フローログデータのリッチな可視化を提供します</a:t>
            </a:r>
            <a:endParaRPr lang="en-US" sz="1100" dirty="0"/>
          </a:p>
        </p:txBody>
      </p:sp>
      <p:sp>
        <p:nvSpPr>
          <p:cNvPr id="17" name="Shape 15"/>
          <p:cNvSpPr/>
          <p:nvPr/>
        </p:nvSpPr>
        <p:spPr>
          <a:xfrm>
            <a:off x="457200" y="5760720"/>
            <a:ext cx="11274552" cy="548640"/>
          </a:xfrm>
          <a:prstGeom prst="roundRect">
            <a:avLst>
              <a:gd name="adj" fmla="val 16667"/>
            </a:avLst>
          </a:prstGeom>
          <a:solidFill>
            <a:srgbClr val="DEECF9"/>
          </a:solidFill>
          <a:ln w="12700">
            <a:solidFill>
              <a:srgbClr val="0078D4"/>
            </a:solidFill>
            <a:prstDash val="solid"/>
          </a:ln>
        </p:spPr>
      </p:sp>
      <p:sp>
        <p:nvSpPr>
          <p:cNvPr id="18" name="Text 16"/>
          <p:cNvSpPr/>
          <p:nvPr/>
        </p:nvSpPr>
        <p:spPr>
          <a:xfrm>
            <a:off x="640080" y="5760720"/>
            <a:ext cx="10908792" cy="548640"/>
          </a:xfrm>
          <a:prstGeom prst="rect">
            <a:avLst/>
          </a:prstGeom>
          <a:noFill/>
          <a:ln/>
        </p:spPr>
        <p:txBody>
          <a:bodyPr wrap="square" rtlCol="0" anchor="ctr"/>
          <a:lstStyle/>
          <a:p>
            <a:pPr indent="0" marL="0">
              <a:buNone/>
            </a:pPr>
            <a:r>
              <a:rPr lang="en-US" sz="1100" dirty="0">
                <a:solidFill>
                  <a:srgbClr val="000000"/>
                </a:solidFill>
                <a:latin typeface="Meiryo UI" pitchFamily="34" charset="0"/>
                <a:ea typeface="Meiryo UI" pitchFamily="34" charset="-122"/>
                <a:cs typeface="Meiryo UI" pitchFamily="34" charset="-120"/>
              </a:rPr>
              <a:t>📋  使用量 + クォータ: サブスクリプションとリージョンごとのネットワークリソースの使用状況と制限を確認できます</a:t>
            </a:r>
            <a:endParaRPr lang="en-US" sz="1100" dirty="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監視機能（Monitoring）</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4 / 8</a:t>
              </a:r>
              <a:endParaRPr lang="en-US" sz="900" dirty="0"/>
            </a:p>
          </p:txBody>
        </p:sp>
        <p:sp>
          <p:nvSpPr>
            <p:cNvPr id="5" name="Shape 3"/>
            <p:cNvSpPr/>
            <p:nvPr/>
          </p:nvSpPr>
          <p:spPr>
            <a:xfrm>
              <a:off x="457200" y="1188720"/>
              <a:ext cx="5303520" cy="5029200"/>
            </a:xfrm>
            <a:prstGeom prst="roundRect">
              <a:avLst>
                <a:gd name="adj" fmla="val 2727"/>
              </a:avLst>
            </a:prstGeom>
            <a:solidFill>
              <a:srgbClr val="F3F2F1"/>
            </a:solidFill>
            <a:ln w="25400">
              <a:solidFill>
                <a:srgbClr val="0078D4"/>
              </a:solidFill>
              <a:prstDash val="solid"/>
            </a:ln>
          </p:spPr>
        </p:sp>
        <p:sp>
          <p:nvSpPr>
            <p:cNvPr id="6" name="Shape 4"/>
            <p:cNvSpPr/>
            <p:nvPr/>
          </p:nvSpPr>
          <p:spPr>
            <a:xfrm>
              <a:off x="548640" y="1280160"/>
              <a:ext cx="5120640" cy="502920"/>
            </a:xfrm>
            <a:prstGeom prst="roundRect">
              <a:avLst>
                <a:gd name="adj" fmla="val 18182"/>
              </a:avLst>
            </a:prstGeom>
            <a:solidFill>
              <a:srgbClr val="0078D4"/>
            </a:solidFill>
            <a:ln/>
          </p:spPr>
        </p:sp>
        <p:sp>
          <p:nvSpPr>
            <p:cNvPr id="7" name="Text 5"/>
            <p:cNvSpPr/>
            <p:nvPr/>
          </p:nvSpPr>
          <p:spPr>
            <a:xfrm>
              <a:off x="548640" y="1280160"/>
              <a:ext cx="5120640" cy="502920"/>
            </a:xfrm>
            <a:prstGeom prst="rect">
              <a:avLst/>
            </a:prstGeom>
            <a:noFill/>
            <a:ln/>
          </p:spPr>
          <p:txBody>
            <a:bodyPr wrap="square"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  トポロジ（Topology）</a:t>
              </a:r>
              <a:endParaRPr lang="en-US" sz="1500" dirty="0"/>
            </a:p>
          </p:txBody>
        </p:sp>
        <p:sp>
          <p:nvSpPr>
            <p:cNvPr id="8" name="Text 6"/>
            <p:cNvSpPr/>
            <p:nvPr/>
          </p:nvSpPr>
          <p:spPr>
            <a:xfrm>
              <a:off x="731520" y="2011680"/>
              <a:ext cx="4754880" cy="1828800"/>
            </a:xfrm>
            <a:prstGeom prst="rect">
              <a:avLst/>
            </a:prstGeom>
            <a:noFill/>
            <a:ln/>
          </p:spPr>
          <p:txBody>
            <a:bodyPr wrap="square" rtlCol="0" anchor="t"/>
            <a:lstStyle/>
            <a:p>
              <a:pPr marL="342900" indent="-342900">
                <a:lnSpc>
                  <a:spcPct val="135000"/>
                </a:lnSpc>
                <a:buSzPct val="100000"/>
                <a:buChar char="•"/>
              </a:pPr>
              <a:r>
                <a:rPr lang="en-US" sz="1150" dirty="0">
                  <a:solidFill>
                    <a:srgbClr val="000000"/>
                  </a:solidFill>
                  <a:latin typeface="Meiryo UI" pitchFamily="34" charset="0"/>
                  <a:ea typeface="Meiryo UI" pitchFamily="34" charset="-122"/>
                  <a:cs typeface="Meiryo UI" pitchFamily="34" charset="-120"/>
                </a:rPr>
                <a:t>ネットワーク全体の構成を可視化するインタラクティブなインターフェースを提供します</a:t>
              </a:r>
              <a:endParaRPr lang="en-US" sz="1150" dirty="0"/>
            </a:p>
            <a:p>
              <a:pPr marL="342900" indent="-342900">
                <a:lnSpc>
                  <a:spcPct val="135000"/>
                </a:lnSpc>
                <a:buSzPct val="100000"/>
                <a:buChar char="•"/>
              </a:pPr>
              <a:r>
                <a:rPr lang="en-US" sz="1150" dirty="0">
                  <a:solidFill>
                    <a:srgbClr val="000000"/>
                  </a:solidFill>
                  <a:latin typeface="Meiryo UI" pitchFamily="34" charset="0"/>
                  <a:ea typeface="Meiryo UI" pitchFamily="34" charset="-122"/>
                  <a:cs typeface="Meiryo UI" pitchFamily="34" charset="-120"/>
                </a:rPr>
                <a:t>複数のサブスクリプション、リソースグループ、リージョンにまたがるリソースとその関係性を表示できます</a:t>
              </a:r>
              <a:endParaRPr lang="en-US" sz="1150" dirty="0"/>
            </a:p>
            <a:p>
              <a:pPr marL="342900" indent="-342900">
                <a:lnSpc>
                  <a:spcPct val="135000"/>
                </a:lnSpc>
                <a:buSzPct val="100000"/>
                <a:buChar char="•"/>
              </a:pPr>
              <a:r>
                <a:rPr lang="en-US" sz="1150" dirty="0">
                  <a:solidFill>
                    <a:srgbClr val="000000"/>
                  </a:solidFill>
                  <a:latin typeface="Meiryo UI" pitchFamily="34" charset="0"/>
                  <a:ea typeface="Meiryo UI" pitchFamily="34" charset="-122"/>
                  <a:cs typeface="Meiryo UI" pitchFamily="34" charset="-120"/>
                </a:rPr>
                <a:t>ネットワーク構成の理解と確認に役立ちます</a:t>
              </a:r>
              <a:endParaRPr lang="en-US" sz="1150" dirty="0"/>
            </a:p>
          </p:txBody>
        </p:sp>
        <p:sp>
          <p:nvSpPr>
            <p:cNvPr id="9" name="Shape 7"/>
            <p:cNvSpPr/>
            <p:nvPr/>
          </p:nvSpPr>
          <p:spPr>
            <a:xfrm>
              <a:off x="2011680" y="3840480"/>
              <a:ext cx="1371600" cy="594360"/>
            </a:xfrm>
            <a:prstGeom prst="roundRect">
              <a:avLst>
                <a:gd name="adj" fmla="val 15385"/>
              </a:avLst>
            </a:prstGeom>
            <a:solidFill>
              <a:srgbClr val="107C10"/>
            </a:solidFill>
            <a:ln/>
          </p:spPr>
        </p:sp>
        <p:sp>
          <p:nvSpPr>
            <p:cNvPr id="10" name="Text 8"/>
            <p:cNvSpPr/>
            <p:nvPr/>
          </p:nvSpPr>
          <p:spPr>
            <a:xfrm>
              <a:off x="2011680" y="3840480"/>
              <a:ext cx="1371600" cy="594360"/>
            </a:xfrm>
            <a:prstGeom prst="rect">
              <a:avLst/>
            </a:prstGeom>
            <a:noFill/>
            <a:ln/>
          </p:spPr>
          <p:txBody>
            <a:bodyPr wrap="square"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VNet</a:t>
              </a:r>
              <a:endParaRPr lang="en-US" sz="1000" dirty="0"/>
            </a:p>
          </p:txBody>
        </p:sp>
        <p:sp>
          <p:nvSpPr>
            <p:cNvPr id="11" name="Shape 9"/>
            <p:cNvSpPr/>
            <p:nvPr/>
          </p:nvSpPr>
          <p:spPr>
            <a:xfrm>
              <a:off x="914400" y="4846320"/>
              <a:ext cx="1371600" cy="594360"/>
            </a:xfrm>
            <a:prstGeom prst="roundRect">
              <a:avLst>
                <a:gd name="adj" fmla="val 15385"/>
              </a:avLst>
            </a:prstGeom>
            <a:solidFill>
              <a:srgbClr val="0078D4"/>
            </a:solidFill>
            <a:ln/>
          </p:spPr>
        </p:sp>
        <p:sp>
          <p:nvSpPr>
            <p:cNvPr id="12" name="Text 10"/>
            <p:cNvSpPr/>
            <p:nvPr/>
          </p:nvSpPr>
          <p:spPr>
            <a:xfrm>
              <a:off x="914400" y="4846320"/>
              <a:ext cx="1371600" cy="594360"/>
            </a:xfrm>
            <a:prstGeom prst="rect">
              <a:avLst/>
            </a:prstGeom>
            <a:noFill/>
            <a:ln/>
          </p:spPr>
          <p:txBody>
            <a:bodyPr wrap="square"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Subnet</a:t>
              </a:r>
              <a:endParaRPr lang="en-US" sz="1000" dirty="0"/>
            </a:p>
          </p:txBody>
        </p:sp>
        <p:sp>
          <p:nvSpPr>
            <p:cNvPr id="13" name="Shape 11"/>
            <p:cNvSpPr/>
            <p:nvPr/>
          </p:nvSpPr>
          <p:spPr>
            <a:xfrm>
              <a:off x="3108960" y="4846320"/>
              <a:ext cx="1371600" cy="594360"/>
            </a:xfrm>
            <a:prstGeom prst="roundRect">
              <a:avLst>
                <a:gd name="adj" fmla="val 15385"/>
              </a:avLst>
            </a:prstGeom>
            <a:solidFill>
              <a:srgbClr val="5C2D91"/>
            </a:solidFill>
            <a:ln/>
          </p:spPr>
        </p:sp>
        <p:sp>
          <p:nvSpPr>
            <p:cNvPr id="14" name="Text 12"/>
            <p:cNvSpPr/>
            <p:nvPr/>
          </p:nvSpPr>
          <p:spPr>
            <a:xfrm>
              <a:off x="3108960" y="4846320"/>
              <a:ext cx="1371600" cy="594360"/>
            </a:xfrm>
            <a:prstGeom prst="rect">
              <a:avLst/>
            </a:prstGeom>
            <a:noFill/>
            <a:ln/>
          </p:spPr>
          <p:txBody>
            <a:bodyPr wrap="square"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VM</a:t>
              </a:r>
              <a:endParaRPr lang="en-US" sz="1000" dirty="0"/>
            </a:p>
          </p:txBody>
        </p:sp>
        <p:sp>
          <p:nvSpPr>
            <p:cNvPr id="15" name="Shape 13"/>
            <p:cNvSpPr/>
            <p:nvPr/>
          </p:nvSpPr>
          <p:spPr>
            <a:xfrm>
              <a:off x="4206240" y="3840480"/>
              <a:ext cx="1371600" cy="594360"/>
            </a:xfrm>
            <a:prstGeom prst="roundRect">
              <a:avLst>
                <a:gd name="adj" fmla="val 15385"/>
              </a:avLst>
            </a:prstGeom>
            <a:solidFill>
              <a:srgbClr val="D13438"/>
            </a:solidFill>
            <a:ln/>
          </p:spPr>
        </p:sp>
        <p:sp>
          <p:nvSpPr>
            <p:cNvPr id="16" name="Text 14"/>
            <p:cNvSpPr/>
            <p:nvPr/>
          </p:nvSpPr>
          <p:spPr>
            <a:xfrm>
              <a:off x="4206240" y="3840480"/>
              <a:ext cx="1371600" cy="594360"/>
            </a:xfrm>
            <a:prstGeom prst="rect">
              <a:avLst/>
            </a:prstGeom>
            <a:noFill/>
            <a:ln/>
          </p:spPr>
          <p:txBody>
            <a:bodyPr wrap="square"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NSG</a:t>
              </a:r>
              <a:endParaRPr lang="en-US" sz="1000" dirty="0"/>
            </a:p>
          </p:txBody>
        </p:sp>
        <p:sp>
          <p:nvSpPr>
            <p:cNvPr id="17" name="Text 15"/>
            <p:cNvSpPr/>
            <p:nvPr/>
          </p:nvSpPr>
          <p:spPr>
            <a:xfrm>
              <a:off x="1554480" y="4389120"/>
              <a:ext cx="1371600" cy="274320"/>
            </a:xfrm>
            <a:prstGeom prst="rect">
              <a:avLst/>
            </a:prstGeom>
            <a:noFill/>
            <a:ln/>
          </p:spPr>
          <p:txBody>
            <a:bodyPr wrap="square" rtlCol="0" anchor="ctr"/>
            <a:lstStyle/>
            <a:p>
              <a:pPr algn="ctr" indent="0" marL="0">
                <a:buNone/>
              </a:pPr>
              <a:r>
                <a:rPr lang="en-US" sz="1000" dirty="0">
                  <a:solidFill>
                    <a:srgbClr val="999999"/>
                  </a:solidFill>
                  <a:latin typeface="Meiryo UI" pitchFamily="34" charset="0"/>
                  <a:ea typeface="Meiryo UI" pitchFamily="34" charset="-122"/>
                  <a:cs typeface="Meiryo UI" pitchFamily="34" charset="-120"/>
                </a:rPr>
                <a:t>─────</a:t>
              </a:r>
              <a:endParaRPr lang="en-US" sz="1000" dirty="0"/>
            </a:p>
          </p:txBody>
        </p:sp>
        <p:sp>
          <p:nvSpPr>
            <p:cNvPr id="18" name="Text 16"/>
            <p:cNvSpPr/>
            <p:nvPr/>
          </p:nvSpPr>
          <p:spPr>
            <a:xfrm>
              <a:off x="2743200" y="4389120"/>
              <a:ext cx="1371600" cy="274320"/>
            </a:xfrm>
            <a:prstGeom prst="rect">
              <a:avLst/>
            </a:prstGeom>
            <a:noFill/>
            <a:ln/>
          </p:spPr>
          <p:txBody>
            <a:bodyPr wrap="square" rtlCol="0" anchor="ctr"/>
            <a:lstStyle/>
            <a:p>
              <a:pPr algn="ctr" indent="0" marL="0">
                <a:buNone/>
              </a:pPr>
              <a:r>
                <a:rPr lang="en-US" sz="1000" dirty="0">
                  <a:solidFill>
                    <a:srgbClr val="999999"/>
                  </a:solidFill>
                  <a:latin typeface="Meiryo UI" pitchFamily="34" charset="0"/>
                  <a:ea typeface="Meiryo UI" pitchFamily="34" charset="-122"/>
                  <a:cs typeface="Meiryo UI" pitchFamily="34" charset="-120"/>
                </a:rPr>
                <a:t>─────</a:t>
              </a:r>
              <a:endParaRPr lang="en-US" sz="1000" dirty="0"/>
            </a:p>
          </p:txBody>
        </p:sp>
        <p:sp>
          <p:nvSpPr>
            <p:cNvPr id="19" name="Shape 17"/>
            <p:cNvSpPr/>
            <p:nvPr/>
          </p:nvSpPr>
          <p:spPr>
            <a:xfrm>
              <a:off x="6126480" y="1188720"/>
              <a:ext cx="5577840" cy="5029200"/>
            </a:xfrm>
            <a:prstGeom prst="roundRect">
              <a:avLst>
                <a:gd name="adj" fmla="val 2727"/>
              </a:avLst>
            </a:prstGeom>
            <a:solidFill>
              <a:srgbClr val="F3F2F1"/>
            </a:solidFill>
            <a:ln w="25400">
              <a:solidFill>
                <a:srgbClr val="107C10"/>
              </a:solidFill>
              <a:prstDash val="solid"/>
            </a:ln>
          </p:spPr>
        </p:sp>
        <p:sp>
          <p:nvSpPr>
            <p:cNvPr id="20" name="Shape 18"/>
            <p:cNvSpPr/>
            <p:nvPr/>
          </p:nvSpPr>
          <p:spPr>
            <a:xfrm>
              <a:off x="6217920" y="1280160"/>
              <a:ext cx="5394960" cy="502920"/>
            </a:xfrm>
            <a:prstGeom prst="roundRect">
              <a:avLst>
                <a:gd name="adj" fmla="val 18182"/>
              </a:avLst>
            </a:prstGeom>
            <a:solidFill>
              <a:srgbClr val="107C10"/>
            </a:solidFill>
            <a:ln/>
          </p:spPr>
        </p:sp>
        <p:sp>
          <p:nvSpPr>
            <p:cNvPr id="21" name="Text 19"/>
            <p:cNvSpPr/>
            <p:nvPr/>
          </p:nvSpPr>
          <p:spPr>
            <a:xfrm>
              <a:off x="6217920" y="1280160"/>
              <a:ext cx="5394960" cy="502920"/>
            </a:xfrm>
            <a:prstGeom prst="rect">
              <a:avLst/>
            </a:prstGeom>
            <a:noFill/>
            <a:ln/>
          </p:spPr>
          <p:txBody>
            <a:bodyPr wrap="square"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  接続モニター（Connection Monitor）</a:t>
              </a:r>
              <a:endParaRPr lang="en-US" sz="1500" dirty="0"/>
            </a:p>
          </p:txBody>
        </p:sp>
        <p:sp>
          <p:nvSpPr>
            <p:cNvPr id="22" name="Text 20"/>
            <p:cNvSpPr/>
            <p:nvPr/>
          </p:nvSpPr>
          <p:spPr>
            <a:xfrm>
              <a:off x="6309360" y="2011680"/>
              <a:ext cx="5212080" cy="1828800"/>
            </a:xfrm>
            <a:prstGeom prst="rect">
              <a:avLst/>
            </a:prstGeom>
            <a:noFill/>
            <a:ln/>
          </p:spPr>
          <p:txBody>
            <a:bodyPr wrap="square" rtlCol="0" anchor="t"/>
            <a:lstStyle/>
            <a:p>
              <a:pPr marL="342900" indent="-342900">
                <a:lnSpc>
                  <a:spcPct val="135000"/>
                </a:lnSpc>
                <a:buSzPct val="100000"/>
                <a:buChar char="•"/>
              </a:pPr>
              <a:r>
                <a:rPr lang="en-US" sz="1150" dirty="0">
                  <a:solidFill>
                    <a:srgbClr val="000000"/>
                  </a:solidFill>
                  <a:latin typeface="Meiryo UI" pitchFamily="34" charset="0"/>
                  <a:ea typeface="Meiryo UI" pitchFamily="34" charset="-122"/>
                  <a:cs typeface="Meiryo UI" pitchFamily="34" charset="-120"/>
                </a:rPr>
                <a:t>エンドツーエンドの接続監視を行います</a:t>
              </a:r>
              <a:endParaRPr lang="en-US" sz="1150" dirty="0"/>
            </a:p>
            <a:p>
              <a:pPr marL="342900" indent="-342900">
                <a:lnSpc>
                  <a:spcPct val="135000"/>
                </a:lnSpc>
                <a:buSzPct val="100000"/>
                <a:buChar char="•"/>
              </a:pPr>
              <a:r>
                <a:rPr lang="en-US" sz="1150" dirty="0">
                  <a:solidFill>
                    <a:srgbClr val="000000"/>
                  </a:solidFill>
                  <a:latin typeface="Meiryo UI" pitchFamily="34" charset="0"/>
                  <a:ea typeface="Meiryo UI" pitchFamily="34" charset="-122"/>
                  <a:cs typeface="Meiryo UI" pitchFamily="34" charset="-120"/>
                </a:rPr>
                <a:t>TCP、ICMP、HTTP、HTTPS プロトコルによるテストをサポートしています</a:t>
              </a:r>
              <a:endParaRPr lang="en-US" sz="1150" dirty="0"/>
            </a:p>
            <a:p>
              <a:pPr marL="342900" indent="-342900">
                <a:lnSpc>
                  <a:spcPct val="135000"/>
                </a:lnSpc>
                <a:buSzPct val="100000"/>
                <a:buChar char="•"/>
              </a:pPr>
              <a:r>
                <a:rPr lang="en-US" sz="1150" dirty="0">
                  <a:solidFill>
                    <a:srgbClr val="000000"/>
                  </a:solidFill>
                  <a:latin typeface="Meiryo UI" pitchFamily="34" charset="0"/>
                  <a:ea typeface="Meiryo UI" pitchFamily="34" charset="-122"/>
                  <a:cs typeface="Meiryo UI" pitchFamily="34" charset="-120"/>
                </a:rPr>
                <a:t>テストグループごとにソース、宛先、テスト構成を柔軟に設定できます</a:t>
              </a:r>
              <a:endParaRPr lang="en-US" sz="1150" dirty="0"/>
            </a:p>
            <a:p>
              <a:pPr marL="342900" indent="-342900">
                <a:lnSpc>
                  <a:spcPct val="135000"/>
                </a:lnSpc>
                <a:buSzPct val="100000"/>
                <a:buChar char="•"/>
              </a:pPr>
              <a:r>
                <a:rPr lang="en-US" sz="1150" dirty="0">
                  <a:solidFill>
                    <a:srgbClr val="000000"/>
                  </a:solidFill>
                  <a:latin typeface="Meiryo UI" pitchFamily="34" charset="0"/>
                  <a:ea typeface="Meiryo UI" pitchFamily="34" charset="-122"/>
                  <a:cs typeface="Meiryo UI" pitchFamily="34" charset="-120"/>
                </a:rPr>
                <a:t>Azure Monitor と統合して、アラートおよびメトリクスのダッシュボードを提供しています</a:t>
              </a:r>
              <a:endParaRPr lang="en-US" sz="1150" dirty="0"/>
            </a:p>
          </p:txBody>
        </p:sp>
        <p:sp>
          <p:nvSpPr>
            <p:cNvPr id="23" name="Shape 21"/>
            <p:cNvSpPr/>
            <p:nvPr/>
          </p:nvSpPr>
          <p:spPr>
            <a:xfrm>
              <a:off x="6400800" y="4114800"/>
              <a:ext cx="1371600" cy="914400"/>
            </a:xfrm>
            <a:prstGeom prst="roundRect">
              <a:avLst>
                <a:gd name="adj" fmla="val 10000"/>
              </a:avLst>
            </a:prstGeom>
            <a:solidFill>
              <a:srgbClr val="0078D4"/>
            </a:solidFill>
            <a:ln/>
          </p:spPr>
        </p:sp>
        <p:sp>
          <p:nvSpPr>
            <p:cNvPr id="24" name="Text 22"/>
            <p:cNvSpPr/>
            <p:nvPr/>
          </p:nvSpPr>
          <p:spPr>
            <a:xfrm>
              <a:off x="6400800" y="4114800"/>
              <a:ext cx="1371600" cy="914400"/>
            </a:xfrm>
            <a:prstGeom prst="rect">
              <a:avLst/>
            </a:prstGeom>
            <a:noFill/>
            <a:ln/>
          </p:spPr>
          <p:txBody>
            <a:bodyPr wrap="square"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ソース</a:t>
              </a:r>
              <a:endParaRPr lang="en-US" sz="1000" dirty="0"/>
            </a:p>
            <a:p>
              <a:pPr algn="ctr" indent="0" marL="0">
                <a:buNone/>
              </a:pPr>
              <a:r>
                <a:rPr lang="en-US" sz="1000" b="1" dirty="0">
                  <a:solidFill>
                    <a:srgbClr val="FFFFFF"/>
                  </a:solidFill>
                  <a:latin typeface="Meiryo UI" pitchFamily="34" charset="0"/>
                  <a:ea typeface="Meiryo UI" pitchFamily="34" charset="-122"/>
                  <a:cs typeface="Meiryo UI" pitchFamily="34" charset="-120"/>
                </a:rPr>
                <a:t>(VM)</a:t>
              </a:r>
              <a:endParaRPr lang="en-US" sz="1000" dirty="0"/>
            </a:p>
          </p:txBody>
        </p:sp>
        <p:sp>
          <p:nvSpPr>
            <p:cNvPr id="25" name="Shape 23"/>
            <p:cNvSpPr/>
            <p:nvPr/>
          </p:nvSpPr>
          <p:spPr>
            <a:xfrm>
              <a:off x="8229600" y="4114800"/>
              <a:ext cx="1371600" cy="914400"/>
            </a:xfrm>
            <a:prstGeom prst="roundRect">
              <a:avLst>
                <a:gd name="adj" fmla="val 10000"/>
              </a:avLst>
            </a:prstGeom>
            <a:solidFill>
              <a:srgbClr val="FF8C00"/>
            </a:solidFill>
            <a:ln/>
          </p:spPr>
        </p:sp>
        <p:sp>
          <p:nvSpPr>
            <p:cNvPr id="26" name="Text 24"/>
            <p:cNvSpPr/>
            <p:nvPr/>
          </p:nvSpPr>
          <p:spPr>
            <a:xfrm>
              <a:off x="8229600" y="4114800"/>
              <a:ext cx="1371600" cy="914400"/>
            </a:xfrm>
            <a:prstGeom prst="rect">
              <a:avLst/>
            </a:prstGeom>
            <a:noFill/>
            <a:ln/>
          </p:spPr>
          <p:txBody>
            <a:bodyPr wrap="square"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テスト</a:t>
              </a:r>
              <a:endParaRPr lang="en-US" sz="1000" dirty="0"/>
            </a:p>
            <a:p>
              <a:pPr algn="ctr" indent="0" marL="0">
                <a:buNone/>
              </a:pPr>
              <a:r>
                <a:rPr lang="en-US" sz="1000" b="1" dirty="0">
                  <a:solidFill>
                    <a:srgbClr val="FFFFFF"/>
                  </a:solidFill>
                  <a:latin typeface="Meiryo UI" pitchFamily="34" charset="0"/>
                  <a:ea typeface="Meiryo UI" pitchFamily="34" charset="-122"/>
                  <a:cs typeface="Meiryo UI" pitchFamily="34" charset="-120"/>
                </a:rPr>
                <a:t>グループ</a:t>
              </a:r>
              <a:endParaRPr lang="en-US" sz="1000" dirty="0"/>
            </a:p>
          </p:txBody>
        </p:sp>
        <p:sp>
          <p:nvSpPr>
            <p:cNvPr id="27" name="Shape 25"/>
            <p:cNvSpPr/>
            <p:nvPr/>
          </p:nvSpPr>
          <p:spPr>
            <a:xfrm>
              <a:off x="10058400" y="4114800"/>
              <a:ext cx="1371600" cy="914400"/>
            </a:xfrm>
            <a:prstGeom prst="roundRect">
              <a:avLst>
                <a:gd name="adj" fmla="val 10000"/>
              </a:avLst>
            </a:prstGeom>
            <a:solidFill>
              <a:srgbClr val="107C10"/>
            </a:solidFill>
            <a:ln/>
          </p:spPr>
        </p:sp>
        <p:sp>
          <p:nvSpPr>
            <p:cNvPr id="28" name="Text 26"/>
            <p:cNvSpPr/>
            <p:nvPr/>
          </p:nvSpPr>
          <p:spPr>
            <a:xfrm>
              <a:off x="10058400" y="4114800"/>
              <a:ext cx="1371600" cy="914400"/>
            </a:xfrm>
            <a:prstGeom prst="rect">
              <a:avLst/>
            </a:prstGeom>
            <a:noFill/>
            <a:ln/>
          </p:spPr>
          <p:txBody>
            <a:bodyPr wrap="square"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宛先</a:t>
              </a:r>
              <a:endParaRPr lang="en-US" sz="1000" dirty="0"/>
            </a:p>
            <a:p>
              <a:pPr algn="ctr" indent="0" marL="0">
                <a:buNone/>
              </a:pPr>
              <a:r>
                <a:rPr lang="en-US" sz="1000" b="1" dirty="0">
                  <a:solidFill>
                    <a:srgbClr val="FFFFFF"/>
                  </a:solidFill>
                  <a:latin typeface="Meiryo UI" pitchFamily="34" charset="0"/>
                  <a:ea typeface="Meiryo UI" pitchFamily="34" charset="-122"/>
                  <a:cs typeface="Meiryo UI" pitchFamily="34" charset="-120"/>
                </a:rPr>
                <a:t>(Endpoint)</a:t>
              </a:r>
              <a:endParaRPr lang="en-US" sz="1000" dirty="0"/>
            </a:p>
          </p:txBody>
        </p:sp>
        <p:sp>
          <p:nvSpPr>
            <p:cNvPr id="29" name="Text 27"/>
            <p:cNvSpPr/>
            <p:nvPr/>
          </p:nvSpPr>
          <p:spPr>
            <a:xfrm>
              <a:off x="7772400" y="4297680"/>
              <a:ext cx="457200" cy="548640"/>
            </a:xfrm>
            <a:prstGeom prst="rect">
              <a:avLst/>
            </a:prstGeom>
            <a:noFill/>
            <a:ln/>
          </p:spPr>
          <p:txBody>
            <a:bodyPr wrap="square" rtlCol="0" anchor="ctr"/>
            <a:lstStyle/>
            <a:p>
              <a:pPr algn="ctr" indent="0" marL="0">
                <a:buNone/>
              </a:pPr>
              <a:r>
                <a:rPr lang="en-US" sz="2400" dirty="0">
                  <a:solidFill>
                    <a:srgbClr val="0078D4"/>
                  </a:solidFill>
                  <a:latin typeface="Meiryo UI" pitchFamily="34" charset="0"/>
                  <a:ea typeface="Meiryo UI" pitchFamily="34" charset="-122"/>
                  <a:cs typeface="Meiryo UI" pitchFamily="34" charset="-120"/>
                </a:rPr>
                <a:t>→</a:t>
              </a:r>
              <a:endParaRPr lang="en-US" sz="2400" dirty="0"/>
            </a:p>
          </p:txBody>
        </p:sp>
        <p:sp>
          <p:nvSpPr>
            <p:cNvPr id="30" name="Text 28"/>
            <p:cNvSpPr/>
            <p:nvPr/>
          </p:nvSpPr>
          <p:spPr>
            <a:xfrm>
              <a:off x="9601200" y="4297680"/>
              <a:ext cx="457200" cy="548640"/>
            </a:xfrm>
            <a:prstGeom prst="rect">
              <a:avLst/>
            </a:prstGeom>
            <a:noFill/>
            <a:ln/>
          </p:spPr>
          <p:txBody>
            <a:bodyPr wrap="square" rtlCol="0" anchor="ctr"/>
            <a:lstStyle/>
            <a:p>
              <a:pPr algn="ctr" indent="0" marL="0">
                <a:buNone/>
              </a:pPr>
              <a:r>
                <a:rPr lang="en-US" sz="2400" dirty="0">
                  <a:solidFill>
                    <a:srgbClr val="0078D4"/>
                  </a:solidFill>
                  <a:latin typeface="Meiryo UI" pitchFamily="34" charset="0"/>
                  <a:ea typeface="Meiryo UI" pitchFamily="34" charset="-122"/>
                  <a:cs typeface="Meiryo UI" pitchFamily="34" charset="-120"/>
                </a:rPr>
                <a:t>→</a:t>
              </a:r>
              <a:endParaRPr lang="en-US" sz="2400" dirty="0"/>
            </a:p>
          </p:txBody>
        </p:sp>
        <p:sp>
          <p:nvSpPr>
            <p:cNvPr id="31" name="Shape 29"/>
            <p:cNvSpPr/>
            <p:nvPr/>
          </p:nvSpPr>
          <p:spPr>
            <a:xfrm>
              <a:off x="7772400" y="5303520"/>
              <a:ext cx="2743200" cy="502920"/>
            </a:xfrm>
            <a:prstGeom prst="roundRect">
              <a:avLst>
                <a:gd name="adj" fmla="val 14545"/>
              </a:avLst>
            </a:prstGeom>
            <a:solidFill>
              <a:srgbClr val="DEECF9"/>
            </a:solidFill>
            <a:ln w="12700">
              <a:solidFill>
                <a:srgbClr val="0078D4"/>
              </a:solidFill>
              <a:prstDash val="solid"/>
            </a:ln>
          </p:spPr>
        </p:sp>
        <p:sp>
          <p:nvSpPr>
            <p:cNvPr id="32" name="Text 30"/>
            <p:cNvSpPr/>
            <p:nvPr/>
          </p:nvSpPr>
          <p:spPr>
            <a:xfrm>
              <a:off x="7772400" y="5303520"/>
              <a:ext cx="2743200" cy="502920"/>
            </a:xfrm>
            <a:prstGeom prst="rect">
              <a:avLst/>
            </a:prstGeom>
            <a:noFill/>
            <a:ln/>
          </p:spPr>
          <p:txBody>
            <a:bodyPr wrap="square" rtlCol="0" anchor="ctr"/>
            <a:lstStyle/>
            <a:p>
              <a:pPr algn="ctr" indent="0" marL="0">
                <a:buNone/>
              </a:pPr>
              <a:r>
                <a:rPr lang="en-US" sz="1000" b="1" dirty="0">
                  <a:solidFill>
                    <a:srgbClr val="0078D4"/>
                  </a:solidFill>
                  <a:latin typeface="Meiryo UI" pitchFamily="34" charset="0"/>
                  <a:ea typeface="Meiryo UI" pitchFamily="34" charset="-122"/>
                  <a:cs typeface="Meiryo UI" pitchFamily="34" charset="-120"/>
                </a:rPr>
                <a:t>📊 Azure Monitor 連携</a:t>
              </a:r>
              <a:endParaRPr lang="en-US" sz="1000" dirty="0"/>
            </a:p>
          </p:txBody>
        </p:sp>
      </p:spTree>
    </p:cSld>
    <p:spTree>
      <p:nvGrpSpPr>
        <p:cNvPr id="1" name=""/>
        <p:cNvGrpSpPr/>
        <p:nvPr/>
      </p:nvGrpSpPr>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監視機能（Monitoring）</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4 / 8</a:t>
            </a:r>
            <a:endParaRPr lang="en-US" sz="900" dirty="0"/>
          </a:p>
        </p:txBody>
      </p:sp>
      <p:sp>
        <p:nvSpPr>
          <p:cNvPr id="5" name="Shape 3"/>
          <p:cNvSpPr/>
          <p:nvPr/>
        </p:nvSpPr>
        <p:spPr>
          <a:xfrm>
            <a:off x="457200" y="1188720"/>
            <a:ext cx="5303520" cy="5029200"/>
          </a:xfrm>
          <a:prstGeom prst="roundRect">
            <a:avLst>
              <a:gd name="adj" fmla="val 2727"/>
            </a:avLst>
          </a:prstGeom>
          <a:solidFill>
            <a:srgbClr val="F3F2F1"/>
          </a:solidFill>
          <a:ln w="25400">
            <a:solidFill>
              <a:srgbClr val="0078D4"/>
            </a:solidFill>
            <a:prstDash val="solid"/>
          </a:ln>
        </p:spPr>
      </p:sp>
      <p:sp>
        <p:nvSpPr>
          <p:cNvPr id="6" name="Shape 4"/>
          <p:cNvSpPr/>
          <p:nvPr/>
        </p:nvSpPr>
        <p:spPr>
          <a:xfrm>
            <a:off x="548640" y="1280160"/>
            <a:ext cx="5120640" cy="502920"/>
          </a:xfrm>
          <a:prstGeom prst="roundRect">
            <a:avLst>
              <a:gd name="adj" fmla="val 18182"/>
            </a:avLst>
          </a:prstGeom>
          <a:solidFill>
            <a:srgbClr val="0078D4"/>
          </a:solidFill>
          <a:ln/>
        </p:spPr>
      </p:sp>
      <p:sp>
        <p:nvSpPr>
          <p:cNvPr id="7" name="Text 5"/>
          <p:cNvSpPr/>
          <p:nvPr/>
        </p:nvSpPr>
        <p:spPr>
          <a:xfrm>
            <a:off x="548640" y="1280160"/>
            <a:ext cx="5120640" cy="502920"/>
          </a:xfrm>
          <a:prstGeom prst="rect">
            <a:avLst/>
          </a:prstGeom>
          <a:noFill/>
          <a:ln/>
        </p:spPr>
        <p:txBody>
          <a:bodyPr wrap="square"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  トポロジ（Topology）</a:t>
            </a:r>
            <a:endParaRPr lang="en-US" sz="1500" dirty="0"/>
          </a:p>
        </p:txBody>
      </p:sp>
      <p:sp>
        <p:nvSpPr>
          <p:cNvPr id="8" name="Text 6"/>
          <p:cNvSpPr/>
          <p:nvPr/>
        </p:nvSpPr>
        <p:spPr>
          <a:xfrm>
            <a:off x="731520" y="2011680"/>
            <a:ext cx="4754880" cy="1828800"/>
          </a:xfrm>
          <a:prstGeom prst="rect">
            <a:avLst/>
          </a:prstGeom>
          <a:noFill/>
          <a:ln/>
        </p:spPr>
        <p:txBody>
          <a:bodyPr wrap="square" rtlCol="0" anchor="t"/>
          <a:lstStyle/>
          <a:p>
            <a:pPr marL="342900" indent="-342900">
              <a:lnSpc>
                <a:spcPct val="135000"/>
              </a:lnSpc>
              <a:buSzPct val="100000"/>
              <a:buChar char="•"/>
            </a:pPr>
            <a:r>
              <a:rPr lang="en-US" sz="1150" dirty="0">
                <a:solidFill>
                  <a:srgbClr val="000000"/>
                </a:solidFill>
                <a:latin typeface="Meiryo UI" pitchFamily="34" charset="0"/>
                <a:ea typeface="Meiryo UI" pitchFamily="34" charset="-122"/>
                <a:cs typeface="Meiryo UI" pitchFamily="34" charset="-120"/>
              </a:rPr>
              <a:t>ネットワーク全体の構成を可視化するインタラクティブなインターフェースを提供します</a:t>
            </a:r>
            <a:endParaRPr lang="en-US" sz="1150" dirty="0"/>
          </a:p>
          <a:p>
            <a:pPr marL="342900" indent="-342900">
              <a:lnSpc>
                <a:spcPct val="135000"/>
              </a:lnSpc>
              <a:buSzPct val="100000"/>
              <a:buChar char="•"/>
            </a:pPr>
            <a:r>
              <a:rPr lang="en-US" sz="1150" dirty="0">
                <a:solidFill>
                  <a:srgbClr val="000000"/>
                </a:solidFill>
                <a:latin typeface="Meiryo UI" pitchFamily="34" charset="0"/>
                <a:ea typeface="Meiryo UI" pitchFamily="34" charset="-122"/>
                <a:cs typeface="Meiryo UI" pitchFamily="34" charset="-120"/>
              </a:rPr>
              <a:t>複数のサブスクリプション、リソースグループ、リージョンにまたがるリソースとその関係性を表示できます</a:t>
            </a:r>
            <a:endParaRPr lang="en-US" sz="1150" dirty="0"/>
          </a:p>
          <a:p>
            <a:pPr marL="342900" indent="-342900">
              <a:lnSpc>
                <a:spcPct val="135000"/>
              </a:lnSpc>
              <a:buSzPct val="100000"/>
              <a:buChar char="•"/>
            </a:pPr>
            <a:r>
              <a:rPr lang="en-US" sz="1150" dirty="0">
                <a:solidFill>
                  <a:srgbClr val="000000"/>
                </a:solidFill>
                <a:latin typeface="Meiryo UI" pitchFamily="34" charset="0"/>
                <a:ea typeface="Meiryo UI" pitchFamily="34" charset="-122"/>
                <a:cs typeface="Meiryo UI" pitchFamily="34" charset="-120"/>
              </a:rPr>
              <a:t>ネットワーク構成の理解と確認に役立ちます</a:t>
            </a:r>
            <a:endParaRPr lang="en-US" sz="1150" dirty="0"/>
          </a:p>
        </p:txBody>
      </p:sp>
      <p:sp>
        <p:nvSpPr>
          <p:cNvPr id="9" name="Shape 7"/>
          <p:cNvSpPr/>
          <p:nvPr/>
        </p:nvSpPr>
        <p:spPr>
          <a:xfrm>
            <a:off x="2011680" y="3840480"/>
            <a:ext cx="1371600" cy="594360"/>
          </a:xfrm>
          <a:prstGeom prst="roundRect">
            <a:avLst>
              <a:gd name="adj" fmla="val 15385"/>
            </a:avLst>
          </a:prstGeom>
          <a:solidFill>
            <a:srgbClr val="107C10"/>
          </a:solidFill>
          <a:ln/>
        </p:spPr>
      </p:sp>
      <p:sp>
        <p:nvSpPr>
          <p:cNvPr id="10" name="Text 8"/>
          <p:cNvSpPr/>
          <p:nvPr/>
        </p:nvSpPr>
        <p:spPr>
          <a:xfrm>
            <a:off x="2011680" y="3840480"/>
            <a:ext cx="1371600" cy="594360"/>
          </a:xfrm>
          <a:prstGeom prst="rect">
            <a:avLst/>
          </a:prstGeom>
          <a:noFill/>
          <a:ln/>
        </p:spPr>
        <p:txBody>
          <a:bodyPr wrap="square"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VNet</a:t>
            </a:r>
            <a:endParaRPr lang="en-US" sz="1000" dirty="0"/>
          </a:p>
        </p:txBody>
      </p:sp>
      <p:sp>
        <p:nvSpPr>
          <p:cNvPr id="11" name="Shape 9"/>
          <p:cNvSpPr/>
          <p:nvPr/>
        </p:nvSpPr>
        <p:spPr>
          <a:xfrm>
            <a:off x="914400" y="4846320"/>
            <a:ext cx="1371600" cy="594360"/>
          </a:xfrm>
          <a:prstGeom prst="roundRect">
            <a:avLst>
              <a:gd name="adj" fmla="val 15385"/>
            </a:avLst>
          </a:prstGeom>
          <a:solidFill>
            <a:srgbClr val="0078D4"/>
          </a:solidFill>
          <a:ln/>
        </p:spPr>
      </p:sp>
      <p:sp>
        <p:nvSpPr>
          <p:cNvPr id="12" name="Text 10"/>
          <p:cNvSpPr/>
          <p:nvPr/>
        </p:nvSpPr>
        <p:spPr>
          <a:xfrm>
            <a:off x="914400" y="4846320"/>
            <a:ext cx="1371600" cy="594360"/>
          </a:xfrm>
          <a:prstGeom prst="rect">
            <a:avLst/>
          </a:prstGeom>
          <a:noFill/>
          <a:ln/>
        </p:spPr>
        <p:txBody>
          <a:bodyPr wrap="square"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Subnet</a:t>
            </a:r>
            <a:endParaRPr lang="en-US" sz="1000" dirty="0"/>
          </a:p>
        </p:txBody>
      </p:sp>
      <p:sp>
        <p:nvSpPr>
          <p:cNvPr id="13" name="Shape 11"/>
          <p:cNvSpPr/>
          <p:nvPr/>
        </p:nvSpPr>
        <p:spPr>
          <a:xfrm>
            <a:off x="3108960" y="4846320"/>
            <a:ext cx="1371600" cy="594360"/>
          </a:xfrm>
          <a:prstGeom prst="roundRect">
            <a:avLst>
              <a:gd name="adj" fmla="val 15385"/>
            </a:avLst>
          </a:prstGeom>
          <a:solidFill>
            <a:srgbClr val="5C2D91"/>
          </a:solidFill>
          <a:ln/>
        </p:spPr>
      </p:sp>
      <p:sp>
        <p:nvSpPr>
          <p:cNvPr id="14" name="Text 12"/>
          <p:cNvSpPr/>
          <p:nvPr/>
        </p:nvSpPr>
        <p:spPr>
          <a:xfrm>
            <a:off x="3108960" y="4846320"/>
            <a:ext cx="1371600" cy="594360"/>
          </a:xfrm>
          <a:prstGeom prst="rect">
            <a:avLst/>
          </a:prstGeom>
          <a:noFill/>
          <a:ln/>
        </p:spPr>
        <p:txBody>
          <a:bodyPr wrap="square"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VM</a:t>
            </a:r>
            <a:endParaRPr lang="en-US" sz="1000" dirty="0"/>
          </a:p>
        </p:txBody>
      </p:sp>
      <p:sp>
        <p:nvSpPr>
          <p:cNvPr id="15" name="Shape 13"/>
          <p:cNvSpPr/>
          <p:nvPr/>
        </p:nvSpPr>
        <p:spPr>
          <a:xfrm>
            <a:off x="4206240" y="3840480"/>
            <a:ext cx="1371600" cy="594360"/>
          </a:xfrm>
          <a:prstGeom prst="roundRect">
            <a:avLst>
              <a:gd name="adj" fmla="val 15385"/>
            </a:avLst>
          </a:prstGeom>
          <a:solidFill>
            <a:srgbClr val="D13438"/>
          </a:solidFill>
          <a:ln/>
        </p:spPr>
      </p:sp>
      <p:sp>
        <p:nvSpPr>
          <p:cNvPr id="16" name="Text 14"/>
          <p:cNvSpPr/>
          <p:nvPr/>
        </p:nvSpPr>
        <p:spPr>
          <a:xfrm>
            <a:off x="4206240" y="3840480"/>
            <a:ext cx="1371600" cy="594360"/>
          </a:xfrm>
          <a:prstGeom prst="rect">
            <a:avLst/>
          </a:prstGeom>
          <a:noFill/>
          <a:ln/>
        </p:spPr>
        <p:txBody>
          <a:bodyPr wrap="square"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NSG</a:t>
            </a:r>
            <a:endParaRPr lang="en-US" sz="1000" dirty="0"/>
          </a:p>
        </p:txBody>
      </p:sp>
      <p:sp>
        <p:nvSpPr>
          <p:cNvPr id="17" name="Text 15"/>
          <p:cNvSpPr/>
          <p:nvPr/>
        </p:nvSpPr>
        <p:spPr>
          <a:xfrm>
            <a:off x="1554480" y="4389120"/>
            <a:ext cx="1371600" cy="274320"/>
          </a:xfrm>
          <a:prstGeom prst="rect">
            <a:avLst/>
          </a:prstGeom>
          <a:noFill/>
          <a:ln/>
        </p:spPr>
        <p:txBody>
          <a:bodyPr wrap="square" rtlCol="0" anchor="ctr"/>
          <a:lstStyle/>
          <a:p>
            <a:pPr algn="ctr" indent="0" marL="0">
              <a:buNone/>
            </a:pPr>
            <a:r>
              <a:rPr lang="en-US" sz="1000" dirty="0">
                <a:solidFill>
                  <a:srgbClr val="999999"/>
                </a:solidFill>
                <a:latin typeface="Meiryo UI" pitchFamily="34" charset="0"/>
                <a:ea typeface="Meiryo UI" pitchFamily="34" charset="-122"/>
                <a:cs typeface="Meiryo UI" pitchFamily="34" charset="-120"/>
              </a:rPr>
              <a:t>─────</a:t>
            </a:r>
            <a:endParaRPr lang="en-US" sz="1000" dirty="0"/>
          </a:p>
        </p:txBody>
      </p:sp>
      <p:sp>
        <p:nvSpPr>
          <p:cNvPr id="18" name="Text 16"/>
          <p:cNvSpPr/>
          <p:nvPr/>
        </p:nvSpPr>
        <p:spPr>
          <a:xfrm>
            <a:off x="2743200" y="4389120"/>
            <a:ext cx="1371600" cy="274320"/>
          </a:xfrm>
          <a:prstGeom prst="rect">
            <a:avLst/>
          </a:prstGeom>
          <a:noFill/>
          <a:ln/>
        </p:spPr>
        <p:txBody>
          <a:bodyPr wrap="square" rtlCol="0" anchor="ctr"/>
          <a:lstStyle/>
          <a:p>
            <a:pPr algn="ctr" indent="0" marL="0">
              <a:buNone/>
            </a:pPr>
            <a:r>
              <a:rPr lang="en-US" sz="1000" dirty="0">
                <a:solidFill>
                  <a:srgbClr val="999999"/>
                </a:solidFill>
                <a:latin typeface="Meiryo UI" pitchFamily="34" charset="0"/>
                <a:ea typeface="Meiryo UI" pitchFamily="34" charset="-122"/>
                <a:cs typeface="Meiryo UI" pitchFamily="34" charset="-120"/>
              </a:rPr>
              <a:t>─────</a:t>
            </a:r>
            <a:endParaRPr lang="en-US" sz="1000" dirty="0"/>
          </a:p>
        </p:txBody>
      </p:sp>
      <p:sp>
        <p:nvSpPr>
          <p:cNvPr id="19" name="Shape 17"/>
          <p:cNvSpPr/>
          <p:nvPr/>
        </p:nvSpPr>
        <p:spPr>
          <a:xfrm>
            <a:off x="6126480" y="1188720"/>
            <a:ext cx="5577840" cy="5029200"/>
          </a:xfrm>
          <a:prstGeom prst="roundRect">
            <a:avLst>
              <a:gd name="adj" fmla="val 2727"/>
            </a:avLst>
          </a:prstGeom>
          <a:solidFill>
            <a:srgbClr val="F3F2F1"/>
          </a:solidFill>
          <a:ln w="25400">
            <a:solidFill>
              <a:srgbClr val="107C10"/>
            </a:solidFill>
            <a:prstDash val="solid"/>
          </a:ln>
        </p:spPr>
      </p:sp>
      <p:sp>
        <p:nvSpPr>
          <p:cNvPr id="20" name="Shape 18"/>
          <p:cNvSpPr/>
          <p:nvPr/>
        </p:nvSpPr>
        <p:spPr>
          <a:xfrm>
            <a:off x="6217920" y="1280160"/>
            <a:ext cx="5394960" cy="502920"/>
          </a:xfrm>
          <a:prstGeom prst="roundRect">
            <a:avLst>
              <a:gd name="adj" fmla="val 18182"/>
            </a:avLst>
          </a:prstGeom>
          <a:solidFill>
            <a:srgbClr val="107C10"/>
          </a:solidFill>
          <a:ln/>
        </p:spPr>
      </p:sp>
      <p:sp>
        <p:nvSpPr>
          <p:cNvPr id="21" name="Text 19"/>
          <p:cNvSpPr/>
          <p:nvPr/>
        </p:nvSpPr>
        <p:spPr>
          <a:xfrm>
            <a:off x="6217920" y="1280160"/>
            <a:ext cx="5394960" cy="502920"/>
          </a:xfrm>
          <a:prstGeom prst="rect">
            <a:avLst/>
          </a:prstGeom>
          <a:noFill/>
          <a:ln/>
        </p:spPr>
        <p:txBody>
          <a:bodyPr wrap="square"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  接続モニター（Connection Monitor）</a:t>
            </a:r>
            <a:endParaRPr lang="en-US" sz="1500" dirty="0"/>
          </a:p>
        </p:txBody>
      </p:sp>
      <p:sp>
        <p:nvSpPr>
          <p:cNvPr id="22" name="Text 20"/>
          <p:cNvSpPr/>
          <p:nvPr/>
        </p:nvSpPr>
        <p:spPr>
          <a:xfrm>
            <a:off x="6309360" y="2011680"/>
            <a:ext cx="5212080" cy="1828800"/>
          </a:xfrm>
          <a:prstGeom prst="rect">
            <a:avLst/>
          </a:prstGeom>
          <a:noFill/>
          <a:ln/>
        </p:spPr>
        <p:txBody>
          <a:bodyPr wrap="square" rtlCol="0" anchor="t"/>
          <a:lstStyle/>
          <a:p>
            <a:pPr marL="342900" indent="-342900">
              <a:lnSpc>
                <a:spcPct val="135000"/>
              </a:lnSpc>
              <a:buSzPct val="100000"/>
              <a:buChar char="•"/>
            </a:pPr>
            <a:r>
              <a:rPr lang="en-US" sz="1150" dirty="0">
                <a:solidFill>
                  <a:srgbClr val="000000"/>
                </a:solidFill>
                <a:latin typeface="Meiryo UI" pitchFamily="34" charset="0"/>
                <a:ea typeface="Meiryo UI" pitchFamily="34" charset="-122"/>
                <a:cs typeface="Meiryo UI" pitchFamily="34" charset="-120"/>
              </a:rPr>
              <a:t>エンドツーエンドの接続監視を行います</a:t>
            </a:r>
            <a:endParaRPr lang="en-US" sz="1150" dirty="0"/>
          </a:p>
          <a:p>
            <a:pPr marL="342900" indent="-342900">
              <a:lnSpc>
                <a:spcPct val="135000"/>
              </a:lnSpc>
              <a:buSzPct val="100000"/>
              <a:buChar char="•"/>
            </a:pPr>
            <a:r>
              <a:rPr lang="en-US" sz="1150" dirty="0">
                <a:solidFill>
                  <a:srgbClr val="000000"/>
                </a:solidFill>
                <a:latin typeface="Meiryo UI" pitchFamily="34" charset="0"/>
                <a:ea typeface="Meiryo UI" pitchFamily="34" charset="-122"/>
                <a:cs typeface="Meiryo UI" pitchFamily="34" charset="-120"/>
              </a:rPr>
              <a:t>TCP、ICMP、HTTP、HTTPS プロトコルによるテストをサポートしています</a:t>
            </a:r>
            <a:endParaRPr lang="en-US" sz="1150" dirty="0"/>
          </a:p>
          <a:p>
            <a:pPr marL="342900" indent="-342900">
              <a:lnSpc>
                <a:spcPct val="135000"/>
              </a:lnSpc>
              <a:buSzPct val="100000"/>
              <a:buChar char="•"/>
            </a:pPr>
            <a:r>
              <a:rPr lang="en-US" sz="1150" dirty="0">
                <a:solidFill>
                  <a:srgbClr val="000000"/>
                </a:solidFill>
                <a:latin typeface="Meiryo UI" pitchFamily="34" charset="0"/>
                <a:ea typeface="Meiryo UI" pitchFamily="34" charset="-122"/>
                <a:cs typeface="Meiryo UI" pitchFamily="34" charset="-120"/>
              </a:rPr>
              <a:t>テストグループごとにソース、宛先、テスト構成を柔軟に設定できます</a:t>
            </a:r>
            <a:endParaRPr lang="en-US" sz="1150" dirty="0"/>
          </a:p>
          <a:p>
            <a:pPr marL="342900" indent="-342900">
              <a:lnSpc>
                <a:spcPct val="135000"/>
              </a:lnSpc>
              <a:buSzPct val="100000"/>
              <a:buChar char="•"/>
            </a:pPr>
            <a:r>
              <a:rPr lang="en-US" sz="1150" dirty="0">
                <a:solidFill>
                  <a:srgbClr val="000000"/>
                </a:solidFill>
                <a:latin typeface="Meiryo UI" pitchFamily="34" charset="0"/>
                <a:ea typeface="Meiryo UI" pitchFamily="34" charset="-122"/>
                <a:cs typeface="Meiryo UI" pitchFamily="34" charset="-120"/>
              </a:rPr>
              <a:t>Azure Monitor と統合して、アラートおよびメトリクスのダッシュボードを提供しています</a:t>
            </a:r>
            <a:endParaRPr lang="en-US" sz="1150" dirty="0"/>
          </a:p>
        </p:txBody>
      </p:sp>
      <p:sp>
        <p:nvSpPr>
          <p:cNvPr id="23" name="Shape 21"/>
          <p:cNvSpPr/>
          <p:nvPr/>
        </p:nvSpPr>
        <p:spPr>
          <a:xfrm>
            <a:off x="6400800" y="4114800"/>
            <a:ext cx="1371600" cy="914400"/>
          </a:xfrm>
          <a:prstGeom prst="roundRect">
            <a:avLst>
              <a:gd name="adj" fmla="val 10000"/>
            </a:avLst>
          </a:prstGeom>
          <a:solidFill>
            <a:srgbClr val="0078D4"/>
          </a:solidFill>
          <a:ln/>
        </p:spPr>
      </p:sp>
      <p:sp>
        <p:nvSpPr>
          <p:cNvPr id="24" name="Text 22"/>
          <p:cNvSpPr/>
          <p:nvPr/>
        </p:nvSpPr>
        <p:spPr>
          <a:xfrm>
            <a:off x="6400800" y="4114800"/>
            <a:ext cx="1371600" cy="914400"/>
          </a:xfrm>
          <a:prstGeom prst="rect">
            <a:avLst/>
          </a:prstGeom>
          <a:noFill/>
          <a:ln/>
        </p:spPr>
        <p:txBody>
          <a:bodyPr wrap="square"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ソース</a:t>
            </a:r>
            <a:endParaRPr lang="en-US" sz="1000" dirty="0"/>
          </a:p>
          <a:p>
            <a:pPr algn="ctr" indent="0" marL="0">
              <a:buNone/>
            </a:pPr>
            <a:r>
              <a:rPr lang="en-US" sz="1000" b="1" dirty="0">
                <a:solidFill>
                  <a:srgbClr val="FFFFFF"/>
                </a:solidFill>
                <a:latin typeface="Meiryo UI" pitchFamily="34" charset="0"/>
                <a:ea typeface="Meiryo UI" pitchFamily="34" charset="-122"/>
                <a:cs typeface="Meiryo UI" pitchFamily="34" charset="-120"/>
              </a:rPr>
              <a:t>(VM)</a:t>
            </a:r>
            <a:endParaRPr lang="en-US" sz="1000" dirty="0"/>
          </a:p>
        </p:txBody>
      </p:sp>
      <p:sp>
        <p:nvSpPr>
          <p:cNvPr id="25" name="Shape 23"/>
          <p:cNvSpPr/>
          <p:nvPr/>
        </p:nvSpPr>
        <p:spPr>
          <a:xfrm>
            <a:off x="8229600" y="4114800"/>
            <a:ext cx="1371600" cy="914400"/>
          </a:xfrm>
          <a:prstGeom prst="roundRect">
            <a:avLst>
              <a:gd name="adj" fmla="val 10000"/>
            </a:avLst>
          </a:prstGeom>
          <a:solidFill>
            <a:srgbClr val="FF8C00"/>
          </a:solidFill>
          <a:ln/>
        </p:spPr>
      </p:sp>
      <p:sp>
        <p:nvSpPr>
          <p:cNvPr id="26" name="Text 24"/>
          <p:cNvSpPr/>
          <p:nvPr/>
        </p:nvSpPr>
        <p:spPr>
          <a:xfrm>
            <a:off x="8229600" y="4114800"/>
            <a:ext cx="1371600" cy="914400"/>
          </a:xfrm>
          <a:prstGeom prst="rect">
            <a:avLst/>
          </a:prstGeom>
          <a:noFill/>
          <a:ln/>
        </p:spPr>
        <p:txBody>
          <a:bodyPr wrap="square"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テスト</a:t>
            </a:r>
            <a:endParaRPr lang="en-US" sz="1000" dirty="0"/>
          </a:p>
          <a:p>
            <a:pPr algn="ctr" indent="0" marL="0">
              <a:buNone/>
            </a:pPr>
            <a:r>
              <a:rPr lang="en-US" sz="1000" b="1" dirty="0">
                <a:solidFill>
                  <a:srgbClr val="FFFFFF"/>
                </a:solidFill>
                <a:latin typeface="Meiryo UI" pitchFamily="34" charset="0"/>
                <a:ea typeface="Meiryo UI" pitchFamily="34" charset="-122"/>
                <a:cs typeface="Meiryo UI" pitchFamily="34" charset="-120"/>
              </a:rPr>
              <a:t>グループ</a:t>
            </a:r>
            <a:endParaRPr lang="en-US" sz="1000" dirty="0"/>
          </a:p>
        </p:txBody>
      </p:sp>
      <p:sp>
        <p:nvSpPr>
          <p:cNvPr id="27" name="Shape 25"/>
          <p:cNvSpPr/>
          <p:nvPr/>
        </p:nvSpPr>
        <p:spPr>
          <a:xfrm>
            <a:off x="10058400" y="4114800"/>
            <a:ext cx="1371600" cy="914400"/>
          </a:xfrm>
          <a:prstGeom prst="roundRect">
            <a:avLst>
              <a:gd name="adj" fmla="val 10000"/>
            </a:avLst>
          </a:prstGeom>
          <a:solidFill>
            <a:srgbClr val="107C10"/>
          </a:solidFill>
          <a:ln/>
        </p:spPr>
      </p:sp>
      <p:sp>
        <p:nvSpPr>
          <p:cNvPr id="28" name="Text 26"/>
          <p:cNvSpPr/>
          <p:nvPr/>
        </p:nvSpPr>
        <p:spPr>
          <a:xfrm>
            <a:off x="10058400" y="4114800"/>
            <a:ext cx="1371600" cy="914400"/>
          </a:xfrm>
          <a:prstGeom prst="rect">
            <a:avLst/>
          </a:prstGeom>
          <a:noFill/>
          <a:ln/>
        </p:spPr>
        <p:txBody>
          <a:bodyPr wrap="square"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宛先</a:t>
            </a:r>
            <a:endParaRPr lang="en-US" sz="1000" dirty="0"/>
          </a:p>
          <a:p>
            <a:pPr algn="ctr" indent="0" marL="0">
              <a:buNone/>
            </a:pPr>
            <a:r>
              <a:rPr lang="en-US" sz="1000" b="1" dirty="0">
                <a:solidFill>
                  <a:srgbClr val="FFFFFF"/>
                </a:solidFill>
                <a:latin typeface="Meiryo UI" pitchFamily="34" charset="0"/>
                <a:ea typeface="Meiryo UI" pitchFamily="34" charset="-122"/>
                <a:cs typeface="Meiryo UI" pitchFamily="34" charset="-120"/>
              </a:rPr>
              <a:t>(Endpoint)</a:t>
            </a:r>
            <a:endParaRPr lang="en-US" sz="1000" dirty="0"/>
          </a:p>
        </p:txBody>
      </p:sp>
      <p:sp>
        <p:nvSpPr>
          <p:cNvPr id="29" name="Text 27"/>
          <p:cNvSpPr/>
          <p:nvPr/>
        </p:nvSpPr>
        <p:spPr>
          <a:xfrm>
            <a:off x="7772400" y="4297680"/>
            <a:ext cx="457200" cy="548640"/>
          </a:xfrm>
          <a:prstGeom prst="rect">
            <a:avLst/>
          </a:prstGeom>
          <a:noFill/>
          <a:ln/>
        </p:spPr>
        <p:txBody>
          <a:bodyPr wrap="square" rtlCol="0" anchor="ctr"/>
          <a:lstStyle/>
          <a:p>
            <a:pPr algn="ctr" indent="0" marL="0">
              <a:buNone/>
            </a:pPr>
            <a:r>
              <a:rPr lang="en-US" sz="2400" dirty="0">
                <a:solidFill>
                  <a:srgbClr val="0078D4"/>
                </a:solidFill>
                <a:latin typeface="Meiryo UI" pitchFamily="34" charset="0"/>
                <a:ea typeface="Meiryo UI" pitchFamily="34" charset="-122"/>
                <a:cs typeface="Meiryo UI" pitchFamily="34" charset="-120"/>
              </a:rPr>
              <a:t>→</a:t>
            </a:r>
            <a:endParaRPr lang="en-US" sz="2400" dirty="0"/>
          </a:p>
        </p:txBody>
      </p:sp>
      <p:sp>
        <p:nvSpPr>
          <p:cNvPr id="30" name="Text 28"/>
          <p:cNvSpPr/>
          <p:nvPr/>
        </p:nvSpPr>
        <p:spPr>
          <a:xfrm>
            <a:off x="9601200" y="4297680"/>
            <a:ext cx="457200" cy="548640"/>
          </a:xfrm>
          <a:prstGeom prst="rect">
            <a:avLst/>
          </a:prstGeom>
          <a:noFill/>
          <a:ln/>
        </p:spPr>
        <p:txBody>
          <a:bodyPr wrap="square" rtlCol="0" anchor="ctr"/>
          <a:lstStyle/>
          <a:p>
            <a:pPr algn="ctr" indent="0" marL="0">
              <a:buNone/>
            </a:pPr>
            <a:r>
              <a:rPr lang="en-US" sz="2400" dirty="0">
                <a:solidFill>
                  <a:srgbClr val="0078D4"/>
                </a:solidFill>
                <a:latin typeface="Meiryo UI" pitchFamily="34" charset="0"/>
                <a:ea typeface="Meiryo UI" pitchFamily="34" charset="-122"/>
                <a:cs typeface="Meiryo UI" pitchFamily="34" charset="-120"/>
              </a:rPr>
              <a:t>→</a:t>
            </a:r>
            <a:endParaRPr lang="en-US" sz="2400" dirty="0"/>
          </a:p>
        </p:txBody>
      </p:sp>
      <p:sp>
        <p:nvSpPr>
          <p:cNvPr id="31" name="Shape 29"/>
          <p:cNvSpPr/>
          <p:nvPr/>
        </p:nvSpPr>
        <p:spPr>
          <a:xfrm>
            <a:off x="7772400" y="5303520"/>
            <a:ext cx="2743200" cy="502920"/>
          </a:xfrm>
          <a:prstGeom prst="roundRect">
            <a:avLst>
              <a:gd name="adj" fmla="val 14545"/>
            </a:avLst>
          </a:prstGeom>
          <a:solidFill>
            <a:srgbClr val="DEECF9"/>
          </a:solidFill>
          <a:ln w="12700">
            <a:solidFill>
              <a:srgbClr val="0078D4"/>
            </a:solidFill>
            <a:prstDash val="solid"/>
          </a:ln>
        </p:spPr>
      </p:sp>
      <p:sp>
        <p:nvSpPr>
          <p:cNvPr id="32" name="Text 30"/>
          <p:cNvSpPr/>
          <p:nvPr/>
        </p:nvSpPr>
        <p:spPr>
          <a:xfrm>
            <a:off x="7772400" y="5303520"/>
            <a:ext cx="2743200" cy="502920"/>
          </a:xfrm>
          <a:prstGeom prst="rect">
            <a:avLst/>
          </a:prstGeom>
          <a:noFill/>
          <a:ln/>
        </p:spPr>
        <p:txBody>
          <a:bodyPr wrap="square" rtlCol="0" anchor="ctr"/>
          <a:lstStyle/>
          <a:p>
            <a:pPr algn="ctr" indent="0" marL="0">
              <a:buNone/>
            </a:pPr>
            <a:r>
              <a:rPr lang="en-US" sz="1000" b="1" dirty="0">
                <a:solidFill>
                  <a:srgbClr val="0078D4"/>
                </a:solidFill>
                <a:latin typeface="Meiryo UI" pitchFamily="34" charset="0"/>
                <a:ea typeface="Meiryo UI" pitchFamily="34" charset="-122"/>
                <a:cs typeface="Meiryo UI" pitchFamily="34" charset="-120"/>
              </a:rPr>
              <a:t>📊 Azure Monitor 連携</a:t>
            </a:r>
            <a:endParaRPr lang="en-US" sz="1000" dirty="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ネットワーク診断ツール（前半）</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5 / 8</a:t>
              </a:r>
              <a:endParaRPr lang="en-US" sz="900" dirty="0"/>
            </a:p>
          </p:txBody>
        </p:sp>
        <p:sp>
          <p:nvSpPr>
            <p:cNvPr id="5" name="Shape 3"/>
            <p:cNvSpPr/>
            <p:nvPr/>
          </p:nvSpPr>
          <p:spPr>
            <a:xfrm>
              <a:off x="457200" y="1280160"/>
              <a:ext cx="5394960" cy="2286000"/>
            </a:xfrm>
            <a:prstGeom prst="roundRect">
              <a:avLst>
                <a:gd name="adj" fmla="val 4800"/>
              </a:avLst>
            </a:prstGeom>
            <a:solidFill>
              <a:srgbClr val="F3F2F1"/>
            </a:solidFill>
            <a:ln w="25400">
              <a:solidFill>
                <a:srgbClr val="0078D4"/>
              </a:solidFill>
              <a:prstDash val="solid"/>
            </a:ln>
          </p:spPr>
        </p:sp>
        <p:sp>
          <p:nvSpPr>
            <p:cNvPr id="6" name="Shape 4"/>
            <p:cNvSpPr/>
            <p:nvPr/>
          </p:nvSpPr>
          <p:spPr>
            <a:xfrm>
              <a:off x="548640" y="1353312"/>
              <a:ext cx="5212080" cy="457200"/>
            </a:xfrm>
            <a:prstGeom prst="roundRect">
              <a:avLst>
                <a:gd name="adj" fmla="val 16000"/>
              </a:avLst>
            </a:prstGeom>
            <a:solidFill>
              <a:srgbClr val="0078D4"/>
            </a:solidFill>
            <a:ln/>
          </p:spPr>
        </p:sp>
        <p:sp>
          <p:nvSpPr>
            <p:cNvPr id="7" name="Text 5"/>
            <p:cNvSpPr/>
            <p:nvPr/>
          </p:nvSpPr>
          <p:spPr>
            <a:xfrm>
              <a:off x="548640" y="1353312"/>
              <a:ext cx="5212080" cy="457200"/>
            </a:xfrm>
            <a:prstGeom prst="rect">
              <a:avLst/>
            </a:prstGeom>
            <a:noFill/>
            <a:ln/>
          </p:spPr>
          <p:txBody>
            <a:bodyPr wrap="square" rtlCol="0" anchor="ctr"/>
            <a:lstStyle/>
            <a:p>
              <a:pPr algn="ctr" indent="0" marL="0">
                <a:buNone/>
              </a:pPr>
              <a:r>
                <a:rPr lang="en-US" sz="1300" b="1" dirty="0">
                  <a:solidFill>
                    <a:srgbClr val="FFFFFF"/>
                  </a:solidFill>
                  <a:latin typeface="Meiryo UI" pitchFamily="34" charset="0"/>
                  <a:ea typeface="Meiryo UI" pitchFamily="34" charset="-122"/>
                  <a:cs typeface="Meiryo UI" pitchFamily="34" charset="-120"/>
                </a:rPr>
                <a:t>🔍  IP フロー検証</a:t>
              </a:r>
              <a:endParaRPr lang="en-US" sz="1300" dirty="0"/>
            </a:p>
          </p:txBody>
        </p:sp>
        <p:sp>
          <p:nvSpPr>
            <p:cNvPr id="8" name="Text 6"/>
            <p:cNvSpPr/>
            <p:nvPr/>
          </p:nvSpPr>
          <p:spPr>
            <a:xfrm>
              <a:off x="640080" y="1920240"/>
              <a:ext cx="5029200" cy="1463040"/>
            </a:xfrm>
            <a:prstGeom prst="rect">
              <a:avLst/>
            </a:prstGeom>
            <a:noFill/>
            <a:ln/>
          </p:spPr>
          <p:txBody>
            <a:bodyPr wrap="square" rtlCol="0" anchor="t"/>
            <a:lstStyle/>
            <a:p>
              <a:pPr marL="342900" indent="-342900">
                <a:lnSpc>
                  <a:spcPct val="130000"/>
                </a:lnSpc>
                <a:buSzPct val="100000"/>
                <a:buChar char="•"/>
              </a:pPr>
              <a:r>
                <a:rPr lang="en-US" sz="1050" dirty="0">
                  <a:solidFill>
                    <a:srgbClr val="000000"/>
                  </a:solidFill>
                  <a:latin typeface="Meiryo UI" pitchFamily="34" charset="0"/>
                  <a:ea typeface="Meiryo UI" pitchFamily="34" charset="-122"/>
                  <a:cs typeface="Meiryo UI" pitchFamily="34" charset="-120"/>
                </a:rPr>
                <a:t>VM レベルでトラフィックのフィルタリング問題を検出します</a:t>
              </a:r>
              <a:endParaRPr lang="en-US" sz="1050" dirty="0"/>
            </a:p>
            <a:p>
              <a:pPr marL="342900" indent="-342900">
                <a:lnSpc>
                  <a:spcPct val="130000"/>
                </a:lnSpc>
                <a:buSzPct val="100000"/>
                <a:buChar char="•"/>
              </a:pPr>
              <a:r>
                <a:rPr lang="en-US" sz="1050" dirty="0">
                  <a:solidFill>
                    <a:srgbClr val="000000"/>
                  </a:solidFill>
                  <a:latin typeface="Meiryo UI" pitchFamily="34" charset="0"/>
                  <a:ea typeface="Meiryo UI" pitchFamily="34" charset="-122"/>
                  <a:cs typeface="Meiryo UI" pitchFamily="34" charset="-120"/>
                </a:rPr>
                <a:t>5 タプル（送信元/宛先 IP・ポート、プロトコル）でパケットの許可・拒否を判定します</a:t>
              </a:r>
              <a:endParaRPr lang="en-US" sz="1050" dirty="0"/>
            </a:p>
            <a:p>
              <a:pPr marL="342900" indent="-342900">
                <a:lnSpc>
                  <a:spcPct val="130000"/>
                </a:lnSpc>
                <a:buSzPct val="100000"/>
                <a:buChar char="•"/>
              </a:pPr>
              <a:r>
                <a:rPr lang="en-US" sz="1050" dirty="0">
                  <a:solidFill>
                    <a:srgbClr val="000000"/>
                  </a:solidFill>
                  <a:latin typeface="Meiryo UI" pitchFamily="34" charset="0"/>
                  <a:ea typeface="Meiryo UI" pitchFamily="34" charset="-122"/>
                  <a:cs typeface="Meiryo UI" pitchFamily="34" charset="-120"/>
                </a:rPr>
                <a:t>拒否した場合、該当するセキュリティ規則を返却します</a:t>
              </a:r>
              <a:endParaRPr lang="en-US" sz="1050" dirty="0"/>
            </a:p>
          </p:txBody>
        </p:sp>
        <p:sp>
          <p:nvSpPr>
            <p:cNvPr id="9" name="Shape 7"/>
            <p:cNvSpPr/>
            <p:nvPr/>
          </p:nvSpPr>
          <p:spPr>
            <a:xfrm>
              <a:off x="6263640" y="1280160"/>
              <a:ext cx="5394960" cy="2286000"/>
            </a:xfrm>
            <a:prstGeom prst="roundRect">
              <a:avLst>
                <a:gd name="adj" fmla="val 4800"/>
              </a:avLst>
            </a:prstGeom>
            <a:solidFill>
              <a:srgbClr val="F3F2F1"/>
            </a:solidFill>
            <a:ln w="25400">
              <a:solidFill>
                <a:srgbClr val="107C10"/>
              </a:solidFill>
              <a:prstDash val="solid"/>
            </a:ln>
          </p:spPr>
        </p:sp>
        <p:sp>
          <p:nvSpPr>
            <p:cNvPr id="10" name="Shape 8"/>
            <p:cNvSpPr/>
            <p:nvPr/>
          </p:nvSpPr>
          <p:spPr>
            <a:xfrm>
              <a:off x="6355080" y="1353312"/>
              <a:ext cx="5212080" cy="457200"/>
            </a:xfrm>
            <a:prstGeom prst="roundRect">
              <a:avLst>
                <a:gd name="adj" fmla="val 16000"/>
              </a:avLst>
            </a:prstGeom>
            <a:solidFill>
              <a:srgbClr val="107C10"/>
            </a:solidFill>
            <a:ln/>
          </p:spPr>
        </p:sp>
        <p:sp>
          <p:nvSpPr>
            <p:cNvPr id="11" name="Text 9"/>
            <p:cNvSpPr/>
            <p:nvPr/>
          </p:nvSpPr>
          <p:spPr>
            <a:xfrm>
              <a:off x="6355080" y="1353312"/>
              <a:ext cx="5212080" cy="457200"/>
            </a:xfrm>
            <a:prstGeom prst="rect">
              <a:avLst/>
            </a:prstGeom>
            <a:noFill/>
            <a:ln/>
          </p:spPr>
          <p:txBody>
            <a:bodyPr wrap="square" rtlCol="0" anchor="ctr"/>
            <a:lstStyle/>
            <a:p>
              <a:pPr algn="ctr" indent="0" marL="0">
                <a:buNone/>
              </a:pPr>
              <a:r>
                <a:rPr lang="en-US" sz="1300" b="1" dirty="0">
                  <a:solidFill>
                    <a:srgbClr val="FFFFFF"/>
                  </a:solidFill>
                  <a:latin typeface="Meiryo UI" pitchFamily="34" charset="0"/>
                  <a:ea typeface="Meiryo UI" pitchFamily="34" charset="-122"/>
                  <a:cs typeface="Meiryo UI" pitchFamily="34" charset="-120"/>
                </a:rPr>
                <a:t>🛡️  NSG 診断</a:t>
              </a:r>
              <a:endParaRPr lang="en-US" sz="1300" dirty="0"/>
            </a:p>
          </p:txBody>
        </p:sp>
        <p:sp>
          <p:nvSpPr>
            <p:cNvPr id="12" name="Text 10"/>
            <p:cNvSpPr/>
            <p:nvPr/>
          </p:nvSpPr>
          <p:spPr>
            <a:xfrm>
              <a:off x="6446520" y="1920240"/>
              <a:ext cx="5029200" cy="1463040"/>
            </a:xfrm>
            <a:prstGeom prst="rect">
              <a:avLst/>
            </a:prstGeom>
            <a:noFill/>
            <a:ln/>
          </p:spPr>
          <p:txBody>
            <a:bodyPr wrap="square" rtlCol="0" anchor="t"/>
            <a:lstStyle/>
            <a:p>
              <a:pPr marL="342900" indent="-342900">
                <a:lnSpc>
                  <a:spcPct val="130000"/>
                </a:lnSpc>
                <a:buSzPct val="100000"/>
                <a:buChar char="•"/>
              </a:pPr>
              <a:r>
                <a:rPr lang="en-US" sz="1050" dirty="0">
                  <a:solidFill>
                    <a:srgbClr val="000000"/>
                  </a:solidFill>
                  <a:latin typeface="Meiryo UI" pitchFamily="34" charset="0"/>
                  <a:ea typeface="Meiryo UI" pitchFamily="34" charset="-122"/>
                  <a:cs typeface="Meiryo UI" pitchFamily="34" charset="-120"/>
                </a:rPr>
                <a:t>VM、VMSS、Application Gateway レベルでのフィルタリング問題を検出します</a:t>
              </a:r>
              <a:endParaRPr lang="en-US" sz="1050" dirty="0"/>
            </a:p>
            <a:p>
              <a:pPr marL="342900" indent="-342900">
                <a:lnSpc>
                  <a:spcPct val="130000"/>
                </a:lnSpc>
                <a:buSzPct val="100000"/>
                <a:buChar char="•"/>
              </a:pPr>
              <a:r>
                <a:rPr lang="en-US" sz="1050" dirty="0">
                  <a:solidFill>
                    <a:srgbClr val="000000"/>
                  </a:solidFill>
                  <a:latin typeface="Meiryo UI" pitchFamily="34" charset="0"/>
                  <a:ea typeface="Meiryo UI" pitchFamily="34" charset="-122"/>
                  <a:cs typeface="Meiryo UI" pitchFamily="34" charset="-120"/>
                </a:rPr>
                <a:t>IP アドレス、IP プレフィックス、サービスタグに対するパケットの許可・拒否を判定します</a:t>
              </a:r>
              <a:endParaRPr lang="en-US" sz="1050" dirty="0"/>
            </a:p>
            <a:p>
              <a:pPr marL="342900" indent="-342900">
                <a:lnSpc>
                  <a:spcPct val="130000"/>
                </a:lnSpc>
                <a:buSzPct val="100000"/>
                <a:buChar char="•"/>
              </a:pPr>
              <a:r>
                <a:rPr lang="en-US" sz="1050" dirty="0">
                  <a:solidFill>
                    <a:srgbClr val="000000"/>
                  </a:solidFill>
                  <a:latin typeface="Meiryo UI" pitchFamily="34" charset="0"/>
                  <a:ea typeface="Meiryo UI" pitchFamily="34" charset="-122"/>
                  <a:cs typeface="Meiryo UI" pitchFamily="34" charset="-120"/>
                </a:rPr>
                <a:t>より高い優先度のセキュリティ規則の追加も可能です</a:t>
              </a:r>
              <a:endParaRPr lang="en-US" sz="1050" dirty="0"/>
            </a:p>
          </p:txBody>
        </p:sp>
        <p:sp>
          <p:nvSpPr>
            <p:cNvPr id="13" name="Shape 11"/>
            <p:cNvSpPr/>
            <p:nvPr/>
          </p:nvSpPr>
          <p:spPr>
            <a:xfrm>
              <a:off x="457200" y="3840480"/>
              <a:ext cx="5394960" cy="2286000"/>
            </a:xfrm>
            <a:prstGeom prst="roundRect">
              <a:avLst>
                <a:gd name="adj" fmla="val 4800"/>
              </a:avLst>
            </a:prstGeom>
            <a:solidFill>
              <a:srgbClr val="F3F2F1"/>
            </a:solidFill>
            <a:ln w="25400">
              <a:solidFill>
                <a:srgbClr val="FF8C00"/>
              </a:solidFill>
              <a:prstDash val="solid"/>
            </a:ln>
          </p:spPr>
        </p:sp>
        <p:sp>
          <p:nvSpPr>
            <p:cNvPr id="14" name="Shape 12"/>
            <p:cNvSpPr/>
            <p:nvPr/>
          </p:nvSpPr>
          <p:spPr>
            <a:xfrm>
              <a:off x="548640" y="3913632"/>
              <a:ext cx="5212080" cy="457200"/>
            </a:xfrm>
            <a:prstGeom prst="roundRect">
              <a:avLst>
                <a:gd name="adj" fmla="val 16000"/>
              </a:avLst>
            </a:prstGeom>
            <a:solidFill>
              <a:srgbClr val="FF8C00"/>
            </a:solidFill>
            <a:ln/>
          </p:spPr>
        </p:sp>
        <p:sp>
          <p:nvSpPr>
            <p:cNvPr id="15" name="Text 13"/>
            <p:cNvSpPr/>
            <p:nvPr/>
          </p:nvSpPr>
          <p:spPr>
            <a:xfrm>
              <a:off x="548640" y="3913632"/>
              <a:ext cx="5212080" cy="457200"/>
            </a:xfrm>
            <a:prstGeom prst="rect">
              <a:avLst/>
            </a:prstGeom>
            <a:noFill/>
            <a:ln/>
          </p:spPr>
          <p:txBody>
            <a:bodyPr wrap="square" rtlCol="0" anchor="ctr"/>
            <a:lstStyle/>
            <a:p>
              <a:pPr algn="ctr" indent="0" marL="0">
                <a:buNone/>
              </a:pPr>
              <a:r>
                <a:rPr lang="en-US" sz="1300" b="1" dirty="0">
                  <a:solidFill>
                    <a:srgbClr val="FFFFFF"/>
                  </a:solidFill>
                  <a:latin typeface="Meiryo UI" pitchFamily="34" charset="0"/>
                  <a:ea typeface="Meiryo UI" pitchFamily="34" charset="-122"/>
                  <a:cs typeface="Meiryo UI" pitchFamily="34" charset="-120"/>
                </a:rPr>
                <a:t>🔀  次のホップ</a:t>
              </a:r>
              <a:endParaRPr lang="en-US" sz="1300" dirty="0"/>
            </a:p>
          </p:txBody>
        </p:sp>
        <p:sp>
          <p:nvSpPr>
            <p:cNvPr id="16" name="Text 14"/>
            <p:cNvSpPr/>
            <p:nvPr/>
          </p:nvSpPr>
          <p:spPr>
            <a:xfrm>
              <a:off x="640080" y="4480560"/>
              <a:ext cx="5029200" cy="1463040"/>
            </a:xfrm>
            <a:prstGeom prst="rect">
              <a:avLst/>
            </a:prstGeom>
            <a:noFill/>
            <a:ln/>
          </p:spPr>
          <p:txBody>
            <a:bodyPr wrap="square" rtlCol="0" anchor="t"/>
            <a:lstStyle/>
            <a:p>
              <a:pPr marL="342900" indent="-342900">
                <a:lnSpc>
                  <a:spcPct val="130000"/>
                </a:lnSpc>
                <a:buSzPct val="100000"/>
                <a:buChar char="•"/>
              </a:pPr>
              <a:r>
                <a:rPr lang="en-US" sz="1050" dirty="0">
                  <a:solidFill>
                    <a:srgbClr val="000000"/>
                  </a:solidFill>
                  <a:latin typeface="Meiryo UI" pitchFamily="34" charset="0"/>
                  <a:ea typeface="Meiryo UI" pitchFamily="34" charset="-122"/>
                  <a:cs typeface="Meiryo UI" pitchFamily="34" charset="-120"/>
                </a:rPr>
                <a:t>ルーティングの問題を検出するために使用します</a:t>
              </a:r>
              <a:endParaRPr lang="en-US" sz="1050" dirty="0"/>
            </a:p>
            <a:p>
              <a:pPr marL="342900" indent="-342900">
                <a:lnSpc>
                  <a:spcPct val="130000"/>
                </a:lnSpc>
                <a:buSzPct val="100000"/>
                <a:buChar char="•"/>
              </a:pPr>
              <a:r>
                <a:rPr lang="en-US" sz="1050" dirty="0">
                  <a:solidFill>
                    <a:srgbClr val="000000"/>
                  </a:solidFill>
                  <a:latin typeface="Meiryo UI" pitchFamily="34" charset="0"/>
                  <a:ea typeface="Meiryo UI" pitchFamily="34" charset="-122"/>
                  <a:cs typeface="Meiryo UI" pitchFamily="34" charset="-120"/>
                </a:rPr>
                <a:t>宛先 IP に対するネクストホップの種類、IP アドレス、ルートテーブル ID を返却します</a:t>
              </a:r>
              <a:endParaRPr lang="en-US" sz="1050" dirty="0"/>
            </a:p>
            <a:p>
              <a:pPr marL="342900" indent="-342900">
                <a:lnSpc>
                  <a:spcPct val="130000"/>
                </a:lnSpc>
                <a:buSzPct val="100000"/>
                <a:buChar char="•"/>
              </a:pPr>
              <a:r>
                <a:rPr lang="en-US" sz="1050" dirty="0">
                  <a:solidFill>
                    <a:srgbClr val="000000"/>
                  </a:solidFill>
                  <a:latin typeface="Meiryo UI" pitchFamily="34" charset="0"/>
                  <a:ea typeface="Meiryo UI" pitchFamily="34" charset="-122"/>
                  <a:cs typeface="Meiryo UI" pitchFamily="34" charset="-120"/>
                </a:rPr>
                <a:t>ユーザー定義ルートの構成ミスを診断できます</a:t>
              </a:r>
              <a:endParaRPr lang="en-US" sz="1050" dirty="0"/>
            </a:p>
          </p:txBody>
        </p:sp>
        <p:sp>
          <p:nvSpPr>
            <p:cNvPr id="17" name="Shape 15"/>
            <p:cNvSpPr/>
            <p:nvPr/>
          </p:nvSpPr>
          <p:spPr>
            <a:xfrm>
              <a:off x="6263640" y="3840480"/>
              <a:ext cx="5394960" cy="2286000"/>
            </a:xfrm>
            <a:prstGeom prst="roundRect">
              <a:avLst>
                <a:gd name="adj" fmla="val 4800"/>
              </a:avLst>
            </a:prstGeom>
            <a:solidFill>
              <a:srgbClr val="F3F2F1"/>
            </a:solidFill>
            <a:ln w="25400">
              <a:solidFill>
                <a:srgbClr val="5C2D91"/>
              </a:solidFill>
              <a:prstDash val="solid"/>
            </a:ln>
          </p:spPr>
        </p:sp>
        <p:sp>
          <p:nvSpPr>
            <p:cNvPr id="18" name="Shape 16"/>
            <p:cNvSpPr/>
            <p:nvPr/>
          </p:nvSpPr>
          <p:spPr>
            <a:xfrm>
              <a:off x="6355080" y="3913632"/>
              <a:ext cx="5212080" cy="457200"/>
            </a:xfrm>
            <a:prstGeom prst="roundRect">
              <a:avLst>
                <a:gd name="adj" fmla="val 16000"/>
              </a:avLst>
            </a:prstGeom>
            <a:solidFill>
              <a:srgbClr val="5C2D91"/>
            </a:solidFill>
            <a:ln/>
          </p:spPr>
        </p:sp>
        <p:sp>
          <p:nvSpPr>
            <p:cNvPr id="19" name="Text 17"/>
            <p:cNvSpPr/>
            <p:nvPr/>
          </p:nvSpPr>
          <p:spPr>
            <a:xfrm>
              <a:off x="6355080" y="3913632"/>
              <a:ext cx="5212080" cy="457200"/>
            </a:xfrm>
            <a:prstGeom prst="rect">
              <a:avLst/>
            </a:prstGeom>
            <a:noFill/>
            <a:ln/>
          </p:spPr>
          <p:txBody>
            <a:bodyPr wrap="square" rtlCol="0" anchor="ctr"/>
            <a:lstStyle/>
            <a:p>
              <a:pPr algn="ctr" indent="0" marL="0">
                <a:buNone/>
              </a:pPr>
              <a:r>
                <a:rPr lang="en-US" sz="1300" b="1" dirty="0">
                  <a:solidFill>
                    <a:srgbClr val="FFFFFF"/>
                  </a:solidFill>
                  <a:latin typeface="Meiryo UI" pitchFamily="34" charset="0"/>
                  <a:ea typeface="Meiryo UI" pitchFamily="34" charset="-122"/>
                  <a:cs typeface="Meiryo UI" pitchFamily="34" charset="-120"/>
                </a:rPr>
                <a:t>📋  有効なセキュリティ規則</a:t>
              </a:r>
              <a:endParaRPr lang="en-US" sz="1300" dirty="0"/>
            </a:p>
          </p:txBody>
        </p:sp>
        <p:sp>
          <p:nvSpPr>
            <p:cNvPr id="20" name="Text 18"/>
            <p:cNvSpPr/>
            <p:nvPr/>
          </p:nvSpPr>
          <p:spPr>
            <a:xfrm>
              <a:off x="6446520" y="4480560"/>
              <a:ext cx="5029200" cy="1463040"/>
            </a:xfrm>
            <a:prstGeom prst="rect">
              <a:avLst/>
            </a:prstGeom>
            <a:noFill/>
            <a:ln/>
          </p:spPr>
          <p:txBody>
            <a:bodyPr wrap="square" rtlCol="0" anchor="t"/>
            <a:lstStyle/>
            <a:p>
              <a:pPr marL="342900" indent="-342900">
                <a:lnSpc>
                  <a:spcPct val="130000"/>
                </a:lnSpc>
                <a:buSzPct val="100000"/>
                <a:buChar char="•"/>
              </a:pPr>
              <a:r>
                <a:rPr lang="en-US" sz="1050" dirty="0">
                  <a:solidFill>
                    <a:srgbClr val="000000"/>
                  </a:solidFill>
                  <a:latin typeface="Meiryo UI" pitchFamily="34" charset="0"/>
                  <a:ea typeface="Meiryo UI" pitchFamily="34" charset="-122"/>
                  <a:cs typeface="Meiryo UI" pitchFamily="34" charset="-120"/>
                </a:rPr>
                <a:t>ネットワークインターフェースに適用されている有効なセキュリティ規則を表示します</a:t>
              </a:r>
              <a:endParaRPr lang="en-US" sz="1050" dirty="0"/>
            </a:p>
            <a:p>
              <a:pPr marL="342900" indent="-342900">
                <a:lnSpc>
                  <a:spcPct val="130000"/>
                </a:lnSpc>
                <a:buSzPct val="100000"/>
                <a:buChar char="•"/>
              </a:pPr>
              <a:r>
                <a:rPr lang="en-US" sz="1050" dirty="0">
                  <a:solidFill>
                    <a:srgbClr val="000000"/>
                  </a:solidFill>
                  <a:latin typeface="Meiryo UI" pitchFamily="34" charset="0"/>
                  <a:ea typeface="Meiryo UI" pitchFamily="34" charset="-122"/>
                  <a:cs typeface="Meiryo UI" pitchFamily="34" charset="-120"/>
                </a:rPr>
                <a:t>NIC のルール、サブネットのルール、集約結果を確認できます</a:t>
              </a:r>
              <a:endParaRPr lang="en-US" sz="1050" dirty="0"/>
            </a:p>
          </p:txBody>
        </p:sp>
      </p:spTree>
    </p:cSld>
    <p:spTree>
      <p:nvGrpSpPr>
        <p:cNvPr id="1" name=""/>
        <p:cNvGrpSpPr/>
        <p:nvPr/>
      </p:nvGrpSpPr>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ネットワーク診断ツール（前半）</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5 / 8</a:t>
            </a:r>
            <a:endParaRPr lang="en-US" sz="900" dirty="0"/>
          </a:p>
        </p:txBody>
      </p:sp>
      <p:sp>
        <p:nvSpPr>
          <p:cNvPr id="5" name="Shape 3"/>
          <p:cNvSpPr/>
          <p:nvPr/>
        </p:nvSpPr>
        <p:spPr>
          <a:xfrm>
            <a:off x="457200" y="1280160"/>
            <a:ext cx="5394960" cy="2286000"/>
          </a:xfrm>
          <a:prstGeom prst="roundRect">
            <a:avLst>
              <a:gd name="adj" fmla="val 4800"/>
            </a:avLst>
          </a:prstGeom>
          <a:solidFill>
            <a:srgbClr val="F3F2F1"/>
          </a:solidFill>
          <a:ln w="25400">
            <a:solidFill>
              <a:srgbClr val="0078D4"/>
            </a:solidFill>
            <a:prstDash val="solid"/>
          </a:ln>
        </p:spPr>
      </p:sp>
      <p:sp>
        <p:nvSpPr>
          <p:cNvPr id="6" name="Shape 4"/>
          <p:cNvSpPr/>
          <p:nvPr/>
        </p:nvSpPr>
        <p:spPr>
          <a:xfrm>
            <a:off x="548640" y="1353312"/>
            <a:ext cx="5212080" cy="457200"/>
          </a:xfrm>
          <a:prstGeom prst="roundRect">
            <a:avLst>
              <a:gd name="adj" fmla="val 16000"/>
            </a:avLst>
          </a:prstGeom>
          <a:solidFill>
            <a:srgbClr val="0078D4"/>
          </a:solidFill>
          <a:ln/>
        </p:spPr>
      </p:sp>
      <p:sp>
        <p:nvSpPr>
          <p:cNvPr id="7" name="Text 5"/>
          <p:cNvSpPr/>
          <p:nvPr/>
        </p:nvSpPr>
        <p:spPr>
          <a:xfrm>
            <a:off x="548640" y="1353312"/>
            <a:ext cx="5212080" cy="457200"/>
          </a:xfrm>
          <a:prstGeom prst="rect">
            <a:avLst/>
          </a:prstGeom>
          <a:noFill/>
          <a:ln/>
        </p:spPr>
        <p:txBody>
          <a:bodyPr wrap="square" rtlCol="0" anchor="ctr"/>
          <a:lstStyle/>
          <a:p>
            <a:pPr algn="ctr" indent="0" marL="0">
              <a:buNone/>
            </a:pPr>
            <a:r>
              <a:rPr lang="en-US" sz="1300" b="1" dirty="0">
                <a:solidFill>
                  <a:srgbClr val="FFFFFF"/>
                </a:solidFill>
                <a:latin typeface="Meiryo UI" pitchFamily="34" charset="0"/>
                <a:ea typeface="Meiryo UI" pitchFamily="34" charset="-122"/>
                <a:cs typeface="Meiryo UI" pitchFamily="34" charset="-120"/>
              </a:rPr>
              <a:t>🔍  IP フロー検証</a:t>
            </a:r>
            <a:endParaRPr lang="en-US" sz="1300" dirty="0"/>
          </a:p>
        </p:txBody>
      </p:sp>
      <p:sp>
        <p:nvSpPr>
          <p:cNvPr id="8" name="Text 6"/>
          <p:cNvSpPr/>
          <p:nvPr/>
        </p:nvSpPr>
        <p:spPr>
          <a:xfrm>
            <a:off x="640080" y="1920240"/>
            <a:ext cx="5029200" cy="1463040"/>
          </a:xfrm>
          <a:prstGeom prst="rect">
            <a:avLst/>
          </a:prstGeom>
          <a:noFill/>
          <a:ln/>
        </p:spPr>
        <p:txBody>
          <a:bodyPr wrap="square" rtlCol="0" anchor="t"/>
          <a:lstStyle/>
          <a:p>
            <a:pPr marL="342900" indent="-342900">
              <a:lnSpc>
                <a:spcPct val="130000"/>
              </a:lnSpc>
              <a:buSzPct val="100000"/>
              <a:buChar char="•"/>
            </a:pPr>
            <a:r>
              <a:rPr lang="en-US" sz="1050" dirty="0">
                <a:solidFill>
                  <a:srgbClr val="000000"/>
                </a:solidFill>
                <a:latin typeface="Meiryo UI" pitchFamily="34" charset="0"/>
                <a:ea typeface="Meiryo UI" pitchFamily="34" charset="-122"/>
                <a:cs typeface="Meiryo UI" pitchFamily="34" charset="-120"/>
              </a:rPr>
              <a:t>VM レベルでトラフィックのフィルタリング問題を検出します</a:t>
            </a:r>
            <a:endParaRPr lang="en-US" sz="1050" dirty="0"/>
          </a:p>
          <a:p>
            <a:pPr marL="342900" indent="-342900">
              <a:lnSpc>
                <a:spcPct val="130000"/>
              </a:lnSpc>
              <a:buSzPct val="100000"/>
              <a:buChar char="•"/>
            </a:pPr>
            <a:r>
              <a:rPr lang="en-US" sz="1050" dirty="0">
                <a:solidFill>
                  <a:srgbClr val="000000"/>
                </a:solidFill>
                <a:latin typeface="Meiryo UI" pitchFamily="34" charset="0"/>
                <a:ea typeface="Meiryo UI" pitchFamily="34" charset="-122"/>
                <a:cs typeface="Meiryo UI" pitchFamily="34" charset="-120"/>
              </a:rPr>
              <a:t>5 タプル（送信元/宛先 IP・ポート、プロトコル）でパケットの許可・拒否を判定します</a:t>
            </a:r>
            <a:endParaRPr lang="en-US" sz="1050" dirty="0"/>
          </a:p>
          <a:p>
            <a:pPr marL="342900" indent="-342900">
              <a:lnSpc>
                <a:spcPct val="130000"/>
              </a:lnSpc>
              <a:buSzPct val="100000"/>
              <a:buChar char="•"/>
            </a:pPr>
            <a:r>
              <a:rPr lang="en-US" sz="1050" dirty="0">
                <a:solidFill>
                  <a:srgbClr val="000000"/>
                </a:solidFill>
                <a:latin typeface="Meiryo UI" pitchFamily="34" charset="0"/>
                <a:ea typeface="Meiryo UI" pitchFamily="34" charset="-122"/>
                <a:cs typeface="Meiryo UI" pitchFamily="34" charset="-120"/>
              </a:rPr>
              <a:t>拒否した場合、該当するセキュリティ規則を返却します</a:t>
            </a:r>
            <a:endParaRPr lang="en-US" sz="1050" dirty="0"/>
          </a:p>
        </p:txBody>
      </p:sp>
      <p:sp>
        <p:nvSpPr>
          <p:cNvPr id="9" name="Shape 7"/>
          <p:cNvSpPr/>
          <p:nvPr/>
        </p:nvSpPr>
        <p:spPr>
          <a:xfrm>
            <a:off x="6263640" y="1280160"/>
            <a:ext cx="5394960" cy="2286000"/>
          </a:xfrm>
          <a:prstGeom prst="roundRect">
            <a:avLst>
              <a:gd name="adj" fmla="val 4800"/>
            </a:avLst>
          </a:prstGeom>
          <a:solidFill>
            <a:srgbClr val="F3F2F1"/>
          </a:solidFill>
          <a:ln w="25400">
            <a:solidFill>
              <a:srgbClr val="107C10"/>
            </a:solidFill>
            <a:prstDash val="solid"/>
          </a:ln>
        </p:spPr>
      </p:sp>
      <p:sp>
        <p:nvSpPr>
          <p:cNvPr id="10" name="Shape 8"/>
          <p:cNvSpPr/>
          <p:nvPr/>
        </p:nvSpPr>
        <p:spPr>
          <a:xfrm>
            <a:off x="6355080" y="1353312"/>
            <a:ext cx="5212080" cy="457200"/>
          </a:xfrm>
          <a:prstGeom prst="roundRect">
            <a:avLst>
              <a:gd name="adj" fmla="val 16000"/>
            </a:avLst>
          </a:prstGeom>
          <a:solidFill>
            <a:srgbClr val="107C10"/>
          </a:solidFill>
          <a:ln/>
        </p:spPr>
      </p:sp>
      <p:sp>
        <p:nvSpPr>
          <p:cNvPr id="11" name="Text 9"/>
          <p:cNvSpPr/>
          <p:nvPr/>
        </p:nvSpPr>
        <p:spPr>
          <a:xfrm>
            <a:off x="6355080" y="1353312"/>
            <a:ext cx="5212080" cy="457200"/>
          </a:xfrm>
          <a:prstGeom prst="rect">
            <a:avLst/>
          </a:prstGeom>
          <a:noFill/>
          <a:ln/>
        </p:spPr>
        <p:txBody>
          <a:bodyPr wrap="square" rtlCol="0" anchor="ctr"/>
          <a:lstStyle/>
          <a:p>
            <a:pPr algn="ctr" indent="0" marL="0">
              <a:buNone/>
            </a:pPr>
            <a:r>
              <a:rPr lang="en-US" sz="1300" b="1" dirty="0">
                <a:solidFill>
                  <a:srgbClr val="FFFFFF"/>
                </a:solidFill>
                <a:latin typeface="Meiryo UI" pitchFamily="34" charset="0"/>
                <a:ea typeface="Meiryo UI" pitchFamily="34" charset="-122"/>
                <a:cs typeface="Meiryo UI" pitchFamily="34" charset="-120"/>
              </a:rPr>
              <a:t>🛡️  NSG 診断</a:t>
            </a:r>
            <a:endParaRPr lang="en-US" sz="1300" dirty="0"/>
          </a:p>
        </p:txBody>
      </p:sp>
      <p:sp>
        <p:nvSpPr>
          <p:cNvPr id="12" name="Text 10"/>
          <p:cNvSpPr/>
          <p:nvPr/>
        </p:nvSpPr>
        <p:spPr>
          <a:xfrm>
            <a:off x="6446520" y="1920240"/>
            <a:ext cx="5029200" cy="1463040"/>
          </a:xfrm>
          <a:prstGeom prst="rect">
            <a:avLst/>
          </a:prstGeom>
          <a:noFill/>
          <a:ln/>
        </p:spPr>
        <p:txBody>
          <a:bodyPr wrap="square" rtlCol="0" anchor="t"/>
          <a:lstStyle/>
          <a:p>
            <a:pPr marL="342900" indent="-342900">
              <a:lnSpc>
                <a:spcPct val="130000"/>
              </a:lnSpc>
              <a:buSzPct val="100000"/>
              <a:buChar char="•"/>
            </a:pPr>
            <a:r>
              <a:rPr lang="en-US" sz="1050" dirty="0">
                <a:solidFill>
                  <a:srgbClr val="000000"/>
                </a:solidFill>
                <a:latin typeface="Meiryo UI" pitchFamily="34" charset="0"/>
                <a:ea typeface="Meiryo UI" pitchFamily="34" charset="-122"/>
                <a:cs typeface="Meiryo UI" pitchFamily="34" charset="-120"/>
              </a:rPr>
              <a:t>VM、VMSS、Application Gateway レベルでのフィルタリング問題を検出します</a:t>
            </a:r>
            <a:endParaRPr lang="en-US" sz="1050" dirty="0"/>
          </a:p>
          <a:p>
            <a:pPr marL="342900" indent="-342900">
              <a:lnSpc>
                <a:spcPct val="130000"/>
              </a:lnSpc>
              <a:buSzPct val="100000"/>
              <a:buChar char="•"/>
            </a:pPr>
            <a:r>
              <a:rPr lang="en-US" sz="1050" dirty="0">
                <a:solidFill>
                  <a:srgbClr val="000000"/>
                </a:solidFill>
                <a:latin typeface="Meiryo UI" pitchFamily="34" charset="0"/>
                <a:ea typeface="Meiryo UI" pitchFamily="34" charset="-122"/>
                <a:cs typeface="Meiryo UI" pitchFamily="34" charset="-120"/>
              </a:rPr>
              <a:t>IP アドレス、IP プレフィックス、サービスタグに対するパケットの許可・拒否を判定します</a:t>
            </a:r>
            <a:endParaRPr lang="en-US" sz="1050" dirty="0"/>
          </a:p>
          <a:p>
            <a:pPr marL="342900" indent="-342900">
              <a:lnSpc>
                <a:spcPct val="130000"/>
              </a:lnSpc>
              <a:buSzPct val="100000"/>
              <a:buChar char="•"/>
            </a:pPr>
            <a:r>
              <a:rPr lang="en-US" sz="1050" dirty="0">
                <a:solidFill>
                  <a:srgbClr val="000000"/>
                </a:solidFill>
                <a:latin typeface="Meiryo UI" pitchFamily="34" charset="0"/>
                <a:ea typeface="Meiryo UI" pitchFamily="34" charset="-122"/>
                <a:cs typeface="Meiryo UI" pitchFamily="34" charset="-120"/>
              </a:rPr>
              <a:t>より高い優先度のセキュリティ規則の追加も可能です</a:t>
            </a:r>
            <a:endParaRPr lang="en-US" sz="1050" dirty="0"/>
          </a:p>
        </p:txBody>
      </p:sp>
      <p:sp>
        <p:nvSpPr>
          <p:cNvPr id="13" name="Shape 11"/>
          <p:cNvSpPr/>
          <p:nvPr/>
        </p:nvSpPr>
        <p:spPr>
          <a:xfrm>
            <a:off x="457200" y="3840480"/>
            <a:ext cx="5394960" cy="2286000"/>
          </a:xfrm>
          <a:prstGeom prst="roundRect">
            <a:avLst>
              <a:gd name="adj" fmla="val 4800"/>
            </a:avLst>
          </a:prstGeom>
          <a:solidFill>
            <a:srgbClr val="F3F2F1"/>
          </a:solidFill>
          <a:ln w="25400">
            <a:solidFill>
              <a:srgbClr val="FF8C00"/>
            </a:solidFill>
            <a:prstDash val="solid"/>
          </a:ln>
        </p:spPr>
      </p:sp>
      <p:sp>
        <p:nvSpPr>
          <p:cNvPr id="14" name="Shape 12"/>
          <p:cNvSpPr/>
          <p:nvPr/>
        </p:nvSpPr>
        <p:spPr>
          <a:xfrm>
            <a:off x="548640" y="3913632"/>
            <a:ext cx="5212080" cy="457200"/>
          </a:xfrm>
          <a:prstGeom prst="roundRect">
            <a:avLst>
              <a:gd name="adj" fmla="val 16000"/>
            </a:avLst>
          </a:prstGeom>
          <a:solidFill>
            <a:srgbClr val="FF8C00"/>
          </a:solidFill>
          <a:ln/>
        </p:spPr>
      </p:sp>
      <p:sp>
        <p:nvSpPr>
          <p:cNvPr id="15" name="Text 13"/>
          <p:cNvSpPr/>
          <p:nvPr/>
        </p:nvSpPr>
        <p:spPr>
          <a:xfrm>
            <a:off x="548640" y="3913632"/>
            <a:ext cx="5212080" cy="457200"/>
          </a:xfrm>
          <a:prstGeom prst="rect">
            <a:avLst/>
          </a:prstGeom>
          <a:noFill/>
          <a:ln/>
        </p:spPr>
        <p:txBody>
          <a:bodyPr wrap="square" rtlCol="0" anchor="ctr"/>
          <a:lstStyle/>
          <a:p>
            <a:pPr algn="ctr" indent="0" marL="0">
              <a:buNone/>
            </a:pPr>
            <a:r>
              <a:rPr lang="en-US" sz="1300" b="1" dirty="0">
                <a:solidFill>
                  <a:srgbClr val="FFFFFF"/>
                </a:solidFill>
                <a:latin typeface="Meiryo UI" pitchFamily="34" charset="0"/>
                <a:ea typeface="Meiryo UI" pitchFamily="34" charset="-122"/>
                <a:cs typeface="Meiryo UI" pitchFamily="34" charset="-120"/>
              </a:rPr>
              <a:t>🔀  次のホップ</a:t>
            </a:r>
            <a:endParaRPr lang="en-US" sz="1300" dirty="0"/>
          </a:p>
        </p:txBody>
      </p:sp>
      <p:sp>
        <p:nvSpPr>
          <p:cNvPr id="16" name="Text 14"/>
          <p:cNvSpPr/>
          <p:nvPr/>
        </p:nvSpPr>
        <p:spPr>
          <a:xfrm>
            <a:off x="640080" y="4480560"/>
            <a:ext cx="5029200" cy="1463040"/>
          </a:xfrm>
          <a:prstGeom prst="rect">
            <a:avLst/>
          </a:prstGeom>
          <a:noFill/>
          <a:ln/>
        </p:spPr>
        <p:txBody>
          <a:bodyPr wrap="square" rtlCol="0" anchor="t"/>
          <a:lstStyle/>
          <a:p>
            <a:pPr marL="342900" indent="-342900">
              <a:lnSpc>
                <a:spcPct val="130000"/>
              </a:lnSpc>
              <a:buSzPct val="100000"/>
              <a:buChar char="•"/>
            </a:pPr>
            <a:r>
              <a:rPr lang="en-US" sz="1050" dirty="0">
                <a:solidFill>
                  <a:srgbClr val="000000"/>
                </a:solidFill>
                <a:latin typeface="Meiryo UI" pitchFamily="34" charset="0"/>
                <a:ea typeface="Meiryo UI" pitchFamily="34" charset="-122"/>
                <a:cs typeface="Meiryo UI" pitchFamily="34" charset="-120"/>
              </a:rPr>
              <a:t>ルーティングの問題を検出するために使用します</a:t>
            </a:r>
            <a:endParaRPr lang="en-US" sz="1050" dirty="0"/>
          </a:p>
          <a:p>
            <a:pPr marL="342900" indent="-342900">
              <a:lnSpc>
                <a:spcPct val="130000"/>
              </a:lnSpc>
              <a:buSzPct val="100000"/>
              <a:buChar char="•"/>
            </a:pPr>
            <a:r>
              <a:rPr lang="en-US" sz="1050" dirty="0">
                <a:solidFill>
                  <a:srgbClr val="000000"/>
                </a:solidFill>
                <a:latin typeface="Meiryo UI" pitchFamily="34" charset="0"/>
                <a:ea typeface="Meiryo UI" pitchFamily="34" charset="-122"/>
                <a:cs typeface="Meiryo UI" pitchFamily="34" charset="-120"/>
              </a:rPr>
              <a:t>宛先 IP に対するネクストホップの種類、IP アドレス、ルートテーブル ID を返却します</a:t>
            </a:r>
            <a:endParaRPr lang="en-US" sz="1050" dirty="0"/>
          </a:p>
          <a:p>
            <a:pPr marL="342900" indent="-342900">
              <a:lnSpc>
                <a:spcPct val="130000"/>
              </a:lnSpc>
              <a:buSzPct val="100000"/>
              <a:buChar char="•"/>
            </a:pPr>
            <a:r>
              <a:rPr lang="en-US" sz="1050" dirty="0">
                <a:solidFill>
                  <a:srgbClr val="000000"/>
                </a:solidFill>
                <a:latin typeface="Meiryo UI" pitchFamily="34" charset="0"/>
                <a:ea typeface="Meiryo UI" pitchFamily="34" charset="-122"/>
                <a:cs typeface="Meiryo UI" pitchFamily="34" charset="-120"/>
              </a:rPr>
              <a:t>ユーザー定義ルートの構成ミスを診断できます</a:t>
            </a:r>
            <a:endParaRPr lang="en-US" sz="1050" dirty="0"/>
          </a:p>
        </p:txBody>
      </p:sp>
      <p:sp>
        <p:nvSpPr>
          <p:cNvPr id="17" name="Shape 15"/>
          <p:cNvSpPr/>
          <p:nvPr/>
        </p:nvSpPr>
        <p:spPr>
          <a:xfrm>
            <a:off x="6263640" y="3840480"/>
            <a:ext cx="5394960" cy="2286000"/>
          </a:xfrm>
          <a:prstGeom prst="roundRect">
            <a:avLst>
              <a:gd name="adj" fmla="val 4800"/>
            </a:avLst>
          </a:prstGeom>
          <a:solidFill>
            <a:srgbClr val="F3F2F1"/>
          </a:solidFill>
          <a:ln w="25400">
            <a:solidFill>
              <a:srgbClr val="5C2D91"/>
            </a:solidFill>
            <a:prstDash val="solid"/>
          </a:ln>
        </p:spPr>
      </p:sp>
      <p:sp>
        <p:nvSpPr>
          <p:cNvPr id="18" name="Shape 16"/>
          <p:cNvSpPr/>
          <p:nvPr/>
        </p:nvSpPr>
        <p:spPr>
          <a:xfrm>
            <a:off x="6355080" y="3913632"/>
            <a:ext cx="5212080" cy="457200"/>
          </a:xfrm>
          <a:prstGeom prst="roundRect">
            <a:avLst>
              <a:gd name="adj" fmla="val 16000"/>
            </a:avLst>
          </a:prstGeom>
          <a:solidFill>
            <a:srgbClr val="5C2D91"/>
          </a:solidFill>
          <a:ln/>
        </p:spPr>
      </p:sp>
      <p:sp>
        <p:nvSpPr>
          <p:cNvPr id="19" name="Text 17"/>
          <p:cNvSpPr/>
          <p:nvPr/>
        </p:nvSpPr>
        <p:spPr>
          <a:xfrm>
            <a:off x="6355080" y="3913632"/>
            <a:ext cx="5212080" cy="457200"/>
          </a:xfrm>
          <a:prstGeom prst="rect">
            <a:avLst/>
          </a:prstGeom>
          <a:noFill/>
          <a:ln/>
        </p:spPr>
        <p:txBody>
          <a:bodyPr wrap="square" rtlCol="0" anchor="ctr"/>
          <a:lstStyle/>
          <a:p>
            <a:pPr algn="ctr" indent="0" marL="0">
              <a:buNone/>
            </a:pPr>
            <a:r>
              <a:rPr lang="en-US" sz="1300" b="1" dirty="0">
                <a:solidFill>
                  <a:srgbClr val="FFFFFF"/>
                </a:solidFill>
                <a:latin typeface="Meiryo UI" pitchFamily="34" charset="0"/>
                <a:ea typeface="Meiryo UI" pitchFamily="34" charset="-122"/>
                <a:cs typeface="Meiryo UI" pitchFamily="34" charset="-120"/>
              </a:rPr>
              <a:t>📋  有効なセキュリティ規則</a:t>
            </a:r>
            <a:endParaRPr lang="en-US" sz="1300" dirty="0"/>
          </a:p>
        </p:txBody>
      </p:sp>
      <p:sp>
        <p:nvSpPr>
          <p:cNvPr id="20" name="Text 18"/>
          <p:cNvSpPr/>
          <p:nvPr/>
        </p:nvSpPr>
        <p:spPr>
          <a:xfrm>
            <a:off x="6446520" y="4480560"/>
            <a:ext cx="5029200" cy="1463040"/>
          </a:xfrm>
          <a:prstGeom prst="rect">
            <a:avLst/>
          </a:prstGeom>
          <a:noFill/>
          <a:ln/>
        </p:spPr>
        <p:txBody>
          <a:bodyPr wrap="square" rtlCol="0" anchor="t"/>
          <a:lstStyle/>
          <a:p>
            <a:pPr marL="342900" indent="-342900">
              <a:lnSpc>
                <a:spcPct val="130000"/>
              </a:lnSpc>
              <a:buSzPct val="100000"/>
              <a:buChar char="•"/>
            </a:pPr>
            <a:r>
              <a:rPr lang="en-US" sz="1050" dirty="0">
                <a:solidFill>
                  <a:srgbClr val="000000"/>
                </a:solidFill>
                <a:latin typeface="Meiryo UI" pitchFamily="34" charset="0"/>
                <a:ea typeface="Meiryo UI" pitchFamily="34" charset="-122"/>
                <a:cs typeface="Meiryo UI" pitchFamily="34" charset="-120"/>
              </a:rPr>
              <a:t>ネットワークインターフェースに適用されている有効なセキュリティ規則を表示します</a:t>
            </a:r>
            <a:endParaRPr lang="en-US" sz="1050" dirty="0"/>
          </a:p>
          <a:p>
            <a:pPr marL="342900" indent="-342900">
              <a:lnSpc>
                <a:spcPct val="130000"/>
              </a:lnSpc>
              <a:buSzPct val="100000"/>
              <a:buChar char="•"/>
            </a:pPr>
            <a:r>
              <a:rPr lang="en-US" sz="1050" dirty="0">
                <a:solidFill>
                  <a:srgbClr val="000000"/>
                </a:solidFill>
                <a:latin typeface="Meiryo UI" pitchFamily="34" charset="0"/>
                <a:ea typeface="Meiryo UI" pitchFamily="34" charset="-122"/>
                <a:cs typeface="Meiryo UI" pitchFamily="34" charset="-120"/>
              </a:rPr>
              <a:t>NIC のルール、サブネットのルール、集約結果を確認できます</a:t>
            </a:r>
            <a:endParaRPr lang="en-US" sz="1050" dirty="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ネットワーク診断ツール（後半）</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6 / 8</a:t>
              </a:r>
              <a:endParaRPr lang="en-US" sz="900" dirty="0"/>
            </a:p>
          </p:txBody>
        </p:sp>
        <p:sp>
          <p:nvSpPr>
            <p:cNvPr id="5" name="Shape 3"/>
            <p:cNvSpPr/>
            <p:nvPr/>
          </p:nvSpPr>
          <p:spPr>
            <a:xfrm>
              <a:off x="457200" y="1280160"/>
              <a:ext cx="3474720" cy="3200400"/>
            </a:xfrm>
            <a:prstGeom prst="roundRect">
              <a:avLst>
                <a:gd name="adj" fmla="val 3429"/>
              </a:avLst>
            </a:prstGeom>
            <a:solidFill>
              <a:srgbClr val="F3F2F1"/>
            </a:solidFill>
            <a:ln w="25400">
              <a:solidFill>
                <a:srgbClr val="0078D4"/>
              </a:solidFill>
              <a:prstDash val="solid"/>
            </a:ln>
          </p:spPr>
        </p:sp>
        <p:sp>
          <p:nvSpPr>
            <p:cNvPr id="6" name="Shape 4"/>
            <p:cNvSpPr/>
            <p:nvPr/>
          </p:nvSpPr>
          <p:spPr>
            <a:xfrm>
              <a:off x="548640" y="1353312"/>
              <a:ext cx="3291840" cy="457200"/>
            </a:xfrm>
            <a:prstGeom prst="roundRect">
              <a:avLst>
                <a:gd name="adj" fmla="val 16000"/>
              </a:avLst>
            </a:prstGeom>
            <a:solidFill>
              <a:srgbClr val="0078D4"/>
            </a:solidFill>
            <a:ln/>
          </p:spPr>
        </p:sp>
        <p:sp>
          <p:nvSpPr>
            <p:cNvPr id="7" name="Text 5"/>
            <p:cNvSpPr/>
            <p:nvPr/>
          </p:nvSpPr>
          <p:spPr>
            <a:xfrm>
              <a:off x="548640" y="1353312"/>
              <a:ext cx="3291840" cy="457200"/>
            </a:xfrm>
            <a:prstGeom prst="rect">
              <a:avLst/>
            </a:prstGeom>
            <a:noFill/>
            <a:ln/>
          </p:spPr>
          <p:txBody>
            <a:bodyPr wrap="square"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  接続のトラブルシューティング</a:t>
              </a:r>
              <a:endParaRPr lang="en-US" sz="1200" dirty="0"/>
            </a:p>
          </p:txBody>
        </p:sp>
        <p:sp>
          <p:nvSpPr>
            <p:cNvPr id="8" name="Text 6"/>
            <p:cNvSpPr/>
            <p:nvPr/>
          </p:nvSpPr>
          <p:spPr>
            <a:xfrm>
              <a:off x="640080" y="1920240"/>
              <a:ext cx="3108960" cy="2377440"/>
            </a:xfrm>
            <a:prstGeom prst="rect">
              <a:avLst/>
            </a:prstGeom>
            <a:noFill/>
            <a:ln/>
          </p:spPr>
          <p:txBody>
            <a:bodyPr wrap="square" rtlCol="0" anchor="t"/>
            <a:lstStyle/>
            <a:p>
              <a:pPr marL="342900" indent="-342900">
                <a:lnSpc>
                  <a:spcPct val="130000"/>
                </a:lnSpc>
                <a:buSzPct val="100000"/>
                <a:buChar char="•"/>
              </a:pPr>
              <a:r>
                <a:rPr lang="en-US" sz="1050" dirty="0">
                  <a:solidFill>
                    <a:srgbClr val="000000"/>
                  </a:solidFill>
                  <a:latin typeface="Meiryo UI" pitchFamily="34" charset="0"/>
                  <a:ea typeface="Meiryo UI" pitchFamily="34" charset="-122"/>
                  <a:cs typeface="Meiryo UI" pitchFamily="34" charset="-120"/>
                </a:rPr>
                <a:t>VM、VMSS、Application Gateway、Bastion ホストから宛先への接続をテストします</a:t>
              </a:r>
              <a:endParaRPr lang="en-US" sz="1050" dirty="0"/>
            </a:p>
            <a:p>
              <a:pPr marL="342900" indent="-342900">
                <a:lnSpc>
                  <a:spcPct val="130000"/>
                </a:lnSpc>
                <a:buSzPct val="100000"/>
                <a:buChar char="•"/>
              </a:pPr>
              <a:r>
                <a:rPr lang="en-US" sz="1050" dirty="0">
                  <a:solidFill>
                    <a:srgbClr val="000000"/>
                  </a:solidFill>
                  <a:latin typeface="Meiryo UI" pitchFamily="34" charset="0"/>
                  <a:ea typeface="Meiryo UI" pitchFamily="34" charset="-122"/>
                  <a:cs typeface="Meiryo UI" pitchFamily="34" charset="-120"/>
                </a:rPr>
                <a:t>宛先として VM、FQDN、URI、IPv4 アドレスを指定できます</a:t>
              </a:r>
              <a:endParaRPr lang="en-US" sz="1050" dirty="0"/>
            </a:p>
            <a:p>
              <a:pPr marL="342900" indent="-342900">
                <a:lnSpc>
                  <a:spcPct val="130000"/>
                </a:lnSpc>
                <a:buSzPct val="100000"/>
                <a:buChar char="•"/>
              </a:pPr>
              <a:r>
                <a:rPr lang="en-US" sz="1050" dirty="0">
                  <a:solidFill>
                    <a:srgbClr val="000000"/>
                  </a:solidFill>
                  <a:latin typeface="Meiryo UI" pitchFamily="34" charset="0"/>
                  <a:ea typeface="Meiryo UI" pitchFamily="34" charset="-122"/>
                  <a:cs typeface="Meiryo UI" pitchFamily="34" charset="-120"/>
                </a:rPr>
                <a:t>ポイントインタイムでの単発テストを実行します</a:t>
              </a:r>
              <a:endParaRPr lang="en-US" sz="1050" dirty="0"/>
            </a:p>
          </p:txBody>
        </p:sp>
        <p:sp>
          <p:nvSpPr>
            <p:cNvPr id="9" name="Shape 7"/>
            <p:cNvSpPr/>
            <p:nvPr/>
          </p:nvSpPr>
          <p:spPr>
            <a:xfrm>
              <a:off x="4251960" y="1280160"/>
              <a:ext cx="3474720" cy="3200400"/>
            </a:xfrm>
            <a:prstGeom prst="roundRect">
              <a:avLst>
                <a:gd name="adj" fmla="val 3429"/>
              </a:avLst>
            </a:prstGeom>
            <a:solidFill>
              <a:srgbClr val="F3F2F1"/>
            </a:solidFill>
            <a:ln w="25400">
              <a:solidFill>
                <a:srgbClr val="107C10"/>
              </a:solidFill>
              <a:prstDash val="solid"/>
            </a:ln>
          </p:spPr>
        </p:sp>
        <p:sp>
          <p:nvSpPr>
            <p:cNvPr id="10" name="Shape 8"/>
            <p:cNvSpPr/>
            <p:nvPr/>
          </p:nvSpPr>
          <p:spPr>
            <a:xfrm>
              <a:off x="4343400" y="1353312"/>
              <a:ext cx="3291840" cy="457200"/>
            </a:xfrm>
            <a:prstGeom prst="roundRect">
              <a:avLst>
                <a:gd name="adj" fmla="val 16000"/>
              </a:avLst>
            </a:prstGeom>
            <a:solidFill>
              <a:srgbClr val="107C10"/>
            </a:solidFill>
            <a:ln/>
          </p:spPr>
        </p:sp>
        <p:sp>
          <p:nvSpPr>
            <p:cNvPr id="11" name="Text 9"/>
            <p:cNvSpPr/>
            <p:nvPr/>
          </p:nvSpPr>
          <p:spPr>
            <a:xfrm>
              <a:off x="4343400" y="1353312"/>
              <a:ext cx="3291840" cy="457200"/>
            </a:xfrm>
            <a:prstGeom prst="rect">
              <a:avLst/>
            </a:prstGeom>
            <a:noFill/>
            <a:ln/>
          </p:spPr>
          <p:txBody>
            <a:bodyPr wrap="square"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  パケットキャプチャ</a:t>
              </a:r>
              <a:endParaRPr lang="en-US" sz="1200" dirty="0"/>
            </a:p>
          </p:txBody>
        </p:sp>
        <p:sp>
          <p:nvSpPr>
            <p:cNvPr id="12" name="Text 10"/>
            <p:cNvSpPr/>
            <p:nvPr/>
          </p:nvSpPr>
          <p:spPr>
            <a:xfrm>
              <a:off x="4434840" y="1920240"/>
              <a:ext cx="3108960" cy="2377440"/>
            </a:xfrm>
            <a:prstGeom prst="rect">
              <a:avLst/>
            </a:prstGeom>
            <a:noFill/>
            <a:ln/>
          </p:spPr>
          <p:txBody>
            <a:bodyPr wrap="square" rtlCol="0" anchor="t"/>
            <a:lstStyle/>
            <a:p>
              <a:pPr marL="342900" indent="-342900">
                <a:lnSpc>
                  <a:spcPct val="130000"/>
                </a:lnSpc>
                <a:buSzPct val="100000"/>
                <a:buChar char="•"/>
              </a:pPr>
              <a:r>
                <a:rPr lang="en-US" sz="1050" dirty="0">
                  <a:solidFill>
                    <a:srgbClr val="000000"/>
                  </a:solidFill>
                  <a:latin typeface="Meiryo UI" pitchFamily="34" charset="0"/>
                  <a:ea typeface="Meiryo UI" pitchFamily="34" charset="-122"/>
                  <a:cs typeface="Meiryo UI" pitchFamily="34" charset="-120"/>
                </a:rPr>
                <a:t>VM や VMSS のトラフィックをリモートでキャプチャするセッションを作成します</a:t>
              </a:r>
              <a:endParaRPr lang="en-US" sz="1050" dirty="0"/>
            </a:p>
            <a:p>
              <a:pPr marL="342900" indent="-342900">
                <a:lnSpc>
                  <a:spcPct val="130000"/>
                </a:lnSpc>
                <a:buSzPct val="100000"/>
                <a:buChar char="•"/>
              </a:pPr>
              <a:r>
                <a:rPr lang="en-US" sz="1050" dirty="0">
                  <a:solidFill>
                    <a:srgbClr val="000000"/>
                  </a:solidFill>
                  <a:latin typeface="Meiryo UI" pitchFamily="34" charset="0"/>
                  <a:ea typeface="Meiryo UI" pitchFamily="34" charset="-122"/>
                  <a:cs typeface="Meiryo UI" pitchFamily="34" charset="-120"/>
                </a:rPr>
                <a:t>Network Watcher Agent VM 拡張機能のインストールが必要です</a:t>
              </a:r>
              <a:endParaRPr lang="en-US" sz="1050" dirty="0"/>
            </a:p>
            <a:p>
              <a:pPr marL="342900" indent="-342900">
                <a:lnSpc>
                  <a:spcPct val="130000"/>
                </a:lnSpc>
                <a:buSzPct val="100000"/>
                <a:buChar char="•"/>
              </a:pPr>
              <a:r>
                <a:rPr lang="en-US" sz="1050" dirty="0">
                  <a:solidFill>
                    <a:srgbClr val="000000"/>
                  </a:solidFill>
                  <a:latin typeface="Meiryo UI" pitchFamily="34" charset="0"/>
                  <a:ea typeface="Meiryo UI" pitchFamily="34" charset="-122"/>
                  <a:cs typeface="Meiryo UI" pitchFamily="34" charset="-120"/>
                </a:rPr>
                <a:t>キャプチャデータはローカルディスクまたは Azure Storage Blob に保存できます</a:t>
              </a:r>
              <a:endParaRPr lang="en-US" sz="1050" dirty="0"/>
            </a:p>
            <a:p>
              <a:pPr marL="342900" indent="-342900">
                <a:lnSpc>
                  <a:spcPct val="130000"/>
                </a:lnSpc>
                <a:buSzPct val="100000"/>
                <a:buChar char="•"/>
              </a:pPr>
              <a:r>
                <a:rPr lang="en-US" sz="1050" dirty="0">
                  <a:solidFill>
                    <a:srgbClr val="000000"/>
                  </a:solidFill>
                  <a:latin typeface="Meiryo UI" pitchFamily="34" charset="0"/>
                  <a:ea typeface="Meiryo UI" pitchFamily="34" charset="-122"/>
                  <a:cs typeface="Meiryo UI" pitchFamily="34" charset="-120"/>
                </a:rPr>
                <a:t>Portal、PowerShell、Azure CLI、REST API からトリガーでき、VM アラートによる自動起動も可能です</a:t>
              </a:r>
              <a:endParaRPr lang="en-US" sz="1050" dirty="0"/>
            </a:p>
          </p:txBody>
        </p:sp>
        <p:sp>
          <p:nvSpPr>
            <p:cNvPr id="13" name="Shape 11"/>
            <p:cNvSpPr/>
            <p:nvPr/>
          </p:nvSpPr>
          <p:spPr>
            <a:xfrm>
              <a:off x="8046720" y="1280160"/>
              <a:ext cx="3474720" cy="3200400"/>
            </a:xfrm>
            <a:prstGeom prst="roundRect">
              <a:avLst>
                <a:gd name="adj" fmla="val 3429"/>
              </a:avLst>
            </a:prstGeom>
            <a:solidFill>
              <a:srgbClr val="F3F2F1"/>
            </a:solidFill>
            <a:ln w="25400">
              <a:solidFill>
                <a:srgbClr val="FF8C00"/>
              </a:solidFill>
              <a:prstDash val="solid"/>
            </a:ln>
          </p:spPr>
        </p:sp>
        <p:sp>
          <p:nvSpPr>
            <p:cNvPr id="14" name="Shape 12"/>
            <p:cNvSpPr/>
            <p:nvPr/>
          </p:nvSpPr>
          <p:spPr>
            <a:xfrm>
              <a:off x="8138160" y="1353312"/>
              <a:ext cx="3291840" cy="457200"/>
            </a:xfrm>
            <a:prstGeom prst="roundRect">
              <a:avLst>
                <a:gd name="adj" fmla="val 16000"/>
              </a:avLst>
            </a:prstGeom>
            <a:solidFill>
              <a:srgbClr val="FF8C00"/>
            </a:solidFill>
            <a:ln/>
          </p:spPr>
        </p:sp>
        <p:sp>
          <p:nvSpPr>
            <p:cNvPr id="15" name="Text 13"/>
            <p:cNvSpPr/>
            <p:nvPr/>
          </p:nvSpPr>
          <p:spPr>
            <a:xfrm>
              <a:off x="8138160" y="1353312"/>
              <a:ext cx="3291840" cy="457200"/>
            </a:xfrm>
            <a:prstGeom prst="rect">
              <a:avLst/>
            </a:prstGeom>
            <a:noFill/>
            <a:ln/>
          </p:spPr>
          <p:txBody>
            <a:bodyPr wrap="square"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  VPN トラブルシューティング</a:t>
              </a:r>
              <a:endParaRPr lang="en-US" sz="1200" dirty="0"/>
            </a:p>
          </p:txBody>
        </p:sp>
        <p:sp>
          <p:nvSpPr>
            <p:cNvPr id="16" name="Text 14"/>
            <p:cNvSpPr/>
            <p:nvPr/>
          </p:nvSpPr>
          <p:spPr>
            <a:xfrm>
              <a:off x="8229600" y="1920240"/>
              <a:ext cx="3108960" cy="2377440"/>
            </a:xfrm>
            <a:prstGeom prst="rect">
              <a:avLst/>
            </a:prstGeom>
            <a:noFill/>
            <a:ln/>
          </p:spPr>
          <p:txBody>
            <a:bodyPr wrap="square" rtlCol="0" anchor="t"/>
            <a:lstStyle/>
            <a:p>
              <a:pPr marL="342900" indent="-342900">
                <a:lnSpc>
                  <a:spcPct val="130000"/>
                </a:lnSpc>
                <a:buSzPct val="100000"/>
                <a:buChar char="•"/>
              </a:pPr>
              <a:r>
                <a:rPr lang="en-US" sz="1050" dirty="0">
                  <a:solidFill>
                    <a:srgbClr val="000000"/>
                  </a:solidFill>
                  <a:latin typeface="Meiryo UI" pitchFamily="34" charset="0"/>
                  <a:ea typeface="Meiryo UI" pitchFamily="34" charset="-122"/>
                  <a:cs typeface="Meiryo UI" pitchFamily="34" charset="-120"/>
                </a:rPr>
                <a:t>仮想ネットワークゲートウェイおよびその接続に対して複数の診断チェックを実行します</a:t>
              </a:r>
              <a:endParaRPr lang="en-US" sz="1050" dirty="0"/>
            </a:p>
            <a:p>
              <a:pPr marL="342900" indent="-342900">
                <a:lnSpc>
                  <a:spcPct val="130000"/>
                </a:lnSpc>
                <a:buSzPct val="100000"/>
                <a:buChar char="•"/>
              </a:pPr>
              <a:r>
                <a:rPr lang="en-US" sz="1050" dirty="0">
                  <a:solidFill>
                    <a:srgbClr val="000000"/>
                  </a:solidFill>
                  <a:latin typeface="Meiryo UI" pitchFamily="34" charset="0"/>
                  <a:ea typeface="Meiryo UI" pitchFamily="34" charset="-122"/>
                  <a:cs typeface="Meiryo UI" pitchFamily="34" charset="-120"/>
                </a:rPr>
                <a:t>VPN ゲートウェイと接続の問題をデバッグするために使用します</a:t>
              </a:r>
              <a:endParaRPr lang="en-US" sz="1050" dirty="0"/>
            </a:p>
          </p:txBody>
        </p:sp>
        <p:sp>
          <p:nvSpPr>
            <p:cNvPr id="17" name="Shape 15"/>
            <p:cNvSpPr/>
            <p:nvPr/>
          </p:nvSpPr>
          <p:spPr>
            <a:xfrm>
              <a:off x="457200" y="4754880"/>
              <a:ext cx="11274552" cy="1463040"/>
            </a:xfrm>
            <a:prstGeom prst="roundRect">
              <a:avLst>
                <a:gd name="adj" fmla="val 7500"/>
              </a:avLst>
            </a:prstGeom>
            <a:solidFill>
              <a:srgbClr val="DEECF9"/>
            </a:solidFill>
            <a:ln w="12700">
              <a:solidFill>
                <a:srgbClr val="0078D4"/>
              </a:solidFill>
              <a:prstDash val="solid"/>
            </a:ln>
          </p:spPr>
        </p:sp>
        <p:sp>
          <p:nvSpPr>
            <p:cNvPr id="18" name="Text 16"/>
            <p:cNvSpPr/>
            <p:nvPr/>
          </p:nvSpPr>
          <p:spPr>
            <a:xfrm>
              <a:off x="640080" y="4846320"/>
              <a:ext cx="2743200" cy="320040"/>
            </a:xfrm>
            <a:prstGeom prst="rect">
              <a:avLst/>
            </a:prstGeom>
            <a:noFill/>
            <a:ln/>
          </p:spPr>
          <p:txBody>
            <a:bodyPr wrap="square" rtlCol="0" anchor="ctr"/>
            <a:lstStyle/>
            <a:p>
              <a:pPr indent="0" marL="0">
                <a:buNone/>
              </a:pPr>
              <a:r>
                <a:rPr lang="en-US" sz="1200" b="1" dirty="0">
                  <a:solidFill>
                    <a:srgbClr val="0078D4"/>
                  </a:solidFill>
                  <a:latin typeface="Meiryo UI" pitchFamily="34" charset="0"/>
                  <a:ea typeface="Meiryo UI" pitchFamily="34" charset="-122"/>
                  <a:cs typeface="Meiryo UI" pitchFamily="34" charset="-120"/>
                </a:rPr>
                <a:t>📋  接続テストのフロー</a:t>
              </a:r>
              <a:endParaRPr lang="en-US" sz="1200" dirty="0"/>
            </a:p>
          </p:txBody>
        </p:sp>
        <p:sp>
          <p:nvSpPr>
            <p:cNvPr id="19" name="Shape 17"/>
            <p:cNvSpPr/>
            <p:nvPr/>
          </p:nvSpPr>
          <p:spPr>
            <a:xfrm>
              <a:off x="914400" y="5303520"/>
              <a:ext cx="2103120" cy="731520"/>
            </a:xfrm>
            <a:prstGeom prst="roundRect">
              <a:avLst>
                <a:gd name="adj" fmla="val 12500"/>
              </a:avLst>
            </a:prstGeom>
            <a:solidFill>
              <a:srgbClr val="0078D4"/>
            </a:solidFill>
            <a:ln/>
          </p:spPr>
        </p:sp>
        <p:sp>
          <p:nvSpPr>
            <p:cNvPr id="20" name="Text 18"/>
            <p:cNvSpPr/>
            <p:nvPr/>
          </p:nvSpPr>
          <p:spPr>
            <a:xfrm>
              <a:off x="914400" y="5303520"/>
              <a:ext cx="2103120" cy="731520"/>
            </a:xfrm>
            <a:prstGeom prst="rect">
              <a:avLst/>
            </a:prstGeom>
            <a:noFill/>
            <a:ln/>
          </p:spPr>
          <p:txBody>
            <a:bodyPr wrap="square"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ソース</a:t>
              </a:r>
              <a:endParaRPr lang="en-US" sz="1000" dirty="0"/>
            </a:p>
            <a:p>
              <a:pPr algn="ctr" indent="0" marL="0">
                <a:buNone/>
              </a:pPr>
              <a:r>
                <a:rPr lang="en-US" sz="1000" b="1" dirty="0">
                  <a:solidFill>
                    <a:srgbClr val="FFFFFF"/>
                  </a:solidFill>
                  <a:latin typeface="Meiryo UI" pitchFamily="34" charset="0"/>
                  <a:ea typeface="Meiryo UI" pitchFamily="34" charset="-122"/>
                  <a:cs typeface="Meiryo UI" pitchFamily="34" charset="-120"/>
                </a:rPr>
                <a:t>(VM/GW/Bastion)</a:t>
              </a:r>
              <a:endParaRPr lang="en-US" sz="1000" dirty="0"/>
            </a:p>
          </p:txBody>
        </p:sp>
        <p:sp>
          <p:nvSpPr>
            <p:cNvPr id="21" name="Shape 19"/>
            <p:cNvSpPr/>
            <p:nvPr/>
          </p:nvSpPr>
          <p:spPr>
            <a:xfrm>
              <a:off x="3840480" y="5303520"/>
              <a:ext cx="1828800" cy="731520"/>
            </a:xfrm>
            <a:prstGeom prst="roundRect">
              <a:avLst>
                <a:gd name="adj" fmla="val 12500"/>
              </a:avLst>
            </a:prstGeom>
            <a:solidFill>
              <a:srgbClr val="FF8C00"/>
            </a:solidFill>
            <a:ln/>
          </p:spPr>
        </p:sp>
        <p:sp>
          <p:nvSpPr>
            <p:cNvPr id="22" name="Text 20"/>
            <p:cNvSpPr/>
            <p:nvPr/>
          </p:nvSpPr>
          <p:spPr>
            <a:xfrm>
              <a:off x="3840480" y="5303520"/>
              <a:ext cx="1828800" cy="731520"/>
            </a:xfrm>
            <a:prstGeom prst="rect">
              <a:avLst/>
            </a:prstGeom>
            <a:noFill/>
            <a:ln/>
          </p:spPr>
          <p:txBody>
            <a:bodyPr wrap="square"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接続テスト</a:t>
              </a:r>
              <a:endParaRPr lang="en-US" sz="1000" dirty="0"/>
            </a:p>
            <a:p>
              <a:pPr algn="ctr" indent="0" marL="0">
                <a:buNone/>
              </a:pPr>
              <a:r>
                <a:rPr lang="en-US" sz="1000" b="1" dirty="0">
                  <a:solidFill>
                    <a:srgbClr val="FFFFFF"/>
                  </a:solidFill>
                  <a:latin typeface="Meiryo UI" pitchFamily="34" charset="0"/>
                  <a:ea typeface="Meiryo UI" pitchFamily="34" charset="-122"/>
                  <a:cs typeface="Meiryo UI" pitchFamily="34" charset="-120"/>
                </a:rPr>
                <a:t>実行</a:t>
              </a:r>
              <a:endParaRPr lang="en-US" sz="1000" dirty="0"/>
            </a:p>
          </p:txBody>
        </p:sp>
        <p:sp>
          <p:nvSpPr>
            <p:cNvPr id="23" name="Shape 21"/>
            <p:cNvSpPr/>
            <p:nvPr/>
          </p:nvSpPr>
          <p:spPr>
            <a:xfrm>
              <a:off x="6492240" y="5303520"/>
              <a:ext cx="2103120" cy="731520"/>
            </a:xfrm>
            <a:prstGeom prst="roundRect">
              <a:avLst>
                <a:gd name="adj" fmla="val 12500"/>
              </a:avLst>
            </a:prstGeom>
            <a:solidFill>
              <a:srgbClr val="107C10"/>
            </a:solidFill>
            <a:ln/>
          </p:spPr>
        </p:sp>
        <p:sp>
          <p:nvSpPr>
            <p:cNvPr id="24" name="Text 22"/>
            <p:cNvSpPr/>
            <p:nvPr/>
          </p:nvSpPr>
          <p:spPr>
            <a:xfrm>
              <a:off x="6492240" y="5303520"/>
              <a:ext cx="2103120" cy="731520"/>
            </a:xfrm>
            <a:prstGeom prst="rect">
              <a:avLst/>
            </a:prstGeom>
            <a:noFill/>
            <a:ln/>
          </p:spPr>
          <p:txBody>
            <a:bodyPr wrap="square"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宛先</a:t>
              </a:r>
              <a:endParaRPr lang="en-US" sz="1000" dirty="0"/>
            </a:p>
            <a:p>
              <a:pPr algn="ctr" indent="0" marL="0">
                <a:buNone/>
              </a:pPr>
              <a:r>
                <a:rPr lang="en-US" sz="1000" b="1" dirty="0">
                  <a:solidFill>
                    <a:srgbClr val="FFFFFF"/>
                  </a:solidFill>
                  <a:latin typeface="Meiryo UI" pitchFamily="34" charset="0"/>
                  <a:ea typeface="Meiryo UI" pitchFamily="34" charset="-122"/>
                  <a:cs typeface="Meiryo UI" pitchFamily="34" charset="-120"/>
                </a:rPr>
                <a:t>(VM/FQDN/IP)</a:t>
              </a:r>
              <a:endParaRPr lang="en-US" sz="1000" dirty="0"/>
            </a:p>
          </p:txBody>
        </p:sp>
        <p:sp>
          <p:nvSpPr>
            <p:cNvPr id="25" name="Shape 23"/>
            <p:cNvSpPr/>
            <p:nvPr/>
          </p:nvSpPr>
          <p:spPr>
            <a:xfrm>
              <a:off x="9326880" y="5303520"/>
              <a:ext cx="2103120" cy="731520"/>
            </a:xfrm>
            <a:prstGeom prst="roundRect">
              <a:avLst>
                <a:gd name="adj" fmla="val 12500"/>
              </a:avLst>
            </a:prstGeom>
            <a:solidFill>
              <a:srgbClr val="5C2D91"/>
            </a:solidFill>
            <a:ln/>
          </p:spPr>
        </p:sp>
        <p:sp>
          <p:nvSpPr>
            <p:cNvPr id="26" name="Text 24"/>
            <p:cNvSpPr/>
            <p:nvPr/>
          </p:nvSpPr>
          <p:spPr>
            <a:xfrm>
              <a:off x="9326880" y="5303520"/>
              <a:ext cx="2103120" cy="731520"/>
            </a:xfrm>
            <a:prstGeom prst="rect">
              <a:avLst/>
            </a:prstGeom>
            <a:noFill/>
            <a:ln/>
          </p:spPr>
          <p:txBody>
            <a:bodyPr wrap="square"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結果</a:t>
              </a:r>
              <a:endParaRPr lang="en-US" sz="1000" dirty="0"/>
            </a:p>
            <a:p>
              <a:pPr algn="ctr" indent="0" marL="0">
                <a:buNone/>
              </a:pPr>
              <a:r>
                <a:rPr lang="en-US" sz="1000" b="1" dirty="0">
                  <a:solidFill>
                    <a:srgbClr val="FFFFFF"/>
                  </a:solidFill>
                  <a:latin typeface="Meiryo UI" pitchFamily="34" charset="0"/>
                  <a:ea typeface="Meiryo UI" pitchFamily="34" charset="-122"/>
                  <a:cs typeface="Meiryo UI" pitchFamily="34" charset="-120"/>
                </a:rPr>
                <a:t>(到達性/遅延)</a:t>
              </a:r>
              <a:endParaRPr lang="en-US" sz="1000" dirty="0"/>
            </a:p>
          </p:txBody>
        </p:sp>
        <p:sp>
          <p:nvSpPr>
            <p:cNvPr id="27" name="Text 25"/>
            <p:cNvSpPr/>
            <p:nvPr/>
          </p:nvSpPr>
          <p:spPr>
            <a:xfrm>
              <a:off x="3108960" y="5394960"/>
              <a:ext cx="640080" cy="457200"/>
            </a:xfrm>
            <a:prstGeom prst="rect">
              <a:avLst/>
            </a:prstGeom>
            <a:noFill/>
            <a:ln/>
          </p:spPr>
          <p:txBody>
            <a:bodyPr wrap="square" rtlCol="0" anchor="ctr"/>
            <a:lstStyle/>
            <a:p>
              <a:pPr algn="ctr" indent="0" marL="0">
                <a:buNone/>
              </a:pPr>
              <a:r>
                <a:rPr lang="en-US" sz="2200" dirty="0">
                  <a:solidFill>
                    <a:srgbClr val="0078D4"/>
                  </a:solidFill>
                  <a:latin typeface="Meiryo UI" pitchFamily="34" charset="0"/>
                  <a:ea typeface="Meiryo UI" pitchFamily="34" charset="-122"/>
                  <a:cs typeface="Meiryo UI" pitchFamily="34" charset="-120"/>
                </a:rPr>
                <a:t>→</a:t>
              </a:r>
              <a:endParaRPr lang="en-US" sz="2200" dirty="0"/>
            </a:p>
          </p:txBody>
        </p:sp>
        <p:sp>
          <p:nvSpPr>
            <p:cNvPr id="28" name="Text 26"/>
            <p:cNvSpPr/>
            <p:nvPr/>
          </p:nvSpPr>
          <p:spPr>
            <a:xfrm>
              <a:off x="5760720" y="5394960"/>
              <a:ext cx="640080" cy="457200"/>
            </a:xfrm>
            <a:prstGeom prst="rect">
              <a:avLst/>
            </a:prstGeom>
            <a:noFill/>
            <a:ln/>
          </p:spPr>
          <p:txBody>
            <a:bodyPr wrap="square" rtlCol="0" anchor="ctr"/>
            <a:lstStyle/>
            <a:p>
              <a:pPr algn="ctr" indent="0" marL="0">
                <a:buNone/>
              </a:pPr>
              <a:r>
                <a:rPr lang="en-US" sz="2200" dirty="0">
                  <a:solidFill>
                    <a:srgbClr val="0078D4"/>
                  </a:solidFill>
                  <a:latin typeface="Meiryo UI" pitchFamily="34" charset="0"/>
                  <a:ea typeface="Meiryo UI" pitchFamily="34" charset="-122"/>
                  <a:cs typeface="Meiryo UI" pitchFamily="34" charset="-120"/>
                </a:rPr>
                <a:t>→</a:t>
              </a:r>
              <a:endParaRPr lang="en-US" sz="2200" dirty="0"/>
            </a:p>
          </p:txBody>
        </p:sp>
        <p:sp>
          <p:nvSpPr>
            <p:cNvPr id="29" name="Text 27"/>
            <p:cNvSpPr/>
            <p:nvPr/>
          </p:nvSpPr>
          <p:spPr>
            <a:xfrm>
              <a:off x="8686800" y="5394960"/>
              <a:ext cx="640080" cy="457200"/>
            </a:xfrm>
            <a:prstGeom prst="rect">
              <a:avLst/>
            </a:prstGeom>
            <a:noFill/>
            <a:ln/>
          </p:spPr>
          <p:txBody>
            <a:bodyPr wrap="square" rtlCol="0" anchor="ctr"/>
            <a:lstStyle/>
            <a:p>
              <a:pPr algn="ctr" indent="0" marL="0">
                <a:buNone/>
              </a:pPr>
              <a:r>
                <a:rPr lang="en-US" sz="2200" dirty="0">
                  <a:solidFill>
                    <a:srgbClr val="0078D4"/>
                  </a:solidFill>
                  <a:latin typeface="Meiryo UI" pitchFamily="34" charset="0"/>
                  <a:ea typeface="Meiryo UI" pitchFamily="34" charset="-122"/>
                  <a:cs typeface="Meiryo UI" pitchFamily="34" charset="-120"/>
                </a:rPr>
                <a:t>→</a:t>
              </a:r>
              <a:endParaRPr lang="en-US" sz="2200" dirty="0"/>
            </a:p>
          </p:txBody>
        </p:sp>
      </p:spTree>
    </p:cSld>
    <p:spTree>
      <p:nvGrpSpPr>
        <p:cNvPr id="1" name=""/>
        <p:cNvGrpSpPr/>
        <p:nvPr/>
      </p:nvGrpSpPr>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ネットワーク診断ツール（後半）</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6 / 8</a:t>
            </a:r>
            <a:endParaRPr lang="en-US" sz="900" dirty="0"/>
          </a:p>
        </p:txBody>
      </p:sp>
      <p:sp>
        <p:nvSpPr>
          <p:cNvPr id="5" name="Shape 3"/>
          <p:cNvSpPr/>
          <p:nvPr/>
        </p:nvSpPr>
        <p:spPr>
          <a:xfrm>
            <a:off x="457200" y="1280160"/>
            <a:ext cx="3474720" cy="3200400"/>
          </a:xfrm>
          <a:prstGeom prst="roundRect">
            <a:avLst>
              <a:gd name="adj" fmla="val 3429"/>
            </a:avLst>
          </a:prstGeom>
          <a:solidFill>
            <a:srgbClr val="F3F2F1"/>
          </a:solidFill>
          <a:ln w="25400">
            <a:solidFill>
              <a:srgbClr val="0078D4"/>
            </a:solidFill>
            <a:prstDash val="solid"/>
          </a:ln>
        </p:spPr>
      </p:sp>
      <p:sp>
        <p:nvSpPr>
          <p:cNvPr id="6" name="Shape 4"/>
          <p:cNvSpPr/>
          <p:nvPr/>
        </p:nvSpPr>
        <p:spPr>
          <a:xfrm>
            <a:off x="548640" y="1353312"/>
            <a:ext cx="3291840" cy="457200"/>
          </a:xfrm>
          <a:prstGeom prst="roundRect">
            <a:avLst>
              <a:gd name="adj" fmla="val 16000"/>
            </a:avLst>
          </a:prstGeom>
          <a:solidFill>
            <a:srgbClr val="0078D4"/>
          </a:solidFill>
          <a:ln/>
        </p:spPr>
      </p:sp>
      <p:sp>
        <p:nvSpPr>
          <p:cNvPr id="7" name="Text 5"/>
          <p:cNvSpPr/>
          <p:nvPr/>
        </p:nvSpPr>
        <p:spPr>
          <a:xfrm>
            <a:off x="548640" y="1353312"/>
            <a:ext cx="3291840" cy="457200"/>
          </a:xfrm>
          <a:prstGeom prst="rect">
            <a:avLst/>
          </a:prstGeom>
          <a:noFill/>
          <a:ln/>
        </p:spPr>
        <p:txBody>
          <a:bodyPr wrap="square"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  接続のトラブルシューティング</a:t>
            </a:r>
            <a:endParaRPr lang="en-US" sz="1200" dirty="0"/>
          </a:p>
        </p:txBody>
      </p:sp>
      <p:sp>
        <p:nvSpPr>
          <p:cNvPr id="8" name="Text 6"/>
          <p:cNvSpPr/>
          <p:nvPr/>
        </p:nvSpPr>
        <p:spPr>
          <a:xfrm>
            <a:off x="640080" y="1920240"/>
            <a:ext cx="3108960" cy="2377440"/>
          </a:xfrm>
          <a:prstGeom prst="rect">
            <a:avLst/>
          </a:prstGeom>
          <a:noFill/>
          <a:ln/>
        </p:spPr>
        <p:txBody>
          <a:bodyPr wrap="square" rtlCol="0" anchor="t"/>
          <a:lstStyle/>
          <a:p>
            <a:pPr marL="342900" indent="-342900">
              <a:lnSpc>
                <a:spcPct val="130000"/>
              </a:lnSpc>
              <a:buSzPct val="100000"/>
              <a:buChar char="•"/>
            </a:pPr>
            <a:r>
              <a:rPr lang="en-US" sz="1050" dirty="0">
                <a:solidFill>
                  <a:srgbClr val="000000"/>
                </a:solidFill>
                <a:latin typeface="Meiryo UI" pitchFamily="34" charset="0"/>
                <a:ea typeface="Meiryo UI" pitchFamily="34" charset="-122"/>
                <a:cs typeface="Meiryo UI" pitchFamily="34" charset="-120"/>
              </a:rPr>
              <a:t>VM、VMSS、Application Gateway、Bastion ホストから宛先への接続をテストします</a:t>
            </a:r>
            <a:endParaRPr lang="en-US" sz="1050" dirty="0"/>
          </a:p>
          <a:p>
            <a:pPr marL="342900" indent="-342900">
              <a:lnSpc>
                <a:spcPct val="130000"/>
              </a:lnSpc>
              <a:buSzPct val="100000"/>
              <a:buChar char="•"/>
            </a:pPr>
            <a:r>
              <a:rPr lang="en-US" sz="1050" dirty="0">
                <a:solidFill>
                  <a:srgbClr val="000000"/>
                </a:solidFill>
                <a:latin typeface="Meiryo UI" pitchFamily="34" charset="0"/>
                <a:ea typeface="Meiryo UI" pitchFamily="34" charset="-122"/>
                <a:cs typeface="Meiryo UI" pitchFamily="34" charset="-120"/>
              </a:rPr>
              <a:t>宛先として VM、FQDN、URI、IPv4 アドレスを指定できます</a:t>
            </a:r>
            <a:endParaRPr lang="en-US" sz="1050" dirty="0"/>
          </a:p>
          <a:p>
            <a:pPr marL="342900" indent="-342900">
              <a:lnSpc>
                <a:spcPct val="130000"/>
              </a:lnSpc>
              <a:buSzPct val="100000"/>
              <a:buChar char="•"/>
            </a:pPr>
            <a:r>
              <a:rPr lang="en-US" sz="1050" dirty="0">
                <a:solidFill>
                  <a:srgbClr val="000000"/>
                </a:solidFill>
                <a:latin typeface="Meiryo UI" pitchFamily="34" charset="0"/>
                <a:ea typeface="Meiryo UI" pitchFamily="34" charset="-122"/>
                <a:cs typeface="Meiryo UI" pitchFamily="34" charset="-120"/>
              </a:rPr>
              <a:t>ポイントインタイムでの単発テストを実行します</a:t>
            </a:r>
            <a:endParaRPr lang="en-US" sz="1050" dirty="0"/>
          </a:p>
        </p:txBody>
      </p:sp>
      <p:sp>
        <p:nvSpPr>
          <p:cNvPr id="9" name="Shape 7"/>
          <p:cNvSpPr/>
          <p:nvPr/>
        </p:nvSpPr>
        <p:spPr>
          <a:xfrm>
            <a:off x="4251960" y="1280160"/>
            <a:ext cx="3474720" cy="3200400"/>
          </a:xfrm>
          <a:prstGeom prst="roundRect">
            <a:avLst>
              <a:gd name="adj" fmla="val 3429"/>
            </a:avLst>
          </a:prstGeom>
          <a:solidFill>
            <a:srgbClr val="F3F2F1"/>
          </a:solidFill>
          <a:ln w="25400">
            <a:solidFill>
              <a:srgbClr val="107C10"/>
            </a:solidFill>
            <a:prstDash val="solid"/>
          </a:ln>
        </p:spPr>
      </p:sp>
      <p:sp>
        <p:nvSpPr>
          <p:cNvPr id="10" name="Shape 8"/>
          <p:cNvSpPr/>
          <p:nvPr/>
        </p:nvSpPr>
        <p:spPr>
          <a:xfrm>
            <a:off x="4343400" y="1353312"/>
            <a:ext cx="3291840" cy="457200"/>
          </a:xfrm>
          <a:prstGeom prst="roundRect">
            <a:avLst>
              <a:gd name="adj" fmla="val 16000"/>
            </a:avLst>
          </a:prstGeom>
          <a:solidFill>
            <a:srgbClr val="107C10"/>
          </a:solidFill>
          <a:ln/>
        </p:spPr>
      </p:sp>
      <p:sp>
        <p:nvSpPr>
          <p:cNvPr id="11" name="Text 9"/>
          <p:cNvSpPr/>
          <p:nvPr/>
        </p:nvSpPr>
        <p:spPr>
          <a:xfrm>
            <a:off x="4343400" y="1353312"/>
            <a:ext cx="3291840" cy="457200"/>
          </a:xfrm>
          <a:prstGeom prst="rect">
            <a:avLst/>
          </a:prstGeom>
          <a:noFill/>
          <a:ln/>
        </p:spPr>
        <p:txBody>
          <a:bodyPr wrap="square"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  パケットキャプチャ</a:t>
            </a:r>
            <a:endParaRPr lang="en-US" sz="1200" dirty="0"/>
          </a:p>
        </p:txBody>
      </p:sp>
      <p:sp>
        <p:nvSpPr>
          <p:cNvPr id="12" name="Text 10"/>
          <p:cNvSpPr/>
          <p:nvPr/>
        </p:nvSpPr>
        <p:spPr>
          <a:xfrm>
            <a:off x="4434840" y="1920240"/>
            <a:ext cx="3108960" cy="2377440"/>
          </a:xfrm>
          <a:prstGeom prst="rect">
            <a:avLst/>
          </a:prstGeom>
          <a:noFill/>
          <a:ln/>
        </p:spPr>
        <p:txBody>
          <a:bodyPr wrap="square" rtlCol="0" anchor="t"/>
          <a:lstStyle/>
          <a:p>
            <a:pPr marL="342900" indent="-342900">
              <a:lnSpc>
                <a:spcPct val="130000"/>
              </a:lnSpc>
              <a:buSzPct val="100000"/>
              <a:buChar char="•"/>
            </a:pPr>
            <a:r>
              <a:rPr lang="en-US" sz="1050" dirty="0">
                <a:solidFill>
                  <a:srgbClr val="000000"/>
                </a:solidFill>
                <a:latin typeface="Meiryo UI" pitchFamily="34" charset="0"/>
                <a:ea typeface="Meiryo UI" pitchFamily="34" charset="-122"/>
                <a:cs typeface="Meiryo UI" pitchFamily="34" charset="-120"/>
              </a:rPr>
              <a:t>VM や VMSS のトラフィックをリモートでキャプチャするセッションを作成します</a:t>
            </a:r>
            <a:endParaRPr lang="en-US" sz="1050" dirty="0"/>
          </a:p>
          <a:p>
            <a:pPr marL="342900" indent="-342900">
              <a:lnSpc>
                <a:spcPct val="130000"/>
              </a:lnSpc>
              <a:buSzPct val="100000"/>
              <a:buChar char="•"/>
            </a:pPr>
            <a:r>
              <a:rPr lang="en-US" sz="1050" dirty="0">
                <a:solidFill>
                  <a:srgbClr val="000000"/>
                </a:solidFill>
                <a:latin typeface="Meiryo UI" pitchFamily="34" charset="0"/>
                <a:ea typeface="Meiryo UI" pitchFamily="34" charset="-122"/>
                <a:cs typeface="Meiryo UI" pitchFamily="34" charset="-120"/>
              </a:rPr>
              <a:t>Network Watcher Agent VM 拡張機能のインストールが必要です</a:t>
            </a:r>
            <a:endParaRPr lang="en-US" sz="1050" dirty="0"/>
          </a:p>
          <a:p>
            <a:pPr marL="342900" indent="-342900">
              <a:lnSpc>
                <a:spcPct val="130000"/>
              </a:lnSpc>
              <a:buSzPct val="100000"/>
              <a:buChar char="•"/>
            </a:pPr>
            <a:r>
              <a:rPr lang="en-US" sz="1050" dirty="0">
                <a:solidFill>
                  <a:srgbClr val="000000"/>
                </a:solidFill>
                <a:latin typeface="Meiryo UI" pitchFamily="34" charset="0"/>
                <a:ea typeface="Meiryo UI" pitchFamily="34" charset="-122"/>
                <a:cs typeface="Meiryo UI" pitchFamily="34" charset="-120"/>
              </a:rPr>
              <a:t>キャプチャデータはローカルディスクまたは Azure Storage Blob に保存できます</a:t>
            </a:r>
            <a:endParaRPr lang="en-US" sz="1050" dirty="0"/>
          </a:p>
          <a:p>
            <a:pPr marL="342900" indent="-342900">
              <a:lnSpc>
                <a:spcPct val="130000"/>
              </a:lnSpc>
              <a:buSzPct val="100000"/>
              <a:buChar char="•"/>
            </a:pPr>
            <a:r>
              <a:rPr lang="en-US" sz="1050" dirty="0">
                <a:solidFill>
                  <a:srgbClr val="000000"/>
                </a:solidFill>
                <a:latin typeface="Meiryo UI" pitchFamily="34" charset="0"/>
                <a:ea typeface="Meiryo UI" pitchFamily="34" charset="-122"/>
                <a:cs typeface="Meiryo UI" pitchFamily="34" charset="-120"/>
              </a:rPr>
              <a:t>Portal、PowerShell、Azure CLI、REST API からトリガーでき、VM アラートによる自動起動も可能です</a:t>
            </a:r>
            <a:endParaRPr lang="en-US" sz="1050" dirty="0"/>
          </a:p>
        </p:txBody>
      </p:sp>
      <p:sp>
        <p:nvSpPr>
          <p:cNvPr id="13" name="Shape 11"/>
          <p:cNvSpPr/>
          <p:nvPr/>
        </p:nvSpPr>
        <p:spPr>
          <a:xfrm>
            <a:off x="8046720" y="1280160"/>
            <a:ext cx="3474720" cy="3200400"/>
          </a:xfrm>
          <a:prstGeom prst="roundRect">
            <a:avLst>
              <a:gd name="adj" fmla="val 3429"/>
            </a:avLst>
          </a:prstGeom>
          <a:solidFill>
            <a:srgbClr val="F3F2F1"/>
          </a:solidFill>
          <a:ln w="25400">
            <a:solidFill>
              <a:srgbClr val="FF8C00"/>
            </a:solidFill>
            <a:prstDash val="solid"/>
          </a:ln>
        </p:spPr>
      </p:sp>
      <p:sp>
        <p:nvSpPr>
          <p:cNvPr id="14" name="Shape 12"/>
          <p:cNvSpPr/>
          <p:nvPr/>
        </p:nvSpPr>
        <p:spPr>
          <a:xfrm>
            <a:off x="8138160" y="1353312"/>
            <a:ext cx="3291840" cy="457200"/>
          </a:xfrm>
          <a:prstGeom prst="roundRect">
            <a:avLst>
              <a:gd name="adj" fmla="val 16000"/>
            </a:avLst>
          </a:prstGeom>
          <a:solidFill>
            <a:srgbClr val="FF8C00"/>
          </a:solidFill>
          <a:ln/>
        </p:spPr>
      </p:sp>
      <p:sp>
        <p:nvSpPr>
          <p:cNvPr id="15" name="Text 13"/>
          <p:cNvSpPr/>
          <p:nvPr/>
        </p:nvSpPr>
        <p:spPr>
          <a:xfrm>
            <a:off x="8138160" y="1353312"/>
            <a:ext cx="3291840" cy="457200"/>
          </a:xfrm>
          <a:prstGeom prst="rect">
            <a:avLst/>
          </a:prstGeom>
          <a:noFill/>
          <a:ln/>
        </p:spPr>
        <p:txBody>
          <a:bodyPr wrap="square"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  VPN トラブルシューティング</a:t>
            </a:r>
            <a:endParaRPr lang="en-US" sz="1200" dirty="0"/>
          </a:p>
        </p:txBody>
      </p:sp>
      <p:sp>
        <p:nvSpPr>
          <p:cNvPr id="16" name="Text 14"/>
          <p:cNvSpPr/>
          <p:nvPr/>
        </p:nvSpPr>
        <p:spPr>
          <a:xfrm>
            <a:off x="8229600" y="1920240"/>
            <a:ext cx="3108960" cy="2377440"/>
          </a:xfrm>
          <a:prstGeom prst="rect">
            <a:avLst/>
          </a:prstGeom>
          <a:noFill/>
          <a:ln/>
        </p:spPr>
        <p:txBody>
          <a:bodyPr wrap="square" rtlCol="0" anchor="t"/>
          <a:lstStyle/>
          <a:p>
            <a:pPr marL="342900" indent="-342900">
              <a:lnSpc>
                <a:spcPct val="130000"/>
              </a:lnSpc>
              <a:buSzPct val="100000"/>
              <a:buChar char="•"/>
            </a:pPr>
            <a:r>
              <a:rPr lang="en-US" sz="1050" dirty="0">
                <a:solidFill>
                  <a:srgbClr val="000000"/>
                </a:solidFill>
                <a:latin typeface="Meiryo UI" pitchFamily="34" charset="0"/>
                <a:ea typeface="Meiryo UI" pitchFamily="34" charset="-122"/>
                <a:cs typeface="Meiryo UI" pitchFamily="34" charset="-120"/>
              </a:rPr>
              <a:t>仮想ネットワークゲートウェイおよびその接続に対して複数の診断チェックを実行します</a:t>
            </a:r>
            <a:endParaRPr lang="en-US" sz="1050" dirty="0"/>
          </a:p>
          <a:p>
            <a:pPr marL="342900" indent="-342900">
              <a:lnSpc>
                <a:spcPct val="130000"/>
              </a:lnSpc>
              <a:buSzPct val="100000"/>
              <a:buChar char="•"/>
            </a:pPr>
            <a:r>
              <a:rPr lang="en-US" sz="1050" dirty="0">
                <a:solidFill>
                  <a:srgbClr val="000000"/>
                </a:solidFill>
                <a:latin typeface="Meiryo UI" pitchFamily="34" charset="0"/>
                <a:ea typeface="Meiryo UI" pitchFamily="34" charset="-122"/>
                <a:cs typeface="Meiryo UI" pitchFamily="34" charset="-120"/>
              </a:rPr>
              <a:t>VPN ゲートウェイと接続の問題をデバッグするために使用します</a:t>
            </a:r>
            <a:endParaRPr lang="en-US" sz="1050" dirty="0"/>
          </a:p>
        </p:txBody>
      </p:sp>
      <p:sp>
        <p:nvSpPr>
          <p:cNvPr id="17" name="Shape 15"/>
          <p:cNvSpPr/>
          <p:nvPr/>
        </p:nvSpPr>
        <p:spPr>
          <a:xfrm>
            <a:off x="457200" y="4754880"/>
            <a:ext cx="11274552" cy="1463040"/>
          </a:xfrm>
          <a:prstGeom prst="roundRect">
            <a:avLst>
              <a:gd name="adj" fmla="val 7500"/>
            </a:avLst>
          </a:prstGeom>
          <a:solidFill>
            <a:srgbClr val="DEECF9"/>
          </a:solidFill>
          <a:ln w="12700">
            <a:solidFill>
              <a:srgbClr val="0078D4"/>
            </a:solidFill>
            <a:prstDash val="solid"/>
          </a:ln>
        </p:spPr>
      </p:sp>
      <p:sp>
        <p:nvSpPr>
          <p:cNvPr id="18" name="Text 16"/>
          <p:cNvSpPr/>
          <p:nvPr/>
        </p:nvSpPr>
        <p:spPr>
          <a:xfrm>
            <a:off x="640080" y="4846320"/>
            <a:ext cx="2743200" cy="320040"/>
          </a:xfrm>
          <a:prstGeom prst="rect">
            <a:avLst/>
          </a:prstGeom>
          <a:noFill/>
          <a:ln/>
        </p:spPr>
        <p:txBody>
          <a:bodyPr wrap="square" rtlCol="0" anchor="ctr"/>
          <a:lstStyle/>
          <a:p>
            <a:pPr indent="0" marL="0">
              <a:buNone/>
            </a:pPr>
            <a:r>
              <a:rPr lang="en-US" sz="1200" b="1" dirty="0">
                <a:solidFill>
                  <a:srgbClr val="0078D4"/>
                </a:solidFill>
                <a:latin typeface="Meiryo UI" pitchFamily="34" charset="0"/>
                <a:ea typeface="Meiryo UI" pitchFamily="34" charset="-122"/>
                <a:cs typeface="Meiryo UI" pitchFamily="34" charset="-120"/>
              </a:rPr>
              <a:t>📋  接続テストのフロー</a:t>
            </a:r>
            <a:endParaRPr lang="en-US" sz="1200" dirty="0"/>
          </a:p>
        </p:txBody>
      </p:sp>
      <p:sp>
        <p:nvSpPr>
          <p:cNvPr id="19" name="Shape 17"/>
          <p:cNvSpPr/>
          <p:nvPr/>
        </p:nvSpPr>
        <p:spPr>
          <a:xfrm>
            <a:off x="914400" y="5303520"/>
            <a:ext cx="2103120" cy="731520"/>
          </a:xfrm>
          <a:prstGeom prst="roundRect">
            <a:avLst>
              <a:gd name="adj" fmla="val 12500"/>
            </a:avLst>
          </a:prstGeom>
          <a:solidFill>
            <a:srgbClr val="0078D4"/>
          </a:solidFill>
          <a:ln/>
        </p:spPr>
      </p:sp>
      <p:sp>
        <p:nvSpPr>
          <p:cNvPr id="20" name="Text 18"/>
          <p:cNvSpPr/>
          <p:nvPr/>
        </p:nvSpPr>
        <p:spPr>
          <a:xfrm>
            <a:off x="914400" y="5303520"/>
            <a:ext cx="2103120" cy="731520"/>
          </a:xfrm>
          <a:prstGeom prst="rect">
            <a:avLst/>
          </a:prstGeom>
          <a:noFill/>
          <a:ln/>
        </p:spPr>
        <p:txBody>
          <a:bodyPr wrap="square"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ソース</a:t>
            </a:r>
            <a:endParaRPr lang="en-US" sz="1000" dirty="0"/>
          </a:p>
          <a:p>
            <a:pPr algn="ctr" indent="0" marL="0">
              <a:buNone/>
            </a:pPr>
            <a:r>
              <a:rPr lang="en-US" sz="1000" b="1" dirty="0">
                <a:solidFill>
                  <a:srgbClr val="FFFFFF"/>
                </a:solidFill>
                <a:latin typeface="Meiryo UI" pitchFamily="34" charset="0"/>
                <a:ea typeface="Meiryo UI" pitchFamily="34" charset="-122"/>
                <a:cs typeface="Meiryo UI" pitchFamily="34" charset="-120"/>
              </a:rPr>
              <a:t>(VM/GW/Bastion)</a:t>
            </a:r>
            <a:endParaRPr lang="en-US" sz="1000" dirty="0"/>
          </a:p>
        </p:txBody>
      </p:sp>
      <p:sp>
        <p:nvSpPr>
          <p:cNvPr id="21" name="Shape 19"/>
          <p:cNvSpPr/>
          <p:nvPr/>
        </p:nvSpPr>
        <p:spPr>
          <a:xfrm>
            <a:off x="3840480" y="5303520"/>
            <a:ext cx="1828800" cy="731520"/>
          </a:xfrm>
          <a:prstGeom prst="roundRect">
            <a:avLst>
              <a:gd name="adj" fmla="val 12500"/>
            </a:avLst>
          </a:prstGeom>
          <a:solidFill>
            <a:srgbClr val="FF8C00"/>
          </a:solidFill>
          <a:ln/>
        </p:spPr>
      </p:sp>
      <p:sp>
        <p:nvSpPr>
          <p:cNvPr id="22" name="Text 20"/>
          <p:cNvSpPr/>
          <p:nvPr/>
        </p:nvSpPr>
        <p:spPr>
          <a:xfrm>
            <a:off x="3840480" y="5303520"/>
            <a:ext cx="1828800" cy="731520"/>
          </a:xfrm>
          <a:prstGeom prst="rect">
            <a:avLst/>
          </a:prstGeom>
          <a:noFill/>
          <a:ln/>
        </p:spPr>
        <p:txBody>
          <a:bodyPr wrap="square"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接続テスト</a:t>
            </a:r>
            <a:endParaRPr lang="en-US" sz="1000" dirty="0"/>
          </a:p>
          <a:p>
            <a:pPr algn="ctr" indent="0" marL="0">
              <a:buNone/>
            </a:pPr>
            <a:r>
              <a:rPr lang="en-US" sz="1000" b="1" dirty="0">
                <a:solidFill>
                  <a:srgbClr val="FFFFFF"/>
                </a:solidFill>
                <a:latin typeface="Meiryo UI" pitchFamily="34" charset="0"/>
                <a:ea typeface="Meiryo UI" pitchFamily="34" charset="-122"/>
                <a:cs typeface="Meiryo UI" pitchFamily="34" charset="-120"/>
              </a:rPr>
              <a:t>実行</a:t>
            </a:r>
            <a:endParaRPr lang="en-US" sz="1000" dirty="0"/>
          </a:p>
        </p:txBody>
      </p:sp>
      <p:sp>
        <p:nvSpPr>
          <p:cNvPr id="23" name="Shape 21"/>
          <p:cNvSpPr/>
          <p:nvPr/>
        </p:nvSpPr>
        <p:spPr>
          <a:xfrm>
            <a:off x="6492240" y="5303520"/>
            <a:ext cx="2103120" cy="731520"/>
          </a:xfrm>
          <a:prstGeom prst="roundRect">
            <a:avLst>
              <a:gd name="adj" fmla="val 12500"/>
            </a:avLst>
          </a:prstGeom>
          <a:solidFill>
            <a:srgbClr val="107C10"/>
          </a:solidFill>
          <a:ln/>
        </p:spPr>
      </p:sp>
      <p:sp>
        <p:nvSpPr>
          <p:cNvPr id="24" name="Text 22"/>
          <p:cNvSpPr/>
          <p:nvPr/>
        </p:nvSpPr>
        <p:spPr>
          <a:xfrm>
            <a:off x="6492240" y="5303520"/>
            <a:ext cx="2103120" cy="731520"/>
          </a:xfrm>
          <a:prstGeom prst="rect">
            <a:avLst/>
          </a:prstGeom>
          <a:noFill/>
          <a:ln/>
        </p:spPr>
        <p:txBody>
          <a:bodyPr wrap="square"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宛先</a:t>
            </a:r>
            <a:endParaRPr lang="en-US" sz="1000" dirty="0"/>
          </a:p>
          <a:p>
            <a:pPr algn="ctr" indent="0" marL="0">
              <a:buNone/>
            </a:pPr>
            <a:r>
              <a:rPr lang="en-US" sz="1000" b="1" dirty="0">
                <a:solidFill>
                  <a:srgbClr val="FFFFFF"/>
                </a:solidFill>
                <a:latin typeface="Meiryo UI" pitchFamily="34" charset="0"/>
                <a:ea typeface="Meiryo UI" pitchFamily="34" charset="-122"/>
                <a:cs typeface="Meiryo UI" pitchFamily="34" charset="-120"/>
              </a:rPr>
              <a:t>(VM/FQDN/IP)</a:t>
            </a:r>
            <a:endParaRPr lang="en-US" sz="1000" dirty="0"/>
          </a:p>
        </p:txBody>
      </p:sp>
      <p:sp>
        <p:nvSpPr>
          <p:cNvPr id="25" name="Shape 23"/>
          <p:cNvSpPr/>
          <p:nvPr/>
        </p:nvSpPr>
        <p:spPr>
          <a:xfrm>
            <a:off x="9326880" y="5303520"/>
            <a:ext cx="2103120" cy="731520"/>
          </a:xfrm>
          <a:prstGeom prst="roundRect">
            <a:avLst>
              <a:gd name="adj" fmla="val 12500"/>
            </a:avLst>
          </a:prstGeom>
          <a:solidFill>
            <a:srgbClr val="5C2D91"/>
          </a:solidFill>
          <a:ln/>
        </p:spPr>
      </p:sp>
      <p:sp>
        <p:nvSpPr>
          <p:cNvPr id="26" name="Text 24"/>
          <p:cNvSpPr/>
          <p:nvPr/>
        </p:nvSpPr>
        <p:spPr>
          <a:xfrm>
            <a:off x="9326880" y="5303520"/>
            <a:ext cx="2103120" cy="731520"/>
          </a:xfrm>
          <a:prstGeom prst="rect">
            <a:avLst/>
          </a:prstGeom>
          <a:noFill/>
          <a:ln/>
        </p:spPr>
        <p:txBody>
          <a:bodyPr wrap="square"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結果</a:t>
            </a:r>
            <a:endParaRPr lang="en-US" sz="1000" dirty="0"/>
          </a:p>
          <a:p>
            <a:pPr algn="ctr" indent="0" marL="0">
              <a:buNone/>
            </a:pPr>
            <a:r>
              <a:rPr lang="en-US" sz="1000" b="1" dirty="0">
                <a:solidFill>
                  <a:srgbClr val="FFFFFF"/>
                </a:solidFill>
                <a:latin typeface="Meiryo UI" pitchFamily="34" charset="0"/>
                <a:ea typeface="Meiryo UI" pitchFamily="34" charset="-122"/>
                <a:cs typeface="Meiryo UI" pitchFamily="34" charset="-120"/>
              </a:rPr>
              <a:t>(到達性/遅延)</a:t>
            </a:r>
            <a:endParaRPr lang="en-US" sz="1000" dirty="0"/>
          </a:p>
        </p:txBody>
      </p:sp>
      <p:sp>
        <p:nvSpPr>
          <p:cNvPr id="27" name="Text 25"/>
          <p:cNvSpPr/>
          <p:nvPr/>
        </p:nvSpPr>
        <p:spPr>
          <a:xfrm>
            <a:off x="3108960" y="5394960"/>
            <a:ext cx="640080" cy="457200"/>
          </a:xfrm>
          <a:prstGeom prst="rect">
            <a:avLst/>
          </a:prstGeom>
          <a:noFill/>
          <a:ln/>
        </p:spPr>
        <p:txBody>
          <a:bodyPr wrap="square" rtlCol="0" anchor="ctr"/>
          <a:lstStyle/>
          <a:p>
            <a:pPr algn="ctr" indent="0" marL="0">
              <a:buNone/>
            </a:pPr>
            <a:r>
              <a:rPr lang="en-US" sz="2200" dirty="0">
                <a:solidFill>
                  <a:srgbClr val="0078D4"/>
                </a:solidFill>
                <a:latin typeface="Meiryo UI" pitchFamily="34" charset="0"/>
                <a:ea typeface="Meiryo UI" pitchFamily="34" charset="-122"/>
                <a:cs typeface="Meiryo UI" pitchFamily="34" charset="-120"/>
              </a:rPr>
              <a:t>→</a:t>
            </a:r>
            <a:endParaRPr lang="en-US" sz="2200" dirty="0"/>
          </a:p>
        </p:txBody>
      </p:sp>
      <p:sp>
        <p:nvSpPr>
          <p:cNvPr id="28" name="Text 26"/>
          <p:cNvSpPr/>
          <p:nvPr/>
        </p:nvSpPr>
        <p:spPr>
          <a:xfrm>
            <a:off x="5760720" y="5394960"/>
            <a:ext cx="640080" cy="457200"/>
          </a:xfrm>
          <a:prstGeom prst="rect">
            <a:avLst/>
          </a:prstGeom>
          <a:noFill/>
          <a:ln/>
        </p:spPr>
        <p:txBody>
          <a:bodyPr wrap="square" rtlCol="0" anchor="ctr"/>
          <a:lstStyle/>
          <a:p>
            <a:pPr algn="ctr" indent="0" marL="0">
              <a:buNone/>
            </a:pPr>
            <a:r>
              <a:rPr lang="en-US" sz="2200" dirty="0">
                <a:solidFill>
                  <a:srgbClr val="0078D4"/>
                </a:solidFill>
                <a:latin typeface="Meiryo UI" pitchFamily="34" charset="0"/>
                <a:ea typeface="Meiryo UI" pitchFamily="34" charset="-122"/>
                <a:cs typeface="Meiryo UI" pitchFamily="34" charset="-120"/>
              </a:rPr>
              <a:t>→</a:t>
            </a:r>
            <a:endParaRPr lang="en-US" sz="2200" dirty="0"/>
          </a:p>
        </p:txBody>
      </p:sp>
      <p:sp>
        <p:nvSpPr>
          <p:cNvPr id="29" name="Text 27"/>
          <p:cNvSpPr/>
          <p:nvPr/>
        </p:nvSpPr>
        <p:spPr>
          <a:xfrm>
            <a:off x="8686800" y="5394960"/>
            <a:ext cx="640080" cy="457200"/>
          </a:xfrm>
          <a:prstGeom prst="rect">
            <a:avLst/>
          </a:prstGeom>
          <a:noFill/>
          <a:ln/>
        </p:spPr>
        <p:txBody>
          <a:bodyPr wrap="square" rtlCol="0" anchor="ctr"/>
          <a:lstStyle/>
          <a:p>
            <a:pPr algn="ctr" indent="0" marL="0">
              <a:buNone/>
            </a:pPr>
            <a:r>
              <a:rPr lang="en-US" sz="2200" dirty="0">
                <a:solidFill>
                  <a:srgbClr val="0078D4"/>
                </a:solidFill>
                <a:latin typeface="Meiryo UI" pitchFamily="34" charset="0"/>
                <a:ea typeface="Meiryo UI" pitchFamily="34" charset="-122"/>
                <a:cs typeface="Meiryo UI" pitchFamily="34" charset="-120"/>
              </a:rPr>
              <a:t>→</a:t>
            </a:r>
            <a:endParaRPr lang="en-US" sz="2200" dirty="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フローログとトラフィック分析</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7 / 8</a:t>
              </a:r>
              <a:endParaRPr lang="en-US" sz="900" dirty="0"/>
            </a:p>
          </p:txBody>
        </p:sp>
        <p:sp>
          <p:nvSpPr>
            <p:cNvPr id="5" name="Shape 3"/>
            <p:cNvSpPr/>
            <p:nvPr/>
          </p:nvSpPr>
          <p:spPr>
            <a:xfrm>
              <a:off x="457200" y="1188720"/>
              <a:ext cx="1828800" cy="822960"/>
            </a:xfrm>
            <a:prstGeom prst="roundRect">
              <a:avLst>
                <a:gd name="adj" fmla="val 11111"/>
              </a:avLst>
            </a:prstGeom>
            <a:solidFill>
              <a:srgbClr val="0078D4"/>
            </a:solidFill>
            <a:ln/>
          </p:spPr>
        </p:sp>
        <p:sp>
          <p:nvSpPr>
            <p:cNvPr id="6" name="Text 4"/>
            <p:cNvSpPr/>
            <p:nvPr/>
          </p:nvSpPr>
          <p:spPr>
            <a:xfrm>
              <a:off x="457200" y="1188720"/>
              <a:ext cx="1828800" cy="822960"/>
            </a:xfrm>
            <a:prstGeom prst="rect">
              <a:avLst/>
            </a:prstGeom>
            <a:no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VNet / NSG</a:t>
              </a:r>
              <a:endParaRPr lang="en-US" sz="1100" dirty="0"/>
            </a:p>
          </p:txBody>
        </p:sp>
        <p:sp>
          <p:nvSpPr>
            <p:cNvPr id="7" name="Shape 5"/>
            <p:cNvSpPr/>
            <p:nvPr/>
          </p:nvSpPr>
          <p:spPr>
            <a:xfrm>
              <a:off x="2926080" y="1188720"/>
              <a:ext cx="1645920" cy="822960"/>
            </a:xfrm>
            <a:prstGeom prst="roundRect">
              <a:avLst>
                <a:gd name="adj" fmla="val 11111"/>
              </a:avLst>
            </a:prstGeom>
            <a:solidFill>
              <a:srgbClr val="107C10"/>
            </a:solidFill>
            <a:ln/>
          </p:spPr>
        </p:sp>
        <p:sp>
          <p:nvSpPr>
            <p:cNvPr id="8" name="Text 6"/>
            <p:cNvSpPr/>
            <p:nvPr/>
          </p:nvSpPr>
          <p:spPr>
            <a:xfrm>
              <a:off x="2926080" y="1188720"/>
              <a:ext cx="1645920" cy="822960"/>
            </a:xfrm>
            <a:prstGeom prst="rect">
              <a:avLst/>
            </a:prstGeom>
            <a:no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フロー</a:t>
              </a:r>
              <a:endParaRPr lang="en-US" sz="1100" dirty="0"/>
            </a:p>
            <a:p>
              <a:pPr algn="ctr" indent="0" marL="0">
                <a:buNone/>
              </a:pPr>
              <a:r>
                <a:rPr lang="en-US" sz="1100" b="1" dirty="0">
                  <a:solidFill>
                    <a:srgbClr val="FFFFFF"/>
                  </a:solidFill>
                  <a:latin typeface="Meiryo UI" pitchFamily="34" charset="0"/>
                  <a:ea typeface="Meiryo UI" pitchFamily="34" charset="-122"/>
                  <a:cs typeface="Meiryo UI" pitchFamily="34" charset="-120"/>
                </a:rPr>
                <a:t>ログ</a:t>
              </a:r>
              <a:endParaRPr lang="en-US" sz="1100" dirty="0"/>
            </a:p>
          </p:txBody>
        </p:sp>
        <p:sp>
          <p:nvSpPr>
            <p:cNvPr id="9" name="Shape 7"/>
            <p:cNvSpPr/>
            <p:nvPr/>
          </p:nvSpPr>
          <p:spPr>
            <a:xfrm>
              <a:off x="5212080" y="1188720"/>
              <a:ext cx="1645920" cy="822960"/>
            </a:xfrm>
            <a:prstGeom prst="roundRect">
              <a:avLst>
                <a:gd name="adj" fmla="val 11111"/>
              </a:avLst>
            </a:prstGeom>
            <a:solidFill>
              <a:srgbClr val="FF8C00"/>
            </a:solidFill>
            <a:ln/>
          </p:spPr>
        </p:sp>
        <p:sp>
          <p:nvSpPr>
            <p:cNvPr id="10" name="Text 8"/>
            <p:cNvSpPr/>
            <p:nvPr/>
          </p:nvSpPr>
          <p:spPr>
            <a:xfrm>
              <a:off x="5212080" y="1188720"/>
              <a:ext cx="1645920" cy="822960"/>
            </a:xfrm>
            <a:prstGeom prst="rect">
              <a:avLst/>
            </a:prstGeom>
            <a:no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Azure</a:t>
              </a:r>
              <a:endParaRPr lang="en-US" sz="1100" dirty="0"/>
            </a:p>
            <a:p>
              <a:pPr algn="ctr" indent="0" marL="0">
                <a:buNone/>
              </a:pPr>
              <a:r>
                <a:rPr lang="en-US" sz="1100" b="1" dirty="0">
                  <a:solidFill>
                    <a:srgbClr val="FFFFFF"/>
                  </a:solidFill>
                  <a:latin typeface="Meiryo UI" pitchFamily="34" charset="0"/>
                  <a:ea typeface="Meiryo UI" pitchFamily="34" charset="-122"/>
                  <a:cs typeface="Meiryo UI" pitchFamily="34" charset="-120"/>
                </a:rPr>
                <a:t>Storage</a:t>
              </a:r>
              <a:endParaRPr lang="en-US" sz="1100" dirty="0"/>
            </a:p>
          </p:txBody>
        </p:sp>
        <p:sp>
          <p:nvSpPr>
            <p:cNvPr id="11" name="Shape 9"/>
            <p:cNvSpPr/>
            <p:nvPr/>
          </p:nvSpPr>
          <p:spPr>
            <a:xfrm>
              <a:off x="7498080" y="1188720"/>
              <a:ext cx="1645920" cy="822960"/>
            </a:xfrm>
            <a:prstGeom prst="roundRect">
              <a:avLst>
                <a:gd name="adj" fmla="val 11111"/>
              </a:avLst>
            </a:prstGeom>
            <a:solidFill>
              <a:srgbClr val="5C2D91"/>
            </a:solidFill>
            <a:ln/>
          </p:spPr>
        </p:sp>
        <p:sp>
          <p:nvSpPr>
            <p:cNvPr id="12" name="Text 10"/>
            <p:cNvSpPr/>
            <p:nvPr/>
          </p:nvSpPr>
          <p:spPr>
            <a:xfrm>
              <a:off x="7498080" y="1188720"/>
              <a:ext cx="1645920" cy="822960"/>
            </a:xfrm>
            <a:prstGeom prst="rect">
              <a:avLst/>
            </a:prstGeom>
            <a:no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トラフィック</a:t>
              </a:r>
              <a:endParaRPr lang="en-US" sz="1100" dirty="0"/>
            </a:p>
            <a:p>
              <a:pPr algn="ctr" indent="0" marL="0">
                <a:buNone/>
              </a:pPr>
              <a:r>
                <a:rPr lang="en-US" sz="1100" b="1" dirty="0">
                  <a:solidFill>
                    <a:srgbClr val="FFFFFF"/>
                  </a:solidFill>
                  <a:latin typeface="Meiryo UI" pitchFamily="34" charset="0"/>
                  <a:ea typeface="Meiryo UI" pitchFamily="34" charset="-122"/>
                  <a:cs typeface="Meiryo UI" pitchFamily="34" charset="-120"/>
                </a:rPr>
                <a:t>分析</a:t>
              </a:r>
              <a:endParaRPr lang="en-US" sz="1100" dirty="0"/>
            </a:p>
          </p:txBody>
        </p:sp>
        <p:sp>
          <p:nvSpPr>
            <p:cNvPr id="13" name="Shape 11"/>
            <p:cNvSpPr/>
            <p:nvPr/>
          </p:nvSpPr>
          <p:spPr>
            <a:xfrm>
              <a:off x="9784080" y="1188720"/>
              <a:ext cx="1645920" cy="822960"/>
            </a:xfrm>
            <a:prstGeom prst="roundRect">
              <a:avLst>
                <a:gd name="adj" fmla="val 11111"/>
              </a:avLst>
            </a:prstGeom>
            <a:solidFill>
              <a:srgbClr val="002050"/>
            </a:solidFill>
            <a:ln/>
          </p:spPr>
        </p:sp>
        <p:sp>
          <p:nvSpPr>
            <p:cNvPr id="14" name="Text 12"/>
            <p:cNvSpPr/>
            <p:nvPr/>
          </p:nvSpPr>
          <p:spPr>
            <a:xfrm>
              <a:off x="9784080" y="1188720"/>
              <a:ext cx="1645920" cy="822960"/>
            </a:xfrm>
            <a:prstGeom prst="rect">
              <a:avLst/>
            </a:prstGeom>
            <a:no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Log</a:t>
              </a:r>
              <a:endParaRPr lang="en-US" sz="1100" dirty="0"/>
            </a:p>
            <a:p>
              <a:pPr algn="ctr" indent="0" marL="0">
                <a:buNone/>
              </a:pPr>
              <a:r>
                <a:rPr lang="en-US" sz="1100" b="1" dirty="0">
                  <a:solidFill>
                    <a:srgbClr val="FFFFFF"/>
                  </a:solidFill>
                  <a:latin typeface="Meiryo UI" pitchFamily="34" charset="0"/>
                  <a:ea typeface="Meiryo UI" pitchFamily="34" charset="-122"/>
                  <a:cs typeface="Meiryo UI" pitchFamily="34" charset="-120"/>
                </a:rPr>
                <a:t>Analytics</a:t>
              </a:r>
              <a:endParaRPr lang="en-US" sz="1100" dirty="0"/>
            </a:p>
          </p:txBody>
        </p:sp>
        <p:sp>
          <p:nvSpPr>
            <p:cNvPr id="15" name="Text 13"/>
            <p:cNvSpPr/>
            <p:nvPr/>
          </p:nvSpPr>
          <p:spPr>
            <a:xfrm>
              <a:off x="2377440" y="1280160"/>
              <a:ext cx="457200" cy="640080"/>
            </a:xfrm>
            <a:prstGeom prst="rect">
              <a:avLst/>
            </a:prstGeom>
            <a:noFill/>
            <a:ln/>
          </p:spPr>
          <p:txBody>
            <a:bodyPr wrap="square" rtlCol="0" anchor="ctr"/>
            <a:lstStyle/>
            <a:p>
              <a:pPr algn="ctr" indent="0" marL="0">
                <a:buNone/>
              </a:pPr>
              <a:r>
                <a:rPr lang="en-US" sz="2200" dirty="0">
                  <a:solidFill>
                    <a:srgbClr val="0078D4"/>
                  </a:solidFill>
                  <a:latin typeface="Meiryo UI" pitchFamily="34" charset="0"/>
                  <a:ea typeface="Meiryo UI" pitchFamily="34" charset="-122"/>
                  <a:cs typeface="Meiryo UI" pitchFamily="34" charset="-120"/>
                </a:rPr>
                <a:t>→</a:t>
              </a:r>
              <a:endParaRPr lang="en-US" sz="2200" dirty="0"/>
            </a:p>
          </p:txBody>
        </p:sp>
        <p:sp>
          <p:nvSpPr>
            <p:cNvPr id="16" name="Text 14"/>
            <p:cNvSpPr/>
            <p:nvPr/>
          </p:nvSpPr>
          <p:spPr>
            <a:xfrm>
              <a:off x="4663440" y="1280160"/>
              <a:ext cx="457200" cy="640080"/>
            </a:xfrm>
            <a:prstGeom prst="rect">
              <a:avLst/>
            </a:prstGeom>
            <a:noFill/>
            <a:ln/>
          </p:spPr>
          <p:txBody>
            <a:bodyPr wrap="square" rtlCol="0" anchor="ctr"/>
            <a:lstStyle/>
            <a:p>
              <a:pPr algn="ctr" indent="0" marL="0">
                <a:buNone/>
              </a:pPr>
              <a:r>
                <a:rPr lang="en-US" sz="2200" dirty="0">
                  <a:solidFill>
                    <a:srgbClr val="0078D4"/>
                  </a:solidFill>
                  <a:latin typeface="Meiryo UI" pitchFamily="34" charset="0"/>
                  <a:ea typeface="Meiryo UI" pitchFamily="34" charset="-122"/>
                  <a:cs typeface="Meiryo UI" pitchFamily="34" charset="-120"/>
                </a:rPr>
                <a:t>→</a:t>
              </a:r>
              <a:endParaRPr lang="en-US" sz="2200" dirty="0"/>
            </a:p>
          </p:txBody>
        </p:sp>
        <p:sp>
          <p:nvSpPr>
            <p:cNvPr id="17" name="Text 15"/>
            <p:cNvSpPr/>
            <p:nvPr/>
          </p:nvSpPr>
          <p:spPr>
            <a:xfrm>
              <a:off x="6949440" y="1280160"/>
              <a:ext cx="457200" cy="640080"/>
            </a:xfrm>
            <a:prstGeom prst="rect">
              <a:avLst/>
            </a:prstGeom>
            <a:noFill/>
            <a:ln/>
          </p:spPr>
          <p:txBody>
            <a:bodyPr wrap="square" rtlCol="0" anchor="ctr"/>
            <a:lstStyle/>
            <a:p>
              <a:pPr algn="ctr" indent="0" marL="0">
                <a:buNone/>
              </a:pPr>
              <a:r>
                <a:rPr lang="en-US" sz="2200" dirty="0">
                  <a:solidFill>
                    <a:srgbClr val="0078D4"/>
                  </a:solidFill>
                  <a:latin typeface="Meiryo UI" pitchFamily="34" charset="0"/>
                  <a:ea typeface="Meiryo UI" pitchFamily="34" charset="-122"/>
                  <a:cs typeface="Meiryo UI" pitchFamily="34" charset="-120"/>
                </a:rPr>
                <a:t>→</a:t>
              </a:r>
              <a:endParaRPr lang="en-US" sz="2200" dirty="0"/>
            </a:p>
          </p:txBody>
        </p:sp>
        <p:sp>
          <p:nvSpPr>
            <p:cNvPr id="18" name="Text 16"/>
            <p:cNvSpPr/>
            <p:nvPr/>
          </p:nvSpPr>
          <p:spPr>
            <a:xfrm>
              <a:off x="9235440" y="1280160"/>
              <a:ext cx="457200" cy="640080"/>
            </a:xfrm>
            <a:prstGeom prst="rect">
              <a:avLst/>
            </a:prstGeom>
            <a:noFill/>
            <a:ln/>
          </p:spPr>
          <p:txBody>
            <a:bodyPr wrap="square" rtlCol="0" anchor="ctr"/>
            <a:lstStyle/>
            <a:p>
              <a:pPr algn="ctr" indent="0" marL="0">
                <a:buNone/>
              </a:pPr>
              <a:r>
                <a:rPr lang="en-US" sz="2200" dirty="0">
                  <a:solidFill>
                    <a:srgbClr val="0078D4"/>
                  </a:solidFill>
                  <a:latin typeface="Meiryo UI" pitchFamily="34" charset="0"/>
                  <a:ea typeface="Meiryo UI" pitchFamily="34" charset="-122"/>
                  <a:cs typeface="Meiryo UI" pitchFamily="34" charset="-120"/>
                </a:rPr>
                <a:t>→</a:t>
              </a:r>
              <a:endParaRPr lang="en-US" sz="2200" dirty="0"/>
            </a:p>
          </p:txBody>
        </p:sp>
        <p:sp>
          <p:nvSpPr>
            <p:cNvPr id="19" name="Shape 17"/>
            <p:cNvSpPr/>
            <p:nvPr/>
          </p:nvSpPr>
          <p:spPr>
            <a:xfrm>
              <a:off x="457200" y="2377440"/>
              <a:ext cx="5486400" cy="3840480"/>
            </a:xfrm>
            <a:prstGeom prst="roundRect">
              <a:avLst>
                <a:gd name="adj" fmla="val 2857"/>
              </a:avLst>
            </a:prstGeom>
            <a:solidFill>
              <a:srgbClr val="F3F2F1"/>
            </a:solidFill>
            <a:ln w="25400">
              <a:solidFill>
                <a:srgbClr val="107C10"/>
              </a:solidFill>
              <a:prstDash val="solid"/>
            </a:ln>
          </p:spPr>
        </p:sp>
        <p:sp>
          <p:nvSpPr>
            <p:cNvPr id="20" name="Shape 18"/>
            <p:cNvSpPr/>
            <p:nvPr/>
          </p:nvSpPr>
          <p:spPr>
            <a:xfrm>
              <a:off x="548640" y="2450592"/>
              <a:ext cx="5303520" cy="457200"/>
            </a:xfrm>
            <a:prstGeom prst="roundRect">
              <a:avLst>
                <a:gd name="adj" fmla="val 16000"/>
              </a:avLst>
            </a:prstGeom>
            <a:solidFill>
              <a:srgbClr val="107C10"/>
            </a:solidFill>
            <a:ln/>
          </p:spPr>
        </p:sp>
        <p:sp>
          <p:nvSpPr>
            <p:cNvPr id="21" name="Text 19"/>
            <p:cNvSpPr/>
            <p:nvPr/>
          </p:nvSpPr>
          <p:spPr>
            <a:xfrm>
              <a:off x="548640" y="2450592"/>
              <a:ext cx="5303520" cy="457200"/>
            </a:xfrm>
            <a:prstGeom prst="rect">
              <a:avLst/>
            </a:prstGeom>
            <a:noFill/>
            <a:ln/>
          </p:spPr>
          <p:txBody>
            <a:bodyPr wrap="square"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  フローログ（Flow Logs）</a:t>
              </a:r>
              <a:endParaRPr lang="en-US" sz="1400" dirty="0"/>
            </a:p>
          </p:txBody>
        </p:sp>
        <p:sp>
          <p:nvSpPr>
            <p:cNvPr id="22" name="Text 20"/>
            <p:cNvSpPr/>
            <p:nvPr/>
          </p:nvSpPr>
          <p:spPr>
            <a:xfrm>
              <a:off x="731520" y="3063240"/>
              <a:ext cx="4937760" cy="1463040"/>
            </a:xfrm>
            <a:prstGeom prst="rect">
              <a:avLst/>
            </a:prstGeom>
            <a:noFill/>
            <a:ln/>
          </p:spPr>
          <p:txBody>
            <a:bodyPr wrap="square" rtlCol="0" anchor="t"/>
            <a:lstStyle/>
            <a:p>
              <a:pPr marL="342900" indent="-342900">
                <a:lnSpc>
                  <a:spcPct val="135000"/>
                </a:lnSpc>
                <a:buSzPct val="100000"/>
                <a:buChar char="•"/>
              </a:pPr>
              <a:r>
                <a:rPr lang="en-US" sz="1100" dirty="0">
                  <a:solidFill>
                    <a:srgbClr val="000000"/>
                  </a:solidFill>
                  <a:latin typeface="Meiryo UI" pitchFamily="34" charset="0"/>
                  <a:ea typeface="Meiryo UI" pitchFamily="34" charset="-122"/>
                  <a:cs typeface="Meiryo UI" pitchFamily="34" charset="-120"/>
                </a:rPr>
                <a:t>Azure IP トラフィックの情報をログに記録し、Azure Storage に保存します</a:t>
              </a:r>
              <a:endParaRPr lang="en-US" sz="1100" dirty="0"/>
            </a:p>
            <a:p>
              <a:pPr marL="342900" indent="-342900">
                <a:lnSpc>
                  <a:spcPct val="135000"/>
                </a:lnSpc>
                <a:buSzPct val="100000"/>
                <a:buChar char="•"/>
              </a:pPr>
              <a:r>
                <a:rPr lang="en-US" sz="1100" b="1" dirty="0">
                  <a:solidFill>
                    <a:srgbClr val="000000"/>
                  </a:solidFill>
                  <a:latin typeface="Meiryo UI" pitchFamily="34" charset="0"/>
                  <a:ea typeface="Meiryo UI" pitchFamily="34" charset="-122"/>
                  <a:cs typeface="Meiryo UI" pitchFamily="34" charset="-120"/>
                </a:rPr>
                <a:t>VNet フローログ: 仮想ネットワーク単位でトラフィックを記録します（推奨）</a:t>
              </a:r>
              <a:endParaRPr lang="en-US" sz="1100" dirty="0"/>
            </a:p>
            <a:p>
              <a:pPr marL="342900" indent="-342900">
                <a:lnSpc>
                  <a:spcPct val="135000"/>
                </a:lnSpc>
                <a:buSzPct val="100000"/>
                <a:buChar char="•"/>
              </a:pPr>
              <a:r>
                <a:rPr lang="en-US" sz="1100" dirty="0">
                  <a:solidFill>
                    <a:srgbClr val="000000"/>
                  </a:solidFill>
                  <a:latin typeface="Meiryo UI" pitchFamily="34" charset="0"/>
                  <a:ea typeface="Meiryo UI" pitchFamily="34" charset="-122"/>
                  <a:cs typeface="Meiryo UI" pitchFamily="34" charset="-120"/>
                </a:rPr>
                <a:t>NSG フローログ: ネットワークセキュリティグループ単位でトラフィックを記録します</a:t>
              </a:r>
              <a:endParaRPr lang="en-US" sz="1100" dirty="0"/>
            </a:p>
          </p:txBody>
        </p:sp>
        <p:sp>
          <p:nvSpPr>
            <p:cNvPr id="23" name="Shape 21"/>
            <p:cNvSpPr/>
            <p:nvPr/>
          </p:nvSpPr>
          <p:spPr>
            <a:xfrm>
              <a:off x="731520" y="4663440"/>
              <a:ext cx="4937760" cy="1371600"/>
            </a:xfrm>
            <a:prstGeom prst="roundRect">
              <a:avLst>
                <a:gd name="adj" fmla="val 6667"/>
              </a:avLst>
            </a:prstGeom>
            <a:solidFill>
              <a:srgbClr val="FFF4CE"/>
            </a:solidFill>
            <a:ln w="19050">
              <a:solidFill>
                <a:srgbClr val="FF8C00"/>
              </a:solidFill>
              <a:prstDash val="solid"/>
            </a:ln>
          </p:spPr>
        </p:sp>
        <p:sp>
          <p:nvSpPr>
            <p:cNvPr id="24" name="Text 22"/>
            <p:cNvSpPr/>
            <p:nvPr/>
          </p:nvSpPr>
          <p:spPr>
            <a:xfrm>
              <a:off x="914400" y="4754880"/>
              <a:ext cx="4572000" cy="320040"/>
            </a:xfrm>
            <a:prstGeom prst="rect">
              <a:avLst/>
            </a:prstGeom>
            <a:noFill/>
            <a:ln/>
          </p:spPr>
          <p:txBody>
            <a:bodyPr wrap="square" rtlCol="0" anchor="ctr"/>
            <a:lstStyle/>
            <a:p>
              <a:pPr indent="0" marL="0">
                <a:buNone/>
              </a:pPr>
              <a:r>
                <a:rPr lang="en-US" sz="1100" b="1" dirty="0">
                  <a:solidFill>
                    <a:srgbClr val="D13438"/>
                  </a:solidFill>
                  <a:latin typeface="Meiryo UI" pitchFamily="34" charset="0"/>
                  <a:ea typeface="Meiryo UI" pitchFamily="34" charset="-122"/>
                  <a:cs typeface="Meiryo UI" pitchFamily="34" charset="-120"/>
                </a:rPr>
                <a:t>⚠️  重要: NSG フローログの廃止予定</a:t>
              </a:r>
              <a:endParaRPr lang="en-US" sz="1100" dirty="0"/>
            </a:p>
          </p:txBody>
        </p:sp>
        <p:sp>
          <p:nvSpPr>
            <p:cNvPr id="25" name="Text 23"/>
            <p:cNvSpPr/>
            <p:nvPr/>
          </p:nvSpPr>
          <p:spPr>
            <a:xfrm>
              <a:off x="914400" y="5074920"/>
              <a:ext cx="4572000" cy="914400"/>
            </a:xfrm>
            <a:prstGeom prst="rect">
              <a:avLst/>
            </a:prstGeom>
            <a:noFill/>
            <a:ln/>
          </p:spPr>
          <p:txBody>
            <a:bodyPr wrap="square" rtlCol="0" anchor="t"/>
            <a:lstStyle/>
            <a:p>
              <a:pPr indent="0" marL="0">
                <a:lnSpc>
                  <a:spcPct val="120000"/>
                </a:lnSpc>
                <a:buNone/>
              </a:pPr>
              <a:r>
                <a:rPr lang="en-US" sz="1050" dirty="0">
                  <a:solidFill>
                    <a:srgbClr val="000000"/>
                  </a:solidFill>
                  <a:latin typeface="Meiryo UI" pitchFamily="34" charset="0"/>
                  <a:ea typeface="Meiryo UI" pitchFamily="34" charset="-122"/>
                  <a:cs typeface="Meiryo UI" pitchFamily="34" charset="-120"/>
                </a:rPr>
                <a:t>• NSG フローログは 2027 年 9 月 30 日 に廃止予定です
</a:t>
              </a:r>
              <a:pPr indent="0" marL="0">
                <a:lnSpc>
                  <a:spcPct val="120000"/>
                </a:lnSpc>
                <a:buNone/>
              </a:pPr>
              <a:r>
                <a:rPr lang="en-US" sz="1050" dirty="0">
                  <a:solidFill>
                    <a:srgbClr val="000000"/>
                  </a:solidFill>
                  <a:latin typeface="Meiryo UI" pitchFamily="34" charset="0"/>
                  <a:ea typeface="Meiryo UI" pitchFamily="34" charset="-122"/>
                  <a:cs typeface="Meiryo UI" pitchFamily="34" charset="-120"/>
                </a:rPr>
                <a:t>• 2025 年 6 月 30 日以降、新規作成ができなくなります
</a:t>
              </a:r>
              <a:pPr indent="0" marL="0">
                <a:lnSpc>
                  <a:spcPct val="120000"/>
                </a:lnSpc>
                <a:buNone/>
              </a:pPr>
              <a:r>
                <a:rPr lang="en-US" sz="1050" b="1" dirty="0">
                  <a:solidFill>
                    <a:srgbClr val="000000"/>
                  </a:solidFill>
                  <a:latin typeface="Meiryo UI" pitchFamily="34" charset="0"/>
                  <a:ea typeface="Meiryo UI" pitchFamily="34" charset="-122"/>
                  <a:cs typeface="Meiryo UI" pitchFamily="34" charset="-120"/>
                </a:rPr>
                <a:t>• VNet フローログへの移行が推奨されています</a:t>
              </a:r>
              <a:endParaRPr lang="en-US" sz="1050" dirty="0"/>
            </a:p>
          </p:txBody>
        </p:sp>
        <p:sp>
          <p:nvSpPr>
            <p:cNvPr id="26" name="Shape 24"/>
            <p:cNvSpPr/>
            <p:nvPr/>
          </p:nvSpPr>
          <p:spPr>
            <a:xfrm>
              <a:off x="6217920" y="2377440"/>
              <a:ext cx="5486400" cy="3840480"/>
            </a:xfrm>
            <a:prstGeom prst="roundRect">
              <a:avLst>
                <a:gd name="adj" fmla="val 2857"/>
              </a:avLst>
            </a:prstGeom>
            <a:solidFill>
              <a:srgbClr val="F3F2F1"/>
            </a:solidFill>
            <a:ln w="25400">
              <a:solidFill>
                <a:srgbClr val="5C2D91"/>
              </a:solidFill>
              <a:prstDash val="solid"/>
            </a:ln>
          </p:spPr>
        </p:sp>
        <p:sp>
          <p:nvSpPr>
            <p:cNvPr id="27" name="Shape 25"/>
            <p:cNvSpPr/>
            <p:nvPr/>
          </p:nvSpPr>
          <p:spPr>
            <a:xfrm>
              <a:off x="6309360" y="2450592"/>
              <a:ext cx="5303520" cy="457200"/>
            </a:xfrm>
            <a:prstGeom prst="roundRect">
              <a:avLst>
                <a:gd name="adj" fmla="val 16000"/>
              </a:avLst>
            </a:prstGeom>
            <a:solidFill>
              <a:srgbClr val="5C2D91"/>
            </a:solidFill>
            <a:ln/>
          </p:spPr>
        </p:sp>
        <p:sp>
          <p:nvSpPr>
            <p:cNvPr id="28" name="Text 26"/>
            <p:cNvSpPr/>
            <p:nvPr/>
          </p:nvSpPr>
          <p:spPr>
            <a:xfrm>
              <a:off x="6309360" y="2450592"/>
              <a:ext cx="5303520" cy="457200"/>
            </a:xfrm>
            <a:prstGeom prst="rect">
              <a:avLst/>
            </a:prstGeom>
            <a:noFill/>
            <a:ln/>
          </p:spPr>
          <p:txBody>
            <a:bodyPr wrap="square"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  トラフィック分析（Traffic Analytics）</a:t>
              </a:r>
              <a:endParaRPr lang="en-US" sz="1400" dirty="0"/>
            </a:p>
          </p:txBody>
        </p:sp>
        <p:sp>
          <p:nvSpPr>
            <p:cNvPr id="29" name="Text 27"/>
            <p:cNvSpPr/>
            <p:nvPr/>
          </p:nvSpPr>
          <p:spPr>
            <a:xfrm>
              <a:off x="6400800" y="3063240"/>
              <a:ext cx="5120640" cy="3017520"/>
            </a:xfrm>
            <a:prstGeom prst="rect">
              <a:avLst/>
            </a:prstGeom>
            <a:noFill/>
            <a:ln/>
          </p:spPr>
          <p:txBody>
            <a:bodyPr wrap="square" rtlCol="0" anchor="t"/>
            <a:lstStyle/>
            <a:p>
              <a:pPr marL="342900" indent="-342900">
                <a:lnSpc>
                  <a:spcPct val="135000"/>
                </a:lnSpc>
                <a:buSzPct val="100000"/>
                <a:buChar char="•"/>
              </a:pPr>
              <a:r>
                <a:rPr lang="en-US" sz="1100" dirty="0">
                  <a:solidFill>
                    <a:srgbClr val="000000"/>
                  </a:solidFill>
                  <a:latin typeface="Meiryo UI" pitchFamily="34" charset="0"/>
                  <a:ea typeface="Meiryo UI" pitchFamily="34" charset="-122"/>
                  <a:cs typeface="Meiryo UI" pitchFamily="34" charset="-120"/>
                </a:rPr>
                <a:t>フローログデータのリッチな可視化・クエリ・分析機能を提供します</a:t>
              </a:r>
              <a:endParaRPr lang="en-US" sz="1100" dirty="0"/>
            </a:p>
            <a:p>
              <a:pPr marL="342900" indent="-342900">
                <a:lnSpc>
                  <a:spcPct val="135000"/>
                </a:lnSpc>
                <a:buSzPct val="100000"/>
                <a:buChar char="•"/>
              </a:pPr>
              <a:r>
                <a:rPr lang="en-US" sz="1100" dirty="0">
                  <a:solidFill>
                    <a:srgbClr val="000000"/>
                  </a:solidFill>
                  <a:latin typeface="Meiryo UI" pitchFamily="34" charset="0"/>
                  <a:ea typeface="Meiryo UI" pitchFamily="34" charset="-122"/>
                  <a:cs typeface="Meiryo UI" pitchFamily="34" charset="-120"/>
                </a:rPr>
                <a:t>Log Analytics ワークスペースと連携し、ネットワークトラフィックのパターンを把握できます</a:t>
              </a:r>
              <a:endParaRPr lang="en-US" sz="1100" dirty="0"/>
            </a:p>
            <a:p>
              <a:pPr marL="342900" indent="-342900">
                <a:lnSpc>
                  <a:spcPct val="135000"/>
                </a:lnSpc>
                <a:buSzPct val="100000"/>
                <a:buChar char="•"/>
              </a:pPr>
              <a:r>
                <a:rPr lang="en-US" sz="1100" dirty="0">
                  <a:solidFill>
                    <a:srgbClr val="000000"/>
                  </a:solidFill>
                  <a:latin typeface="Meiryo UI" pitchFamily="34" charset="0"/>
                  <a:ea typeface="Meiryo UI" pitchFamily="34" charset="-122"/>
                  <a:cs typeface="Meiryo UI" pitchFamily="34" charset="-120"/>
                </a:rPr>
                <a:t>データ収集ルール（DCR）とデータ収集エンドポイント（DCE）リソースを自動作成します</a:t>
              </a:r>
              <a:endParaRPr lang="en-US" sz="1100" dirty="0"/>
            </a:p>
            <a:p>
              <a:pPr marL="342900" indent="-342900">
                <a:lnSpc>
                  <a:spcPct val="135000"/>
                </a:lnSpc>
                <a:buSzPct val="100000"/>
                <a:buChar char="•"/>
              </a:pPr>
              <a:r>
                <a:rPr lang="en-US" sz="1100" dirty="0">
                  <a:solidFill>
                    <a:srgbClr val="000000"/>
                  </a:solidFill>
                  <a:latin typeface="Meiryo UI" pitchFamily="34" charset="0"/>
                  <a:ea typeface="Meiryo UI" pitchFamily="34" charset="-122"/>
                  <a:cs typeface="Meiryo UI" pitchFamily="34" charset="-120"/>
                </a:rPr>
                <a:t>処理される生フローログデータ量に基づいて課金されます</a:t>
              </a:r>
              <a:endParaRPr lang="en-US" sz="1100" dirty="0"/>
            </a:p>
          </p:txBody>
        </p:sp>
      </p:spTree>
    </p:cSld>
    <p:spTree>
      <p:nvGrpSpPr>
        <p:cNvPr id="1" name=""/>
        <p:cNvGrpSpPr/>
        <p:nvPr/>
      </p:nvGrpSpPr>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フローログとトラフィック分析</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7 / 8</a:t>
            </a:r>
            <a:endParaRPr lang="en-US" sz="900" dirty="0"/>
          </a:p>
        </p:txBody>
      </p:sp>
      <p:sp>
        <p:nvSpPr>
          <p:cNvPr id="5" name="Shape 3"/>
          <p:cNvSpPr/>
          <p:nvPr/>
        </p:nvSpPr>
        <p:spPr>
          <a:xfrm>
            <a:off x="457200" y="1188720"/>
            <a:ext cx="1828800" cy="822960"/>
          </a:xfrm>
          <a:prstGeom prst="roundRect">
            <a:avLst>
              <a:gd name="adj" fmla="val 11111"/>
            </a:avLst>
          </a:prstGeom>
          <a:solidFill>
            <a:srgbClr val="0078D4"/>
          </a:solidFill>
          <a:ln/>
        </p:spPr>
      </p:sp>
      <p:sp>
        <p:nvSpPr>
          <p:cNvPr id="6" name="Text 4"/>
          <p:cNvSpPr/>
          <p:nvPr/>
        </p:nvSpPr>
        <p:spPr>
          <a:xfrm>
            <a:off x="457200" y="1188720"/>
            <a:ext cx="1828800" cy="822960"/>
          </a:xfrm>
          <a:prstGeom prst="rect">
            <a:avLst/>
          </a:prstGeom>
          <a:no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VNet / NSG</a:t>
            </a:r>
            <a:endParaRPr lang="en-US" sz="1100" dirty="0"/>
          </a:p>
        </p:txBody>
      </p:sp>
      <p:sp>
        <p:nvSpPr>
          <p:cNvPr id="7" name="Shape 5"/>
          <p:cNvSpPr/>
          <p:nvPr/>
        </p:nvSpPr>
        <p:spPr>
          <a:xfrm>
            <a:off x="2926080" y="1188720"/>
            <a:ext cx="1645920" cy="822960"/>
          </a:xfrm>
          <a:prstGeom prst="roundRect">
            <a:avLst>
              <a:gd name="adj" fmla="val 11111"/>
            </a:avLst>
          </a:prstGeom>
          <a:solidFill>
            <a:srgbClr val="107C10"/>
          </a:solidFill>
          <a:ln/>
        </p:spPr>
      </p:sp>
      <p:sp>
        <p:nvSpPr>
          <p:cNvPr id="8" name="Text 6"/>
          <p:cNvSpPr/>
          <p:nvPr/>
        </p:nvSpPr>
        <p:spPr>
          <a:xfrm>
            <a:off x="2926080" y="1188720"/>
            <a:ext cx="1645920" cy="822960"/>
          </a:xfrm>
          <a:prstGeom prst="rect">
            <a:avLst/>
          </a:prstGeom>
          <a:no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フロー</a:t>
            </a:r>
            <a:endParaRPr lang="en-US" sz="1100" dirty="0"/>
          </a:p>
          <a:p>
            <a:pPr algn="ctr" indent="0" marL="0">
              <a:buNone/>
            </a:pPr>
            <a:r>
              <a:rPr lang="en-US" sz="1100" b="1" dirty="0">
                <a:solidFill>
                  <a:srgbClr val="FFFFFF"/>
                </a:solidFill>
                <a:latin typeface="Meiryo UI" pitchFamily="34" charset="0"/>
                <a:ea typeface="Meiryo UI" pitchFamily="34" charset="-122"/>
                <a:cs typeface="Meiryo UI" pitchFamily="34" charset="-120"/>
              </a:rPr>
              <a:t>ログ</a:t>
            </a:r>
            <a:endParaRPr lang="en-US" sz="1100" dirty="0"/>
          </a:p>
        </p:txBody>
      </p:sp>
      <p:sp>
        <p:nvSpPr>
          <p:cNvPr id="9" name="Shape 7"/>
          <p:cNvSpPr/>
          <p:nvPr/>
        </p:nvSpPr>
        <p:spPr>
          <a:xfrm>
            <a:off x="5212080" y="1188720"/>
            <a:ext cx="1645920" cy="822960"/>
          </a:xfrm>
          <a:prstGeom prst="roundRect">
            <a:avLst>
              <a:gd name="adj" fmla="val 11111"/>
            </a:avLst>
          </a:prstGeom>
          <a:solidFill>
            <a:srgbClr val="FF8C00"/>
          </a:solidFill>
          <a:ln/>
        </p:spPr>
      </p:sp>
      <p:sp>
        <p:nvSpPr>
          <p:cNvPr id="10" name="Text 8"/>
          <p:cNvSpPr/>
          <p:nvPr/>
        </p:nvSpPr>
        <p:spPr>
          <a:xfrm>
            <a:off x="5212080" y="1188720"/>
            <a:ext cx="1645920" cy="822960"/>
          </a:xfrm>
          <a:prstGeom prst="rect">
            <a:avLst/>
          </a:prstGeom>
          <a:no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Azure</a:t>
            </a:r>
            <a:endParaRPr lang="en-US" sz="1100" dirty="0"/>
          </a:p>
          <a:p>
            <a:pPr algn="ctr" indent="0" marL="0">
              <a:buNone/>
            </a:pPr>
            <a:r>
              <a:rPr lang="en-US" sz="1100" b="1" dirty="0">
                <a:solidFill>
                  <a:srgbClr val="FFFFFF"/>
                </a:solidFill>
                <a:latin typeface="Meiryo UI" pitchFamily="34" charset="0"/>
                <a:ea typeface="Meiryo UI" pitchFamily="34" charset="-122"/>
                <a:cs typeface="Meiryo UI" pitchFamily="34" charset="-120"/>
              </a:rPr>
              <a:t>Storage</a:t>
            </a:r>
            <a:endParaRPr lang="en-US" sz="1100" dirty="0"/>
          </a:p>
        </p:txBody>
      </p:sp>
      <p:sp>
        <p:nvSpPr>
          <p:cNvPr id="11" name="Shape 9"/>
          <p:cNvSpPr/>
          <p:nvPr/>
        </p:nvSpPr>
        <p:spPr>
          <a:xfrm>
            <a:off x="7498080" y="1188720"/>
            <a:ext cx="1645920" cy="822960"/>
          </a:xfrm>
          <a:prstGeom prst="roundRect">
            <a:avLst>
              <a:gd name="adj" fmla="val 11111"/>
            </a:avLst>
          </a:prstGeom>
          <a:solidFill>
            <a:srgbClr val="5C2D91"/>
          </a:solidFill>
          <a:ln/>
        </p:spPr>
      </p:sp>
      <p:sp>
        <p:nvSpPr>
          <p:cNvPr id="12" name="Text 10"/>
          <p:cNvSpPr/>
          <p:nvPr/>
        </p:nvSpPr>
        <p:spPr>
          <a:xfrm>
            <a:off x="7498080" y="1188720"/>
            <a:ext cx="1645920" cy="822960"/>
          </a:xfrm>
          <a:prstGeom prst="rect">
            <a:avLst/>
          </a:prstGeom>
          <a:no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トラフィック</a:t>
            </a:r>
            <a:endParaRPr lang="en-US" sz="1100" dirty="0"/>
          </a:p>
          <a:p>
            <a:pPr algn="ctr" indent="0" marL="0">
              <a:buNone/>
            </a:pPr>
            <a:r>
              <a:rPr lang="en-US" sz="1100" b="1" dirty="0">
                <a:solidFill>
                  <a:srgbClr val="FFFFFF"/>
                </a:solidFill>
                <a:latin typeface="Meiryo UI" pitchFamily="34" charset="0"/>
                <a:ea typeface="Meiryo UI" pitchFamily="34" charset="-122"/>
                <a:cs typeface="Meiryo UI" pitchFamily="34" charset="-120"/>
              </a:rPr>
              <a:t>分析</a:t>
            </a:r>
            <a:endParaRPr lang="en-US" sz="1100" dirty="0"/>
          </a:p>
        </p:txBody>
      </p:sp>
      <p:sp>
        <p:nvSpPr>
          <p:cNvPr id="13" name="Shape 11"/>
          <p:cNvSpPr/>
          <p:nvPr/>
        </p:nvSpPr>
        <p:spPr>
          <a:xfrm>
            <a:off x="9784080" y="1188720"/>
            <a:ext cx="1645920" cy="822960"/>
          </a:xfrm>
          <a:prstGeom prst="roundRect">
            <a:avLst>
              <a:gd name="adj" fmla="val 11111"/>
            </a:avLst>
          </a:prstGeom>
          <a:solidFill>
            <a:srgbClr val="002050"/>
          </a:solidFill>
          <a:ln/>
        </p:spPr>
      </p:sp>
      <p:sp>
        <p:nvSpPr>
          <p:cNvPr id="14" name="Text 12"/>
          <p:cNvSpPr/>
          <p:nvPr/>
        </p:nvSpPr>
        <p:spPr>
          <a:xfrm>
            <a:off x="9784080" y="1188720"/>
            <a:ext cx="1645920" cy="822960"/>
          </a:xfrm>
          <a:prstGeom prst="rect">
            <a:avLst/>
          </a:prstGeom>
          <a:no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Log</a:t>
            </a:r>
            <a:endParaRPr lang="en-US" sz="1100" dirty="0"/>
          </a:p>
          <a:p>
            <a:pPr algn="ctr" indent="0" marL="0">
              <a:buNone/>
            </a:pPr>
            <a:r>
              <a:rPr lang="en-US" sz="1100" b="1" dirty="0">
                <a:solidFill>
                  <a:srgbClr val="FFFFFF"/>
                </a:solidFill>
                <a:latin typeface="Meiryo UI" pitchFamily="34" charset="0"/>
                <a:ea typeface="Meiryo UI" pitchFamily="34" charset="-122"/>
                <a:cs typeface="Meiryo UI" pitchFamily="34" charset="-120"/>
              </a:rPr>
              <a:t>Analytics</a:t>
            </a:r>
            <a:endParaRPr lang="en-US" sz="1100" dirty="0"/>
          </a:p>
        </p:txBody>
      </p:sp>
      <p:sp>
        <p:nvSpPr>
          <p:cNvPr id="15" name="Text 13"/>
          <p:cNvSpPr/>
          <p:nvPr/>
        </p:nvSpPr>
        <p:spPr>
          <a:xfrm>
            <a:off x="2377440" y="1280160"/>
            <a:ext cx="457200" cy="640080"/>
          </a:xfrm>
          <a:prstGeom prst="rect">
            <a:avLst/>
          </a:prstGeom>
          <a:noFill/>
          <a:ln/>
        </p:spPr>
        <p:txBody>
          <a:bodyPr wrap="square" rtlCol="0" anchor="ctr"/>
          <a:lstStyle/>
          <a:p>
            <a:pPr algn="ctr" indent="0" marL="0">
              <a:buNone/>
            </a:pPr>
            <a:r>
              <a:rPr lang="en-US" sz="2200" dirty="0">
                <a:solidFill>
                  <a:srgbClr val="0078D4"/>
                </a:solidFill>
                <a:latin typeface="Meiryo UI" pitchFamily="34" charset="0"/>
                <a:ea typeface="Meiryo UI" pitchFamily="34" charset="-122"/>
                <a:cs typeface="Meiryo UI" pitchFamily="34" charset="-120"/>
              </a:rPr>
              <a:t>→</a:t>
            </a:r>
            <a:endParaRPr lang="en-US" sz="2200" dirty="0"/>
          </a:p>
        </p:txBody>
      </p:sp>
      <p:sp>
        <p:nvSpPr>
          <p:cNvPr id="16" name="Text 14"/>
          <p:cNvSpPr/>
          <p:nvPr/>
        </p:nvSpPr>
        <p:spPr>
          <a:xfrm>
            <a:off x="4663440" y="1280160"/>
            <a:ext cx="457200" cy="640080"/>
          </a:xfrm>
          <a:prstGeom prst="rect">
            <a:avLst/>
          </a:prstGeom>
          <a:noFill/>
          <a:ln/>
        </p:spPr>
        <p:txBody>
          <a:bodyPr wrap="square" rtlCol="0" anchor="ctr"/>
          <a:lstStyle/>
          <a:p>
            <a:pPr algn="ctr" indent="0" marL="0">
              <a:buNone/>
            </a:pPr>
            <a:r>
              <a:rPr lang="en-US" sz="2200" dirty="0">
                <a:solidFill>
                  <a:srgbClr val="0078D4"/>
                </a:solidFill>
                <a:latin typeface="Meiryo UI" pitchFamily="34" charset="0"/>
                <a:ea typeface="Meiryo UI" pitchFamily="34" charset="-122"/>
                <a:cs typeface="Meiryo UI" pitchFamily="34" charset="-120"/>
              </a:rPr>
              <a:t>→</a:t>
            </a:r>
            <a:endParaRPr lang="en-US" sz="2200" dirty="0"/>
          </a:p>
        </p:txBody>
      </p:sp>
      <p:sp>
        <p:nvSpPr>
          <p:cNvPr id="17" name="Text 15"/>
          <p:cNvSpPr/>
          <p:nvPr/>
        </p:nvSpPr>
        <p:spPr>
          <a:xfrm>
            <a:off x="6949440" y="1280160"/>
            <a:ext cx="457200" cy="640080"/>
          </a:xfrm>
          <a:prstGeom prst="rect">
            <a:avLst/>
          </a:prstGeom>
          <a:noFill/>
          <a:ln/>
        </p:spPr>
        <p:txBody>
          <a:bodyPr wrap="square" rtlCol="0" anchor="ctr"/>
          <a:lstStyle/>
          <a:p>
            <a:pPr algn="ctr" indent="0" marL="0">
              <a:buNone/>
            </a:pPr>
            <a:r>
              <a:rPr lang="en-US" sz="2200" dirty="0">
                <a:solidFill>
                  <a:srgbClr val="0078D4"/>
                </a:solidFill>
                <a:latin typeface="Meiryo UI" pitchFamily="34" charset="0"/>
                <a:ea typeface="Meiryo UI" pitchFamily="34" charset="-122"/>
                <a:cs typeface="Meiryo UI" pitchFamily="34" charset="-120"/>
              </a:rPr>
              <a:t>→</a:t>
            </a:r>
            <a:endParaRPr lang="en-US" sz="2200" dirty="0"/>
          </a:p>
        </p:txBody>
      </p:sp>
      <p:sp>
        <p:nvSpPr>
          <p:cNvPr id="18" name="Text 16"/>
          <p:cNvSpPr/>
          <p:nvPr/>
        </p:nvSpPr>
        <p:spPr>
          <a:xfrm>
            <a:off x="9235440" y="1280160"/>
            <a:ext cx="457200" cy="640080"/>
          </a:xfrm>
          <a:prstGeom prst="rect">
            <a:avLst/>
          </a:prstGeom>
          <a:noFill/>
          <a:ln/>
        </p:spPr>
        <p:txBody>
          <a:bodyPr wrap="square" rtlCol="0" anchor="ctr"/>
          <a:lstStyle/>
          <a:p>
            <a:pPr algn="ctr" indent="0" marL="0">
              <a:buNone/>
            </a:pPr>
            <a:r>
              <a:rPr lang="en-US" sz="2200" dirty="0">
                <a:solidFill>
                  <a:srgbClr val="0078D4"/>
                </a:solidFill>
                <a:latin typeface="Meiryo UI" pitchFamily="34" charset="0"/>
                <a:ea typeface="Meiryo UI" pitchFamily="34" charset="-122"/>
                <a:cs typeface="Meiryo UI" pitchFamily="34" charset="-120"/>
              </a:rPr>
              <a:t>→</a:t>
            </a:r>
            <a:endParaRPr lang="en-US" sz="2200" dirty="0"/>
          </a:p>
        </p:txBody>
      </p:sp>
      <p:sp>
        <p:nvSpPr>
          <p:cNvPr id="19" name="Shape 17"/>
          <p:cNvSpPr/>
          <p:nvPr/>
        </p:nvSpPr>
        <p:spPr>
          <a:xfrm>
            <a:off x="457200" y="2377440"/>
            <a:ext cx="5486400" cy="3840480"/>
          </a:xfrm>
          <a:prstGeom prst="roundRect">
            <a:avLst>
              <a:gd name="adj" fmla="val 2857"/>
            </a:avLst>
          </a:prstGeom>
          <a:solidFill>
            <a:srgbClr val="F3F2F1"/>
          </a:solidFill>
          <a:ln w="25400">
            <a:solidFill>
              <a:srgbClr val="107C10"/>
            </a:solidFill>
            <a:prstDash val="solid"/>
          </a:ln>
        </p:spPr>
      </p:sp>
      <p:sp>
        <p:nvSpPr>
          <p:cNvPr id="20" name="Shape 18"/>
          <p:cNvSpPr/>
          <p:nvPr/>
        </p:nvSpPr>
        <p:spPr>
          <a:xfrm>
            <a:off x="548640" y="2450592"/>
            <a:ext cx="5303520" cy="457200"/>
          </a:xfrm>
          <a:prstGeom prst="roundRect">
            <a:avLst>
              <a:gd name="adj" fmla="val 16000"/>
            </a:avLst>
          </a:prstGeom>
          <a:solidFill>
            <a:srgbClr val="107C10"/>
          </a:solidFill>
          <a:ln/>
        </p:spPr>
      </p:sp>
      <p:sp>
        <p:nvSpPr>
          <p:cNvPr id="21" name="Text 19"/>
          <p:cNvSpPr/>
          <p:nvPr/>
        </p:nvSpPr>
        <p:spPr>
          <a:xfrm>
            <a:off x="548640" y="2450592"/>
            <a:ext cx="5303520" cy="457200"/>
          </a:xfrm>
          <a:prstGeom prst="rect">
            <a:avLst/>
          </a:prstGeom>
          <a:noFill/>
          <a:ln/>
        </p:spPr>
        <p:txBody>
          <a:bodyPr wrap="square"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  フローログ（Flow Logs）</a:t>
            </a:r>
            <a:endParaRPr lang="en-US" sz="1400" dirty="0"/>
          </a:p>
        </p:txBody>
      </p:sp>
      <p:sp>
        <p:nvSpPr>
          <p:cNvPr id="22" name="Text 20"/>
          <p:cNvSpPr/>
          <p:nvPr/>
        </p:nvSpPr>
        <p:spPr>
          <a:xfrm>
            <a:off x="731520" y="3063240"/>
            <a:ext cx="4937760" cy="1463040"/>
          </a:xfrm>
          <a:prstGeom prst="rect">
            <a:avLst/>
          </a:prstGeom>
          <a:noFill/>
          <a:ln/>
        </p:spPr>
        <p:txBody>
          <a:bodyPr wrap="square" rtlCol="0" anchor="t"/>
          <a:lstStyle/>
          <a:p>
            <a:pPr marL="342900" indent="-342900">
              <a:lnSpc>
                <a:spcPct val="135000"/>
              </a:lnSpc>
              <a:buSzPct val="100000"/>
              <a:buChar char="•"/>
            </a:pPr>
            <a:r>
              <a:rPr lang="en-US" sz="1100" dirty="0">
                <a:solidFill>
                  <a:srgbClr val="000000"/>
                </a:solidFill>
                <a:latin typeface="Meiryo UI" pitchFamily="34" charset="0"/>
                <a:ea typeface="Meiryo UI" pitchFamily="34" charset="-122"/>
                <a:cs typeface="Meiryo UI" pitchFamily="34" charset="-120"/>
              </a:rPr>
              <a:t>Azure IP トラフィックの情報をログに記録し、Azure Storage に保存します</a:t>
            </a:r>
            <a:endParaRPr lang="en-US" sz="1100" dirty="0"/>
          </a:p>
          <a:p>
            <a:pPr marL="342900" indent="-342900">
              <a:lnSpc>
                <a:spcPct val="135000"/>
              </a:lnSpc>
              <a:buSzPct val="100000"/>
              <a:buChar char="•"/>
            </a:pPr>
            <a:r>
              <a:rPr lang="en-US" sz="1100" b="1" dirty="0">
                <a:solidFill>
                  <a:srgbClr val="000000"/>
                </a:solidFill>
                <a:latin typeface="Meiryo UI" pitchFamily="34" charset="0"/>
                <a:ea typeface="Meiryo UI" pitchFamily="34" charset="-122"/>
                <a:cs typeface="Meiryo UI" pitchFamily="34" charset="-120"/>
              </a:rPr>
              <a:t>VNet フローログ: 仮想ネットワーク単位でトラフィックを記録します（推奨）</a:t>
            </a:r>
            <a:endParaRPr lang="en-US" sz="1100" dirty="0"/>
          </a:p>
          <a:p>
            <a:pPr marL="342900" indent="-342900">
              <a:lnSpc>
                <a:spcPct val="135000"/>
              </a:lnSpc>
              <a:buSzPct val="100000"/>
              <a:buChar char="•"/>
            </a:pPr>
            <a:r>
              <a:rPr lang="en-US" sz="1100" dirty="0">
                <a:solidFill>
                  <a:srgbClr val="000000"/>
                </a:solidFill>
                <a:latin typeface="Meiryo UI" pitchFamily="34" charset="0"/>
                <a:ea typeface="Meiryo UI" pitchFamily="34" charset="-122"/>
                <a:cs typeface="Meiryo UI" pitchFamily="34" charset="-120"/>
              </a:rPr>
              <a:t>NSG フローログ: ネットワークセキュリティグループ単位でトラフィックを記録します</a:t>
            </a:r>
            <a:endParaRPr lang="en-US" sz="1100" dirty="0"/>
          </a:p>
        </p:txBody>
      </p:sp>
      <p:sp>
        <p:nvSpPr>
          <p:cNvPr id="23" name="Shape 21"/>
          <p:cNvSpPr/>
          <p:nvPr/>
        </p:nvSpPr>
        <p:spPr>
          <a:xfrm>
            <a:off x="731520" y="4663440"/>
            <a:ext cx="4937760" cy="1371600"/>
          </a:xfrm>
          <a:prstGeom prst="roundRect">
            <a:avLst>
              <a:gd name="adj" fmla="val 6667"/>
            </a:avLst>
          </a:prstGeom>
          <a:solidFill>
            <a:srgbClr val="FFF4CE"/>
          </a:solidFill>
          <a:ln w="19050">
            <a:solidFill>
              <a:srgbClr val="FF8C00"/>
            </a:solidFill>
            <a:prstDash val="solid"/>
          </a:ln>
        </p:spPr>
      </p:sp>
      <p:sp>
        <p:nvSpPr>
          <p:cNvPr id="24" name="Text 22"/>
          <p:cNvSpPr/>
          <p:nvPr/>
        </p:nvSpPr>
        <p:spPr>
          <a:xfrm>
            <a:off x="914400" y="4754880"/>
            <a:ext cx="4572000" cy="320040"/>
          </a:xfrm>
          <a:prstGeom prst="rect">
            <a:avLst/>
          </a:prstGeom>
          <a:noFill/>
          <a:ln/>
        </p:spPr>
        <p:txBody>
          <a:bodyPr wrap="square" rtlCol="0" anchor="ctr"/>
          <a:lstStyle/>
          <a:p>
            <a:pPr indent="0" marL="0">
              <a:buNone/>
            </a:pPr>
            <a:r>
              <a:rPr lang="en-US" sz="1100" b="1" dirty="0">
                <a:solidFill>
                  <a:srgbClr val="D13438"/>
                </a:solidFill>
                <a:latin typeface="Meiryo UI" pitchFamily="34" charset="0"/>
                <a:ea typeface="Meiryo UI" pitchFamily="34" charset="-122"/>
                <a:cs typeface="Meiryo UI" pitchFamily="34" charset="-120"/>
              </a:rPr>
              <a:t>⚠️  重要: NSG フローログの廃止予定</a:t>
            </a:r>
            <a:endParaRPr lang="en-US" sz="1100" dirty="0"/>
          </a:p>
        </p:txBody>
      </p:sp>
      <p:sp>
        <p:nvSpPr>
          <p:cNvPr id="25" name="Text 23"/>
          <p:cNvSpPr/>
          <p:nvPr/>
        </p:nvSpPr>
        <p:spPr>
          <a:xfrm>
            <a:off x="914400" y="5074920"/>
            <a:ext cx="4572000" cy="914400"/>
          </a:xfrm>
          <a:prstGeom prst="rect">
            <a:avLst/>
          </a:prstGeom>
          <a:noFill/>
          <a:ln/>
        </p:spPr>
        <p:txBody>
          <a:bodyPr wrap="square" rtlCol="0" anchor="t"/>
          <a:lstStyle/>
          <a:p>
            <a:pPr indent="0" marL="0">
              <a:lnSpc>
                <a:spcPct val="120000"/>
              </a:lnSpc>
              <a:buNone/>
            </a:pPr>
            <a:r>
              <a:rPr lang="en-US" sz="1050" dirty="0">
                <a:solidFill>
                  <a:srgbClr val="000000"/>
                </a:solidFill>
                <a:latin typeface="Meiryo UI" pitchFamily="34" charset="0"/>
                <a:ea typeface="Meiryo UI" pitchFamily="34" charset="-122"/>
                <a:cs typeface="Meiryo UI" pitchFamily="34" charset="-120"/>
              </a:rPr>
              <a:t>• NSG フローログは 2027 年 9 月 30 日 に廃止予定です
</a:t>
            </a:r>
            <a:pPr indent="0" marL="0">
              <a:lnSpc>
                <a:spcPct val="120000"/>
              </a:lnSpc>
              <a:buNone/>
            </a:pPr>
            <a:r>
              <a:rPr lang="en-US" sz="1050" dirty="0">
                <a:solidFill>
                  <a:srgbClr val="000000"/>
                </a:solidFill>
                <a:latin typeface="Meiryo UI" pitchFamily="34" charset="0"/>
                <a:ea typeface="Meiryo UI" pitchFamily="34" charset="-122"/>
                <a:cs typeface="Meiryo UI" pitchFamily="34" charset="-120"/>
              </a:rPr>
              <a:t>• 2025 年 6 月 30 日以降、新規作成ができなくなります
</a:t>
            </a:r>
            <a:pPr indent="0" marL="0">
              <a:lnSpc>
                <a:spcPct val="120000"/>
              </a:lnSpc>
              <a:buNone/>
            </a:pPr>
            <a:r>
              <a:rPr lang="en-US" sz="1050" b="1" dirty="0">
                <a:solidFill>
                  <a:srgbClr val="000000"/>
                </a:solidFill>
                <a:latin typeface="Meiryo UI" pitchFamily="34" charset="0"/>
                <a:ea typeface="Meiryo UI" pitchFamily="34" charset="-122"/>
                <a:cs typeface="Meiryo UI" pitchFamily="34" charset="-120"/>
              </a:rPr>
              <a:t>• VNet フローログへの移行が推奨されています</a:t>
            </a:r>
            <a:endParaRPr lang="en-US" sz="1050" dirty="0"/>
          </a:p>
        </p:txBody>
      </p:sp>
      <p:sp>
        <p:nvSpPr>
          <p:cNvPr id="26" name="Shape 24"/>
          <p:cNvSpPr/>
          <p:nvPr/>
        </p:nvSpPr>
        <p:spPr>
          <a:xfrm>
            <a:off x="6217920" y="2377440"/>
            <a:ext cx="5486400" cy="3840480"/>
          </a:xfrm>
          <a:prstGeom prst="roundRect">
            <a:avLst>
              <a:gd name="adj" fmla="val 2857"/>
            </a:avLst>
          </a:prstGeom>
          <a:solidFill>
            <a:srgbClr val="F3F2F1"/>
          </a:solidFill>
          <a:ln w="25400">
            <a:solidFill>
              <a:srgbClr val="5C2D91"/>
            </a:solidFill>
            <a:prstDash val="solid"/>
          </a:ln>
        </p:spPr>
      </p:sp>
      <p:sp>
        <p:nvSpPr>
          <p:cNvPr id="27" name="Shape 25"/>
          <p:cNvSpPr/>
          <p:nvPr/>
        </p:nvSpPr>
        <p:spPr>
          <a:xfrm>
            <a:off x="6309360" y="2450592"/>
            <a:ext cx="5303520" cy="457200"/>
          </a:xfrm>
          <a:prstGeom prst="roundRect">
            <a:avLst>
              <a:gd name="adj" fmla="val 16000"/>
            </a:avLst>
          </a:prstGeom>
          <a:solidFill>
            <a:srgbClr val="5C2D91"/>
          </a:solidFill>
          <a:ln/>
        </p:spPr>
      </p:sp>
      <p:sp>
        <p:nvSpPr>
          <p:cNvPr id="28" name="Text 26"/>
          <p:cNvSpPr/>
          <p:nvPr/>
        </p:nvSpPr>
        <p:spPr>
          <a:xfrm>
            <a:off x="6309360" y="2450592"/>
            <a:ext cx="5303520" cy="457200"/>
          </a:xfrm>
          <a:prstGeom prst="rect">
            <a:avLst/>
          </a:prstGeom>
          <a:noFill/>
          <a:ln/>
        </p:spPr>
        <p:txBody>
          <a:bodyPr wrap="square"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  トラフィック分析（Traffic Analytics）</a:t>
            </a:r>
            <a:endParaRPr lang="en-US" sz="1400" dirty="0"/>
          </a:p>
        </p:txBody>
      </p:sp>
      <p:sp>
        <p:nvSpPr>
          <p:cNvPr id="29" name="Text 27"/>
          <p:cNvSpPr/>
          <p:nvPr/>
        </p:nvSpPr>
        <p:spPr>
          <a:xfrm>
            <a:off x="6400800" y="3063240"/>
            <a:ext cx="5120640" cy="3017520"/>
          </a:xfrm>
          <a:prstGeom prst="rect">
            <a:avLst/>
          </a:prstGeom>
          <a:noFill/>
          <a:ln/>
        </p:spPr>
        <p:txBody>
          <a:bodyPr wrap="square" rtlCol="0" anchor="t"/>
          <a:lstStyle/>
          <a:p>
            <a:pPr marL="342900" indent="-342900">
              <a:lnSpc>
                <a:spcPct val="135000"/>
              </a:lnSpc>
              <a:buSzPct val="100000"/>
              <a:buChar char="•"/>
            </a:pPr>
            <a:r>
              <a:rPr lang="en-US" sz="1100" dirty="0">
                <a:solidFill>
                  <a:srgbClr val="000000"/>
                </a:solidFill>
                <a:latin typeface="Meiryo UI" pitchFamily="34" charset="0"/>
                <a:ea typeface="Meiryo UI" pitchFamily="34" charset="-122"/>
                <a:cs typeface="Meiryo UI" pitchFamily="34" charset="-120"/>
              </a:rPr>
              <a:t>フローログデータのリッチな可視化・クエリ・分析機能を提供します</a:t>
            </a:r>
            <a:endParaRPr lang="en-US" sz="1100" dirty="0"/>
          </a:p>
          <a:p>
            <a:pPr marL="342900" indent="-342900">
              <a:lnSpc>
                <a:spcPct val="135000"/>
              </a:lnSpc>
              <a:buSzPct val="100000"/>
              <a:buChar char="•"/>
            </a:pPr>
            <a:r>
              <a:rPr lang="en-US" sz="1100" dirty="0">
                <a:solidFill>
                  <a:srgbClr val="000000"/>
                </a:solidFill>
                <a:latin typeface="Meiryo UI" pitchFamily="34" charset="0"/>
                <a:ea typeface="Meiryo UI" pitchFamily="34" charset="-122"/>
                <a:cs typeface="Meiryo UI" pitchFamily="34" charset="-120"/>
              </a:rPr>
              <a:t>Log Analytics ワークスペースと連携し、ネットワークトラフィックのパターンを把握できます</a:t>
            </a:r>
            <a:endParaRPr lang="en-US" sz="1100" dirty="0"/>
          </a:p>
          <a:p>
            <a:pPr marL="342900" indent="-342900">
              <a:lnSpc>
                <a:spcPct val="135000"/>
              </a:lnSpc>
              <a:buSzPct val="100000"/>
              <a:buChar char="•"/>
            </a:pPr>
            <a:r>
              <a:rPr lang="en-US" sz="1100" dirty="0">
                <a:solidFill>
                  <a:srgbClr val="000000"/>
                </a:solidFill>
                <a:latin typeface="Meiryo UI" pitchFamily="34" charset="0"/>
                <a:ea typeface="Meiryo UI" pitchFamily="34" charset="-122"/>
                <a:cs typeface="Meiryo UI" pitchFamily="34" charset="-120"/>
              </a:rPr>
              <a:t>データ収集ルール（DCR）とデータ収集エンドポイント（DCE）リソースを自動作成します</a:t>
            </a:r>
            <a:endParaRPr lang="en-US" sz="1100" dirty="0"/>
          </a:p>
          <a:p>
            <a:pPr marL="342900" indent="-342900">
              <a:lnSpc>
                <a:spcPct val="135000"/>
              </a:lnSpc>
              <a:buSzPct val="100000"/>
              <a:buChar char="•"/>
            </a:pPr>
            <a:r>
              <a:rPr lang="en-US" sz="1100" dirty="0">
                <a:solidFill>
                  <a:srgbClr val="000000"/>
                </a:solidFill>
                <a:latin typeface="Meiryo UI" pitchFamily="34" charset="0"/>
                <a:ea typeface="Meiryo UI" pitchFamily="34" charset="-122"/>
                <a:cs typeface="Meiryo UI" pitchFamily="34" charset="-120"/>
              </a:rPr>
              <a:t>処理される生フローログデータ量に基づいて課金されます</a:t>
            </a:r>
            <a:endParaRPr lang="en-US" sz="1100" dirty="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セキュリティ・料金体系・利用制限</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8 / 8</a:t>
              </a:r>
              <a:endParaRPr lang="en-US" sz="900" dirty="0"/>
            </a:p>
          </p:txBody>
        </p:sp>
        <p:sp>
          <p:nvSpPr>
            <p:cNvPr id="5" name="Shape 3"/>
            <p:cNvSpPr/>
            <p:nvPr/>
          </p:nvSpPr>
          <p:spPr>
            <a:xfrm>
              <a:off x="457200" y="1188720"/>
              <a:ext cx="5486400" cy="5029200"/>
            </a:xfrm>
            <a:prstGeom prst="roundRect">
              <a:avLst>
                <a:gd name="adj" fmla="val 2182"/>
              </a:avLst>
            </a:prstGeom>
            <a:solidFill>
              <a:srgbClr val="F3F2F1"/>
            </a:solidFill>
            <a:ln w="25400">
              <a:solidFill>
                <a:srgbClr val="0078D4"/>
              </a:solidFill>
              <a:prstDash val="solid"/>
            </a:ln>
          </p:spPr>
        </p:sp>
        <p:sp>
          <p:nvSpPr>
            <p:cNvPr id="6" name="Shape 4"/>
            <p:cNvSpPr/>
            <p:nvPr/>
          </p:nvSpPr>
          <p:spPr>
            <a:xfrm>
              <a:off x="548640" y="1261872"/>
              <a:ext cx="5303520" cy="457200"/>
            </a:xfrm>
            <a:prstGeom prst="roundRect">
              <a:avLst>
                <a:gd name="adj" fmla="val 16000"/>
              </a:avLst>
            </a:prstGeom>
            <a:solidFill>
              <a:srgbClr val="0078D4"/>
            </a:solidFill>
            <a:ln/>
          </p:spPr>
        </p:sp>
        <p:sp>
          <p:nvSpPr>
            <p:cNvPr id="7" name="Text 5"/>
            <p:cNvSpPr/>
            <p:nvPr/>
          </p:nvSpPr>
          <p:spPr>
            <a:xfrm>
              <a:off x="548640" y="1261872"/>
              <a:ext cx="5303520" cy="457200"/>
            </a:xfrm>
            <a:prstGeom prst="rect">
              <a:avLst/>
            </a:prstGeom>
            <a:noFill/>
            <a:ln/>
          </p:spPr>
          <p:txBody>
            <a:bodyPr wrap="square"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  セキュリティとアクセス制御</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1874520"/>
            <a:ext cx="5120640" cy="1828800"/>
          </p:xfrm>
          <a:graphic>
            <a:graphicData uri="http://schemas.openxmlformats.org/drawingml/2006/table">
              <a:tbl>
                <a:tblPr/>
                <a:tblGrid>
                  <a:gridCol w="1828800"/>
                  <a:gridCol w="3291840"/>
                </a:tblGrid>
                <a:tr h="320040">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ロール</a:t>
                        </a:r>
                        <a:endParaRPr lang="en-US" sz="10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説明</a:t>
                        </a:r>
                        <a:endParaRPr lang="en-US" sz="10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20040">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Owner</a:t>
                        </a:r>
                        <a:endParaRPr lang="en-US" sz="10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すべての権限を持ちます</a:t>
                        </a:r>
                        <a:endParaRPr lang="en-US" sz="10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20040">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Contributor</a:t>
                        </a:r>
                        <a:endParaRPr lang="en-US" sz="10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所有権の割り当て以外の全権限を持ちます</a:t>
                        </a:r>
                        <a:endParaRPr lang="en-US" sz="10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20040">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Network Contributor</a:t>
                        </a:r>
                        <a:endParaRPr lang="en-US" sz="10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ネットワーク関連の権限を持ちます</a:t>
                        </a:r>
                        <a:endParaRPr lang="en-US" sz="10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20040">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カスタムロール</a:t>
                        </a:r>
                        <a:endParaRPr lang="en-US" sz="10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必要最小限のアクションのみを割り当てます</a:t>
                        </a:r>
                        <a:endParaRPr lang="en-US" sz="10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
          <p:nvSpPr>
            <p:cNvPr id="9" name="Text 6"/>
            <p:cNvSpPr/>
            <p:nvPr/>
          </p:nvSpPr>
          <p:spPr>
            <a:xfrm>
              <a:off x="640080" y="4114800"/>
              <a:ext cx="5120640" cy="2011680"/>
            </a:xfrm>
            <a:prstGeom prst="rect">
              <a:avLst/>
            </a:prstGeom>
            <a:noFill/>
            <a:ln/>
          </p:spPr>
          <p:txBody>
            <a:bodyPr wrap="square" rtlCol="0" anchor="t"/>
            <a:lstStyle/>
            <a:p>
              <a:pPr marL="342900" indent="-342900">
                <a:lnSpc>
                  <a:spcPct val="130000"/>
                </a:lnSpc>
                <a:buSzPct val="100000"/>
                <a:buChar char="•"/>
              </a:pPr>
              <a:r>
                <a:rPr lang="en-US" sz="1000" dirty="0">
                  <a:solidFill>
                    <a:srgbClr val="000000"/>
                  </a:solidFill>
                  <a:latin typeface="Meiryo UI" pitchFamily="34" charset="0"/>
                  <a:ea typeface="Meiryo UI" pitchFamily="34" charset="-122"/>
                  <a:cs typeface="Meiryo UI" pitchFamily="34" charset="-120"/>
                </a:rPr>
                <a:t>Network Contributor には Storage、Compute、OperationalInsights 関連アクションが含まれません</a:t>
              </a:r>
              <a:endParaRPr lang="en-US" sz="1000" dirty="0"/>
            </a:p>
            <a:p>
              <a:pPr marL="342900" indent="-342900">
                <a:lnSpc>
                  <a:spcPct val="130000"/>
                </a:lnSpc>
                <a:buSzPct val="100000"/>
                <a:buChar char="•"/>
              </a:pPr>
              <a:r>
                <a:rPr lang="en-US" sz="1000" dirty="0">
                  <a:solidFill>
                    <a:srgbClr val="000000"/>
                  </a:solidFill>
                  <a:latin typeface="Meiryo UI" pitchFamily="34" charset="0"/>
                  <a:ea typeface="Meiryo UI" pitchFamily="34" charset="-122"/>
                  <a:cs typeface="Meiryo UI" pitchFamily="34" charset="-120"/>
                </a:rPr>
                <a:t>フローログやトラフィック分析には追加の権限が必要です</a:t>
              </a:r>
              <a:endParaRPr lang="en-US" sz="1000" dirty="0"/>
            </a:p>
            <a:p>
              <a:pPr marL="342900" indent="-342900">
                <a:lnSpc>
                  <a:spcPct val="130000"/>
                </a:lnSpc>
                <a:buSzPct val="100000"/>
                <a:buChar char="•"/>
              </a:pPr>
              <a:r>
                <a:rPr lang="en-US" sz="1000" dirty="0">
                  <a:solidFill>
                    <a:srgbClr val="000000"/>
                  </a:solidFill>
                  <a:latin typeface="Meiryo UI" pitchFamily="34" charset="0"/>
                  <a:ea typeface="Meiryo UI" pitchFamily="34" charset="-122"/>
                  <a:cs typeface="Meiryo UI" pitchFamily="34" charset="-120"/>
                </a:rPr>
                <a:t>Azure Policy でフローログの構成を組織全体で統一的に管理できます</a:t>
              </a:r>
              <a:endParaRPr lang="en-US" sz="1000" dirty="0"/>
            </a:p>
            <a:p>
              <a:pPr marL="342900" indent="-342900">
                <a:lnSpc>
                  <a:spcPct val="130000"/>
                </a:lnSpc>
                <a:buSzPct val="100000"/>
                <a:buChar char="•"/>
              </a:pPr>
              <a:r>
                <a:rPr lang="en-US" sz="1000" dirty="0">
                  <a:solidFill>
                    <a:srgbClr val="000000"/>
                  </a:solidFill>
                  <a:latin typeface="Meiryo UI" pitchFamily="34" charset="0"/>
                  <a:ea typeface="Meiryo UI" pitchFamily="34" charset="-122"/>
                  <a:cs typeface="Meiryo UI" pitchFamily="34" charset="-120"/>
                </a:rPr>
                <a:t>Network Watcher は顧客データを保存しません（接続モニターを除く）</a:t>
              </a:r>
              <a:endParaRPr lang="en-US" sz="1000" dirty="0"/>
            </a:p>
          </p:txBody>
        </p:sp>
        <p:sp>
          <p:nvSpPr>
            <p:cNvPr id="10" name="Shape 7"/>
            <p:cNvSpPr/>
            <p:nvPr/>
          </p:nvSpPr>
          <p:spPr>
            <a:xfrm>
              <a:off x="6217920" y="1188720"/>
              <a:ext cx="5486400" cy="5029200"/>
            </a:xfrm>
            <a:prstGeom prst="roundRect">
              <a:avLst>
                <a:gd name="adj" fmla="val 2182"/>
              </a:avLst>
            </a:prstGeom>
            <a:solidFill>
              <a:srgbClr val="F3F2F1"/>
            </a:solidFill>
            <a:ln w="25400">
              <a:solidFill>
                <a:srgbClr val="FF8C00"/>
              </a:solidFill>
              <a:prstDash val="solid"/>
            </a:ln>
          </p:spPr>
        </p:sp>
        <p:sp>
          <p:nvSpPr>
            <p:cNvPr id="11" name="Shape 8"/>
            <p:cNvSpPr/>
            <p:nvPr/>
          </p:nvSpPr>
          <p:spPr>
            <a:xfrm>
              <a:off x="6309360" y="1261872"/>
              <a:ext cx="5303520" cy="457200"/>
            </a:xfrm>
            <a:prstGeom prst="roundRect">
              <a:avLst>
                <a:gd name="adj" fmla="val 16000"/>
              </a:avLst>
            </a:prstGeom>
            <a:solidFill>
              <a:srgbClr val="FF8C00"/>
            </a:solidFill>
            <a:ln/>
          </p:spPr>
        </p:sp>
        <p:sp>
          <p:nvSpPr>
            <p:cNvPr id="12" name="Text 9"/>
            <p:cNvSpPr/>
            <p:nvPr/>
          </p:nvSpPr>
          <p:spPr>
            <a:xfrm>
              <a:off x="6309360" y="1261872"/>
              <a:ext cx="5303520" cy="457200"/>
            </a:xfrm>
            <a:prstGeom prst="rect">
              <a:avLst/>
            </a:prstGeom>
            <a:noFill/>
            <a:ln/>
          </p:spPr>
          <p:txBody>
            <a:bodyPr wrap="square"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  料金体系と利用制限</a:t>
              </a:r>
              <a:endParaRPr lang="en-US" sz="1400" dirty="0"/>
            </a:p>
          </p:txBody>
        </p:sp>
        <p:sp>
          <p:nvSpPr>
            <p:cNvPr id="13" name="Text 10"/>
            <p:cNvSpPr/>
            <p:nvPr/>
          </p:nvSpPr>
          <p:spPr>
            <a:xfrm>
              <a:off x="6400800" y="1874520"/>
              <a:ext cx="5120640" cy="1371600"/>
            </a:xfrm>
            <a:prstGeom prst="rect">
              <a:avLst/>
            </a:prstGeom>
            <a:noFill/>
            <a:ln/>
          </p:spPr>
          <p:txBody>
            <a:bodyPr wrap="square" rtlCol="0" anchor="t"/>
            <a:lstStyle/>
            <a:p>
              <a:pPr marL="342900" indent="-342900">
                <a:lnSpc>
                  <a:spcPct val="125000"/>
                </a:lnSpc>
                <a:buSzPct val="100000"/>
                <a:buChar char="•"/>
              </a:pPr>
              <a:r>
                <a:rPr lang="en-US" sz="1000" dirty="0">
                  <a:solidFill>
                    <a:srgbClr val="000000"/>
                  </a:solidFill>
                  <a:latin typeface="Meiryo UI" pitchFamily="34" charset="0"/>
                  <a:ea typeface="Meiryo UI" pitchFamily="34" charset="-122"/>
                  <a:cs typeface="Meiryo UI" pitchFamily="34" charset="-120"/>
                </a:rPr>
                <a:t>自動有効化自体には課金は発生しません</a:t>
              </a:r>
              <a:endParaRPr lang="en-US" sz="1000" dirty="0"/>
            </a:p>
            <a:p>
              <a:pPr marL="342900" indent="-342900">
                <a:lnSpc>
                  <a:spcPct val="125000"/>
                </a:lnSpc>
                <a:buSzPct val="100000"/>
                <a:buChar char="•"/>
              </a:pPr>
              <a:r>
                <a:rPr lang="en-US" sz="1000" dirty="0">
                  <a:solidFill>
                    <a:srgbClr val="000000"/>
                  </a:solidFill>
                  <a:latin typeface="Meiryo UI" pitchFamily="34" charset="0"/>
                  <a:ea typeface="Meiryo UI" pitchFamily="34" charset="-122"/>
                  <a:cs typeface="Meiryo UI" pitchFamily="34" charset="-120"/>
                </a:rPr>
                <a:t>各機能の使用量に基づいて個別に課金されます</a:t>
              </a:r>
              <a:endParaRPr lang="en-US" sz="1000" dirty="0"/>
            </a:p>
            <a:p>
              <a:pPr marL="342900" indent="-342900">
                <a:lnSpc>
                  <a:spcPct val="125000"/>
                </a:lnSpc>
                <a:buSzPct val="100000"/>
                <a:buChar char="•"/>
              </a:pPr>
              <a:r>
                <a:rPr lang="en-US" sz="1000" dirty="0">
                  <a:solidFill>
                    <a:srgbClr val="000000"/>
                  </a:solidFill>
                  <a:latin typeface="Meiryo UI" pitchFamily="34" charset="0"/>
                  <a:ea typeface="Meiryo UI" pitchFamily="34" charset="-122"/>
                  <a:cs typeface="Meiryo UI" pitchFamily="34" charset="-120"/>
                </a:rPr>
                <a:t>トラフィック分析は生フローログデータ量に基づきます</a:t>
              </a:r>
              <a:endParaRPr lang="en-US" sz="1000" dirty="0"/>
            </a:p>
            <a:p>
              <a:pPr marL="342900" indent="-342900">
                <a:lnSpc>
                  <a:spcPct val="125000"/>
                </a:lnSpc>
                <a:buSzPct val="100000"/>
                <a:buChar char="•"/>
              </a:pPr>
              <a:r>
                <a:rPr lang="en-US" sz="1000" dirty="0">
                  <a:solidFill>
                    <a:srgbClr val="000000"/>
                  </a:solidFill>
                  <a:latin typeface="Meiryo UI" pitchFamily="34" charset="0"/>
                  <a:ea typeface="Meiryo UI" pitchFamily="34" charset="-122"/>
                  <a:cs typeface="Meiryo UI" pitchFamily="34" charset="-120"/>
                </a:rPr>
                <a:t>Log Analytics への取り込みは Azure Monitor 料金が適用されます</a:t>
              </a:r>
              <a:endParaRPr lang="en-US" sz="1000" dirty="0"/>
            </a:p>
          </p:txBody>
        </p:sp>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6400800" y="3291840"/>
            <a:ext cx="5120640" cy="2743200"/>
          </p:xfrm>
          <a:graphic>
            <a:graphicData uri="http://schemas.openxmlformats.org/drawingml/2006/table">
              <a:tbl>
                <a:tblPr/>
                <a:tblGrid>
                  <a:gridCol w="2926080"/>
                  <a:gridCol w="2194560"/>
                </a:tblGrid>
                <a:tr h="292608">
                  <a:tc>
                    <a:txBody>
                      <a:bodyPr/>
                      <a:lstStyle/>
                      <a:p>
                        <a:pPr indent="0" marL="0">
                          <a:buNone/>
                        </a:pPr>
                        <a:r>
                          <a:rPr lang="en-US" sz="950" dirty="0">
                            <a:solidFill>
                              <a:srgbClr val="000000"/>
                            </a:solidFill>
                            <a:latin typeface="Meiryo UI" pitchFamily="34" charset="0"/>
                            <a:ea typeface="Meiryo UI" pitchFamily="34" charset="-122"/>
                            <a:cs typeface="Meiryo UI" pitchFamily="34" charset="-120"/>
                          </a:rPr>
                          <a:t>リソース</a:t>
                        </a:r>
                        <a:endParaRPr lang="en-US" sz="95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000000"/>
                            </a:solidFill>
                            <a:latin typeface="Meiryo UI" pitchFamily="34" charset="0"/>
                            <a:ea typeface="Meiryo UI" pitchFamily="34" charset="-122"/>
                            <a:cs typeface="Meiryo UI" pitchFamily="34" charset="-120"/>
                          </a:rPr>
                          <a:t>制限</a:t>
                        </a:r>
                        <a:endParaRPr lang="en-US" sz="95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292608">
                  <a:tc>
                    <a:txBody>
                      <a:bodyPr/>
                      <a:lstStyle/>
                      <a:p>
                        <a:pPr indent="0" marL="0">
                          <a:buNone/>
                        </a:pPr>
                        <a:r>
                          <a:rPr lang="en-US" sz="950" dirty="0">
                            <a:solidFill>
                              <a:srgbClr val="000000"/>
                            </a:solidFill>
                            <a:latin typeface="Meiryo UI" pitchFamily="34" charset="0"/>
                            <a:ea typeface="Meiryo UI" pitchFamily="34" charset="-122"/>
                            <a:cs typeface="Meiryo UI" pitchFamily="34" charset="-120"/>
                          </a:rPr>
                          <a:t>NW インスタンス / リージョン</a:t>
                        </a:r>
                        <a:endParaRPr lang="en-US" sz="95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000000"/>
                            </a:solidFill>
                            <a:latin typeface="Meiryo UI" pitchFamily="34" charset="0"/>
                            <a:ea typeface="Meiryo UI" pitchFamily="34" charset="-122"/>
                            <a:cs typeface="Meiryo UI" pitchFamily="34" charset="-120"/>
                          </a:rPr>
                          <a:t>1</a:t>
                        </a:r>
                        <a:endParaRPr lang="en-US" sz="95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292608">
                  <a:tc>
                    <a:txBody>
                      <a:bodyPr/>
                      <a:lstStyle/>
                      <a:p>
                        <a:pPr indent="0" marL="0">
                          <a:buNone/>
                        </a:pPr>
                        <a:r>
                          <a:rPr lang="en-US" sz="950" dirty="0">
                            <a:solidFill>
                              <a:srgbClr val="000000"/>
                            </a:solidFill>
                            <a:latin typeface="Meiryo UI" pitchFamily="34" charset="0"/>
                            <a:ea typeface="Meiryo UI" pitchFamily="34" charset="-122"/>
                            <a:cs typeface="Meiryo UI" pitchFamily="34" charset="-120"/>
                          </a:rPr>
                          <a:t>接続モニター / リージョン</a:t>
                        </a:r>
                        <a:endParaRPr lang="en-US" sz="95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000000"/>
                            </a:solidFill>
                            <a:latin typeface="Meiryo UI" pitchFamily="34" charset="0"/>
                            <a:ea typeface="Meiryo UI" pitchFamily="34" charset="-122"/>
                            <a:cs typeface="Meiryo UI" pitchFamily="34" charset="-120"/>
                          </a:rPr>
                          <a:t>100</a:t>
                        </a:r>
                        <a:endParaRPr lang="en-US" sz="95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292608">
                  <a:tc>
                    <a:txBody>
                      <a:bodyPr/>
                      <a:lstStyle/>
                      <a:p>
                        <a:pPr indent="0" marL="0">
                          <a:buNone/>
                        </a:pPr>
                        <a:r>
                          <a:rPr lang="en-US" sz="950" dirty="0">
                            <a:solidFill>
                              <a:srgbClr val="000000"/>
                            </a:solidFill>
                            <a:latin typeface="Meiryo UI" pitchFamily="34" charset="0"/>
                            <a:ea typeface="Meiryo UI" pitchFamily="34" charset="-122"/>
                            <a:cs typeface="Meiryo UI" pitchFamily="34" charset="-120"/>
                          </a:rPr>
                          <a:t>テストグループ / モニター</a:t>
                        </a:r>
                        <a:endParaRPr lang="en-US" sz="95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000000"/>
                            </a:solidFill>
                            <a:latin typeface="Meiryo UI" pitchFamily="34" charset="0"/>
                            <a:ea typeface="Meiryo UI" pitchFamily="34" charset="-122"/>
                            <a:cs typeface="Meiryo UI" pitchFamily="34" charset="-120"/>
                          </a:rPr>
                          <a:t>20</a:t>
                        </a:r>
                        <a:endParaRPr lang="en-US" sz="95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292608">
                  <a:tc>
                    <a:txBody>
                      <a:bodyPr/>
                      <a:lstStyle/>
                      <a:p>
                        <a:pPr indent="0" marL="0">
                          <a:buNone/>
                        </a:pPr>
                        <a:r>
                          <a:rPr lang="en-US" sz="950" dirty="0">
                            <a:solidFill>
                              <a:srgbClr val="000000"/>
                            </a:solidFill>
                            <a:latin typeface="Meiryo UI" pitchFamily="34" charset="0"/>
                            <a:ea typeface="Meiryo UI" pitchFamily="34" charset="-122"/>
                            <a:cs typeface="Meiryo UI" pitchFamily="34" charset="-120"/>
                          </a:rPr>
                          <a:t>ソース・宛先 / モニター</a:t>
                        </a:r>
                        <a:endParaRPr lang="en-US" sz="95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000000"/>
                            </a:solidFill>
                            <a:latin typeface="Meiryo UI" pitchFamily="34" charset="0"/>
                            <a:ea typeface="Meiryo UI" pitchFamily="34" charset="-122"/>
                            <a:cs typeface="Meiryo UI" pitchFamily="34" charset="-120"/>
                          </a:rPr>
                          <a:t>100</a:t>
                        </a:r>
                        <a:endParaRPr lang="en-US" sz="95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292608">
                  <a:tc>
                    <a:txBody>
                      <a:bodyPr/>
                      <a:lstStyle/>
                      <a:p>
                        <a:pPr indent="0" marL="0">
                          <a:buNone/>
                        </a:pPr>
                        <a:r>
                          <a:rPr lang="en-US" sz="950" dirty="0">
                            <a:solidFill>
                              <a:srgbClr val="000000"/>
                            </a:solidFill>
                            <a:latin typeface="Meiryo UI" pitchFamily="34" charset="0"/>
                            <a:ea typeface="Meiryo UI" pitchFamily="34" charset="-122"/>
                            <a:cs typeface="Meiryo UI" pitchFamily="34" charset="-120"/>
                          </a:rPr>
                          <a:t>テスト構成 / モニター</a:t>
                        </a:r>
                        <a:endParaRPr lang="en-US" sz="95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000000"/>
                            </a:solidFill>
                            <a:latin typeface="Meiryo UI" pitchFamily="34" charset="0"/>
                            <a:ea typeface="Meiryo UI" pitchFamily="34" charset="-122"/>
                            <a:cs typeface="Meiryo UI" pitchFamily="34" charset="-120"/>
                          </a:rPr>
                          <a:t>20</a:t>
                        </a:r>
                        <a:endParaRPr lang="en-US" sz="95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292608">
                  <a:tc>
                    <a:txBody>
                      <a:bodyPr/>
                      <a:lstStyle/>
                      <a:p>
                        <a:pPr indent="0" marL="0">
                          <a:buNone/>
                        </a:pPr>
                        <a:r>
                          <a:rPr lang="en-US" sz="950" dirty="0">
                            <a:solidFill>
                              <a:srgbClr val="000000"/>
                            </a:solidFill>
                            <a:latin typeface="Meiryo UI" pitchFamily="34" charset="0"/>
                            <a:ea typeface="Meiryo UI" pitchFamily="34" charset="-122"/>
                            <a:cs typeface="Meiryo UI" pitchFamily="34" charset="-120"/>
                          </a:rPr>
                          <a:t>パケットキャプチャ / リージョン</a:t>
                        </a:r>
                        <a:endParaRPr lang="en-US" sz="95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000000"/>
                            </a:solidFill>
                            <a:latin typeface="Meiryo UI" pitchFamily="34" charset="0"/>
                            <a:ea typeface="Meiryo UI" pitchFamily="34" charset="-122"/>
                            <a:cs typeface="Meiryo UI" pitchFamily="34" charset="-120"/>
                          </a:rPr>
                          <a:t>10,000</a:t>
                        </a:r>
                        <a:endParaRPr lang="en-US" sz="95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292608">
                  <a:tc>
                    <a:txBody>
                      <a:bodyPr/>
                      <a:lstStyle/>
                      <a:p>
                        <a:pPr indent="0" marL="0">
                          <a:buNone/>
                        </a:pPr>
                        <a:r>
                          <a:rPr lang="en-US" sz="950" dirty="0">
                            <a:solidFill>
                              <a:srgbClr val="000000"/>
                            </a:solidFill>
                            <a:latin typeface="Meiryo UI" pitchFamily="34" charset="0"/>
                            <a:ea typeface="Meiryo UI" pitchFamily="34" charset="-122"/>
                            <a:cs typeface="Meiryo UI" pitchFamily="34" charset="-120"/>
                          </a:rPr>
                          <a:t>VPN トラブルシュート (同時)</a:t>
                        </a:r>
                        <a:endParaRPr lang="en-US" sz="95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000000"/>
                            </a:solidFill>
                            <a:latin typeface="Meiryo UI" pitchFamily="34" charset="0"/>
                            <a:ea typeface="Meiryo UI" pitchFamily="34" charset="-122"/>
                            <a:cs typeface="Meiryo UI" pitchFamily="34" charset="-120"/>
                          </a:rPr>
                          <a:t>1</a:t>
                        </a:r>
                        <a:endParaRPr lang="en-US" sz="95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Tree>
    </p:cSld>
    <p:spTree>
      <p:nvGrpSpPr>
        <p:cNvPr id="1" name=""/>
        <p:cNvGrpSpPr/>
        <p:nvPr/>
      </p:nvGrpSpPr>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セキュリティ・料金体系・利用制限</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8 / 8</a:t>
            </a:r>
            <a:endParaRPr lang="en-US" sz="900" dirty="0"/>
          </a:p>
        </p:txBody>
      </p:sp>
      <p:sp>
        <p:nvSpPr>
          <p:cNvPr id="5" name="Shape 3"/>
          <p:cNvSpPr/>
          <p:nvPr/>
        </p:nvSpPr>
        <p:spPr>
          <a:xfrm>
            <a:off x="457200" y="1188720"/>
            <a:ext cx="5486400" cy="5029200"/>
          </a:xfrm>
          <a:prstGeom prst="roundRect">
            <a:avLst>
              <a:gd name="adj" fmla="val 2182"/>
            </a:avLst>
          </a:prstGeom>
          <a:solidFill>
            <a:srgbClr val="F3F2F1"/>
          </a:solidFill>
          <a:ln w="25400">
            <a:solidFill>
              <a:srgbClr val="0078D4"/>
            </a:solidFill>
            <a:prstDash val="solid"/>
          </a:ln>
        </p:spPr>
      </p:sp>
      <p:sp>
        <p:nvSpPr>
          <p:cNvPr id="6" name="Shape 4"/>
          <p:cNvSpPr/>
          <p:nvPr/>
        </p:nvSpPr>
        <p:spPr>
          <a:xfrm>
            <a:off x="548640" y="1261872"/>
            <a:ext cx="5303520" cy="457200"/>
          </a:xfrm>
          <a:prstGeom prst="roundRect">
            <a:avLst>
              <a:gd name="adj" fmla="val 16000"/>
            </a:avLst>
          </a:prstGeom>
          <a:solidFill>
            <a:srgbClr val="0078D4"/>
          </a:solidFill>
          <a:ln/>
        </p:spPr>
      </p:sp>
      <p:sp>
        <p:nvSpPr>
          <p:cNvPr id="7" name="Text 5"/>
          <p:cNvSpPr/>
          <p:nvPr/>
        </p:nvSpPr>
        <p:spPr>
          <a:xfrm>
            <a:off x="548640" y="1261872"/>
            <a:ext cx="5303520" cy="457200"/>
          </a:xfrm>
          <a:prstGeom prst="rect">
            <a:avLst/>
          </a:prstGeom>
          <a:noFill/>
          <a:ln/>
        </p:spPr>
        <p:txBody>
          <a:bodyPr wrap="square"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  セキュリティとアクセス制御</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1874520"/>
          <a:ext cx="5120640" cy="1828800"/>
        </p:xfrm>
        <a:graphic>
          <a:graphicData uri="http://schemas.openxmlformats.org/drawingml/2006/table">
            <a:tbl>
              <a:tblPr/>
              <a:tblGrid>
                <a:gridCol w="1828800"/>
                <a:gridCol w="3291840"/>
              </a:tblGrid>
              <a:tr h="320040">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ロール</a:t>
                      </a:r>
                      <a:endParaRPr lang="en-US" sz="10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説明</a:t>
                      </a:r>
                      <a:endParaRPr lang="en-US" sz="10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20040">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Owner</a:t>
                      </a:r>
                      <a:endParaRPr lang="en-US" sz="10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すべての権限を持ちます</a:t>
                      </a:r>
                      <a:endParaRPr lang="en-US" sz="10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20040">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Contributor</a:t>
                      </a:r>
                      <a:endParaRPr lang="en-US" sz="10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所有権の割り当て以外の全権限を持ちます</a:t>
                      </a:r>
                      <a:endParaRPr lang="en-US" sz="10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20040">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Network Contributor</a:t>
                      </a:r>
                      <a:endParaRPr lang="en-US" sz="10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ネットワーク関連の権限を持ちます</a:t>
                      </a:r>
                      <a:endParaRPr lang="en-US" sz="10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20040">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カスタムロール</a:t>
                      </a:r>
                      <a:endParaRPr lang="en-US" sz="10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必要最小限のアクションのみを割り当てます</a:t>
                      </a:r>
                      <a:endParaRPr lang="en-US" sz="10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
        <p:nvSpPr>
          <p:cNvPr id="9" name="Text 6"/>
          <p:cNvSpPr/>
          <p:nvPr/>
        </p:nvSpPr>
        <p:spPr>
          <a:xfrm>
            <a:off x="640080" y="4114800"/>
            <a:ext cx="5120640" cy="2011680"/>
          </a:xfrm>
          <a:prstGeom prst="rect">
            <a:avLst/>
          </a:prstGeom>
          <a:noFill/>
          <a:ln/>
        </p:spPr>
        <p:txBody>
          <a:bodyPr wrap="square" rtlCol="0" anchor="t"/>
          <a:lstStyle/>
          <a:p>
            <a:pPr marL="342900" indent="-342900">
              <a:lnSpc>
                <a:spcPct val="130000"/>
              </a:lnSpc>
              <a:buSzPct val="100000"/>
              <a:buChar char="•"/>
            </a:pPr>
            <a:r>
              <a:rPr lang="en-US" sz="1000" dirty="0">
                <a:solidFill>
                  <a:srgbClr val="000000"/>
                </a:solidFill>
                <a:latin typeface="Meiryo UI" pitchFamily="34" charset="0"/>
                <a:ea typeface="Meiryo UI" pitchFamily="34" charset="-122"/>
                <a:cs typeface="Meiryo UI" pitchFamily="34" charset="-120"/>
              </a:rPr>
              <a:t>Network Contributor には Storage、Compute、OperationalInsights 関連アクションが含まれません</a:t>
            </a:r>
            <a:endParaRPr lang="en-US" sz="1000" dirty="0"/>
          </a:p>
          <a:p>
            <a:pPr marL="342900" indent="-342900">
              <a:lnSpc>
                <a:spcPct val="130000"/>
              </a:lnSpc>
              <a:buSzPct val="100000"/>
              <a:buChar char="•"/>
            </a:pPr>
            <a:r>
              <a:rPr lang="en-US" sz="1000" dirty="0">
                <a:solidFill>
                  <a:srgbClr val="000000"/>
                </a:solidFill>
                <a:latin typeface="Meiryo UI" pitchFamily="34" charset="0"/>
                <a:ea typeface="Meiryo UI" pitchFamily="34" charset="-122"/>
                <a:cs typeface="Meiryo UI" pitchFamily="34" charset="-120"/>
              </a:rPr>
              <a:t>フローログやトラフィック分析には追加の権限が必要です</a:t>
            </a:r>
            <a:endParaRPr lang="en-US" sz="1000" dirty="0"/>
          </a:p>
          <a:p>
            <a:pPr marL="342900" indent="-342900">
              <a:lnSpc>
                <a:spcPct val="130000"/>
              </a:lnSpc>
              <a:buSzPct val="100000"/>
              <a:buChar char="•"/>
            </a:pPr>
            <a:r>
              <a:rPr lang="en-US" sz="1000" dirty="0">
                <a:solidFill>
                  <a:srgbClr val="000000"/>
                </a:solidFill>
                <a:latin typeface="Meiryo UI" pitchFamily="34" charset="0"/>
                <a:ea typeface="Meiryo UI" pitchFamily="34" charset="-122"/>
                <a:cs typeface="Meiryo UI" pitchFamily="34" charset="-120"/>
              </a:rPr>
              <a:t>Azure Policy でフローログの構成を組織全体で統一的に管理できます</a:t>
            </a:r>
            <a:endParaRPr lang="en-US" sz="1000" dirty="0"/>
          </a:p>
          <a:p>
            <a:pPr marL="342900" indent="-342900">
              <a:lnSpc>
                <a:spcPct val="130000"/>
              </a:lnSpc>
              <a:buSzPct val="100000"/>
              <a:buChar char="•"/>
            </a:pPr>
            <a:r>
              <a:rPr lang="en-US" sz="1000" dirty="0">
                <a:solidFill>
                  <a:srgbClr val="000000"/>
                </a:solidFill>
                <a:latin typeface="Meiryo UI" pitchFamily="34" charset="0"/>
                <a:ea typeface="Meiryo UI" pitchFamily="34" charset="-122"/>
                <a:cs typeface="Meiryo UI" pitchFamily="34" charset="-120"/>
              </a:rPr>
              <a:t>Network Watcher は顧客データを保存しません（接続モニターを除く）</a:t>
            </a:r>
            <a:endParaRPr lang="en-US" sz="1000" dirty="0"/>
          </a:p>
        </p:txBody>
      </p:sp>
      <p:sp>
        <p:nvSpPr>
          <p:cNvPr id="10" name="Shape 7"/>
          <p:cNvSpPr/>
          <p:nvPr/>
        </p:nvSpPr>
        <p:spPr>
          <a:xfrm>
            <a:off x="6217920" y="1188720"/>
            <a:ext cx="5486400" cy="5029200"/>
          </a:xfrm>
          <a:prstGeom prst="roundRect">
            <a:avLst>
              <a:gd name="adj" fmla="val 2182"/>
            </a:avLst>
          </a:prstGeom>
          <a:solidFill>
            <a:srgbClr val="F3F2F1"/>
          </a:solidFill>
          <a:ln w="25400">
            <a:solidFill>
              <a:srgbClr val="FF8C00"/>
            </a:solidFill>
            <a:prstDash val="solid"/>
          </a:ln>
        </p:spPr>
      </p:sp>
      <p:sp>
        <p:nvSpPr>
          <p:cNvPr id="11" name="Shape 8"/>
          <p:cNvSpPr/>
          <p:nvPr/>
        </p:nvSpPr>
        <p:spPr>
          <a:xfrm>
            <a:off x="6309360" y="1261872"/>
            <a:ext cx="5303520" cy="457200"/>
          </a:xfrm>
          <a:prstGeom prst="roundRect">
            <a:avLst>
              <a:gd name="adj" fmla="val 16000"/>
            </a:avLst>
          </a:prstGeom>
          <a:solidFill>
            <a:srgbClr val="FF8C00"/>
          </a:solidFill>
          <a:ln/>
        </p:spPr>
      </p:sp>
      <p:sp>
        <p:nvSpPr>
          <p:cNvPr id="12" name="Text 9"/>
          <p:cNvSpPr/>
          <p:nvPr/>
        </p:nvSpPr>
        <p:spPr>
          <a:xfrm>
            <a:off x="6309360" y="1261872"/>
            <a:ext cx="5303520" cy="457200"/>
          </a:xfrm>
          <a:prstGeom prst="rect">
            <a:avLst/>
          </a:prstGeom>
          <a:noFill/>
          <a:ln/>
        </p:spPr>
        <p:txBody>
          <a:bodyPr wrap="square"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  料金体系と利用制限</a:t>
            </a:r>
            <a:endParaRPr lang="en-US" sz="1400" dirty="0"/>
          </a:p>
        </p:txBody>
      </p:sp>
      <p:sp>
        <p:nvSpPr>
          <p:cNvPr id="13" name="Text 10"/>
          <p:cNvSpPr/>
          <p:nvPr/>
        </p:nvSpPr>
        <p:spPr>
          <a:xfrm>
            <a:off x="6400800" y="1874520"/>
            <a:ext cx="5120640" cy="1371600"/>
          </a:xfrm>
          <a:prstGeom prst="rect">
            <a:avLst/>
          </a:prstGeom>
          <a:noFill/>
          <a:ln/>
        </p:spPr>
        <p:txBody>
          <a:bodyPr wrap="square" rtlCol="0" anchor="t"/>
          <a:lstStyle/>
          <a:p>
            <a:pPr marL="342900" indent="-342900">
              <a:lnSpc>
                <a:spcPct val="125000"/>
              </a:lnSpc>
              <a:buSzPct val="100000"/>
              <a:buChar char="•"/>
            </a:pPr>
            <a:r>
              <a:rPr lang="en-US" sz="1000" dirty="0">
                <a:solidFill>
                  <a:srgbClr val="000000"/>
                </a:solidFill>
                <a:latin typeface="Meiryo UI" pitchFamily="34" charset="0"/>
                <a:ea typeface="Meiryo UI" pitchFamily="34" charset="-122"/>
                <a:cs typeface="Meiryo UI" pitchFamily="34" charset="-120"/>
              </a:rPr>
              <a:t>自動有効化自体には課金は発生しません</a:t>
            </a:r>
            <a:endParaRPr lang="en-US" sz="1000" dirty="0"/>
          </a:p>
          <a:p>
            <a:pPr marL="342900" indent="-342900">
              <a:lnSpc>
                <a:spcPct val="125000"/>
              </a:lnSpc>
              <a:buSzPct val="100000"/>
              <a:buChar char="•"/>
            </a:pPr>
            <a:r>
              <a:rPr lang="en-US" sz="1000" dirty="0">
                <a:solidFill>
                  <a:srgbClr val="000000"/>
                </a:solidFill>
                <a:latin typeface="Meiryo UI" pitchFamily="34" charset="0"/>
                <a:ea typeface="Meiryo UI" pitchFamily="34" charset="-122"/>
                <a:cs typeface="Meiryo UI" pitchFamily="34" charset="-120"/>
              </a:rPr>
              <a:t>各機能の使用量に基づいて個別に課金されます</a:t>
            </a:r>
            <a:endParaRPr lang="en-US" sz="1000" dirty="0"/>
          </a:p>
          <a:p>
            <a:pPr marL="342900" indent="-342900">
              <a:lnSpc>
                <a:spcPct val="125000"/>
              </a:lnSpc>
              <a:buSzPct val="100000"/>
              <a:buChar char="•"/>
            </a:pPr>
            <a:r>
              <a:rPr lang="en-US" sz="1000" dirty="0">
                <a:solidFill>
                  <a:srgbClr val="000000"/>
                </a:solidFill>
                <a:latin typeface="Meiryo UI" pitchFamily="34" charset="0"/>
                <a:ea typeface="Meiryo UI" pitchFamily="34" charset="-122"/>
                <a:cs typeface="Meiryo UI" pitchFamily="34" charset="-120"/>
              </a:rPr>
              <a:t>トラフィック分析は生フローログデータ量に基づきます</a:t>
            </a:r>
            <a:endParaRPr lang="en-US" sz="1000" dirty="0"/>
          </a:p>
          <a:p>
            <a:pPr marL="342900" indent="-342900">
              <a:lnSpc>
                <a:spcPct val="125000"/>
              </a:lnSpc>
              <a:buSzPct val="100000"/>
              <a:buChar char="•"/>
            </a:pPr>
            <a:r>
              <a:rPr lang="en-US" sz="1000" dirty="0">
                <a:solidFill>
                  <a:srgbClr val="000000"/>
                </a:solidFill>
                <a:latin typeface="Meiryo UI" pitchFamily="34" charset="0"/>
                <a:ea typeface="Meiryo UI" pitchFamily="34" charset="-122"/>
                <a:cs typeface="Meiryo UI" pitchFamily="34" charset="-120"/>
              </a:rPr>
              <a:t>Log Analytics への取り込みは Azure Monitor 料金が適用されます</a:t>
            </a:r>
            <a:endParaRPr lang="en-US" sz="1000" dirty="0"/>
          </a:p>
        </p:txBody>
      </p:sp>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6400800" y="3291840"/>
          <a:ext cx="5120640" cy="2743200"/>
        </p:xfrm>
        <a:graphic>
          <a:graphicData uri="http://schemas.openxmlformats.org/drawingml/2006/table">
            <a:tbl>
              <a:tblPr/>
              <a:tblGrid>
                <a:gridCol w="2926080"/>
                <a:gridCol w="2194560"/>
              </a:tblGrid>
              <a:tr h="292608">
                <a:tc>
                  <a:txBody>
                    <a:bodyPr/>
                    <a:lstStyle/>
                    <a:p>
                      <a:pPr indent="0" marL="0">
                        <a:buNone/>
                      </a:pPr>
                      <a:r>
                        <a:rPr lang="en-US" sz="950" dirty="0">
                          <a:solidFill>
                            <a:srgbClr val="000000"/>
                          </a:solidFill>
                          <a:latin typeface="Meiryo UI" pitchFamily="34" charset="0"/>
                          <a:ea typeface="Meiryo UI" pitchFamily="34" charset="-122"/>
                          <a:cs typeface="Meiryo UI" pitchFamily="34" charset="-120"/>
                        </a:rPr>
                        <a:t>リソース</a:t>
                      </a:r>
                      <a:endParaRPr lang="en-US" sz="95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000000"/>
                          </a:solidFill>
                          <a:latin typeface="Meiryo UI" pitchFamily="34" charset="0"/>
                          <a:ea typeface="Meiryo UI" pitchFamily="34" charset="-122"/>
                          <a:cs typeface="Meiryo UI" pitchFamily="34" charset="-120"/>
                        </a:rPr>
                        <a:t>制限</a:t>
                      </a:r>
                      <a:endParaRPr lang="en-US" sz="95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292608">
                <a:tc>
                  <a:txBody>
                    <a:bodyPr/>
                    <a:lstStyle/>
                    <a:p>
                      <a:pPr indent="0" marL="0">
                        <a:buNone/>
                      </a:pPr>
                      <a:r>
                        <a:rPr lang="en-US" sz="950" dirty="0">
                          <a:solidFill>
                            <a:srgbClr val="000000"/>
                          </a:solidFill>
                          <a:latin typeface="Meiryo UI" pitchFamily="34" charset="0"/>
                          <a:ea typeface="Meiryo UI" pitchFamily="34" charset="-122"/>
                          <a:cs typeface="Meiryo UI" pitchFamily="34" charset="-120"/>
                        </a:rPr>
                        <a:t>NW インスタンス / リージョン</a:t>
                      </a:r>
                      <a:endParaRPr lang="en-US" sz="95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000000"/>
                          </a:solidFill>
                          <a:latin typeface="Meiryo UI" pitchFamily="34" charset="0"/>
                          <a:ea typeface="Meiryo UI" pitchFamily="34" charset="-122"/>
                          <a:cs typeface="Meiryo UI" pitchFamily="34" charset="-120"/>
                        </a:rPr>
                        <a:t>1</a:t>
                      </a:r>
                      <a:endParaRPr lang="en-US" sz="95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292608">
                <a:tc>
                  <a:txBody>
                    <a:bodyPr/>
                    <a:lstStyle/>
                    <a:p>
                      <a:pPr indent="0" marL="0">
                        <a:buNone/>
                      </a:pPr>
                      <a:r>
                        <a:rPr lang="en-US" sz="950" dirty="0">
                          <a:solidFill>
                            <a:srgbClr val="000000"/>
                          </a:solidFill>
                          <a:latin typeface="Meiryo UI" pitchFamily="34" charset="0"/>
                          <a:ea typeface="Meiryo UI" pitchFamily="34" charset="-122"/>
                          <a:cs typeface="Meiryo UI" pitchFamily="34" charset="-120"/>
                        </a:rPr>
                        <a:t>接続モニター / リージョン</a:t>
                      </a:r>
                      <a:endParaRPr lang="en-US" sz="95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000000"/>
                          </a:solidFill>
                          <a:latin typeface="Meiryo UI" pitchFamily="34" charset="0"/>
                          <a:ea typeface="Meiryo UI" pitchFamily="34" charset="-122"/>
                          <a:cs typeface="Meiryo UI" pitchFamily="34" charset="-120"/>
                        </a:rPr>
                        <a:t>100</a:t>
                      </a:r>
                      <a:endParaRPr lang="en-US" sz="95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292608">
                <a:tc>
                  <a:txBody>
                    <a:bodyPr/>
                    <a:lstStyle/>
                    <a:p>
                      <a:pPr indent="0" marL="0">
                        <a:buNone/>
                      </a:pPr>
                      <a:r>
                        <a:rPr lang="en-US" sz="950" dirty="0">
                          <a:solidFill>
                            <a:srgbClr val="000000"/>
                          </a:solidFill>
                          <a:latin typeface="Meiryo UI" pitchFamily="34" charset="0"/>
                          <a:ea typeface="Meiryo UI" pitchFamily="34" charset="-122"/>
                          <a:cs typeface="Meiryo UI" pitchFamily="34" charset="-120"/>
                        </a:rPr>
                        <a:t>テストグループ / モニター</a:t>
                      </a:r>
                      <a:endParaRPr lang="en-US" sz="95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000000"/>
                          </a:solidFill>
                          <a:latin typeface="Meiryo UI" pitchFamily="34" charset="0"/>
                          <a:ea typeface="Meiryo UI" pitchFamily="34" charset="-122"/>
                          <a:cs typeface="Meiryo UI" pitchFamily="34" charset="-120"/>
                        </a:rPr>
                        <a:t>20</a:t>
                      </a:r>
                      <a:endParaRPr lang="en-US" sz="95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292608">
                <a:tc>
                  <a:txBody>
                    <a:bodyPr/>
                    <a:lstStyle/>
                    <a:p>
                      <a:pPr indent="0" marL="0">
                        <a:buNone/>
                      </a:pPr>
                      <a:r>
                        <a:rPr lang="en-US" sz="950" dirty="0">
                          <a:solidFill>
                            <a:srgbClr val="000000"/>
                          </a:solidFill>
                          <a:latin typeface="Meiryo UI" pitchFamily="34" charset="0"/>
                          <a:ea typeface="Meiryo UI" pitchFamily="34" charset="-122"/>
                          <a:cs typeface="Meiryo UI" pitchFamily="34" charset="-120"/>
                        </a:rPr>
                        <a:t>ソース・宛先 / モニター</a:t>
                      </a:r>
                      <a:endParaRPr lang="en-US" sz="95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000000"/>
                          </a:solidFill>
                          <a:latin typeface="Meiryo UI" pitchFamily="34" charset="0"/>
                          <a:ea typeface="Meiryo UI" pitchFamily="34" charset="-122"/>
                          <a:cs typeface="Meiryo UI" pitchFamily="34" charset="-120"/>
                        </a:rPr>
                        <a:t>100</a:t>
                      </a:r>
                      <a:endParaRPr lang="en-US" sz="95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292608">
                <a:tc>
                  <a:txBody>
                    <a:bodyPr/>
                    <a:lstStyle/>
                    <a:p>
                      <a:pPr indent="0" marL="0">
                        <a:buNone/>
                      </a:pPr>
                      <a:r>
                        <a:rPr lang="en-US" sz="950" dirty="0">
                          <a:solidFill>
                            <a:srgbClr val="000000"/>
                          </a:solidFill>
                          <a:latin typeface="Meiryo UI" pitchFamily="34" charset="0"/>
                          <a:ea typeface="Meiryo UI" pitchFamily="34" charset="-122"/>
                          <a:cs typeface="Meiryo UI" pitchFamily="34" charset="-120"/>
                        </a:rPr>
                        <a:t>テスト構成 / モニター</a:t>
                      </a:r>
                      <a:endParaRPr lang="en-US" sz="95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000000"/>
                          </a:solidFill>
                          <a:latin typeface="Meiryo UI" pitchFamily="34" charset="0"/>
                          <a:ea typeface="Meiryo UI" pitchFamily="34" charset="-122"/>
                          <a:cs typeface="Meiryo UI" pitchFamily="34" charset="-120"/>
                        </a:rPr>
                        <a:t>20</a:t>
                      </a:r>
                      <a:endParaRPr lang="en-US" sz="95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292608">
                <a:tc>
                  <a:txBody>
                    <a:bodyPr/>
                    <a:lstStyle/>
                    <a:p>
                      <a:pPr indent="0" marL="0">
                        <a:buNone/>
                      </a:pPr>
                      <a:r>
                        <a:rPr lang="en-US" sz="950" dirty="0">
                          <a:solidFill>
                            <a:srgbClr val="000000"/>
                          </a:solidFill>
                          <a:latin typeface="Meiryo UI" pitchFamily="34" charset="0"/>
                          <a:ea typeface="Meiryo UI" pitchFamily="34" charset="-122"/>
                          <a:cs typeface="Meiryo UI" pitchFamily="34" charset="-120"/>
                        </a:rPr>
                        <a:t>パケットキャプチャ / リージョン</a:t>
                      </a:r>
                      <a:endParaRPr lang="en-US" sz="95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000000"/>
                          </a:solidFill>
                          <a:latin typeface="Meiryo UI" pitchFamily="34" charset="0"/>
                          <a:ea typeface="Meiryo UI" pitchFamily="34" charset="-122"/>
                          <a:cs typeface="Meiryo UI" pitchFamily="34" charset="-120"/>
                        </a:rPr>
                        <a:t>10,000</a:t>
                      </a:r>
                      <a:endParaRPr lang="en-US" sz="95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292608">
                <a:tc>
                  <a:txBody>
                    <a:bodyPr/>
                    <a:lstStyle/>
                    <a:p>
                      <a:pPr indent="0" marL="0">
                        <a:buNone/>
                      </a:pPr>
                      <a:r>
                        <a:rPr lang="en-US" sz="950" dirty="0">
                          <a:solidFill>
                            <a:srgbClr val="000000"/>
                          </a:solidFill>
                          <a:latin typeface="Meiryo UI" pitchFamily="34" charset="0"/>
                          <a:ea typeface="Meiryo UI" pitchFamily="34" charset="-122"/>
                          <a:cs typeface="Meiryo UI" pitchFamily="34" charset="-120"/>
                        </a:rPr>
                        <a:t>VPN トラブルシュート (同時)</a:t>
                      </a:r>
                      <a:endParaRPr lang="en-US" sz="95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000000"/>
                          </a:solidFill>
                          <a:latin typeface="Meiryo UI" pitchFamily="34" charset="0"/>
                          <a:ea typeface="Meiryo UI" pitchFamily="34" charset="-122"/>
                          <a:cs typeface="Meiryo UI" pitchFamily="34" charset="-120"/>
                        </a:rPr>
                        <a:t>1</a:t>
                      </a:r>
                      <a:endParaRPr lang="en-US" sz="95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まとめと次のステップ</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9 / 8</a:t>
              </a:r>
              <a:endParaRPr lang="en-US" sz="900" dirty="0"/>
            </a:p>
          </p:txBody>
        </p:sp>
        <p:sp>
          <p:nvSpPr>
            <p:cNvPr id="5" name="Shape 3"/>
            <p:cNvSpPr/>
            <p:nvPr/>
          </p:nvSpPr>
          <p:spPr>
            <a:xfrm>
              <a:off x="457200" y="1188720"/>
              <a:ext cx="11274552" cy="2103120"/>
            </a:xfrm>
            <a:prstGeom prst="roundRect">
              <a:avLst>
                <a:gd name="adj" fmla="val 5217"/>
              </a:avLst>
            </a:prstGeom>
            <a:solidFill>
              <a:srgbClr val="DEECF9"/>
            </a:solidFill>
            <a:ln w="25400">
              <a:solidFill>
                <a:srgbClr val="0078D4"/>
              </a:solidFill>
              <a:prstDash val="solid"/>
            </a:ln>
          </p:spPr>
        </p:sp>
        <p:sp>
          <p:nvSpPr>
            <p:cNvPr id="6" name="Text 4"/>
            <p:cNvSpPr/>
            <p:nvPr/>
          </p:nvSpPr>
          <p:spPr>
            <a:xfrm>
              <a:off x="640080" y="1261872"/>
              <a:ext cx="10908792" cy="365760"/>
            </a:xfrm>
            <a:prstGeom prst="rect">
              <a:avLst/>
            </a:prstGeom>
            <a:noFill/>
            <a:ln/>
          </p:spPr>
          <p:txBody>
            <a:bodyPr wrap="square" rtlCol="0" anchor="ctr"/>
            <a:lstStyle/>
            <a:p>
              <a:pPr indent="0" marL="0">
                <a:buNone/>
              </a:pPr>
              <a:r>
                <a:rPr lang="en-US" sz="1400" b="1" dirty="0">
                  <a:solidFill>
                    <a:srgbClr val="0078D4"/>
                  </a:solidFill>
                  <a:latin typeface="Meiryo UI" pitchFamily="34" charset="0"/>
                  <a:ea typeface="Meiryo UI" pitchFamily="34" charset="-122"/>
                  <a:cs typeface="Meiryo UI" pitchFamily="34" charset="-120"/>
                </a:rPr>
                <a:t>✅  Azure Network Watcher の価値</a:t>
              </a:r>
              <a:endParaRPr lang="en-US" sz="1400" dirty="0"/>
            </a:p>
          </p:txBody>
        </p:sp>
        <p:sp>
          <p:nvSpPr>
            <p:cNvPr id="7" name="Text 5"/>
            <p:cNvSpPr/>
            <p:nvPr/>
          </p:nvSpPr>
          <p:spPr>
            <a:xfrm>
              <a:off x="640080" y="1645920"/>
              <a:ext cx="10908792" cy="1554480"/>
            </a:xfrm>
            <a:prstGeom prst="rect">
              <a:avLst/>
            </a:prstGeom>
            <a:noFill/>
            <a:ln/>
          </p:spPr>
          <p:txBody>
            <a:bodyPr wrap="square" rtlCol="0" anchor="t"/>
            <a:lstStyle/>
            <a:p>
              <a:pPr marL="342900" indent="-342900">
                <a:lnSpc>
                  <a:spcPct val="130000"/>
                </a:lnSpc>
                <a:buSzPct val="100000"/>
                <a:buChar char="•"/>
              </a:pPr>
              <a:r>
                <a:rPr lang="en-US" sz="1100" dirty="0">
                  <a:solidFill>
                    <a:srgbClr val="000000"/>
                  </a:solidFill>
                  <a:latin typeface="Meiryo UI" pitchFamily="34" charset="0"/>
                  <a:ea typeface="Meiryo UI" pitchFamily="34" charset="-122"/>
                  <a:cs typeface="Meiryo UI" pitchFamily="34" charset="-120"/>
                </a:rPr>
                <a:t>Azure IaaS ネットワークの監視・診断・トラフィック分析を一元的に提供します</a:t>
              </a:r>
              <a:endParaRPr lang="en-US" sz="1100" dirty="0"/>
            </a:p>
            <a:p>
              <a:pPr marL="342900" indent="-342900">
                <a:lnSpc>
                  <a:spcPct val="130000"/>
                </a:lnSpc>
                <a:buSzPct val="100000"/>
                <a:buChar char="•"/>
              </a:pPr>
              <a:r>
                <a:rPr lang="en-US" sz="1100" dirty="0">
                  <a:solidFill>
                    <a:srgbClr val="000000"/>
                  </a:solidFill>
                  <a:latin typeface="Meiryo UI" pitchFamily="34" charset="0"/>
                  <a:ea typeface="Meiryo UI" pitchFamily="34" charset="-122"/>
                  <a:cs typeface="Meiryo UI" pitchFamily="34" charset="-120"/>
                </a:rPr>
                <a:t>仮想ネットワーク作成時に自動有効化されるため、追加の構成なしで利用を開始できます</a:t>
              </a:r>
              <a:endParaRPr lang="en-US" sz="1100" dirty="0"/>
            </a:p>
            <a:p>
              <a:pPr marL="342900" indent="-342900">
                <a:lnSpc>
                  <a:spcPct val="130000"/>
                </a:lnSpc>
                <a:buSzPct val="100000"/>
                <a:buChar char="•"/>
              </a:pPr>
              <a:r>
                <a:rPr lang="en-US" sz="1100" dirty="0">
                  <a:solidFill>
                    <a:srgbClr val="000000"/>
                  </a:solidFill>
                  <a:latin typeface="Meiryo UI" pitchFamily="34" charset="0"/>
                  <a:ea typeface="Meiryo UI" pitchFamily="34" charset="-122"/>
                  <a:cs typeface="Meiryo UI" pitchFamily="34" charset="-120"/>
                </a:rPr>
                <a:t>7 つの診断ツールにより、NSG、ルーティング、VPN、接続の問題を迅速に特定・解決できます</a:t>
              </a:r>
              <a:endParaRPr lang="en-US" sz="1100" dirty="0"/>
            </a:p>
            <a:p>
              <a:pPr marL="342900" indent="-342900">
                <a:lnSpc>
                  <a:spcPct val="130000"/>
                </a:lnSpc>
                <a:buSzPct val="100000"/>
                <a:buChar char="•"/>
              </a:pPr>
              <a:r>
                <a:rPr lang="en-US" sz="1100" dirty="0">
                  <a:solidFill>
                    <a:srgbClr val="000000"/>
                  </a:solidFill>
                  <a:latin typeface="Meiryo UI" pitchFamily="34" charset="0"/>
                  <a:ea typeface="Meiryo UI" pitchFamily="34" charset="-122"/>
                  <a:cs typeface="Meiryo UI" pitchFamily="34" charset="-120"/>
                </a:rPr>
                <a:t>VNet フローログとトラフィック分析により、ネットワークトラフィックの可視化と分析が可能です</a:t>
              </a:r>
              <a:endParaRPr lang="en-US" sz="1100" dirty="0"/>
            </a:p>
          </p:txBody>
        </p:sp>
        <p:sp>
          <p:nvSpPr>
            <p:cNvPr id="8" name="Shape 6"/>
            <p:cNvSpPr/>
            <p:nvPr/>
          </p:nvSpPr>
          <p:spPr>
            <a:xfrm>
              <a:off x="457200" y="3520440"/>
              <a:ext cx="5486400" cy="1645920"/>
            </a:xfrm>
            <a:prstGeom prst="roundRect">
              <a:avLst>
                <a:gd name="adj" fmla="val 6667"/>
              </a:avLst>
            </a:prstGeom>
            <a:solidFill>
              <a:srgbClr val="F3F2F1"/>
            </a:solidFill>
            <a:ln w="19050">
              <a:solidFill>
                <a:srgbClr val="107C10"/>
              </a:solidFill>
              <a:prstDash val="solid"/>
            </a:ln>
          </p:spPr>
        </p:sp>
        <p:sp>
          <p:nvSpPr>
            <p:cNvPr id="9" name="Text 7"/>
            <p:cNvSpPr/>
            <p:nvPr/>
          </p:nvSpPr>
          <p:spPr>
            <a:xfrm>
              <a:off x="640080" y="3584448"/>
              <a:ext cx="5120640" cy="320040"/>
            </a:xfrm>
            <a:prstGeom prst="rect">
              <a:avLst/>
            </a:prstGeom>
            <a:noFill/>
            <a:ln/>
          </p:spPr>
          <p:txBody>
            <a:bodyPr wrap="square" rtlCol="0" anchor="ctr"/>
            <a:lstStyle/>
            <a:p>
              <a:pPr indent="0" marL="0">
                <a:buNone/>
              </a:pPr>
              <a:r>
                <a:rPr lang="en-US" sz="1300" b="1" dirty="0">
                  <a:solidFill>
                    <a:srgbClr val="107C10"/>
                  </a:solidFill>
                  <a:latin typeface="Meiryo UI" pitchFamily="34" charset="0"/>
                  <a:ea typeface="Meiryo UI" pitchFamily="34" charset="-122"/>
                  <a:cs typeface="Meiryo UI" pitchFamily="34" charset="-120"/>
                </a:rPr>
                <a:t>🚀  次のステップ</a:t>
              </a:r>
              <a:endParaRPr lang="en-US" sz="1300" dirty="0"/>
            </a:p>
          </p:txBody>
        </p:sp>
        <p:sp>
          <p:nvSpPr>
            <p:cNvPr id="10" name="Text 8"/>
            <p:cNvSpPr/>
            <p:nvPr/>
          </p:nvSpPr>
          <p:spPr>
            <a:xfrm>
              <a:off x="640080" y="3931920"/>
              <a:ext cx="5120640" cy="1097280"/>
            </a:xfrm>
            <a:prstGeom prst="rect">
              <a:avLst/>
            </a:prstGeom>
            <a:noFill/>
            <a:ln/>
          </p:spPr>
          <p:txBody>
            <a:bodyPr wrap="square" rtlCol="0" anchor="t"/>
            <a:lstStyle/>
            <a:p>
              <a:pPr marL="342900" indent="-342900">
                <a:lnSpc>
                  <a:spcPct val="120000"/>
                </a:lnSpc>
                <a:buSzPct val="100000"/>
                <a:buChar char="•"/>
              </a:pPr>
              <a:r>
                <a:rPr lang="en-US" sz="1050" dirty="0">
                  <a:solidFill>
                    <a:srgbClr val="000000"/>
                  </a:solidFill>
                  <a:latin typeface="Meiryo UI" pitchFamily="34" charset="0"/>
                  <a:ea typeface="Meiryo UI" pitchFamily="34" charset="-122"/>
                  <a:cs typeface="Meiryo UI" pitchFamily="34" charset="-120"/>
                </a:rPr>
                <a:t>Azure Portal で Network Watcher の有効化状態を確認してください</a:t>
              </a:r>
              <a:endParaRPr lang="en-US" sz="1050" dirty="0"/>
            </a:p>
            <a:p>
              <a:pPr marL="342900" indent="-342900">
                <a:lnSpc>
                  <a:spcPct val="120000"/>
                </a:lnSpc>
                <a:buSzPct val="100000"/>
                <a:buChar char="•"/>
              </a:pPr>
              <a:r>
                <a:rPr lang="en-US" sz="1050" dirty="0">
                  <a:solidFill>
                    <a:srgbClr val="000000"/>
                  </a:solidFill>
                  <a:latin typeface="Meiryo UI" pitchFamily="34" charset="0"/>
                  <a:ea typeface="Meiryo UI" pitchFamily="34" charset="-122"/>
                  <a:cs typeface="Meiryo UI" pitchFamily="34" charset="-120"/>
                </a:rPr>
                <a:t>VNet フローログを有効化し、トラフィック分析で可視化環境を構築してください</a:t>
              </a:r>
              <a:endParaRPr lang="en-US" sz="1050" dirty="0"/>
            </a:p>
            <a:p>
              <a:pPr marL="342900" indent="-342900">
                <a:lnSpc>
                  <a:spcPct val="120000"/>
                </a:lnSpc>
                <a:buSzPct val="100000"/>
                <a:buChar char="•"/>
              </a:pPr>
              <a:r>
                <a:rPr lang="en-US" sz="1050" dirty="0">
                  <a:solidFill>
                    <a:srgbClr val="000000"/>
                  </a:solidFill>
                  <a:latin typeface="Meiryo UI" pitchFamily="34" charset="0"/>
                  <a:ea typeface="Meiryo UI" pitchFamily="34" charset="-122"/>
                  <a:cs typeface="Meiryo UI" pitchFamily="34" charset="-120"/>
                </a:rPr>
                <a:t>NSG フローログ使用中の場合は VNet フローログへの移行を検討してください</a:t>
              </a:r>
              <a:endParaRPr lang="en-US" sz="1050" dirty="0"/>
            </a:p>
            <a:p>
              <a:pPr marL="342900" indent="-342900">
                <a:lnSpc>
                  <a:spcPct val="120000"/>
                </a:lnSpc>
                <a:buSzPct val="100000"/>
                <a:buChar char="•"/>
              </a:pPr>
              <a:r>
                <a:rPr lang="en-US" sz="1050" dirty="0">
                  <a:solidFill>
                    <a:srgbClr val="000000"/>
                  </a:solidFill>
                  <a:latin typeface="Meiryo UI" pitchFamily="34" charset="0"/>
                  <a:ea typeface="Meiryo UI" pitchFamily="34" charset="-122"/>
                  <a:cs typeface="Meiryo UI" pitchFamily="34" charset="-120"/>
                </a:rPr>
                <a:t>RBAC のカスタムロールで最小権限の原則に基づくアクセス制御を設計してください</a:t>
              </a:r>
              <a:endParaRPr lang="en-US" sz="1050" dirty="0"/>
            </a:p>
          </p:txBody>
        </p:sp>
        <p:sp>
          <p:nvSpPr>
            <p:cNvPr id="11" name="Shape 9"/>
            <p:cNvSpPr/>
            <p:nvPr/>
          </p:nvSpPr>
          <p:spPr>
            <a:xfrm>
              <a:off x="6217920" y="3520440"/>
              <a:ext cx="5486400" cy="1645920"/>
            </a:xfrm>
            <a:prstGeom prst="roundRect">
              <a:avLst>
                <a:gd name="adj" fmla="val 6667"/>
              </a:avLst>
            </a:prstGeom>
            <a:solidFill>
              <a:srgbClr val="F3F2F1"/>
            </a:solidFill>
            <a:ln w="19050">
              <a:solidFill>
                <a:srgbClr val="5C2D91"/>
              </a:solidFill>
              <a:prstDash val="solid"/>
            </a:ln>
          </p:spPr>
        </p:sp>
        <p:sp>
          <p:nvSpPr>
            <p:cNvPr id="12" name="Text 10"/>
            <p:cNvSpPr/>
            <p:nvPr/>
          </p:nvSpPr>
          <p:spPr>
            <a:xfrm>
              <a:off x="6400800" y="3584448"/>
              <a:ext cx="5120640" cy="320040"/>
            </a:xfrm>
            <a:prstGeom prst="rect">
              <a:avLst/>
            </a:prstGeom>
            <a:noFill/>
            <a:ln/>
          </p:spPr>
          <p:txBody>
            <a:bodyPr wrap="square" rtlCol="0" anchor="ctr"/>
            <a:lstStyle/>
            <a:p>
              <a:pPr indent="0" marL="0">
                <a:buNone/>
              </a:pPr>
              <a:r>
                <a:rPr lang="en-US" sz="1300" b="1" dirty="0">
                  <a:solidFill>
                    <a:srgbClr val="5C2D91"/>
                  </a:solidFill>
                  <a:latin typeface="Meiryo UI" pitchFamily="34" charset="0"/>
                  <a:ea typeface="Meiryo UI" pitchFamily="34" charset="-122"/>
                  <a:cs typeface="Meiryo UI" pitchFamily="34" charset="-120"/>
                </a:rPr>
                <a:t>📎  参考リンク（主要）</a:t>
              </a:r>
              <a:endParaRPr lang="en-US" sz="1300" dirty="0"/>
            </a:p>
          </p:txBody>
        </p:sp>
        <p:sp>
          <p:nvSpPr>
            <p:cNvPr id="13" name="Text 11"/>
            <p:cNvSpPr/>
            <p:nvPr/>
          </p:nvSpPr>
          <p:spPr>
            <a:xfrm>
              <a:off x="6400800" y="3931920"/>
              <a:ext cx="5120640" cy="1097280"/>
            </a:xfrm>
            <a:prstGeom prst="rect">
              <a:avLst/>
            </a:prstGeom>
            <a:noFill/>
            <a:ln/>
          </p:spPr>
          <p:txBody>
            <a:bodyPr wrap="square" rtlCol="0" anchor="t"/>
            <a:lstStyle/>
            <a:p>
              <a:pPr indent="0" marL="0">
                <a:lnSpc>
                  <a:spcPct val="115000"/>
                </a:lnSpc>
                <a:buNone/>
              </a:pPr>
              <a:r>
                <a:rPr lang="en-US" sz="950" dirty="0">
                  <a:solidFill>
                    <a:srgbClr val="000000"/>
                  </a:solidFill>
                  <a:latin typeface="Meiryo UI" pitchFamily="34" charset="0"/>
                  <a:ea typeface="Meiryo UI" pitchFamily="34" charset="-122"/>
                  <a:cs typeface="Meiryo UI" pitchFamily="34" charset="-120"/>
                </a:rPr>
                <a:t>• Azure Network Watcher とは</a:t>
              </a:r>
              <a:pPr indent="0" marL="0">
                <a:lnSpc>
                  <a:spcPct val="115000"/>
                </a:lnSpc>
                <a:buNone/>
              </a:pPr>
              <a:r>
                <a:rPr lang="en-US" sz="950" dirty="0">
                  <a:solidFill>
                    <a:srgbClr val="000000"/>
                  </a:solidFill>
                  <a:latin typeface="Meiryo UI" pitchFamily="34" charset="0"/>
                  <a:ea typeface="Meiryo UI" pitchFamily="34" charset="-122"/>
                  <a:cs typeface="Meiryo UI" pitchFamily="34" charset="-120"/>
                </a:rPr>
                <a:t>• Network Watcher FAQ</a:t>
              </a:r>
              <a:pPr indent="0" marL="0">
                <a:lnSpc>
                  <a:spcPct val="115000"/>
                </a:lnSpc>
                <a:buNone/>
              </a:pPr>
              <a:r>
                <a:rPr lang="en-US" sz="950" dirty="0">
                  <a:solidFill>
                    <a:srgbClr val="000000"/>
                  </a:solidFill>
                  <a:latin typeface="Meiryo UI" pitchFamily="34" charset="0"/>
                  <a:ea typeface="Meiryo UI" pitchFamily="34" charset="-122"/>
                  <a:cs typeface="Meiryo UI" pitchFamily="34" charset="-120"/>
                </a:rPr>
                <a:t>• VNet フローログの概要</a:t>
              </a:r>
              <a:pPr indent="0" marL="0">
                <a:lnSpc>
                  <a:spcPct val="115000"/>
                </a:lnSpc>
                <a:buNone/>
              </a:pPr>
              <a:r>
                <a:rPr lang="en-US" sz="950" dirty="0">
                  <a:solidFill>
                    <a:srgbClr val="000000"/>
                  </a:solidFill>
                  <a:latin typeface="Meiryo UI" pitchFamily="34" charset="0"/>
                  <a:ea typeface="Meiryo UI" pitchFamily="34" charset="-122"/>
                  <a:cs typeface="Meiryo UI" pitchFamily="34" charset="-120"/>
                </a:rPr>
                <a:t>• トラフィック分析</a:t>
              </a:r>
              <a:pPr indent="0" marL="0">
                <a:lnSpc>
                  <a:spcPct val="115000"/>
                </a:lnSpc>
                <a:buNone/>
              </a:pPr>
              <a:r>
                <a:rPr lang="en-US" sz="950" dirty="0">
                  <a:solidFill>
                    <a:srgbClr val="000000"/>
                  </a:solidFill>
                  <a:latin typeface="Meiryo UI" pitchFamily="34" charset="0"/>
                  <a:ea typeface="Meiryo UI" pitchFamily="34" charset="-122"/>
                  <a:cs typeface="Meiryo UI" pitchFamily="34" charset="-120"/>
                </a:rPr>
                <a:t>• Network Watcher の料金</a:t>
              </a:r>
              <a:endParaRPr lang="en-US" sz="9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5303520"/>
            <a:ext cx="11274552" cy="1143000"/>
          </p:xfrm>
          <a:graphic>
            <a:graphicData uri="http://schemas.openxmlformats.org/drawingml/2006/table">
              <a:tbl>
                <a:tblPr/>
                <a:tblGrid>
                  <a:gridCol w="365760"/>
                  <a:gridCol w="3200400"/>
                  <a:gridCol w="7708392"/>
                </a:tblGrid>
                <a:tr h="146304">
                  <a:tc>
                    <a:txBody>
                      <a:bodyPr/>
                      <a:lstStyle/>
                      <a:p>
                        <a:pPr indent="0" marL="0">
                          <a:buNone/>
                        </a:pPr>
                        <a:r>
                          <a:rPr lang="en-US" sz="750" dirty="0">
                            <a:solidFill>
                              <a:srgbClr val="000000"/>
                            </a:solidFill>
                            <a:latin typeface="Meiryo UI" pitchFamily="34" charset="0"/>
                            <a:ea typeface="Meiryo UI" pitchFamily="34" charset="-122"/>
                            <a:cs typeface="Meiryo UI" pitchFamily="34" charset="-120"/>
                          </a:rPr>
                          <a:t>#</a:t>
                        </a:r>
                        <a:endParaRPr lang="en-US" sz="750" dirty="0">
                          <a:latin typeface="Meiryo UI" charset="0"/>
                          <a:ea typeface="Meiryo UI" charset="0"/>
                          <a:cs typeface="Meiryo UI" charset="0"/>
                        </a:endParaRPr>
                      </a:p>
                    </a:txBody>
                    <a:tcPr marL="91440" marR="91440" marT="45720" marB="45720">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tcPr>
                  </a:tc>
                  <a:tc>
                    <a:txBody>
                      <a:bodyPr/>
                      <a:lstStyle/>
                      <a:p>
                        <a:pPr indent="0" marL="0">
                          <a:buNone/>
                        </a:pPr>
                        <a:r>
                          <a:rPr lang="en-US" sz="750" dirty="0">
                            <a:solidFill>
                              <a:srgbClr val="000000"/>
                            </a:solidFill>
                            <a:latin typeface="Meiryo UI" pitchFamily="34" charset="0"/>
                            <a:ea typeface="Meiryo UI" pitchFamily="34" charset="-122"/>
                            <a:cs typeface="Meiryo UI" pitchFamily="34" charset="-120"/>
                          </a:rPr>
                          <a:t>タイトル</a:t>
                        </a:r>
                        <a:endParaRPr lang="en-US" sz="750" dirty="0">
                          <a:latin typeface="Meiryo UI" charset="0"/>
                          <a:ea typeface="Meiryo UI" charset="0"/>
                          <a:cs typeface="Meiryo UI" charset="0"/>
                        </a:endParaRPr>
                      </a:p>
                    </a:txBody>
                    <a:tcPr marL="91440" marR="91440" marT="45720" marB="45720">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tcPr>
                  </a:tc>
                  <a:tc>
                    <a:txBody>
                      <a:bodyPr/>
                      <a:lstStyle/>
                      <a:p>
                        <a:pPr indent="0" marL="0">
                          <a:buNone/>
                        </a:pPr>
                        <a:r>
                          <a:rPr lang="en-US" sz="750" dirty="0">
                            <a:solidFill>
                              <a:srgbClr val="000000"/>
                            </a:solidFill>
                            <a:latin typeface="Meiryo UI" pitchFamily="34" charset="0"/>
                            <a:ea typeface="Meiryo UI" pitchFamily="34" charset="-122"/>
                            <a:cs typeface="Meiryo UI" pitchFamily="34" charset="-120"/>
                          </a:rPr>
                          <a:t>URL</a:t>
                        </a:r>
                        <a:endParaRPr lang="en-US" sz="750" dirty="0">
                          <a:latin typeface="Meiryo UI" charset="0"/>
                          <a:ea typeface="Meiryo UI" charset="0"/>
                          <a:cs typeface="Meiryo UI" charset="0"/>
                        </a:endParaRPr>
                      </a:p>
                    </a:txBody>
                    <a:tcPr marL="91440" marR="91440" marT="45720" marB="45720">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tcPr>
                  </a:tc>
                </a:tr>
                <a:tr h="146304">
                  <a:tc>
                    <a:txBody>
                      <a:bodyPr/>
                      <a:lstStyle/>
                      <a:p>
                        <a:pPr indent="0" marL="0">
                          <a:buNone/>
                        </a:pPr>
                        <a:r>
                          <a:rPr lang="en-US" sz="750" dirty="0">
                            <a:solidFill>
                              <a:srgbClr val="000000"/>
                            </a:solidFill>
                            <a:latin typeface="Meiryo UI" pitchFamily="34" charset="0"/>
                            <a:ea typeface="Meiryo UI" pitchFamily="34" charset="-122"/>
                            <a:cs typeface="Meiryo UI" pitchFamily="34" charset="-120"/>
                          </a:rPr>
                          <a:t>1</a:t>
                        </a:r>
                        <a:endParaRPr lang="en-US" sz="750" dirty="0">
                          <a:latin typeface="Meiryo UI" charset="0"/>
                          <a:ea typeface="Meiryo UI" charset="0"/>
                          <a:cs typeface="Meiryo UI" charset="0"/>
                        </a:endParaRPr>
                      </a:p>
                    </a:txBody>
                    <a:tcPr marL="91440" marR="91440" marT="45720" marB="45720">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tcPr>
                  </a:tc>
                  <a:tc>
                    <a:txBody>
                      <a:bodyPr/>
                      <a:lstStyle/>
                      <a:p>
                        <a:pPr indent="0" marL="0">
                          <a:buNone/>
                        </a:pPr>
                        <a:r>
                          <a:rPr lang="en-US" sz="750" dirty="0">
                            <a:solidFill>
                              <a:srgbClr val="000000"/>
                            </a:solidFill>
                            <a:latin typeface="Meiryo UI" pitchFamily="34" charset="0"/>
                            <a:ea typeface="Meiryo UI" pitchFamily="34" charset="-122"/>
                            <a:cs typeface="Meiryo UI" pitchFamily="34" charset="-120"/>
                          </a:rPr>
                          <a:t>Azure Network Watcher とは</a:t>
                        </a:r>
                        <a:endParaRPr lang="en-US" sz="750" dirty="0">
                          <a:latin typeface="Meiryo UI" charset="0"/>
                          <a:ea typeface="Meiryo UI" charset="0"/>
                          <a:cs typeface="Meiryo UI" charset="0"/>
                        </a:endParaRPr>
                      </a:p>
                    </a:txBody>
                    <a:tcPr marL="91440" marR="91440" marT="45720" marB="45720">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tcPr>
                  </a:tc>
                  <a:tc>
                    <a:txBody>
                      <a:bodyPr/>
                      <a:lstStyle/>
                      <a:p>
                        <a:pPr indent="0" marL="0">
                          <a:buNone/>
                        </a:pPr>
                        <a:r>
                          <a:rPr lang="en-US" sz="750" dirty="0">
                            <a:solidFill>
                              <a:srgbClr val="000000"/>
                            </a:solidFill>
                            <a:latin typeface="Meiryo UI" pitchFamily="34" charset="0"/>
                            <a:ea typeface="Meiryo UI" pitchFamily="34" charset="-122"/>
                            <a:cs typeface="Meiryo UI" pitchFamily="34" charset="-120"/>
                          </a:rPr>
                          <a:t>learn.microsoft.com/azure/network-watcher/network-watcher-overview</a:t>
                        </a:r>
                        <a:endParaRPr lang="en-US" sz="750" dirty="0">
                          <a:latin typeface="Meiryo UI" charset="0"/>
                          <a:ea typeface="Meiryo UI" charset="0"/>
                          <a:cs typeface="Meiryo UI" charset="0"/>
                        </a:endParaRPr>
                      </a:p>
                    </a:txBody>
                    <a:tcPr marL="91440" marR="91440" marT="45720" marB="45720">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tcPr>
                  </a:tc>
                </a:tr>
                <a:tr h="146304">
                  <a:tc>
                    <a:txBody>
                      <a:bodyPr/>
                      <a:lstStyle/>
                      <a:p>
                        <a:pPr indent="0" marL="0">
                          <a:buNone/>
                        </a:pPr>
                        <a:r>
                          <a:rPr lang="en-US" sz="750" dirty="0">
                            <a:solidFill>
                              <a:srgbClr val="000000"/>
                            </a:solidFill>
                            <a:latin typeface="Meiryo UI" pitchFamily="34" charset="0"/>
                            <a:ea typeface="Meiryo UI" pitchFamily="34" charset="-122"/>
                            <a:cs typeface="Meiryo UI" pitchFamily="34" charset="-120"/>
                          </a:rPr>
                          <a:t>2</a:t>
                        </a:r>
                        <a:endParaRPr lang="en-US" sz="750" dirty="0">
                          <a:latin typeface="Meiryo UI" charset="0"/>
                          <a:ea typeface="Meiryo UI" charset="0"/>
                          <a:cs typeface="Meiryo UI" charset="0"/>
                        </a:endParaRPr>
                      </a:p>
                    </a:txBody>
                    <a:tcPr marL="91440" marR="91440" marT="45720" marB="45720">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tcPr>
                  </a:tc>
                  <a:tc>
                    <a:txBody>
                      <a:bodyPr/>
                      <a:lstStyle/>
                      <a:p>
                        <a:pPr indent="0" marL="0">
                          <a:buNone/>
                        </a:pPr>
                        <a:r>
                          <a:rPr lang="en-US" sz="750" dirty="0">
                            <a:solidFill>
                              <a:srgbClr val="000000"/>
                            </a:solidFill>
                            <a:latin typeface="Meiryo UI" pitchFamily="34" charset="0"/>
                            <a:ea typeface="Meiryo UI" pitchFamily="34" charset="-122"/>
                            <a:cs typeface="Meiryo UI" pitchFamily="34" charset="-120"/>
                          </a:rPr>
                          <a:t>Network Watcher FAQ</a:t>
                        </a:r>
                        <a:endParaRPr lang="en-US" sz="750" dirty="0">
                          <a:latin typeface="Meiryo UI" charset="0"/>
                          <a:ea typeface="Meiryo UI" charset="0"/>
                          <a:cs typeface="Meiryo UI" charset="0"/>
                        </a:endParaRPr>
                      </a:p>
                    </a:txBody>
                    <a:tcPr marL="91440" marR="91440" marT="45720" marB="45720">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tcPr>
                  </a:tc>
                  <a:tc>
                    <a:txBody>
                      <a:bodyPr/>
                      <a:lstStyle/>
                      <a:p>
                        <a:pPr indent="0" marL="0">
                          <a:buNone/>
                        </a:pPr>
                        <a:r>
                          <a:rPr lang="en-US" sz="750" dirty="0">
                            <a:solidFill>
                              <a:srgbClr val="000000"/>
                            </a:solidFill>
                            <a:latin typeface="Meiryo UI" pitchFamily="34" charset="0"/>
                            <a:ea typeface="Meiryo UI" pitchFamily="34" charset="-122"/>
                            <a:cs typeface="Meiryo UI" pitchFamily="34" charset="-120"/>
                          </a:rPr>
                          <a:t>learn.microsoft.com/azure/network-watcher/frequently-asked-questions</a:t>
                        </a:r>
                        <a:endParaRPr lang="en-US" sz="750" dirty="0">
                          <a:latin typeface="Meiryo UI" charset="0"/>
                          <a:ea typeface="Meiryo UI" charset="0"/>
                          <a:cs typeface="Meiryo UI" charset="0"/>
                        </a:endParaRPr>
                      </a:p>
                    </a:txBody>
                    <a:tcPr marL="91440" marR="91440" marT="45720" marB="45720">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tcPr>
                  </a:tc>
                </a:tr>
                <a:tr h="146304">
                  <a:tc>
                    <a:txBody>
                      <a:bodyPr/>
                      <a:lstStyle/>
                      <a:p>
                        <a:pPr indent="0" marL="0">
                          <a:buNone/>
                        </a:pPr>
                        <a:r>
                          <a:rPr lang="en-US" sz="750" dirty="0">
                            <a:solidFill>
                              <a:srgbClr val="000000"/>
                            </a:solidFill>
                            <a:latin typeface="Meiryo UI" pitchFamily="34" charset="0"/>
                            <a:ea typeface="Meiryo UI" pitchFamily="34" charset="-122"/>
                            <a:cs typeface="Meiryo UI" pitchFamily="34" charset="-120"/>
                          </a:rPr>
                          <a:t>3</a:t>
                        </a:r>
                        <a:endParaRPr lang="en-US" sz="750" dirty="0">
                          <a:latin typeface="Meiryo UI" charset="0"/>
                          <a:ea typeface="Meiryo UI" charset="0"/>
                          <a:cs typeface="Meiryo UI" charset="0"/>
                        </a:endParaRPr>
                      </a:p>
                    </a:txBody>
                    <a:tcPr marL="91440" marR="91440" marT="45720" marB="45720">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tcPr>
                  </a:tc>
                  <a:tc>
                    <a:txBody>
                      <a:bodyPr/>
                      <a:lstStyle/>
                      <a:p>
                        <a:pPr indent="0" marL="0">
                          <a:buNone/>
                        </a:pPr>
                        <a:r>
                          <a:rPr lang="en-US" sz="750" dirty="0">
                            <a:solidFill>
                              <a:srgbClr val="000000"/>
                            </a:solidFill>
                            <a:latin typeface="Meiryo UI" pitchFamily="34" charset="0"/>
                            <a:ea typeface="Meiryo UI" pitchFamily="34" charset="-122"/>
                            <a:cs typeface="Meiryo UI" pitchFamily="34" charset="-120"/>
                          </a:rPr>
                          <a:t>接続モニターの概要</a:t>
                        </a:r>
                        <a:endParaRPr lang="en-US" sz="750" dirty="0">
                          <a:latin typeface="Meiryo UI" charset="0"/>
                          <a:ea typeface="Meiryo UI" charset="0"/>
                          <a:cs typeface="Meiryo UI" charset="0"/>
                        </a:endParaRPr>
                      </a:p>
                    </a:txBody>
                    <a:tcPr marL="91440" marR="91440" marT="45720" marB="45720">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tcPr>
                  </a:tc>
                  <a:tc>
                    <a:txBody>
                      <a:bodyPr/>
                      <a:lstStyle/>
                      <a:p>
                        <a:pPr indent="0" marL="0">
                          <a:buNone/>
                        </a:pPr>
                        <a:r>
                          <a:rPr lang="en-US" sz="750" dirty="0">
                            <a:solidFill>
                              <a:srgbClr val="000000"/>
                            </a:solidFill>
                            <a:latin typeface="Meiryo UI" pitchFamily="34" charset="0"/>
                            <a:ea typeface="Meiryo UI" pitchFamily="34" charset="-122"/>
                            <a:cs typeface="Meiryo UI" pitchFamily="34" charset="-120"/>
                          </a:rPr>
                          <a:t>learn.microsoft.com/azure/network-watcher/connection-monitor-overview</a:t>
                        </a:r>
                        <a:endParaRPr lang="en-US" sz="750" dirty="0">
                          <a:latin typeface="Meiryo UI" charset="0"/>
                          <a:ea typeface="Meiryo UI" charset="0"/>
                          <a:cs typeface="Meiryo UI" charset="0"/>
                        </a:endParaRPr>
                      </a:p>
                    </a:txBody>
                    <a:tcPr marL="91440" marR="91440" marT="45720" marB="45720">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tcPr>
                  </a:tc>
                </a:tr>
                <a:tr h="146304">
                  <a:tc>
                    <a:txBody>
                      <a:bodyPr/>
                      <a:lstStyle/>
                      <a:p>
                        <a:pPr indent="0" marL="0">
                          <a:buNone/>
                        </a:pPr>
                        <a:r>
                          <a:rPr lang="en-US" sz="750" dirty="0">
                            <a:solidFill>
                              <a:srgbClr val="000000"/>
                            </a:solidFill>
                            <a:latin typeface="Meiryo UI" pitchFamily="34" charset="0"/>
                            <a:ea typeface="Meiryo UI" pitchFamily="34" charset="-122"/>
                            <a:cs typeface="Meiryo UI" pitchFamily="34" charset="-120"/>
                          </a:rPr>
                          <a:t>4</a:t>
                        </a:r>
                        <a:endParaRPr lang="en-US" sz="750" dirty="0">
                          <a:latin typeface="Meiryo UI" charset="0"/>
                          <a:ea typeface="Meiryo UI" charset="0"/>
                          <a:cs typeface="Meiryo UI" charset="0"/>
                        </a:endParaRPr>
                      </a:p>
                    </a:txBody>
                    <a:tcPr marL="91440" marR="91440" marT="45720" marB="45720">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tcPr>
                  </a:tc>
                  <a:tc>
                    <a:txBody>
                      <a:bodyPr/>
                      <a:lstStyle/>
                      <a:p>
                        <a:pPr indent="0" marL="0">
                          <a:buNone/>
                        </a:pPr>
                        <a:r>
                          <a:rPr lang="en-US" sz="750" dirty="0">
                            <a:solidFill>
                              <a:srgbClr val="000000"/>
                            </a:solidFill>
                            <a:latin typeface="Meiryo UI" pitchFamily="34" charset="0"/>
                            <a:ea typeface="Meiryo UI" pitchFamily="34" charset="-122"/>
                            <a:cs typeface="Meiryo UI" pitchFamily="34" charset="-120"/>
                          </a:rPr>
                          <a:t>VNet フローログの概要</a:t>
                        </a:r>
                        <a:endParaRPr lang="en-US" sz="750" dirty="0">
                          <a:latin typeface="Meiryo UI" charset="0"/>
                          <a:ea typeface="Meiryo UI" charset="0"/>
                          <a:cs typeface="Meiryo UI" charset="0"/>
                        </a:endParaRPr>
                      </a:p>
                    </a:txBody>
                    <a:tcPr marL="91440" marR="91440" marT="45720" marB="45720">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tcPr>
                  </a:tc>
                  <a:tc>
                    <a:txBody>
                      <a:bodyPr/>
                      <a:lstStyle/>
                      <a:p>
                        <a:pPr indent="0" marL="0">
                          <a:buNone/>
                        </a:pPr>
                        <a:r>
                          <a:rPr lang="en-US" sz="750" dirty="0">
                            <a:solidFill>
                              <a:srgbClr val="000000"/>
                            </a:solidFill>
                            <a:latin typeface="Meiryo UI" pitchFamily="34" charset="0"/>
                            <a:ea typeface="Meiryo UI" pitchFamily="34" charset="-122"/>
                            <a:cs typeface="Meiryo UI" pitchFamily="34" charset="-120"/>
                          </a:rPr>
                          <a:t>learn.microsoft.com/azure/network-watcher/vnet-flow-logs-overview</a:t>
                        </a:r>
                        <a:endParaRPr lang="en-US" sz="750" dirty="0">
                          <a:latin typeface="Meiryo UI" charset="0"/>
                          <a:ea typeface="Meiryo UI" charset="0"/>
                          <a:cs typeface="Meiryo UI" charset="0"/>
                        </a:endParaRPr>
                      </a:p>
                    </a:txBody>
                    <a:tcPr marL="91440" marR="91440" marT="45720" marB="45720">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tcPr>
                  </a:tc>
                </a:tr>
                <a:tr h="146304">
                  <a:tc>
                    <a:txBody>
                      <a:bodyPr/>
                      <a:lstStyle/>
                      <a:p>
                        <a:pPr indent="0" marL="0">
                          <a:buNone/>
                        </a:pPr>
                        <a:r>
                          <a:rPr lang="en-US" sz="750" dirty="0">
                            <a:solidFill>
                              <a:srgbClr val="000000"/>
                            </a:solidFill>
                            <a:latin typeface="Meiryo UI" pitchFamily="34" charset="0"/>
                            <a:ea typeface="Meiryo UI" pitchFamily="34" charset="-122"/>
                            <a:cs typeface="Meiryo UI" pitchFamily="34" charset="-120"/>
                          </a:rPr>
                          <a:t>5</a:t>
                        </a:r>
                        <a:endParaRPr lang="en-US" sz="750" dirty="0">
                          <a:latin typeface="Meiryo UI" charset="0"/>
                          <a:ea typeface="Meiryo UI" charset="0"/>
                          <a:cs typeface="Meiryo UI" charset="0"/>
                        </a:endParaRPr>
                      </a:p>
                    </a:txBody>
                    <a:tcPr marL="91440" marR="91440" marT="45720" marB="45720">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tcPr>
                  </a:tc>
                  <a:tc>
                    <a:txBody>
                      <a:bodyPr/>
                      <a:lstStyle/>
                      <a:p>
                        <a:pPr indent="0" marL="0">
                          <a:buNone/>
                        </a:pPr>
                        <a:r>
                          <a:rPr lang="en-US" sz="750" dirty="0">
                            <a:solidFill>
                              <a:srgbClr val="000000"/>
                            </a:solidFill>
                            <a:latin typeface="Meiryo UI" pitchFamily="34" charset="0"/>
                            <a:ea typeface="Meiryo UI" pitchFamily="34" charset="-122"/>
                            <a:cs typeface="Meiryo UI" pitchFamily="34" charset="-120"/>
                          </a:rPr>
                          <a:t>トラフィック分析</a:t>
                        </a:r>
                        <a:endParaRPr lang="en-US" sz="750" dirty="0">
                          <a:latin typeface="Meiryo UI" charset="0"/>
                          <a:ea typeface="Meiryo UI" charset="0"/>
                          <a:cs typeface="Meiryo UI" charset="0"/>
                        </a:endParaRPr>
                      </a:p>
                    </a:txBody>
                    <a:tcPr marL="91440" marR="91440" marT="45720" marB="45720">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tcPr>
                  </a:tc>
                  <a:tc>
                    <a:txBody>
                      <a:bodyPr/>
                      <a:lstStyle/>
                      <a:p>
                        <a:pPr indent="0" marL="0">
                          <a:buNone/>
                        </a:pPr>
                        <a:r>
                          <a:rPr lang="en-US" sz="750" dirty="0">
                            <a:solidFill>
                              <a:srgbClr val="000000"/>
                            </a:solidFill>
                            <a:latin typeface="Meiryo UI" pitchFamily="34" charset="0"/>
                            <a:ea typeface="Meiryo UI" pitchFamily="34" charset="-122"/>
                            <a:cs typeface="Meiryo UI" pitchFamily="34" charset="-120"/>
                          </a:rPr>
                          <a:t>learn.microsoft.com/azure/network-watcher/traffic-analytics</a:t>
                        </a:r>
                        <a:endParaRPr lang="en-US" sz="750" dirty="0">
                          <a:latin typeface="Meiryo UI" charset="0"/>
                          <a:ea typeface="Meiryo UI" charset="0"/>
                          <a:cs typeface="Meiryo UI" charset="0"/>
                        </a:endParaRPr>
                      </a:p>
                    </a:txBody>
                    <a:tcPr marL="91440" marR="91440" marT="45720" marB="45720">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tcPr>
                  </a:tc>
                </a:tr>
                <a:tr h="146304">
                  <a:tc>
                    <a:txBody>
                      <a:bodyPr/>
                      <a:lstStyle/>
                      <a:p>
                        <a:pPr indent="0" marL="0">
                          <a:buNone/>
                        </a:pPr>
                        <a:r>
                          <a:rPr lang="en-US" sz="750" dirty="0">
                            <a:solidFill>
                              <a:srgbClr val="000000"/>
                            </a:solidFill>
                            <a:latin typeface="Meiryo UI" pitchFamily="34" charset="0"/>
                            <a:ea typeface="Meiryo UI" pitchFamily="34" charset="-122"/>
                            <a:cs typeface="Meiryo UI" pitchFamily="34" charset="-120"/>
                          </a:rPr>
                          <a:t>6</a:t>
                        </a:r>
                        <a:endParaRPr lang="en-US" sz="750" dirty="0">
                          <a:latin typeface="Meiryo UI" charset="0"/>
                          <a:ea typeface="Meiryo UI" charset="0"/>
                          <a:cs typeface="Meiryo UI" charset="0"/>
                        </a:endParaRPr>
                      </a:p>
                    </a:txBody>
                    <a:tcPr marL="91440" marR="91440" marT="45720" marB="45720">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tcPr>
                  </a:tc>
                  <a:tc>
                    <a:txBody>
                      <a:bodyPr/>
                      <a:lstStyle/>
                      <a:p>
                        <a:pPr indent="0" marL="0">
                          <a:buNone/>
                        </a:pPr>
                        <a:r>
                          <a:rPr lang="en-US" sz="750" dirty="0">
                            <a:solidFill>
                              <a:srgbClr val="000000"/>
                            </a:solidFill>
                            <a:latin typeface="Meiryo UI" pitchFamily="34" charset="0"/>
                            <a:ea typeface="Meiryo UI" pitchFamily="34" charset="-122"/>
                            <a:cs typeface="Meiryo UI" pitchFamily="34" charset="-120"/>
                          </a:rPr>
                          <a:t>RBAC 権限</a:t>
                        </a:r>
                        <a:endParaRPr lang="en-US" sz="750" dirty="0">
                          <a:latin typeface="Meiryo UI" charset="0"/>
                          <a:ea typeface="Meiryo UI" charset="0"/>
                          <a:cs typeface="Meiryo UI" charset="0"/>
                        </a:endParaRPr>
                      </a:p>
                    </a:txBody>
                    <a:tcPr marL="91440" marR="91440" marT="45720" marB="45720">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tcPr>
                  </a:tc>
                  <a:tc>
                    <a:txBody>
                      <a:bodyPr/>
                      <a:lstStyle/>
                      <a:p>
                        <a:pPr indent="0" marL="0">
                          <a:buNone/>
                        </a:pPr>
                        <a:r>
                          <a:rPr lang="en-US" sz="750" dirty="0">
                            <a:solidFill>
                              <a:srgbClr val="000000"/>
                            </a:solidFill>
                            <a:latin typeface="Meiryo UI" pitchFamily="34" charset="0"/>
                            <a:ea typeface="Meiryo UI" pitchFamily="34" charset="-122"/>
                            <a:cs typeface="Meiryo UI" pitchFamily="34" charset="-120"/>
                          </a:rPr>
                          <a:t>learn.microsoft.com/azure/network-watcher/required-rbac-permissions</a:t>
                        </a:r>
                        <a:endParaRPr lang="en-US" sz="750" dirty="0">
                          <a:latin typeface="Meiryo UI" charset="0"/>
                          <a:ea typeface="Meiryo UI" charset="0"/>
                          <a:cs typeface="Meiryo UI" charset="0"/>
                        </a:endParaRPr>
                      </a:p>
                    </a:txBody>
                    <a:tcPr marL="91440" marR="91440" marT="45720" marB="45720">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tcPr>
                  </a:tc>
                </a:tr>
                <a:tr h="146304">
                  <a:tc>
                    <a:txBody>
                      <a:bodyPr/>
                      <a:lstStyle/>
                      <a:p>
                        <a:pPr indent="0" marL="0">
                          <a:buNone/>
                        </a:pPr>
                        <a:r>
                          <a:rPr lang="en-US" sz="750" dirty="0">
                            <a:solidFill>
                              <a:srgbClr val="000000"/>
                            </a:solidFill>
                            <a:latin typeface="Meiryo UI" pitchFamily="34" charset="0"/>
                            <a:ea typeface="Meiryo UI" pitchFamily="34" charset="-122"/>
                            <a:cs typeface="Meiryo UI" pitchFamily="34" charset="-120"/>
                          </a:rPr>
                          <a:t>7</a:t>
                        </a:r>
                        <a:endParaRPr lang="en-US" sz="750" dirty="0">
                          <a:latin typeface="Meiryo UI" charset="0"/>
                          <a:ea typeface="Meiryo UI" charset="0"/>
                          <a:cs typeface="Meiryo UI" charset="0"/>
                        </a:endParaRPr>
                      </a:p>
                    </a:txBody>
                    <a:tcPr marL="91440" marR="91440" marT="45720" marB="45720">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tcPr>
                  </a:tc>
                  <a:tc>
                    <a:txBody>
                      <a:bodyPr/>
                      <a:lstStyle/>
                      <a:p>
                        <a:pPr indent="0" marL="0">
                          <a:buNone/>
                        </a:pPr>
                        <a:r>
                          <a:rPr lang="en-US" sz="750" dirty="0">
                            <a:solidFill>
                              <a:srgbClr val="000000"/>
                            </a:solidFill>
                            <a:latin typeface="Meiryo UI" pitchFamily="34" charset="0"/>
                            <a:ea typeface="Meiryo UI" pitchFamily="34" charset="-122"/>
                            <a:cs typeface="Meiryo UI" pitchFamily="34" charset="-120"/>
                          </a:rPr>
                          <a:t>料金</a:t>
                        </a:r>
                        <a:endParaRPr lang="en-US" sz="750" dirty="0">
                          <a:latin typeface="Meiryo UI" charset="0"/>
                          <a:ea typeface="Meiryo UI" charset="0"/>
                          <a:cs typeface="Meiryo UI" charset="0"/>
                        </a:endParaRPr>
                      </a:p>
                    </a:txBody>
                    <a:tcPr marL="91440" marR="91440" marT="45720" marB="45720">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tcPr>
                  </a:tc>
                  <a:tc>
                    <a:txBody>
                      <a:bodyPr/>
                      <a:lstStyle/>
                      <a:p>
                        <a:pPr indent="0" marL="0">
                          <a:buNone/>
                        </a:pPr>
                        <a:r>
                          <a:rPr lang="en-US" sz="750" dirty="0">
                            <a:solidFill>
                              <a:srgbClr val="000000"/>
                            </a:solidFill>
                            <a:latin typeface="Meiryo UI" pitchFamily="34" charset="0"/>
                            <a:ea typeface="Meiryo UI" pitchFamily="34" charset="-122"/>
                            <a:cs typeface="Meiryo UI" pitchFamily="34" charset="-120"/>
                          </a:rPr>
                          <a:t>azure.microsoft.com/pricing/details/network-watcher/</a:t>
                        </a:r>
                        <a:endParaRPr lang="en-US" sz="750" dirty="0">
                          <a:latin typeface="Meiryo UI" charset="0"/>
                          <a:ea typeface="Meiryo UI" charset="0"/>
                          <a:cs typeface="Meiryo UI" charset="0"/>
                        </a:endParaRPr>
                      </a:p>
                    </a:txBody>
                    <a:tcPr marL="91440" marR="91440" marT="45720" marB="45720">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tcPr>
                  </a:tc>
                </a:tr>
              </a:tbl>
            </a:graphicData>
          </a:graphic>
        </p:graphicFrame>
      </p:spTree>
    </p:cSld>
    <p:spTree>
      <p:nvGrpSpPr>
        <p:cNvPr id="1" name=""/>
        <p:cNvGrpSpPr/>
        <p:nvPr/>
      </p:nvGrpSpPr>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まとめと次のステップ</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9 / 8</a:t>
            </a:r>
            <a:endParaRPr lang="en-US" sz="900" dirty="0"/>
          </a:p>
        </p:txBody>
      </p:sp>
      <p:sp>
        <p:nvSpPr>
          <p:cNvPr id="5" name="Shape 3"/>
          <p:cNvSpPr/>
          <p:nvPr/>
        </p:nvSpPr>
        <p:spPr>
          <a:xfrm>
            <a:off x="457200" y="1188720"/>
            <a:ext cx="11274552" cy="2103120"/>
          </a:xfrm>
          <a:prstGeom prst="roundRect">
            <a:avLst>
              <a:gd name="adj" fmla="val 5217"/>
            </a:avLst>
          </a:prstGeom>
          <a:solidFill>
            <a:srgbClr val="DEECF9"/>
          </a:solidFill>
          <a:ln w="25400">
            <a:solidFill>
              <a:srgbClr val="0078D4"/>
            </a:solidFill>
            <a:prstDash val="solid"/>
          </a:ln>
        </p:spPr>
      </p:sp>
      <p:sp>
        <p:nvSpPr>
          <p:cNvPr id="6" name="Text 4"/>
          <p:cNvSpPr/>
          <p:nvPr/>
        </p:nvSpPr>
        <p:spPr>
          <a:xfrm>
            <a:off x="640080" y="1261872"/>
            <a:ext cx="10908792" cy="365760"/>
          </a:xfrm>
          <a:prstGeom prst="rect">
            <a:avLst/>
          </a:prstGeom>
          <a:noFill/>
          <a:ln/>
        </p:spPr>
        <p:txBody>
          <a:bodyPr wrap="square" rtlCol="0" anchor="ctr"/>
          <a:lstStyle/>
          <a:p>
            <a:pPr indent="0" marL="0">
              <a:buNone/>
            </a:pPr>
            <a:r>
              <a:rPr lang="en-US" sz="1400" b="1" dirty="0">
                <a:solidFill>
                  <a:srgbClr val="0078D4"/>
                </a:solidFill>
                <a:latin typeface="Meiryo UI" pitchFamily="34" charset="0"/>
                <a:ea typeface="Meiryo UI" pitchFamily="34" charset="-122"/>
                <a:cs typeface="Meiryo UI" pitchFamily="34" charset="-120"/>
              </a:rPr>
              <a:t>✅  Azure Network Watcher の価値</a:t>
            </a:r>
            <a:endParaRPr lang="en-US" sz="1400" dirty="0"/>
          </a:p>
        </p:txBody>
      </p:sp>
      <p:sp>
        <p:nvSpPr>
          <p:cNvPr id="7" name="Text 5"/>
          <p:cNvSpPr/>
          <p:nvPr/>
        </p:nvSpPr>
        <p:spPr>
          <a:xfrm>
            <a:off x="640080" y="1645920"/>
            <a:ext cx="10908792" cy="1554480"/>
          </a:xfrm>
          <a:prstGeom prst="rect">
            <a:avLst/>
          </a:prstGeom>
          <a:noFill/>
          <a:ln/>
        </p:spPr>
        <p:txBody>
          <a:bodyPr wrap="square" rtlCol="0" anchor="t"/>
          <a:lstStyle/>
          <a:p>
            <a:pPr marL="342900" indent="-342900">
              <a:lnSpc>
                <a:spcPct val="130000"/>
              </a:lnSpc>
              <a:buSzPct val="100000"/>
              <a:buChar char="•"/>
            </a:pPr>
            <a:r>
              <a:rPr lang="en-US" sz="1100" dirty="0">
                <a:solidFill>
                  <a:srgbClr val="000000"/>
                </a:solidFill>
                <a:latin typeface="Meiryo UI" pitchFamily="34" charset="0"/>
                <a:ea typeface="Meiryo UI" pitchFamily="34" charset="-122"/>
                <a:cs typeface="Meiryo UI" pitchFamily="34" charset="-120"/>
              </a:rPr>
              <a:t>Azure IaaS ネットワークの監視・診断・トラフィック分析を一元的に提供します</a:t>
            </a:r>
            <a:endParaRPr lang="en-US" sz="1100" dirty="0"/>
          </a:p>
          <a:p>
            <a:pPr marL="342900" indent="-342900">
              <a:lnSpc>
                <a:spcPct val="130000"/>
              </a:lnSpc>
              <a:buSzPct val="100000"/>
              <a:buChar char="•"/>
            </a:pPr>
            <a:r>
              <a:rPr lang="en-US" sz="1100" dirty="0">
                <a:solidFill>
                  <a:srgbClr val="000000"/>
                </a:solidFill>
                <a:latin typeface="Meiryo UI" pitchFamily="34" charset="0"/>
                <a:ea typeface="Meiryo UI" pitchFamily="34" charset="-122"/>
                <a:cs typeface="Meiryo UI" pitchFamily="34" charset="-120"/>
              </a:rPr>
              <a:t>仮想ネットワーク作成時に自動有効化されるため、追加の構成なしで利用を開始できます</a:t>
            </a:r>
            <a:endParaRPr lang="en-US" sz="1100" dirty="0"/>
          </a:p>
          <a:p>
            <a:pPr marL="342900" indent="-342900">
              <a:lnSpc>
                <a:spcPct val="130000"/>
              </a:lnSpc>
              <a:buSzPct val="100000"/>
              <a:buChar char="•"/>
            </a:pPr>
            <a:r>
              <a:rPr lang="en-US" sz="1100" dirty="0">
                <a:solidFill>
                  <a:srgbClr val="000000"/>
                </a:solidFill>
                <a:latin typeface="Meiryo UI" pitchFamily="34" charset="0"/>
                <a:ea typeface="Meiryo UI" pitchFamily="34" charset="-122"/>
                <a:cs typeface="Meiryo UI" pitchFamily="34" charset="-120"/>
              </a:rPr>
              <a:t>7 つの診断ツールにより、NSG、ルーティング、VPN、接続の問題を迅速に特定・解決できます</a:t>
            </a:r>
            <a:endParaRPr lang="en-US" sz="1100" dirty="0"/>
          </a:p>
          <a:p>
            <a:pPr marL="342900" indent="-342900">
              <a:lnSpc>
                <a:spcPct val="130000"/>
              </a:lnSpc>
              <a:buSzPct val="100000"/>
              <a:buChar char="•"/>
            </a:pPr>
            <a:r>
              <a:rPr lang="en-US" sz="1100" dirty="0">
                <a:solidFill>
                  <a:srgbClr val="000000"/>
                </a:solidFill>
                <a:latin typeface="Meiryo UI" pitchFamily="34" charset="0"/>
                <a:ea typeface="Meiryo UI" pitchFamily="34" charset="-122"/>
                <a:cs typeface="Meiryo UI" pitchFamily="34" charset="-120"/>
              </a:rPr>
              <a:t>VNet フローログとトラフィック分析により、ネットワークトラフィックの可視化と分析が可能です</a:t>
            </a:r>
            <a:endParaRPr lang="en-US" sz="1100" dirty="0"/>
          </a:p>
        </p:txBody>
      </p:sp>
      <p:sp>
        <p:nvSpPr>
          <p:cNvPr id="8" name="Shape 6"/>
          <p:cNvSpPr/>
          <p:nvPr/>
        </p:nvSpPr>
        <p:spPr>
          <a:xfrm>
            <a:off x="457200" y="3520440"/>
            <a:ext cx="5486400" cy="1645920"/>
          </a:xfrm>
          <a:prstGeom prst="roundRect">
            <a:avLst>
              <a:gd name="adj" fmla="val 6667"/>
            </a:avLst>
          </a:prstGeom>
          <a:solidFill>
            <a:srgbClr val="F3F2F1"/>
          </a:solidFill>
          <a:ln w="19050">
            <a:solidFill>
              <a:srgbClr val="107C10"/>
            </a:solidFill>
            <a:prstDash val="solid"/>
          </a:ln>
        </p:spPr>
      </p:sp>
      <p:sp>
        <p:nvSpPr>
          <p:cNvPr id="9" name="Text 7"/>
          <p:cNvSpPr/>
          <p:nvPr/>
        </p:nvSpPr>
        <p:spPr>
          <a:xfrm>
            <a:off x="640080" y="3584448"/>
            <a:ext cx="5120640" cy="320040"/>
          </a:xfrm>
          <a:prstGeom prst="rect">
            <a:avLst/>
          </a:prstGeom>
          <a:noFill/>
          <a:ln/>
        </p:spPr>
        <p:txBody>
          <a:bodyPr wrap="square" rtlCol="0" anchor="ctr"/>
          <a:lstStyle/>
          <a:p>
            <a:pPr indent="0" marL="0">
              <a:buNone/>
            </a:pPr>
            <a:r>
              <a:rPr lang="en-US" sz="1300" b="1" dirty="0">
                <a:solidFill>
                  <a:srgbClr val="107C10"/>
                </a:solidFill>
                <a:latin typeface="Meiryo UI" pitchFamily="34" charset="0"/>
                <a:ea typeface="Meiryo UI" pitchFamily="34" charset="-122"/>
                <a:cs typeface="Meiryo UI" pitchFamily="34" charset="-120"/>
              </a:rPr>
              <a:t>🚀  次のステップ</a:t>
            </a:r>
            <a:endParaRPr lang="en-US" sz="1300" dirty="0"/>
          </a:p>
        </p:txBody>
      </p:sp>
      <p:sp>
        <p:nvSpPr>
          <p:cNvPr id="10" name="Text 8"/>
          <p:cNvSpPr/>
          <p:nvPr/>
        </p:nvSpPr>
        <p:spPr>
          <a:xfrm>
            <a:off x="640080" y="3931920"/>
            <a:ext cx="5120640" cy="1097280"/>
          </a:xfrm>
          <a:prstGeom prst="rect">
            <a:avLst/>
          </a:prstGeom>
          <a:noFill/>
          <a:ln/>
        </p:spPr>
        <p:txBody>
          <a:bodyPr wrap="square" rtlCol="0" anchor="t"/>
          <a:lstStyle/>
          <a:p>
            <a:pPr marL="342900" indent="-342900">
              <a:lnSpc>
                <a:spcPct val="120000"/>
              </a:lnSpc>
              <a:buSzPct val="100000"/>
              <a:buChar char="•"/>
            </a:pPr>
            <a:r>
              <a:rPr lang="en-US" sz="1050" dirty="0">
                <a:solidFill>
                  <a:srgbClr val="000000"/>
                </a:solidFill>
                <a:latin typeface="Meiryo UI" pitchFamily="34" charset="0"/>
                <a:ea typeface="Meiryo UI" pitchFamily="34" charset="-122"/>
                <a:cs typeface="Meiryo UI" pitchFamily="34" charset="-120"/>
              </a:rPr>
              <a:t>Azure Portal で Network Watcher の有効化状態を確認してください</a:t>
            </a:r>
            <a:endParaRPr lang="en-US" sz="1050" dirty="0"/>
          </a:p>
          <a:p>
            <a:pPr marL="342900" indent="-342900">
              <a:lnSpc>
                <a:spcPct val="120000"/>
              </a:lnSpc>
              <a:buSzPct val="100000"/>
              <a:buChar char="•"/>
            </a:pPr>
            <a:r>
              <a:rPr lang="en-US" sz="1050" dirty="0">
                <a:solidFill>
                  <a:srgbClr val="000000"/>
                </a:solidFill>
                <a:latin typeface="Meiryo UI" pitchFamily="34" charset="0"/>
                <a:ea typeface="Meiryo UI" pitchFamily="34" charset="-122"/>
                <a:cs typeface="Meiryo UI" pitchFamily="34" charset="-120"/>
              </a:rPr>
              <a:t>VNet フローログを有効化し、トラフィック分析で可視化環境を構築してください</a:t>
            </a:r>
            <a:endParaRPr lang="en-US" sz="1050" dirty="0"/>
          </a:p>
          <a:p>
            <a:pPr marL="342900" indent="-342900">
              <a:lnSpc>
                <a:spcPct val="120000"/>
              </a:lnSpc>
              <a:buSzPct val="100000"/>
              <a:buChar char="•"/>
            </a:pPr>
            <a:r>
              <a:rPr lang="en-US" sz="1050" dirty="0">
                <a:solidFill>
                  <a:srgbClr val="000000"/>
                </a:solidFill>
                <a:latin typeface="Meiryo UI" pitchFamily="34" charset="0"/>
                <a:ea typeface="Meiryo UI" pitchFamily="34" charset="-122"/>
                <a:cs typeface="Meiryo UI" pitchFamily="34" charset="-120"/>
              </a:rPr>
              <a:t>NSG フローログ使用中の場合は VNet フローログへの移行を検討してください</a:t>
            </a:r>
            <a:endParaRPr lang="en-US" sz="1050" dirty="0"/>
          </a:p>
          <a:p>
            <a:pPr marL="342900" indent="-342900">
              <a:lnSpc>
                <a:spcPct val="120000"/>
              </a:lnSpc>
              <a:buSzPct val="100000"/>
              <a:buChar char="•"/>
            </a:pPr>
            <a:r>
              <a:rPr lang="en-US" sz="1050" dirty="0">
                <a:solidFill>
                  <a:srgbClr val="000000"/>
                </a:solidFill>
                <a:latin typeface="Meiryo UI" pitchFamily="34" charset="0"/>
                <a:ea typeface="Meiryo UI" pitchFamily="34" charset="-122"/>
                <a:cs typeface="Meiryo UI" pitchFamily="34" charset="-120"/>
              </a:rPr>
              <a:t>RBAC のカスタムロールで最小権限の原則に基づくアクセス制御を設計してください</a:t>
            </a:r>
            <a:endParaRPr lang="en-US" sz="1050" dirty="0"/>
          </a:p>
        </p:txBody>
      </p:sp>
      <p:sp>
        <p:nvSpPr>
          <p:cNvPr id="11" name="Shape 9"/>
          <p:cNvSpPr/>
          <p:nvPr/>
        </p:nvSpPr>
        <p:spPr>
          <a:xfrm>
            <a:off x="6217920" y="3520440"/>
            <a:ext cx="5486400" cy="1645920"/>
          </a:xfrm>
          <a:prstGeom prst="roundRect">
            <a:avLst>
              <a:gd name="adj" fmla="val 6667"/>
            </a:avLst>
          </a:prstGeom>
          <a:solidFill>
            <a:srgbClr val="F3F2F1"/>
          </a:solidFill>
          <a:ln w="19050">
            <a:solidFill>
              <a:srgbClr val="5C2D91"/>
            </a:solidFill>
            <a:prstDash val="solid"/>
          </a:ln>
        </p:spPr>
      </p:sp>
      <p:sp>
        <p:nvSpPr>
          <p:cNvPr id="12" name="Text 10"/>
          <p:cNvSpPr/>
          <p:nvPr/>
        </p:nvSpPr>
        <p:spPr>
          <a:xfrm>
            <a:off x="6400800" y="3584448"/>
            <a:ext cx="5120640" cy="320040"/>
          </a:xfrm>
          <a:prstGeom prst="rect">
            <a:avLst/>
          </a:prstGeom>
          <a:noFill/>
          <a:ln/>
        </p:spPr>
        <p:txBody>
          <a:bodyPr wrap="square" rtlCol="0" anchor="ctr"/>
          <a:lstStyle/>
          <a:p>
            <a:pPr indent="0" marL="0">
              <a:buNone/>
            </a:pPr>
            <a:r>
              <a:rPr lang="en-US" sz="1300" b="1" dirty="0">
                <a:solidFill>
                  <a:srgbClr val="5C2D91"/>
                </a:solidFill>
                <a:latin typeface="Meiryo UI" pitchFamily="34" charset="0"/>
                <a:ea typeface="Meiryo UI" pitchFamily="34" charset="-122"/>
                <a:cs typeface="Meiryo UI" pitchFamily="34" charset="-120"/>
              </a:rPr>
              <a:t>📎  参考リンク（主要）</a:t>
            </a:r>
            <a:endParaRPr lang="en-US" sz="1300" dirty="0"/>
          </a:p>
        </p:txBody>
      </p:sp>
      <p:sp>
        <p:nvSpPr>
          <p:cNvPr id="13" name="Text 11"/>
          <p:cNvSpPr/>
          <p:nvPr/>
        </p:nvSpPr>
        <p:spPr>
          <a:xfrm>
            <a:off x="6400800" y="3931920"/>
            <a:ext cx="5120640" cy="1097280"/>
          </a:xfrm>
          <a:prstGeom prst="rect">
            <a:avLst/>
          </a:prstGeom>
          <a:noFill/>
          <a:ln/>
        </p:spPr>
        <p:txBody>
          <a:bodyPr wrap="square" rtlCol="0" anchor="t"/>
          <a:lstStyle/>
          <a:p>
            <a:pPr indent="0" marL="0">
              <a:lnSpc>
                <a:spcPct val="115000"/>
              </a:lnSpc>
              <a:buNone/>
            </a:pPr>
            <a:r>
              <a:rPr lang="en-US" sz="950" dirty="0">
                <a:solidFill>
                  <a:srgbClr val="000000"/>
                </a:solidFill>
                <a:latin typeface="Meiryo UI" pitchFamily="34" charset="0"/>
                <a:ea typeface="Meiryo UI" pitchFamily="34" charset="-122"/>
                <a:cs typeface="Meiryo UI" pitchFamily="34" charset="-120"/>
              </a:rPr>
              <a:t>• Azure Network Watcher とは</a:t>
            </a:r>
            <a:pPr indent="0" marL="0">
              <a:lnSpc>
                <a:spcPct val="115000"/>
              </a:lnSpc>
              <a:buNone/>
            </a:pPr>
            <a:r>
              <a:rPr lang="en-US" sz="950" dirty="0">
                <a:solidFill>
                  <a:srgbClr val="000000"/>
                </a:solidFill>
                <a:latin typeface="Meiryo UI" pitchFamily="34" charset="0"/>
                <a:ea typeface="Meiryo UI" pitchFamily="34" charset="-122"/>
                <a:cs typeface="Meiryo UI" pitchFamily="34" charset="-120"/>
              </a:rPr>
              <a:t>• Network Watcher FAQ</a:t>
            </a:r>
            <a:pPr indent="0" marL="0">
              <a:lnSpc>
                <a:spcPct val="115000"/>
              </a:lnSpc>
              <a:buNone/>
            </a:pPr>
            <a:r>
              <a:rPr lang="en-US" sz="950" dirty="0">
                <a:solidFill>
                  <a:srgbClr val="000000"/>
                </a:solidFill>
                <a:latin typeface="Meiryo UI" pitchFamily="34" charset="0"/>
                <a:ea typeface="Meiryo UI" pitchFamily="34" charset="-122"/>
                <a:cs typeface="Meiryo UI" pitchFamily="34" charset="-120"/>
              </a:rPr>
              <a:t>• VNet フローログの概要</a:t>
            </a:r>
            <a:pPr indent="0" marL="0">
              <a:lnSpc>
                <a:spcPct val="115000"/>
              </a:lnSpc>
              <a:buNone/>
            </a:pPr>
            <a:r>
              <a:rPr lang="en-US" sz="950" dirty="0">
                <a:solidFill>
                  <a:srgbClr val="000000"/>
                </a:solidFill>
                <a:latin typeface="Meiryo UI" pitchFamily="34" charset="0"/>
                <a:ea typeface="Meiryo UI" pitchFamily="34" charset="-122"/>
                <a:cs typeface="Meiryo UI" pitchFamily="34" charset="-120"/>
              </a:rPr>
              <a:t>• トラフィック分析</a:t>
            </a:r>
            <a:pPr indent="0" marL="0">
              <a:lnSpc>
                <a:spcPct val="115000"/>
              </a:lnSpc>
              <a:buNone/>
            </a:pPr>
            <a:r>
              <a:rPr lang="en-US" sz="950" dirty="0">
                <a:solidFill>
                  <a:srgbClr val="000000"/>
                </a:solidFill>
                <a:latin typeface="Meiryo UI" pitchFamily="34" charset="0"/>
                <a:ea typeface="Meiryo UI" pitchFamily="34" charset="-122"/>
                <a:cs typeface="Meiryo UI" pitchFamily="34" charset="-120"/>
              </a:rPr>
              <a:t>• Network Watcher の料金</a:t>
            </a:r>
            <a:endParaRPr lang="en-US" sz="9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5303520"/>
          <a:ext cx="11274552" cy="1143000"/>
        </p:xfrm>
        <a:graphic>
          <a:graphicData uri="http://schemas.openxmlformats.org/drawingml/2006/table">
            <a:tbl>
              <a:tblPr/>
              <a:tblGrid>
                <a:gridCol w="365760"/>
                <a:gridCol w="3200400"/>
                <a:gridCol w="7708392"/>
              </a:tblGrid>
              <a:tr h="146304">
                <a:tc>
                  <a:txBody>
                    <a:bodyPr/>
                    <a:lstStyle/>
                    <a:p>
                      <a:pPr indent="0" marL="0">
                        <a:buNone/>
                      </a:pPr>
                      <a:r>
                        <a:rPr lang="en-US" sz="750" dirty="0">
                          <a:solidFill>
                            <a:srgbClr val="000000"/>
                          </a:solidFill>
                          <a:latin typeface="Meiryo UI" pitchFamily="34" charset="0"/>
                          <a:ea typeface="Meiryo UI" pitchFamily="34" charset="-122"/>
                          <a:cs typeface="Meiryo UI" pitchFamily="34" charset="-120"/>
                        </a:rPr>
                        <a:t>#</a:t>
                      </a:r>
                      <a:endParaRPr lang="en-US" sz="750" dirty="0">
                        <a:latin typeface="Meiryo UI" charset="0"/>
                        <a:ea typeface="Meiryo UI" charset="0"/>
                        <a:cs typeface="Meiryo UI" charset="0"/>
                      </a:endParaRPr>
                    </a:p>
                  </a:txBody>
                  <a:tcPr marL="91440" marR="91440" marT="45720" marB="45720">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tcPr>
                </a:tc>
                <a:tc>
                  <a:txBody>
                    <a:bodyPr/>
                    <a:lstStyle/>
                    <a:p>
                      <a:pPr indent="0" marL="0">
                        <a:buNone/>
                      </a:pPr>
                      <a:r>
                        <a:rPr lang="en-US" sz="750" dirty="0">
                          <a:solidFill>
                            <a:srgbClr val="000000"/>
                          </a:solidFill>
                          <a:latin typeface="Meiryo UI" pitchFamily="34" charset="0"/>
                          <a:ea typeface="Meiryo UI" pitchFamily="34" charset="-122"/>
                          <a:cs typeface="Meiryo UI" pitchFamily="34" charset="-120"/>
                        </a:rPr>
                        <a:t>タイトル</a:t>
                      </a:r>
                      <a:endParaRPr lang="en-US" sz="750" dirty="0">
                        <a:latin typeface="Meiryo UI" charset="0"/>
                        <a:ea typeface="Meiryo UI" charset="0"/>
                        <a:cs typeface="Meiryo UI" charset="0"/>
                      </a:endParaRPr>
                    </a:p>
                  </a:txBody>
                  <a:tcPr marL="91440" marR="91440" marT="45720" marB="45720">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tcPr>
                </a:tc>
                <a:tc>
                  <a:txBody>
                    <a:bodyPr/>
                    <a:lstStyle/>
                    <a:p>
                      <a:pPr indent="0" marL="0">
                        <a:buNone/>
                      </a:pPr>
                      <a:r>
                        <a:rPr lang="en-US" sz="750" dirty="0">
                          <a:solidFill>
                            <a:srgbClr val="000000"/>
                          </a:solidFill>
                          <a:latin typeface="Meiryo UI" pitchFamily="34" charset="0"/>
                          <a:ea typeface="Meiryo UI" pitchFamily="34" charset="-122"/>
                          <a:cs typeface="Meiryo UI" pitchFamily="34" charset="-120"/>
                        </a:rPr>
                        <a:t>URL</a:t>
                      </a:r>
                      <a:endParaRPr lang="en-US" sz="750" dirty="0">
                        <a:latin typeface="Meiryo UI" charset="0"/>
                        <a:ea typeface="Meiryo UI" charset="0"/>
                        <a:cs typeface="Meiryo UI" charset="0"/>
                      </a:endParaRPr>
                    </a:p>
                  </a:txBody>
                  <a:tcPr marL="91440" marR="91440" marT="45720" marB="45720">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tcPr>
                </a:tc>
              </a:tr>
              <a:tr h="146304">
                <a:tc>
                  <a:txBody>
                    <a:bodyPr/>
                    <a:lstStyle/>
                    <a:p>
                      <a:pPr indent="0" marL="0">
                        <a:buNone/>
                      </a:pPr>
                      <a:r>
                        <a:rPr lang="en-US" sz="750" dirty="0">
                          <a:solidFill>
                            <a:srgbClr val="000000"/>
                          </a:solidFill>
                          <a:latin typeface="Meiryo UI" pitchFamily="34" charset="0"/>
                          <a:ea typeface="Meiryo UI" pitchFamily="34" charset="-122"/>
                          <a:cs typeface="Meiryo UI" pitchFamily="34" charset="-120"/>
                        </a:rPr>
                        <a:t>1</a:t>
                      </a:r>
                      <a:endParaRPr lang="en-US" sz="750" dirty="0">
                        <a:latin typeface="Meiryo UI" charset="0"/>
                        <a:ea typeface="Meiryo UI" charset="0"/>
                        <a:cs typeface="Meiryo UI" charset="0"/>
                      </a:endParaRPr>
                    </a:p>
                  </a:txBody>
                  <a:tcPr marL="91440" marR="91440" marT="45720" marB="45720">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tcPr>
                </a:tc>
                <a:tc>
                  <a:txBody>
                    <a:bodyPr/>
                    <a:lstStyle/>
                    <a:p>
                      <a:pPr indent="0" marL="0">
                        <a:buNone/>
                      </a:pPr>
                      <a:r>
                        <a:rPr lang="en-US" sz="750" dirty="0">
                          <a:solidFill>
                            <a:srgbClr val="000000"/>
                          </a:solidFill>
                          <a:latin typeface="Meiryo UI" pitchFamily="34" charset="0"/>
                          <a:ea typeface="Meiryo UI" pitchFamily="34" charset="-122"/>
                          <a:cs typeface="Meiryo UI" pitchFamily="34" charset="-120"/>
                        </a:rPr>
                        <a:t>Azure Network Watcher とは</a:t>
                      </a:r>
                      <a:endParaRPr lang="en-US" sz="750" dirty="0">
                        <a:latin typeface="Meiryo UI" charset="0"/>
                        <a:ea typeface="Meiryo UI" charset="0"/>
                        <a:cs typeface="Meiryo UI" charset="0"/>
                      </a:endParaRPr>
                    </a:p>
                  </a:txBody>
                  <a:tcPr marL="91440" marR="91440" marT="45720" marB="45720">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tcPr>
                </a:tc>
                <a:tc>
                  <a:txBody>
                    <a:bodyPr/>
                    <a:lstStyle/>
                    <a:p>
                      <a:pPr indent="0" marL="0">
                        <a:buNone/>
                      </a:pPr>
                      <a:r>
                        <a:rPr lang="en-US" sz="750" dirty="0">
                          <a:solidFill>
                            <a:srgbClr val="000000"/>
                          </a:solidFill>
                          <a:latin typeface="Meiryo UI" pitchFamily="34" charset="0"/>
                          <a:ea typeface="Meiryo UI" pitchFamily="34" charset="-122"/>
                          <a:cs typeface="Meiryo UI" pitchFamily="34" charset="-120"/>
                        </a:rPr>
                        <a:t>learn.microsoft.com/azure/network-watcher/network-watcher-overview</a:t>
                      </a:r>
                      <a:endParaRPr lang="en-US" sz="750" dirty="0">
                        <a:latin typeface="Meiryo UI" charset="0"/>
                        <a:ea typeface="Meiryo UI" charset="0"/>
                        <a:cs typeface="Meiryo UI" charset="0"/>
                      </a:endParaRPr>
                    </a:p>
                  </a:txBody>
                  <a:tcPr marL="91440" marR="91440" marT="45720" marB="45720">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tcPr>
                </a:tc>
              </a:tr>
              <a:tr h="146304">
                <a:tc>
                  <a:txBody>
                    <a:bodyPr/>
                    <a:lstStyle/>
                    <a:p>
                      <a:pPr indent="0" marL="0">
                        <a:buNone/>
                      </a:pPr>
                      <a:r>
                        <a:rPr lang="en-US" sz="750" dirty="0">
                          <a:solidFill>
                            <a:srgbClr val="000000"/>
                          </a:solidFill>
                          <a:latin typeface="Meiryo UI" pitchFamily="34" charset="0"/>
                          <a:ea typeface="Meiryo UI" pitchFamily="34" charset="-122"/>
                          <a:cs typeface="Meiryo UI" pitchFamily="34" charset="-120"/>
                        </a:rPr>
                        <a:t>2</a:t>
                      </a:r>
                      <a:endParaRPr lang="en-US" sz="750" dirty="0">
                        <a:latin typeface="Meiryo UI" charset="0"/>
                        <a:ea typeface="Meiryo UI" charset="0"/>
                        <a:cs typeface="Meiryo UI" charset="0"/>
                      </a:endParaRPr>
                    </a:p>
                  </a:txBody>
                  <a:tcPr marL="91440" marR="91440" marT="45720" marB="45720">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tcPr>
                </a:tc>
                <a:tc>
                  <a:txBody>
                    <a:bodyPr/>
                    <a:lstStyle/>
                    <a:p>
                      <a:pPr indent="0" marL="0">
                        <a:buNone/>
                      </a:pPr>
                      <a:r>
                        <a:rPr lang="en-US" sz="750" dirty="0">
                          <a:solidFill>
                            <a:srgbClr val="000000"/>
                          </a:solidFill>
                          <a:latin typeface="Meiryo UI" pitchFamily="34" charset="0"/>
                          <a:ea typeface="Meiryo UI" pitchFamily="34" charset="-122"/>
                          <a:cs typeface="Meiryo UI" pitchFamily="34" charset="-120"/>
                        </a:rPr>
                        <a:t>Network Watcher FAQ</a:t>
                      </a:r>
                      <a:endParaRPr lang="en-US" sz="750" dirty="0">
                        <a:latin typeface="Meiryo UI" charset="0"/>
                        <a:ea typeface="Meiryo UI" charset="0"/>
                        <a:cs typeface="Meiryo UI" charset="0"/>
                      </a:endParaRPr>
                    </a:p>
                  </a:txBody>
                  <a:tcPr marL="91440" marR="91440" marT="45720" marB="45720">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tcPr>
                </a:tc>
                <a:tc>
                  <a:txBody>
                    <a:bodyPr/>
                    <a:lstStyle/>
                    <a:p>
                      <a:pPr indent="0" marL="0">
                        <a:buNone/>
                      </a:pPr>
                      <a:r>
                        <a:rPr lang="en-US" sz="750" dirty="0">
                          <a:solidFill>
                            <a:srgbClr val="000000"/>
                          </a:solidFill>
                          <a:latin typeface="Meiryo UI" pitchFamily="34" charset="0"/>
                          <a:ea typeface="Meiryo UI" pitchFamily="34" charset="-122"/>
                          <a:cs typeface="Meiryo UI" pitchFamily="34" charset="-120"/>
                        </a:rPr>
                        <a:t>learn.microsoft.com/azure/network-watcher/frequently-asked-questions</a:t>
                      </a:r>
                      <a:endParaRPr lang="en-US" sz="750" dirty="0">
                        <a:latin typeface="Meiryo UI" charset="0"/>
                        <a:ea typeface="Meiryo UI" charset="0"/>
                        <a:cs typeface="Meiryo UI" charset="0"/>
                      </a:endParaRPr>
                    </a:p>
                  </a:txBody>
                  <a:tcPr marL="91440" marR="91440" marT="45720" marB="45720">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tcPr>
                </a:tc>
              </a:tr>
              <a:tr h="146304">
                <a:tc>
                  <a:txBody>
                    <a:bodyPr/>
                    <a:lstStyle/>
                    <a:p>
                      <a:pPr indent="0" marL="0">
                        <a:buNone/>
                      </a:pPr>
                      <a:r>
                        <a:rPr lang="en-US" sz="750" dirty="0">
                          <a:solidFill>
                            <a:srgbClr val="000000"/>
                          </a:solidFill>
                          <a:latin typeface="Meiryo UI" pitchFamily="34" charset="0"/>
                          <a:ea typeface="Meiryo UI" pitchFamily="34" charset="-122"/>
                          <a:cs typeface="Meiryo UI" pitchFamily="34" charset="-120"/>
                        </a:rPr>
                        <a:t>3</a:t>
                      </a:r>
                      <a:endParaRPr lang="en-US" sz="750" dirty="0">
                        <a:latin typeface="Meiryo UI" charset="0"/>
                        <a:ea typeface="Meiryo UI" charset="0"/>
                        <a:cs typeface="Meiryo UI" charset="0"/>
                      </a:endParaRPr>
                    </a:p>
                  </a:txBody>
                  <a:tcPr marL="91440" marR="91440" marT="45720" marB="45720">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tcPr>
                </a:tc>
                <a:tc>
                  <a:txBody>
                    <a:bodyPr/>
                    <a:lstStyle/>
                    <a:p>
                      <a:pPr indent="0" marL="0">
                        <a:buNone/>
                      </a:pPr>
                      <a:r>
                        <a:rPr lang="en-US" sz="750" dirty="0">
                          <a:solidFill>
                            <a:srgbClr val="000000"/>
                          </a:solidFill>
                          <a:latin typeface="Meiryo UI" pitchFamily="34" charset="0"/>
                          <a:ea typeface="Meiryo UI" pitchFamily="34" charset="-122"/>
                          <a:cs typeface="Meiryo UI" pitchFamily="34" charset="-120"/>
                        </a:rPr>
                        <a:t>接続モニターの概要</a:t>
                      </a:r>
                      <a:endParaRPr lang="en-US" sz="750" dirty="0">
                        <a:latin typeface="Meiryo UI" charset="0"/>
                        <a:ea typeface="Meiryo UI" charset="0"/>
                        <a:cs typeface="Meiryo UI" charset="0"/>
                      </a:endParaRPr>
                    </a:p>
                  </a:txBody>
                  <a:tcPr marL="91440" marR="91440" marT="45720" marB="45720">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tcPr>
                </a:tc>
                <a:tc>
                  <a:txBody>
                    <a:bodyPr/>
                    <a:lstStyle/>
                    <a:p>
                      <a:pPr indent="0" marL="0">
                        <a:buNone/>
                      </a:pPr>
                      <a:r>
                        <a:rPr lang="en-US" sz="750" dirty="0">
                          <a:solidFill>
                            <a:srgbClr val="000000"/>
                          </a:solidFill>
                          <a:latin typeface="Meiryo UI" pitchFamily="34" charset="0"/>
                          <a:ea typeface="Meiryo UI" pitchFamily="34" charset="-122"/>
                          <a:cs typeface="Meiryo UI" pitchFamily="34" charset="-120"/>
                        </a:rPr>
                        <a:t>learn.microsoft.com/azure/network-watcher/connection-monitor-overview</a:t>
                      </a:r>
                      <a:endParaRPr lang="en-US" sz="750" dirty="0">
                        <a:latin typeface="Meiryo UI" charset="0"/>
                        <a:ea typeface="Meiryo UI" charset="0"/>
                        <a:cs typeface="Meiryo UI" charset="0"/>
                      </a:endParaRPr>
                    </a:p>
                  </a:txBody>
                  <a:tcPr marL="91440" marR="91440" marT="45720" marB="45720">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tcPr>
                </a:tc>
              </a:tr>
              <a:tr h="146304">
                <a:tc>
                  <a:txBody>
                    <a:bodyPr/>
                    <a:lstStyle/>
                    <a:p>
                      <a:pPr indent="0" marL="0">
                        <a:buNone/>
                      </a:pPr>
                      <a:r>
                        <a:rPr lang="en-US" sz="750" dirty="0">
                          <a:solidFill>
                            <a:srgbClr val="000000"/>
                          </a:solidFill>
                          <a:latin typeface="Meiryo UI" pitchFamily="34" charset="0"/>
                          <a:ea typeface="Meiryo UI" pitchFamily="34" charset="-122"/>
                          <a:cs typeface="Meiryo UI" pitchFamily="34" charset="-120"/>
                        </a:rPr>
                        <a:t>4</a:t>
                      </a:r>
                      <a:endParaRPr lang="en-US" sz="750" dirty="0">
                        <a:latin typeface="Meiryo UI" charset="0"/>
                        <a:ea typeface="Meiryo UI" charset="0"/>
                        <a:cs typeface="Meiryo UI" charset="0"/>
                      </a:endParaRPr>
                    </a:p>
                  </a:txBody>
                  <a:tcPr marL="91440" marR="91440" marT="45720" marB="45720">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tcPr>
                </a:tc>
                <a:tc>
                  <a:txBody>
                    <a:bodyPr/>
                    <a:lstStyle/>
                    <a:p>
                      <a:pPr indent="0" marL="0">
                        <a:buNone/>
                      </a:pPr>
                      <a:r>
                        <a:rPr lang="en-US" sz="750" dirty="0">
                          <a:solidFill>
                            <a:srgbClr val="000000"/>
                          </a:solidFill>
                          <a:latin typeface="Meiryo UI" pitchFamily="34" charset="0"/>
                          <a:ea typeface="Meiryo UI" pitchFamily="34" charset="-122"/>
                          <a:cs typeface="Meiryo UI" pitchFamily="34" charset="-120"/>
                        </a:rPr>
                        <a:t>VNet フローログの概要</a:t>
                      </a:r>
                      <a:endParaRPr lang="en-US" sz="750" dirty="0">
                        <a:latin typeface="Meiryo UI" charset="0"/>
                        <a:ea typeface="Meiryo UI" charset="0"/>
                        <a:cs typeface="Meiryo UI" charset="0"/>
                      </a:endParaRPr>
                    </a:p>
                  </a:txBody>
                  <a:tcPr marL="91440" marR="91440" marT="45720" marB="45720">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tcPr>
                </a:tc>
                <a:tc>
                  <a:txBody>
                    <a:bodyPr/>
                    <a:lstStyle/>
                    <a:p>
                      <a:pPr indent="0" marL="0">
                        <a:buNone/>
                      </a:pPr>
                      <a:r>
                        <a:rPr lang="en-US" sz="750" dirty="0">
                          <a:solidFill>
                            <a:srgbClr val="000000"/>
                          </a:solidFill>
                          <a:latin typeface="Meiryo UI" pitchFamily="34" charset="0"/>
                          <a:ea typeface="Meiryo UI" pitchFamily="34" charset="-122"/>
                          <a:cs typeface="Meiryo UI" pitchFamily="34" charset="-120"/>
                        </a:rPr>
                        <a:t>learn.microsoft.com/azure/network-watcher/vnet-flow-logs-overview</a:t>
                      </a:r>
                      <a:endParaRPr lang="en-US" sz="750" dirty="0">
                        <a:latin typeface="Meiryo UI" charset="0"/>
                        <a:ea typeface="Meiryo UI" charset="0"/>
                        <a:cs typeface="Meiryo UI" charset="0"/>
                      </a:endParaRPr>
                    </a:p>
                  </a:txBody>
                  <a:tcPr marL="91440" marR="91440" marT="45720" marB="45720">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tcPr>
                </a:tc>
              </a:tr>
              <a:tr h="146304">
                <a:tc>
                  <a:txBody>
                    <a:bodyPr/>
                    <a:lstStyle/>
                    <a:p>
                      <a:pPr indent="0" marL="0">
                        <a:buNone/>
                      </a:pPr>
                      <a:r>
                        <a:rPr lang="en-US" sz="750" dirty="0">
                          <a:solidFill>
                            <a:srgbClr val="000000"/>
                          </a:solidFill>
                          <a:latin typeface="Meiryo UI" pitchFamily="34" charset="0"/>
                          <a:ea typeface="Meiryo UI" pitchFamily="34" charset="-122"/>
                          <a:cs typeface="Meiryo UI" pitchFamily="34" charset="-120"/>
                        </a:rPr>
                        <a:t>5</a:t>
                      </a:r>
                      <a:endParaRPr lang="en-US" sz="750" dirty="0">
                        <a:latin typeface="Meiryo UI" charset="0"/>
                        <a:ea typeface="Meiryo UI" charset="0"/>
                        <a:cs typeface="Meiryo UI" charset="0"/>
                      </a:endParaRPr>
                    </a:p>
                  </a:txBody>
                  <a:tcPr marL="91440" marR="91440" marT="45720" marB="45720">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tcPr>
                </a:tc>
                <a:tc>
                  <a:txBody>
                    <a:bodyPr/>
                    <a:lstStyle/>
                    <a:p>
                      <a:pPr indent="0" marL="0">
                        <a:buNone/>
                      </a:pPr>
                      <a:r>
                        <a:rPr lang="en-US" sz="750" dirty="0">
                          <a:solidFill>
                            <a:srgbClr val="000000"/>
                          </a:solidFill>
                          <a:latin typeface="Meiryo UI" pitchFamily="34" charset="0"/>
                          <a:ea typeface="Meiryo UI" pitchFamily="34" charset="-122"/>
                          <a:cs typeface="Meiryo UI" pitchFamily="34" charset="-120"/>
                        </a:rPr>
                        <a:t>トラフィック分析</a:t>
                      </a:r>
                      <a:endParaRPr lang="en-US" sz="750" dirty="0">
                        <a:latin typeface="Meiryo UI" charset="0"/>
                        <a:ea typeface="Meiryo UI" charset="0"/>
                        <a:cs typeface="Meiryo UI" charset="0"/>
                      </a:endParaRPr>
                    </a:p>
                  </a:txBody>
                  <a:tcPr marL="91440" marR="91440" marT="45720" marB="45720">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tcPr>
                </a:tc>
                <a:tc>
                  <a:txBody>
                    <a:bodyPr/>
                    <a:lstStyle/>
                    <a:p>
                      <a:pPr indent="0" marL="0">
                        <a:buNone/>
                      </a:pPr>
                      <a:r>
                        <a:rPr lang="en-US" sz="750" dirty="0">
                          <a:solidFill>
                            <a:srgbClr val="000000"/>
                          </a:solidFill>
                          <a:latin typeface="Meiryo UI" pitchFamily="34" charset="0"/>
                          <a:ea typeface="Meiryo UI" pitchFamily="34" charset="-122"/>
                          <a:cs typeface="Meiryo UI" pitchFamily="34" charset="-120"/>
                        </a:rPr>
                        <a:t>learn.microsoft.com/azure/network-watcher/traffic-analytics</a:t>
                      </a:r>
                      <a:endParaRPr lang="en-US" sz="750" dirty="0">
                        <a:latin typeface="Meiryo UI" charset="0"/>
                        <a:ea typeface="Meiryo UI" charset="0"/>
                        <a:cs typeface="Meiryo UI" charset="0"/>
                      </a:endParaRPr>
                    </a:p>
                  </a:txBody>
                  <a:tcPr marL="91440" marR="91440" marT="45720" marB="45720">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tcPr>
                </a:tc>
              </a:tr>
              <a:tr h="146304">
                <a:tc>
                  <a:txBody>
                    <a:bodyPr/>
                    <a:lstStyle/>
                    <a:p>
                      <a:pPr indent="0" marL="0">
                        <a:buNone/>
                      </a:pPr>
                      <a:r>
                        <a:rPr lang="en-US" sz="750" dirty="0">
                          <a:solidFill>
                            <a:srgbClr val="000000"/>
                          </a:solidFill>
                          <a:latin typeface="Meiryo UI" pitchFamily="34" charset="0"/>
                          <a:ea typeface="Meiryo UI" pitchFamily="34" charset="-122"/>
                          <a:cs typeface="Meiryo UI" pitchFamily="34" charset="-120"/>
                        </a:rPr>
                        <a:t>6</a:t>
                      </a:r>
                      <a:endParaRPr lang="en-US" sz="750" dirty="0">
                        <a:latin typeface="Meiryo UI" charset="0"/>
                        <a:ea typeface="Meiryo UI" charset="0"/>
                        <a:cs typeface="Meiryo UI" charset="0"/>
                      </a:endParaRPr>
                    </a:p>
                  </a:txBody>
                  <a:tcPr marL="91440" marR="91440" marT="45720" marB="45720">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tcPr>
                </a:tc>
                <a:tc>
                  <a:txBody>
                    <a:bodyPr/>
                    <a:lstStyle/>
                    <a:p>
                      <a:pPr indent="0" marL="0">
                        <a:buNone/>
                      </a:pPr>
                      <a:r>
                        <a:rPr lang="en-US" sz="750" dirty="0">
                          <a:solidFill>
                            <a:srgbClr val="000000"/>
                          </a:solidFill>
                          <a:latin typeface="Meiryo UI" pitchFamily="34" charset="0"/>
                          <a:ea typeface="Meiryo UI" pitchFamily="34" charset="-122"/>
                          <a:cs typeface="Meiryo UI" pitchFamily="34" charset="-120"/>
                        </a:rPr>
                        <a:t>RBAC 権限</a:t>
                      </a:r>
                      <a:endParaRPr lang="en-US" sz="750" dirty="0">
                        <a:latin typeface="Meiryo UI" charset="0"/>
                        <a:ea typeface="Meiryo UI" charset="0"/>
                        <a:cs typeface="Meiryo UI" charset="0"/>
                      </a:endParaRPr>
                    </a:p>
                  </a:txBody>
                  <a:tcPr marL="91440" marR="91440" marT="45720" marB="45720">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tcPr>
                </a:tc>
                <a:tc>
                  <a:txBody>
                    <a:bodyPr/>
                    <a:lstStyle/>
                    <a:p>
                      <a:pPr indent="0" marL="0">
                        <a:buNone/>
                      </a:pPr>
                      <a:r>
                        <a:rPr lang="en-US" sz="750" dirty="0">
                          <a:solidFill>
                            <a:srgbClr val="000000"/>
                          </a:solidFill>
                          <a:latin typeface="Meiryo UI" pitchFamily="34" charset="0"/>
                          <a:ea typeface="Meiryo UI" pitchFamily="34" charset="-122"/>
                          <a:cs typeface="Meiryo UI" pitchFamily="34" charset="-120"/>
                        </a:rPr>
                        <a:t>learn.microsoft.com/azure/network-watcher/required-rbac-permissions</a:t>
                      </a:r>
                      <a:endParaRPr lang="en-US" sz="750" dirty="0">
                        <a:latin typeface="Meiryo UI" charset="0"/>
                        <a:ea typeface="Meiryo UI" charset="0"/>
                        <a:cs typeface="Meiryo UI" charset="0"/>
                      </a:endParaRPr>
                    </a:p>
                  </a:txBody>
                  <a:tcPr marL="91440" marR="91440" marT="45720" marB="45720">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tcPr>
                </a:tc>
              </a:tr>
              <a:tr h="146304">
                <a:tc>
                  <a:txBody>
                    <a:bodyPr/>
                    <a:lstStyle/>
                    <a:p>
                      <a:pPr indent="0" marL="0">
                        <a:buNone/>
                      </a:pPr>
                      <a:r>
                        <a:rPr lang="en-US" sz="750" dirty="0">
                          <a:solidFill>
                            <a:srgbClr val="000000"/>
                          </a:solidFill>
                          <a:latin typeface="Meiryo UI" pitchFamily="34" charset="0"/>
                          <a:ea typeface="Meiryo UI" pitchFamily="34" charset="-122"/>
                          <a:cs typeface="Meiryo UI" pitchFamily="34" charset="-120"/>
                        </a:rPr>
                        <a:t>7</a:t>
                      </a:r>
                      <a:endParaRPr lang="en-US" sz="750" dirty="0">
                        <a:latin typeface="Meiryo UI" charset="0"/>
                        <a:ea typeface="Meiryo UI" charset="0"/>
                        <a:cs typeface="Meiryo UI" charset="0"/>
                      </a:endParaRPr>
                    </a:p>
                  </a:txBody>
                  <a:tcPr marL="91440" marR="91440" marT="45720" marB="45720">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tcPr>
                </a:tc>
                <a:tc>
                  <a:txBody>
                    <a:bodyPr/>
                    <a:lstStyle/>
                    <a:p>
                      <a:pPr indent="0" marL="0">
                        <a:buNone/>
                      </a:pPr>
                      <a:r>
                        <a:rPr lang="en-US" sz="750" dirty="0">
                          <a:solidFill>
                            <a:srgbClr val="000000"/>
                          </a:solidFill>
                          <a:latin typeface="Meiryo UI" pitchFamily="34" charset="0"/>
                          <a:ea typeface="Meiryo UI" pitchFamily="34" charset="-122"/>
                          <a:cs typeface="Meiryo UI" pitchFamily="34" charset="-120"/>
                        </a:rPr>
                        <a:t>料金</a:t>
                      </a:r>
                      <a:endParaRPr lang="en-US" sz="750" dirty="0">
                        <a:latin typeface="Meiryo UI" charset="0"/>
                        <a:ea typeface="Meiryo UI" charset="0"/>
                        <a:cs typeface="Meiryo UI" charset="0"/>
                      </a:endParaRPr>
                    </a:p>
                  </a:txBody>
                  <a:tcPr marL="91440" marR="91440" marT="45720" marB="45720">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tcPr>
                </a:tc>
                <a:tc>
                  <a:txBody>
                    <a:bodyPr/>
                    <a:lstStyle/>
                    <a:p>
                      <a:pPr indent="0" marL="0">
                        <a:buNone/>
                      </a:pPr>
                      <a:r>
                        <a:rPr lang="en-US" sz="750" dirty="0">
                          <a:solidFill>
                            <a:srgbClr val="000000"/>
                          </a:solidFill>
                          <a:latin typeface="Meiryo UI" pitchFamily="34" charset="0"/>
                          <a:ea typeface="Meiryo UI" pitchFamily="34" charset="-122"/>
                          <a:cs typeface="Meiryo UI" pitchFamily="34" charset="-120"/>
                        </a:rPr>
                        <a:t>azure.microsoft.com/pricing/details/network-watcher/</a:t>
                      </a:r>
                      <a:endParaRPr lang="en-US" sz="750" dirty="0">
                        <a:latin typeface="Meiryo UI" charset="0"/>
                        <a:ea typeface="Meiryo UI" charset="0"/>
                        <a:cs typeface="Meiryo UI" charset="0"/>
                      </a:endParaRPr>
                    </a:p>
                  </a:txBody>
                  <a:tcPr marL="91440" marR="91440" marT="45720" marB="45720">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AD5E1-A6F1-47DC-90FE-80EB7ABB4789}"/>
                </a:ext>
              </a:extLst>
            </p:cNvPr>
            <p:cNvSpPr>
              <a:spLocks noGrp="1"/>
            </p:cNvSpPr>
            <p:nvPr>
              <p:ph type="title"/>
            </p:nvPr>
          </p:nvSpPr>
          <p:spPr/>
          <p:txBody>
            <a:bodyPr/>
            <a:lstStyle/>
            <a:p>
              <a:r>
                <a:rPr lang="en-US" dirty="0"/>
                <a:t>Thank you.</a:t>
              </a:r>
            </a:p>
          </p:txBody>
        </p:sp>
      </p:spTree>
      <p:extLst>
        <p:ext uri="{BB962C8B-B14F-4D97-AF65-F5344CB8AC3E}">
          <p14:creationId xmlns:p14="http://schemas.microsoft.com/office/powerpoint/2010/main" val="1653626648"/>
        </p:ext>
      </p:extLst>
    </p:cSld>
    <p:spTree>
      <p:nvGrpSpPr>
        <p:cNvPr id="1" name=""/>
        <p:cNvGrpSpPr/>
        <p:nvPr/>
      </p:nvGrpSpPr>
      <p:grpSpPr/>
      <p:sp>
        <p:nvSpPr>
          <p:cNvPr id="2" name="Title 1">
            <a:extLst>
              <a:ext uri="{FF2B5EF4-FFF2-40B4-BE49-F238E27FC236}">
                <a16:creationId xmlns:a16="http://schemas.microsoft.com/office/drawing/2014/main" id="{645AD5E1-A6F1-47DC-90FE-80EB7ABB4789}"/>
              </a:ext>
            </a:extLst>
          </p:cNvPr>
          <p:cNvSpPr>
            <a:spLocks noGrp="1"/>
          </p:cNvSpPr>
          <p:nvPr>
            <p:ph type="title"/>
          </p:nvPr>
        </p:nvSpPr>
        <p:spPr/>
        <p:txBody>
          <a:bodyPr/>
          <a:lstStyle/>
          <a:p>
            <a:r>
              <a:rPr lang="en-US" dirty="0"/>
              <a:t>Thank you.</a:t>
            </a:r>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1</TotalTime>
  <Words>8</Words>
  <Application>Microsoft Office PowerPoint</Application>
  <PresentationFormat>ワイド画面</PresentationFormat>
  <Paragraphs>4</Paragraphs>
  <Slides>1</Slides>
  <Notes>1</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vt:i4>
      </vt:variant>
    </vt:vector>
  </HeadingPairs>
  <TitlesOfParts>
    <vt:vector size="6" baseType="lpstr">
      <vt:lpstr>游ゴシック</vt:lpstr>
      <vt:lpstr>游ゴシック Light</vt:lpstr>
      <vt:lpstr>Arial</vt:lpstr>
      <vt:lpstr>Segoe UI</vt:lpstr>
      <vt:lpstr>Office テーマ</vt:lpstr>
      <vt:lpstr>Title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Akira Koike</dc:creator>
  <cp:lastModifiedBy>Akira Koike</cp:lastModifiedBy>
  <cp:revision>3</cp:revision>
  <dcterms:created xsi:type="dcterms:W3CDTF">2026-03-26T13:45:22Z</dcterms:created>
  <dcterms:modified xsi:type="dcterms:W3CDTF">2026-03-27T10:27:38Z</dcterms:modified>
</cp:coreProperties>
</file>