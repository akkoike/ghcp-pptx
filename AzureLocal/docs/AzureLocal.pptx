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1631" r:id="rId2"/>
    <p:sldId id="1632" r:id="rId8"/>
    <p:sldId id="1633" r:id="rId9"/>
    <p:sldId id="1634" r:id="rId10"/>
    <p:sldId id="1635" r:id="rId11"/>
    <p:sldId id="1636" r:id="rId12"/>
    <p:sldId id="1637" r:id="rId13"/>
    <p:sldId id="1638" r:id="rId14"/>
    <p:sldId id="1639" r:id="rId15"/>
    <p:sldId id="1640" r:id="rId16"/>
  </p:sldIdLst>
  <p:sldSz cx="12191695"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94660"/>
  </p:normalViewPr>
  <p:slideViewPr>
    <p:cSldViewPr snapToGrid="0">
      <p:cViewPr varScale="1">
        <p:scale>
          <a:sx n="45" d="100"/>
          <a:sy n="45" d="100"/>
        </p:scale>
        <p:origin x="31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1BA762-84CE-4F53-8E60-26065AF87875}" type="datetimeFigureOut">
              <a:rPr kumimoji="1" lang="ja-JP" altLang="en-US" smtClean="0"/>
              <a:t>2026/3/27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DFF419-6077-47DD-A5DE-F4CBD2CB562F}" type="slidenum">
              <a:rPr kumimoji="1" lang="ja-JP" altLang="en-US" smtClean="0"/>
              <a:t>‹#›</a:t>
            </a:fld>
            <a:endParaRPr kumimoji="1" lang="ja-JP" altLang="en-US"/>
          </a:p>
        </p:txBody>
      </p:sp>
    </p:spTree>
    <p:extLst>
      <p:ext uri="{BB962C8B-B14F-4D97-AF65-F5344CB8AC3E}">
        <p14:creationId xmlns:p14="http://schemas.microsoft.com/office/powerpoint/2010/main" val="326667838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7775540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D86A7A-9864-A2C9-BB91-CDB272FF58B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0194FC2E-1A68-CF0F-F0DF-338CAE121F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B0285EA0-9454-0B93-F32A-2F25FB77F208}"/>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67C5CBB5-6567-5F50-2A16-02ED47D583E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9BD8687-E082-42D7-222C-329168CD4A14}"/>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954617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751148-113A-9699-171A-1860B262921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DB956E1-02B7-4F83-C11F-17DD11647E8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2E00FF1-0301-FF3B-1713-AA5A51917A45}"/>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3AD77C81-72FA-B1BB-8CF1-F61EF2686FA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8574FF5-A3C0-C577-1DC2-299C7A6244BA}"/>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567805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423724-0819-0195-2F32-4D6128AA905D}"/>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FA9AC08-40AB-5AC0-819D-3F0984BBEC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27E45FF1-B253-B6E7-87C5-0F5223F38F51}"/>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8E65E4A9-9A66-C339-5EBD-FA254B38E08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45D7A7A-277A-4BD1-846A-A499A0031ED4}"/>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24856276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CE5D74-62E4-B23E-2EE8-CDE1CDF3100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A577BF7-C7FE-45BA-A705-3FD82B441147}"/>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8F1BFF64-79C9-31D5-2355-69A9068F9CF5}"/>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4A87A3E-4A6D-0E02-680A-EE40DAA42EFA}"/>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6" name="フッター プレースホルダー 5">
            <a:extLst>
              <a:ext uri="{FF2B5EF4-FFF2-40B4-BE49-F238E27FC236}">
                <a16:creationId xmlns:a16="http://schemas.microsoft.com/office/drawing/2014/main" id="{FFC62478-2A7C-3578-7477-B69D897C526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C40B1C4-C095-E474-0940-9127779E8815}"/>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2136534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7B5F74-EEBA-59D2-5AEF-76C7C181C2B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1410586-7DD6-A757-F280-B2186819F5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4118E91-6A28-4ADA-5750-9FA2DDAC5299}"/>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93C456E8-54F2-1B55-3258-12D77DF556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9882FC2D-14F8-57FB-26DD-EAD043AF2186}"/>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DB90E8F-FC67-C75A-D5C8-3C645FD3157C}"/>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8" name="フッター プレースホルダー 7">
            <a:extLst>
              <a:ext uri="{FF2B5EF4-FFF2-40B4-BE49-F238E27FC236}">
                <a16:creationId xmlns:a16="http://schemas.microsoft.com/office/drawing/2014/main" id="{3EE0370F-F5E5-A358-4434-7515C1480D3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9F68596-4893-159C-4C2A-3E7B829B97D9}"/>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2685263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DD11B7-6F1B-7866-62BB-9758A9D20F5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20E8490-99BD-FA9B-2C9C-DE574D326A81}"/>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4" name="フッター プレースホルダー 3">
            <a:extLst>
              <a:ext uri="{FF2B5EF4-FFF2-40B4-BE49-F238E27FC236}">
                <a16:creationId xmlns:a16="http://schemas.microsoft.com/office/drawing/2014/main" id="{4FCA5493-846F-678A-275B-E5E6336680B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461346F-8B80-B556-6F37-B399C00C281D}"/>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1788227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AFCEA22-08C2-7A41-986C-45A459EB60C4}"/>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3" name="フッター プレースホルダー 2">
            <a:extLst>
              <a:ext uri="{FF2B5EF4-FFF2-40B4-BE49-F238E27FC236}">
                <a16:creationId xmlns:a16="http://schemas.microsoft.com/office/drawing/2014/main" id="{0DCEDDF2-E80A-1D04-F03E-3FBDBCD215D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60C4A85-1A77-EE01-D351-5B7CFF71C48B}"/>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3307337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FA729D-9B80-C64C-F8D9-2E00FDAEA2B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C6C049E-212F-7B7E-19A3-720335B899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7B7320E-DB16-CD19-3A99-2EB5AA625F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8CB56C5-945E-4860-6962-52AB09A771F2}"/>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6" name="フッター プレースホルダー 5">
            <a:extLst>
              <a:ext uri="{FF2B5EF4-FFF2-40B4-BE49-F238E27FC236}">
                <a16:creationId xmlns:a16="http://schemas.microsoft.com/office/drawing/2014/main" id="{1834E892-635E-ACBE-6CC1-E7CC9CC37EA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68FAFEC-C489-BEA0-48B5-013BD2511283}"/>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4067433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860A2A-4827-9764-0A9F-5FECD333ED7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3E0FD7E-1EC8-AF77-F907-59A5372E16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EA551E6-F0BC-81E3-F7E9-755A6AC88D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7372CFF-ABEF-4F1F-C588-DBAB083ECA19}"/>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6" name="フッター プレースホルダー 5">
            <a:extLst>
              <a:ext uri="{FF2B5EF4-FFF2-40B4-BE49-F238E27FC236}">
                <a16:creationId xmlns:a16="http://schemas.microsoft.com/office/drawing/2014/main" id="{2CFD42AC-3BFD-C7E2-79E2-54940DBB257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EC18B67-9605-4E17-A283-15AB9B31B70B}"/>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3593655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C64655-BCE2-12C6-5F0A-AFECA6DA5D8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20D1D92-A46C-021B-052B-592AAF84A66B}"/>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A4BB17F-99C0-941D-A4E7-7EA1E248DF09}"/>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C966FFF1-AFB4-F7DC-CE20-9EA9C38E2A0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E55B1F3-8301-045D-D742-679FFCD48A5D}"/>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412291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51C7BDF-514F-37A6-137E-82F989C4F430}"/>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77BFC6E-E74D-D451-DF66-294BF2CBEBFE}"/>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DD5D36B-2EA0-7753-381A-043DA6879575}"/>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277AE700-8374-FCA9-EE94-0564CDF01AF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E269848-6CD0-B12D-F3E3-9779A5DC6356}"/>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17250829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1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498CFD-6F0F-1548-B3CF-58EC8479BA8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218210" y="0"/>
            <a:ext cx="5973790" cy="6858000"/>
          </a:xfrm>
          <a:prstGeom prst="rect">
            <a:avLst/>
          </a:prstGeom>
        </p:spPr>
      </p:pic>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366413677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00508FD-2C25-9551-BA42-623F9346A8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A18D9AB-3577-CECD-743A-08057620ED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C34A028-73C1-76CC-20BB-74B66BC097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EB346127-E541-5455-7048-C1FD1756D0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B89979A-1F4F-6B34-7F3D-82487A49B4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29363962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6C5E9C-3C1A-E248-B670-BD999514AA02}"/>
              </a:ext>
            </a:extLst>
          </p:cNvPr>
          <p:cNvSpPr>
            <a:spLocks noGrp="1"/>
          </p:cNvSpPr>
          <p:nvPr>
            <p:ph type="title"/>
          </p:nvPr>
        </p:nvSpPr>
        <p:spPr/>
        <p:txBody>
          <a:bodyPr/>
          <a:lstStyle/>
          <a:p>
            <a:r>
              <a:rPr lang="en-US" dirty="0">
                <a:latin typeface="Meiryo UI"/>
              </a:rPr>
              <a:t>Azure Local 詳細仕様</a:t>
            </a:r>
          </a:p>
        </p:txBody>
      </p:sp>
      <p:sp>
        <p:nvSpPr>
          <p:cNvPr id="4" name="Text Placeholder 3">
            <a:extLst>
              <a:ext uri="{FF2B5EF4-FFF2-40B4-BE49-F238E27FC236}">
                <a16:creationId xmlns:a16="http://schemas.microsoft.com/office/drawing/2014/main" id="{F87B223C-04E8-1B45-B254-34B68081F7E6}"/>
              </a:ext>
            </a:extLst>
          </p:cNvPr>
          <p:cNvSpPr>
            <a:spLocks noGrp="1"/>
          </p:cNvSpPr>
          <p:nvPr>
            <p:ph type="body" sz="quarter" idx="15"/>
          </p:nvPr>
        </p:nvSpPr>
        <p:spPr/>
        <p:txBody>
          <a:bodyPr/>
          <a:lstStyle/>
          <a:p>
            <a:pPr marL="0" indent="0">
              <a:buNone/>
            </a:pPr>
            <a:r>
              <a:rPr lang="en-US" dirty="0"/>
              <a:t>Customer Success Unit</a:t>
            </a:r>
          </a:p>
        </p:txBody>
      </p:sp>
    </p:spTree>
    <p:extLst>
      <p:ext uri="{BB962C8B-B14F-4D97-AF65-F5344CB8AC3E}">
        <p14:creationId xmlns:p14="http://schemas.microsoft.com/office/powerpoint/2010/main" val="110825601"/>
      </p:ext>
    </p:extLst>
  </p:cSld>
  <p:clrMapOvr>
    <a:masterClrMapping/>
  </p:clrMapOvr>
  <p:transition>
    <p:fade/>
  </p:transition>
</p:sld>
</file>

<file path=ppt/slides/slide2.xml><?xml version="1.0" encoding="utf-8"?>
<p:sld xmlns:a="http://schemas.openxmlformats.org/drawingml/2006/main" xmlns:p="http://schemas.openxmlformats.org/presentationml/2006/main" xmlns:r="http://schemas.openxmlformats.org/officeDocument/2006/relationships">
  <p:cSld>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Local の概要</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2 / 10</a:t>
              </a:r>
              <a:endParaRPr lang="en-US" sz="900" dirty="0"/>
            </a:p>
          </p:txBody>
        </p:sp>
        <p:sp>
          <p:nvSpPr>
            <p:cNvPr id="5" name="Shape 3"/>
            <p:cNvSpPr/>
            <p:nvPr/>
          </p:nvSpPr>
          <p:spPr>
            <a:xfrm>
              <a:off x="457200" y="1188720"/>
              <a:ext cx="2743200" cy="1097280"/>
            </a:xfrm>
            <a:prstGeom prst="roundRect">
              <a:avLst>
                <a:gd name="adj" fmla="val 12500"/>
              </a:avLst>
            </a:prstGeom>
            <a:solidFill>
              <a:srgbClr val="0078D4"/>
            </a:solidFill>
            <a:ln/>
          </p:spPr>
        </p:sp>
        <p:sp>
          <p:nvSpPr>
            <p:cNvPr id="6" name="Text 4"/>
            <p:cNvSpPr/>
            <p:nvPr/>
          </p:nvSpPr>
          <p:spPr>
            <a:xfrm>
              <a:off x="457200" y="1188720"/>
              <a:ext cx="2743200" cy="1097280"/>
            </a:xfrm>
            <a:prstGeom prst="rect">
              <a:avLst/>
            </a:prstGeom>
            <a:noFill/>
            <a:ln/>
          </p:spPr>
          <p:txBody>
            <a:bodyPr wrap="square"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Azure クラウド</a:t>
              </a:r>
              <a:endParaRPr lang="en-US" sz="1600" dirty="0"/>
            </a:p>
          </p:txBody>
        </p:sp>
        <p:sp>
          <p:nvSpPr>
            <p:cNvPr id="7" name="Text 5"/>
            <p:cNvSpPr/>
            <p:nvPr/>
          </p:nvSpPr>
          <p:spPr>
            <a:xfrm>
              <a:off x="3383280" y="1188720"/>
              <a:ext cx="914400" cy="1097280"/>
            </a:xfrm>
            <a:prstGeom prst="rect">
              <a:avLst/>
            </a:prstGeom>
            <a:noFill/>
            <a:ln/>
          </p:spPr>
          <p:txBody>
            <a:bodyPr wrap="square" rtlCol="0" anchor="ctr"/>
            <a:lstStyle/>
            <a:p>
              <a:pPr algn="ctr" indent="0" marL="0">
                <a:buNone/>
              </a:pPr>
              <a:r>
                <a:rPr lang="en-US" sz="2800" dirty="0">
                  <a:solidFill>
                    <a:srgbClr val="0078D4"/>
                  </a:solidFill>
                  <a:latin typeface="Meiryo UI" pitchFamily="34" charset="0"/>
                  <a:ea typeface="Meiryo UI" pitchFamily="34" charset="-122"/>
                  <a:cs typeface="Meiryo UI" pitchFamily="34" charset="-120"/>
                </a:rPr>
                <a:t>⇄</a:t>
              </a:r>
              <a:endParaRPr lang="en-US" sz="2800" dirty="0"/>
            </a:p>
          </p:txBody>
        </p:sp>
        <p:sp>
          <p:nvSpPr>
            <p:cNvPr id="8" name="Shape 6"/>
            <p:cNvSpPr/>
            <p:nvPr/>
          </p:nvSpPr>
          <p:spPr>
            <a:xfrm>
              <a:off x="4389120" y="1188720"/>
              <a:ext cx="2743200" cy="1097280"/>
            </a:xfrm>
            <a:prstGeom prst="roundRect">
              <a:avLst>
                <a:gd name="adj" fmla="val 12500"/>
              </a:avLst>
            </a:prstGeom>
            <a:solidFill>
              <a:srgbClr val="5C2D91"/>
            </a:solidFill>
            <a:ln/>
          </p:spPr>
        </p:sp>
        <p:sp>
          <p:nvSpPr>
            <p:cNvPr id="9" name="Text 7"/>
            <p:cNvSpPr/>
            <p:nvPr/>
          </p:nvSpPr>
          <p:spPr>
            <a:xfrm>
              <a:off x="4389120" y="1188720"/>
              <a:ext cx="2743200" cy="109728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Azure Arc</a:t>
              </a:r>
              <a:endParaRPr lang="en-US" sz="1400" dirty="0"/>
            </a:p>
            <a:p>
              <a:pPr algn="ctr" indent="0" marL="0">
                <a:buNone/>
              </a:pPr>
              <a:r>
                <a:rPr lang="en-US" sz="1400" b="1" dirty="0">
                  <a:solidFill>
                    <a:srgbClr val="FFFFFF"/>
                  </a:solidFill>
                  <a:latin typeface="Meiryo UI" pitchFamily="34" charset="0"/>
                  <a:ea typeface="Meiryo UI" pitchFamily="34" charset="-122"/>
                  <a:cs typeface="Meiryo UI" pitchFamily="34" charset="-120"/>
                </a:rPr>
                <a:t>(統一管理プレーン)</a:t>
              </a:r>
              <a:endParaRPr lang="en-US" sz="1400" dirty="0"/>
            </a:p>
          </p:txBody>
        </p:sp>
        <p:sp>
          <p:nvSpPr>
            <p:cNvPr id="10" name="Text 8"/>
            <p:cNvSpPr/>
            <p:nvPr/>
          </p:nvSpPr>
          <p:spPr>
            <a:xfrm>
              <a:off x="7315200" y="1188720"/>
              <a:ext cx="914400" cy="1097280"/>
            </a:xfrm>
            <a:prstGeom prst="rect">
              <a:avLst/>
            </a:prstGeom>
            <a:noFill/>
            <a:ln/>
          </p:spPr>
          <p:txBody>
            <a:bodyPr wrap="square" rtlCol="0" anchor="ctr"/>
            <a:lstStyle/>
            <a:p>
              <a:pPr algn="ctr" indent="0" marL="0">
                <a:buNone/>
              </a:pPr>
              <a:r>
                <a:rPr lang="en-US" sz="2800" dirty="0">
                  <a:solidFill>
                    <a:srgbClr val="0078D4"/>
                  </a:solidFill>
                  <a:latin typeface="Meiryo UI" pitchFamily="34" charset="0"/>
                  <a:ea typeface="Meiryo UI" pitchFamily="34" charset="-122"/>
                  <a:cs typeface="Meiryo UI" pitchFamily="34" charset="-120"/>
                </a:rPr>
                <a:t>⇄</a:t>
              </a:r>
              <a:endParaRPr lang="en-US" sz="2800" dirty="0"/>
            </a:p>
          </p:txBody>
        </p:sp>
        <p:sp>
          <p:nvSpPr>
            <p:cNvPr id="11" name="Shape 9"/>
            <p:cNvSpPr/>
            <p:nvPr/>
          </p:nvSpPr>
          <p:spPr>
            <a:xfrm>
              <a:off x="8412480" y="1188720"/>
              <a:ext cx="2743200" cy="1097280"/>
            </a:xfrm>
            <a:prstGeom prst="roundRect">
              <a:avLst>
                <a:gd name="adj" fmla="val 12500"/>
              </a:avLst>
            </a:prstGeom>
            <a:solidFill>
              <a:srgbClr val="107C10"/>
            </a:solidFill>
            <a:ln/>
          </p:spPr>
        </p:sp>
        <p:sp>
          <p:nvSpPr>
            <p:cNvPr id="12" name="Text 10"/>
            <p:cNvSpPr/>
            <p:nvPr/>
          </p:nvSpPr>
          <p:spPr>
            <a:xfrm>
              <a:off x="8412480" y="1188720"/>
              <a:ext cx="2743200" cy="109728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Azure Local</a:t>
              </a:r>
              <a:endParaRPr lang="en-US" sz="1400" dirty="0"/>
            </a:p>
            <a:p>
              <a:pPr algn="ctr" indent="0" marL="0">
                <a:buNone/>
              </a:pPr>
              <a:r>
                <a:rPr lang="en-US" sz="1400" b="1" dirty="0">
                  <a:solidFill>
                    <a:srgbClr val="FFFFFF"/>
                  </a:solidFill>
                  <a:latin typeface="Meiryo UI" pitchFamily="34" charset="0"/>
                  <a:ea typeface="Meiryo UI" pitchFamily="34" charset="-122"/>
                  <a:cs typeface="Meiryo UI" pitchFamily="34" charset="-120"/>
                </a:rPr>
                <a:t>(オンプレミス)</a:t>
              </a:r>
              <a:endParaRPr lang="en-US" sz="1400" dirty="0"/>
            </a:p>
          </p:txBody>
        </p:sp>
        <p:sp>
          <p:nvSpPr>
            <p:cNvPr id="13" name="Text 11"/>
            <p:cNvSpPr/>
            <p:nvPr/>
          </p:nvSpPr>
          <p:spPr>
            <a:xfrm>
              <a:off x="457200" y="2560320"/>
              <a:ext cx="11274552" cy="3840480"/>
            </a:xfrm>
            <a:prstGeom prst="rect">
              <a:avLst/>
            </a:prstGeom>
            <a:noFill/>
            <a:ln/>
          </p:spPr>
          <p:txBody>
            <a:bodyPr wrap="square" rtlCol="0" anchor="t"/>
            <a:lstStyle/>
            <a:p>
              <a:pPr marL="342900" indent="-342900">
                <a:lnSpc>
                  <a:spcPct val="130000"/>
                </a:lnSpc>
                <a:buSzPct val="100000"/>
                <a:buChar char="•"/>
              </a:pPr>
              <a:r>
                <a:rPr lang="en-US" sz="1300" dirty="0">
                  <a:solidFill>
                    <a:srgbClr val="333333"/>
                  </a:solidFill>
                  <a:latin typeface="Meiryo UI" pitchFamily="34" charset="0"/>
                  <a:ea typeface="Meiryo UI" pitchFamily="34" charset="-122"/>
                  <a:cs typeface="Meiryo UI" pitchFamily="34" charset="-120"/>
                </a:rPr>
                <a:t>Azure Local は、Microsoft の分散インフラストラクチャソリューションです</a:t>
              </a:r>
              <a:endParaRPr lang="en-US" sz="1300" dirty="0"/>
            </a:p>
            <a:p>
              <a:pPr marL="342900" indent="-342900">
                <a:lnSpc>
                  <a:spcPct val="130000"/>
                </a:lnSpc>
                <a:buSzPct val="100000"/>
                <a:buChar char="•"/>
              </a:pPr>
              <a:r>
                <a:rPr lang="en-US" sz="1300" dirty="0">
                  <a:solidFill>
                    <a:srgbClr val="333333"/>
                  </a:solidFill>
                  <a:latin typeface="Meiryo UI" pitchFamily="34" charset="0"/>
                  <a:ea typeface="Meiryo UI" pitchFamily="34" charset="-122"/>
                  <a:cs typeface="Meiryo UI" pitchFamily="34" charset="-120"/>
                </a:rPr>
                <a:t>お客様のオンプレミス環境に Azure の機能を拡張し、ローカルでのアプリケーション展開を実現します</a:t>
              </a:r>
              <a:endParaRPr lang="en-US" sz="1300" dirty="0"/>
            </a:p>
            <a:p>
              <a:pPr marL="342900" indent="-342900">
                <a:lnSpc>
                  <a:spcPct val="130000"/>
                </a:lnSpc>
                <a:buSzPct val="100000"/>
                <a:buChar char="•"/>
              </a:pPr>
              <a:r>
                <a:rPr lang="en-US" sz="1300" dirty="0">
                  <a:solidFill>
                    <a:srgbClr val="333333"/>
                  </a:solidFill>
                  <a:latin typeface="Meiryo UI" pitchFamily="34" charset="0"/>
                  <a:ea typeface="Meiryo UI" pitchFamily="34" charset="-122"/>
                  <a:cs typeface="Meiryo UI" pitchFamily="34" charset="-120"/>
                </a:rPr>
                <a:t>旧称「Azure Stack HCI」から名称が変更されています</a:t>
              </a:r>
              <a:endParaRPr lang="en-US" sz="1300" dirty="0"/>
            </a:p>
            <a:p>
              <a:pPr marL="342900" indent="-342900">
                <a:lnSpc>
                  <a:spcPct val="130000"/>
                </a:lnSpc>
                <a:buSzPct val="100000"/>
                <a:buChar char="•"/>
              </a:pPr>
              <a:r>
                <a:rPr lang="en-US" sz="1300" dirty="0">
                  <a:solidFill>
                    <a:srgbClr val="333333"/>
                  </a:solidFill>
                  <a:latin typeface="Meiryo UI" pitchFamily="34" charset="0"/>
                  <a:ea typeface="Meiryo UI" pitchFamily="34" charset="-122"/>
                  <a:cs typeface="Meiryo UI" pitchFamily="34" charset="-120"/>
                </a:rPr>
                <a:t>Azure Arc を統一コントロールプレーンとして使用し、クラウドからエッジまでシームレスに管理できます</a:t>
              </a:r>
              <a:endParaRPr lang="en-US" sz="1300" dirty="0"/>
            </a:p>
            <a:p>
              <a:pPr marL="342900" indent="-342900">
                <a:lnSpc>
                  <a:spcPct val="130000"/>
                </a:lnSpc>
                <a:buSzPct val="100000"/>
                <a:buChar char="•"/>
              </a:pPr>
              <a:r>
                <a:rPr lang="en-US" sz="1300" dirty="0">
                  <a:solidFill>
                    <a:srgbClr val="333333"/>
                  </a:solidFill>
                  <a:latin typeface="Meiryo UI" pitchFamily="34" charset="0"/>
                  <a:ea typeface="Meiryo UI" pitchFamily="34" charset="-122"/>
                  <a:cs typeface="Meiryo UI" pitchFamily="34" charset="-120"/>
                </a:rPr>
                <a:t>クラウドネイティブな管理エクスペリエンスを提供し、接続・切断両方のデプロイをサポートします</a:t>
              </a:r>
              <a:endParaRPr lang="en-US" sz="1300" dirty="0"/>
            </a:p>
            <a:p>
              <a:pPr marL="342900" indent="-342900">
                <a:lnSpc>
                  <a:spcPct val="130000"/>
                </a:lnSpc>
                <a:buSzPct val="100000"/>
                <a:buChar char="•"/>
              </a:pPr>
              <a:r>
                <a:rPr lang="en-US" sz="1300" dirty="0">
                  <a:solidFill>
                    <a:srgbClr val="333333"/>
                  </a:solidFill>
                  <a:latin typeface="Meiryo UI" pitchFamily="34" charset="0"/>
                  <a:ea typeface="Meiryo UI" pitchFamily="34" charset="-122"/>
                  <a:cs typeface="Meiryo UI" pitchFamily="34" charset="-120"/>
                </a:rPr>
                <a:t>物理コアあたりの月額サブスクリプション課金モデルを採用しています</a:t>
              </a:r>
              <a:endParaRPr lang="en-US" sz="1300" dirty="0"/>
            </a:p>
          </p:txBody>
        </p:sp>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Local の概要</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2 / 10</a:t>
            </a:r>
            <a:endParaRPr lang="en-US" sz="900" dirty="0"/>
          </a:p>
        </p:txBody>
      </p:sp>
      <p:sp>
        <p:nvSpPr>
          <p:cNvPr id="5" name="Shape 3"/>
          <p:cNvSpPr/>
          <p:nvPr/>
        </p:nvSpPr>
        <p:spPr>
          <a:xfrm>
            <a:off x="457200" y="1188720"/>
            <a:ext cx="2743200" cy="1097280"/>
          </a:xfrm>
          <a:prstGeom prst="roundRect">
            <a:avLst>
              <a:gd name="adj" fmla="val 12500"/>
            </a:avLst>
          </a:prstGeom>
          <a:solidFill>
            <a:srgbClr val="0078D4"/>
          </a:solidFill>
          <a:ln/>
        </p:spPr>
      </p:sp>
      <p:sp>
        <p:nvSpPr>
          <p:cNvPr id="6" name="Text 4"/>
          <p:cNvSpPr/>
          <p:nvPr/>
        </p:nvSpPr>
        <p:spPr>
          <a:xfrm>
            <a:off x="457200" y="1188720"/>
            <a:ext cx="2743200" cy="1097280"/>
          </a:xfrm>
          <a:prstGeom prst="rect">
            <a:avLst/>
          </a:prstGeom>
          <a:noFill/>
          <a:ln/>
        </p:spPr>
        <p:txBody>
          <a:bodyPr wrap="square"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Azure クラウド</a:t>
            </a:r>
            <a:endParaRPr lang="en-US" sz="1600" dirty="0"/>
          </a:p>
        </p:txBody>
      </p:sp>
      <p:sp>
        <p:nvSpPr>
          <p:cNvPr id="7" name="Text 5"/>
          <p:cNvSpPr/>
          <p:nvPr/>
        </p:nvSpPr>
        <p:spPr>
          <a:xfrm>
            <a:off x="3383280" y="1188720"/>
            <a:ext cx="914400" cy="1097280"/>
          </a:xfrm>
          <a:prstGeom prst="rect">
            <a:avLst/>
          </a:prstGeom>
          <a:noFill/>
          <a:ln/>
        </p:spPr>
        <p:txBody>
          <a:bodyPr wrap="square" rtlCol="0" anchor="ctr"/>
          <a:lstStyle/>
          <a:p>
            <a:pPr algn="ctr" indent="0" marL="0">
              <a:buNone/>
            </a:pPr>
            <a:r>
              <a:rPr lang="en-US" sz="2800" dirty="0">
                <a:solidFill>
                  <a:srgbClr val="0078D4"/>
                </a:solidFill>
                <a:latin typeface="Meiryo UI" pitchFamily="34" charset="0"/>
                <a:ea typeface="Meiryo UI" pitchFamily="34" charset="-122"/>
                <a:cs typeface="Meiryo UI" pitchFamily="34" charset="-120"/>
              </a:rPr>
              <a:t>⇄</a:t>
            </a:r>
            <a:endParaRPr lang="en-US" sz="2800" dirty="0"/>
          </a:p>
        </p:txBody>
      </p:sp>
      <p:sp>
        <p:nvSpPr>
          <p:cNvPr id="8" name="Shape 6"/>
          <p:cNvSpPr/>
          <p:nvPr/>
        </p:nvSpPr>
        <p:spPr>
          <a:xfrm>
            <a:off x="4389120" y="1188720"/>
            <a:ext cx="2743200" cy="1097280"/>
          </a:xfrm>
          <a:prstGeom prst="roundRect">
            <a:avLst>
              <a:gd name="adj" fmla="val 12500"/>
            </a:avLst>
          </a:prstGeom>
          <a:solidFill>
            <a:srgbClr val="5C2D91"/>
          </a:solidFill>
          <a:ln/>
        </p:spPr>
      </p:sp>
      <p:sp>
        <p:nvSpPr>
          <p:cNvPr id="9" name="Text 7"/>
          <p:cNvSpPr/>
          <p:nvPr/>
        </p:nvSpPr>
        <p:spPr>
          <a:xfrm>
            <a:off x="4389120" y="1188720"/>
            <a:ext cx="2743200" cy="109728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Azure Arc</a:t>
            </a:r>
            <a:endParaRPr lang="en-US" sz="1400" dirty="0"/>
          </a:p>
          <a:p>
            <a:pPr algn="ctr" indent="0" marL="0">
              <a:buNone/>
            </a:pPr>
            <a:r>
              <a:rPr lang="en-US" sz="1400" b="1" dirty="0">
                <a:solidFill>
                  <a:srgbClr val="FFFFFF"/>
                </a:solidFill>
                <a:latin typeface="Meiryo UI" pitchFamily="34" charset="0"/>
                <a:ea typeface="Meiryo UI" pitchFamily="34" charset="-122"/>
                <a:cs typeface="Meiryo UI" pitchFamily="34" charset="-120"/>
              </a:rPr>
              <a:t>(統一管理プレーン)</a:t>
            </a:r>
            <a:endParaRPr lang="en-US" sz="1400" dirty="0"/>
          </a:p>
        </p:txBody>
      </p:sp>
      <p:sp>
        <p:nvSpPr>
          <p:cNvPr id="10" name="Text 8"/>
          <p:cNvSpPr/>
          <p:nvPr/>
        </p:nvSpPr>
        <p:spPr>
          <a:xfrm>
            <a:off x="7315200" y="1188720"/>
            <a:ext cx="914400" cy="1097280"/>
          </a:xfrm>
          <a:prstGeom prst="rect">
            <a:avLst/>
          </a:prstGeom>
          <a:noFill/>
          <a:ln/>
        </p:spPr>
        <p:txBody>
          <a:bodyPr wrap="square" rtlCol="0" anchor="ctr"/>
          <a:lstStyle/>
          <a:p>
            <a:pPr algn="ctr" indent="0" marL="0">
              <a:buNone/>
            </a:pPr>
            <a:r>
              <a:rPr lang="en-US" sz="2800" dirty="0">
                <a:solidFill>
                  <a:srgbClr val="0078D4"/>
                </a:solidFill>
                <a:latin typeface="Meiryo UI" pitchFamily="34" charset="0"/>
                <a:ea typeface="Meiryo UI" pitchFamily="34" charset="-122"/>
                <a:cs typeface="Meiryo UI" pitchFamily="34" charset="-120"/>
              </a:rPr>
              <a:t>⇄</a:t>
            </a:r>
            <a:endParaRPr lang="en-US" sz="2800" dirty="0"/>
          </a:p>
        </p:txBody>
      </p:sp>
      <p:sp>
        <p:nvSpPr>
          <p:cNvPr id="11" name="Shape 9"/>
          <p:cNvSpPr/>
          <p:nvPr/>
        </p:nvSpPr>
        <p:spPr>
          <a:xfrm>
            <a:off x="8412480" y="1188720"/>
            <a:ext cx="2743200" cy="1097280"/>
          </a:xfrm>
          <a:prstGeom prst="roundRect">
            <a:avLst>
              <a:gd name="adj" fmla="val 12500"/>
            </a:avLst>
          </a:prstGeom>
          <a:solidFill>
            <a:srgbClr val="107C10"/>
          </a:solidFill>
          <a:ln/>
        </p:spPr>
      </p:sp>
      <p:sp>
        <p:nvSpPr>
          <p:cNvPr id="12" name="Text 10"/>
          <p:cNvSpPr/>
          <p:nvPr/>
        </p:nvSpPr>
        <p:spPr>
          <a:xfrm>
            <a:off x="8412480" y="1188720"/>
            <a:ext cx="2743200" cy="109728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Azure Local</a:t>
            </a:r>
            <a:endParaRPr lang="en-US" sz="1400" dirty="0"/>
          </a:p>
          <a:p>
            <a:pPr algn="ctr" indent="0" marL="0">
              <a:buNone/>
            </a:pPr>
            <a:r>
              <a:rPr lang="en-US" sz="1400" b="1" dirty="0">
                <a:solidFill>
                  <a:srgbClr val="FFFFFF"/>
                </a:solidFill>
                <a:latin typeface="Meiryo UI" pitchFamily="34" charset="0"/>
                <a:ea typeface="Meiryo UI" pitchFamily="34" charset="-122"/>
                <a:cs typeface="Meiryo UI" pitchFamily="34" charset="-120"/>
              </a:rPr>
              <a:t>(オンプレミス)</a:t>
            </a:r>
            <a:endParaRPr lang="en-US" sz="1400" dirty="0"/>
          </a:p>
        </p:txBody>
      </p:sp>
      <p:sp>
        <p:nvSpPr>
          <p:cNvPr id="13" name="Text 11"/>
          <p:cNvSpPr/>
          <p:nvPr/>
        </p:nvSpPr>
        <p:spPr>
          <a:xfrm>
            <a:off x="457200" y="2560320"/>
            <a:ext cx="11274552" cy="3840480"/>
          </a:xfrm>
          <a:prstGeom prst="rect">
            <a:avLst/>
          </a:prstGeom>
          <a:noFill/>
          <a:ln/>
        </p:spPr>
        <p:txBody>
          <a:bodyPr wrap="square" rtlCol="0" anchor="t"/>
          <a:lstStyle/>
          <a:p>
            <a:pPr marL="342900" indent="-342900">
              <a:lnSpc>
                <a:spcPct val="130000"/>
              </a:lnSpc>
              <a:buSzPct val="100000"/>
              <a:buChar char="•"/>
            </a:pPr>
            <a:r>
              <a:rPr lang="en-US" sz="1300" dirty="0">
                <a:solidFill>
                  <a:srgbClr val="333333"/>
                </a:solidFill>
                <a:latin typeface="Meiryo UI" pitchFamily="34" charset="0"/>
                <a:ea typeface="Meiryo UI" pitchFamily="34" charset="-122"/>
                <a:cs typeface="Meiryo UI" pitchFamily="34" charset="-120"/>
              </a:rPr>
              <a:t>Azure Local は、Microsoft の分散インフラストラクチャソリューションです</a:t>
            </a:r>
            <a:endParaRPr lang="en-US" sz="1300" dirty="0"/>
          </a:p>
          <a:p>
            <a:pPr marL="342900" indent="-342900">
              <a:lnSpc>
                <a:spcPct val="130000"/>
              </a:lnSpc>
              <a:buSzPct val="100000"/>
              <a:buChar char="•"/>
            </a:pPr>
            <a:r>
              <a:rPr lang="en-US" sz="1300" dirty="0">
                <a:solidFill>
                  <a:srgbClr val="333333"/>
                </a:solidFill>
                <a:latin typeface="Meiryo UI" pitchFamily="34" charset="0"/>
                <a:ea typeface="Meiryo UI" pitchFamily="34" charset="-122"/>
                <a:cs typeface="Meiryo UI" pitchFamily="34" charset="-120"/>
              </a:rPr>
              <a:t>お客様のオンプレミス環境に Azure の機能を拡張し、ローカルでのアプリケーション展開を実現します</a:t>
            </a:r>
            <a:endParaRPr lang="en-US" sz="1300" dirty="0"/>
          </a:p>
          <a:p>
            <a:pPr marL="342900" indent="-342900">
              <a:lnSpc>
                <a:spcPct val="130000"/>
              </a:lnSpc>
              <a:buSzPct val="100000"/>
              <a:buChar char="•"/>
            </a:pPr>
            <a:r>
              <a:rPr lang="en-US" sz="1300" dirty="0">
                <a:solidFill>
                  <a:srgbClr val="333333"/>
                </a:solidFill>
                <a:latin typeface="Meiryo UI" pitchFamily="34" charset="0"/>
                <a:ea typeface="Meiryo UI" pitchFamily="34" charset="-122"/>
                <a:cs typeface="Meiryo UI" pitchFamily="34" charset="-120"/>
              </a:rPr>
              <a:t>旧称「Azure Stack HCI」から名称が変更されています</a:t>
            </a:r>
            <a:endParaRPr lang="en-US" sz="1300" dirty="0"/>
          </a:p>
          <a:p>
            <a:pPr marL="342900" indent="-342900">
              <a:lnSpc>
                <a:spcPct val="130000"/>
              </a:lnSpc>
              <a:buSzPct val="100000"/>
              <a:buChar char="•"/>
            </a:pPr>
            <a:r>
              <a:rPr lang="en-US" sz="1300" dirty="0">
                <a:solidFill>
                  <a:srgbClr val="333333"/>
                </a:solidFill>
                <a:latin typeface="Meiryo UI" pitchFamily="34" charset="0"/>
                <a:ea typeface="Meiryo UI" pitchFamily="34" charset="-122"/>
                <a:cs typeface="Meiryo UI" pitchFamily="34" charset="-120"/>
              </a:rPr>
              <a:t>Azure Arc を統一コントロールプレーンとして使用し、クラウドからエッジまでシームレスに管理できます</a:t>
            </a:r>
            <a:endParaRPr lang="en-US" sz="1300" dirty="0"/>
          </a:p>
          <a:p>
            <a:pPr marL="342900" indent="-342900">
              <a:lnSpc>
                <a:spcPct val="130000"/>
              </a:lnSpc>
              <a:buSzPct val="100000"/>
              <a:buChar char="•"/>
            </a:pPr>
            <a:r>
              <a:rPr lang="en-US" sz="1300" dirty="0">
                <a:solidFill>
                  <a:srgbClr val="333333"/>
                </a:solidFill>
                <a:latin typeface="Meiryo UI" pitchFamily="34" charset="0"/>
                <a:ea typeface="Meiryo UI" pitchFamily="34" charset="-122"/>
                <a:cs typeface="Meiryo UI" pitchFamily="34" charset="-120"/>
              </a:rPr>
              <a:t>クラウドネイティブな管理エクスペリエンスを提供し、接続・切断両方のデプロイをサポートします</a:t>
            </a:r>
            <a:endParaRPr lang="en-US" sz="1300" dirty="0"/>
          </a:p>
          <a:p>
            <a:pPr marL="342900" indent="-342900">
              <a:lnSpc>
                <a:spcPct val="130000"/>
              </a:lnSpc>
              <a:buSzPct val="100000"/>
              <a:buChar char="•"/>
            </a:pPr>
            <a:r>
              <a:rPr lang="en-US" sz="1300" dirty="0">
                <a:solidFill>
                  <a:srgbClr val="333333"/>
                </a:solidFill>
                <a:latin typeface="Meiryo UI" pitchFamily="34" charset="0"/>
                <a:ea typeface="Meiryo UI" pitchFamily="34" charset="-122"/>
                <a:cs typeface="Meiryo UI" pitchFamily="34" charset="-120"/>
              </a:rPr>
              <a:t>物理コアあたりの月額サブスクリプション課金モデルを採用しています</a:t>
            </a:r>
            <a:endParaRPr lang="en-US" sz="13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Local のユースケース</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3 / 10</a:t>
              </a:r>
              <a:endParaRPr lang="en-US" sz="900" dirty="0"/>
            </a:p>
          </p:txBody>
        </p:sp>
        <p:sp>
          <p:nvSpPr>
            <p:cNvPr id="5" name="Shape 3"/>
            <p:cNvSpPr/>
            <p:nvPr/>
          </p:nvSpPr>
          <p:spPr>
            <a:xfrm>
              <a:off x="457200" y="1280160"/>
              <a:ext cx="2560320" cy="4114800"/>
            </a:xfrm>
            <a:prstGeom prst="roundRect">
              <a:avLst>
                <a:gd name="adj" fmla="val 5357"/>
              </a:avLst>
            </a:prstGeom>
            <a:solidFill>
              <a:srgbClr val="F3F2F1"/>
            </a:solidFill>
            <a:ln w="25400">
              <a:solidFill>
                <a:srgbClr val="0078D4"/>
              </a:solidFill>
              <a:prstDash val="solid"/>
            </a:ln>
          </p:spPr>
        </p:sp>
        <p:sp>
          <p:nvSpPr>
            <p:cNvPr id="6" name="Text 4"/>
            <p:cNvSpPr/>
            <p:nvPr/>
          </p:nvSpPr>
          <p:spPr>
            <a:xfrm>
              <a:off x="457200" y="1463040"/>
              <a:ext cx="2560320" cy="731520"/>
            </a:xfrm>
            <a:prstGeom prst="rect">
              <a:avLst/>
            </a:prstGeom>
            <a:noFill/>
            <a:ln/>
          </p:spPr>
          <p:txBody>
            <a:bodyPr wrap="square" rtlCol="0" anchor="ctr"/>
            <a:lstStyle/>
            <a:p>
              <a:pPr algn="ctr" indent="0" marL="0">
                <a:buNone/>
              </a:pPr>
              <a:r>
                <a:rPr lang="en-US" sz="3600" dirty="0">
                  <a:solidFill>
                    <a:srgbClr val="000000"/>
                  </a:solidFill>
                  <a:latin typeface="Meiryo UI" pitchFamily="34" charset="0"/>
                  <a:ea typeface="Meiryo UI" pitchFamily="34" charset="-122"/>
                  <a:cs typeface="Meiryo UI" pitchFamily="34" charset="-120"/>
                </a:rPr>
                <a:t>🤖</a:t>
              </a:r>
              <a:endParaRPr lang="en-US" sz="3600" dirty="0"/>
            </a:p>
          </p:txBody>
        </p:sp>
        <p:sp>
          <p:nvSpPr>
            <p:cNvPr id="7" name="Text 5"/>
            <p:cNvSpPr/>
            <p:nvPr/>
          </p:nvSpPr>
          <p:spPr>
            <a:xfrm>
              <a:off x="594360" y="2286000"/>
              <a:ext cx="2286000" cy="731520"/>
            </a:xfrm>
            <a:prstGeom prst="rect">
              <a:avLst/>
            </a:prstGeom>
            <a:noFill/>
            <a:ln/>
          </p:spPr>
          <p:txBody>
            <a:bodyPr wrap="square" rtlCol="0" anchor="ctr"/>
            <a:lstStyle/>
            <a:p>
              <a:pPr algn="ctr" indent="0" marL="0">
                <a:buNone/>
              </a:pPr>
              <a:r>
                <a:rPr lang="en-US" sz="1300" b="1" dirty="0">
                  <a:solidFill>
                    <a:srgbClr val="0078D4"/>
                  </a:solidFill>
                  <a:latin typeface="Meiryo UI" pitchFamily="34" charset="0"/>
                  <a:ea typeface="Meiryo UI" pitchFamily="34" charset="-122"/>
                  <a:cs typeface="Meiryo UI" pitchFamily="34" charset="-120"/>
                </a:rPr>
                <a:t>ローカル AI 推論</a:t>
              </a:r>
              <a:endParaRPr lang="en-US" sz="1300" dirty="0"/>
            </a:p>
          </p:txBody>
        </p:sp>
        <p:sp>
          <p:nvSpPr>
            <p:cNvPr id="8" name="Text 6"/>
            <p:cNvSpPr/>
            <p:nvPr/>
          </p:nvSpPr>
          <p:spPr>
            <a:xfrm>
              <a:off x="640080" y="3108960"/>
              <a:ext cx="2194560" cy="2103120"/>
            </a:xfrm>
            <a:prstGeom prst="rect">
              <a:avLst/>
            </a:prstGeom>
            <a:noFill/>
            <a:ln/>
          </p:spPr>
          <p:txBody>
            <a:bodyPr wrap="square" rtlCol="0" anchor="t"/>
            <a:lstStyle/>
            <a:p>
              <a:pPr algn="l" indent="0" marL="0">
                <a:lnSpc>
                  <a:spcPct val="130000"/>
                </a:lnSpc>
                <a:buNone/>
              </a:pPr>
              <a:r>
                <a:rPr lang="en-US" sz="1050" dirty="0">
                  <a:solidFill>
                    <a:srgbClr val="333333"/>
                  </a:solidFill>
                  <a:latin typeface="Meiryo UI" pitchFamily="34" charset="0"/>
                  <a:ea typeface="Meiryo UI" pitchFamily="34" charset="-122"/>
                  <a:cs typeface="Meiryo UI" pitchFamily="34" charset="-120"/>
                </a:rPr>
                <a:t>データをソースで処理する必要がある環境に適しています（例: 小売店のセルフチェックアウト、パイプラインの漏洩検出）</a:t>
              </a:r>
              <a:endParaRPr lang="en-US" sz="1050" dirty="0"/>
            </a:p>
          </p:txBody>
        </p:sp>
        <p:sp>
          <p:nvSpPr>
            <p:cNvPr id="9" name="Shape 7"/>
            <p:cNvSpPr/>
            <p:nvPr/>
          </p:nvSpPr>
          <p:spPr>
            <a:xfrm>
              <a:off x="3291840" y="1280160"/>
              <a:ext cx="2560320" cy="4114800"/>
            </a:xfrm>
            <a:prstGeom prst="roundRect">
              <a:avLst>
                <a:gd name="adj" fmla="val 5357"/>
              </a:avLst>
            </a:prstGeom>
            <a:solidFill>
              <a:srgbClr val="F3F2F1"/>
            </a:solidFill>
            <a:ln w="25400">
              <a:solidFill>
                <a:srgbClr val="107C10"/>
              </a:solidFill>
              <a:prstDash val="solid"/>
            </a:ln>
          </p:spPr>
        </p:sp>
        <p:sp>
          <p:nvSpPr>
            <p:cNvPr id="10" name="Text 8"/>
            <p:cNvSpPr/>
            <p:nvPr/>
          </p:nvSpPr>
          <p:spPr>
            <a:xfrm>
              <a:off x="3291840" y="1463040"/>
              <a:ext cx="2560320" cy="731520"/>
            </a:xfrm>
            <a:prstGeom prst="rect">
              <a:avLst/>
            </a:prstGeom>
            <a:noFill/>
            <a:ln/>
          </p:spPr>
          <p:txBody>
            <a:bodyPr wrap="square" rtlCol="0" anchor="ctr"/>
            <a:lstStyle/>
            <a:p>
              <a:pPr algn="ctr" indent="0" marL="0">
                <a:buNone/>
              </a:pPr>
              <a:r>
                <a:rPr lang="en-US" sz="3600" dirty="0">
                  <a:solidFill>
                    <a:srgbClr val="000000"/>
                  </a:solidFill>
                  <a:latin typeface="Meiryo UI" pitchFamily="34" charset="0"/>
                  <a:ea typeface="Meiryo UI" pitchFamily="34" charset="-122"/>
                  <a:cs typeface="Meiryo UI" pitchFamily="34" charset="-120"/>
                </a:rPr>
                <a:t>🏭</a:t>
              </a:r>
              <a:endParaRPr lang="en-US" sz="3600" dirty="0"/>
            </a:p>
          </p:txBody>
        </p:sp>
        <p:sp>
          <p:nvSpPr>
            <p:cNvPr id="11" name="Text 9"/>
            <p:cNvSpPr/>
            <p:nvPr/>
          </p:nvSpPr>
          <p:spPr>
            <a:xfrm>
              <a:off x="3429000" y="2286000"/>
              <a:ext cx="2286000" cy="731520"/>
            </a:xfrm>
            <a:prstGeom prst="rect">
              <a:avLst/>
            </a:prstGeom>
            <a:noFill/>
            <a:ln/>
          </p:spPr>
          <p:txBody>
            <a:bodyPr wrap="square" rtlCol="0" anchor="ctr"/>
            <a:lstStyle/>
            <a:p>
              <a:pPr algn="ctr" indent="0" marL="0">
                <a:buNone/>
              </a:pPr>
              <a:r>
                <a:rPr lang="en-US" sz="1300" b="1" dirty="0">
                  <a:solidFill>
                    <a:srgbClr val="107C10"/>
                  </a:solidFill>
                  <a:latin typeface="Meiryo UI" pitchFamily="34" charset="0"/>
                  <a:ea typeface="Meiryo UI" pitchFamily="34" charset="-122"/>
                  <a:cs typeface="Meiryo UI" pitchFamily="34" charset="-120"/>
                </a:rPr>
                <a:t>ミッションクリティカルな</a:t>
              </a:r>
              <a:endParaRPr lang="en-US" sz="1300" dirty="0"/>
            </a:p>
            <a:p>
              <a:pPr algn="ctr" indent="0" marL="0">
                <a:buNone/>
              </a:pPr>
              <a:r>
                <a:rPr lang="en-US" sz="1300" b="1" dirty="0">
                  <a:solidFill>
                    <a:srgbClr val="107C10"/>
                  </a:solidFill>
                  <a:latin typeface="Meiryo UI" pitchFamily="34" charset="0"/>
                  <a:ea typeface="Meiryo UI" pitchFamily="34" charset="-122"/>
                  <a:cs typeface="Meiryo UI" pitchFamily="34" charset="-120"/>
                </a:rPr>
                <a:t>業務継続</a:t>
              </a:r>
              <a:endParaRPr lang="en-US" sz="1300" dirty="0"/>
            </a:p>
          </p:txBody>
        </p:sp>
        <p:sp>
          <p:nvSpPr>
            <p:cNvPr id="12" name="Text 10"/>
            <p:cNvSpPr/>
            <p:nvPr/>
          </p:nvSpPr>
          <p:spPr>
            <a:xfrm>
              <a:off x="3474720" y="3108960"/>
              <a:ext cx="2194560" cy="2103120"/>
            </a:xfrm>
            <a:prstGeom prst="rect">
              <a:avLst/>
            </a:prstGeom>
            <a:noFill/>
            <a:ln/>
          </p:spPr>
          <p:txBody>
            <a:bodyPr wrap="square" rtlCol="0" anchor="t"/>
            <a:lstStyle/>
            <a:p>
              <a:pPr algn="l" indent="0" marL="0">
                <a:lnSpc>
                  <a:spcPct val="130000"/>
                </a:lnSpc>
                <a:buNone/>
              </a:pPr>
              <a:r>
                <a:rPr lang="en-US" sz="1050" dirty="0">
                  <a:solidFill>
                    <a:srgbClr val="333333"/>
                  </a:solidFill>
                  <a:latin typeface="Meiryo UI" pitchFamily="34" charset="0"/>
                  <a:ea typeface="Meiryo UI" pitchFamily="34" charset="-122"/>
                  <a:cs typeface="Meiryo UI" pitchFamily="34" charset="-120"/>
                </a:rPr>
                <a:t>ネットワーク障害時にも稼働し続ける必要があるシステムに適しています（例: 工場の生産ライン、スタジアムのチケッティング）</a:t>
              </a:r>
              <a:endParaRPr lang="en-US" sz="1050" dirty="0"/>
            </a:p>
          </p:txBody>
        </p:sp>
        <p:sp>
          <p:nvSpPr>
            <p:cNvPr id="13" name="Shape 11"/>
            <p:cNvSpPr/>
            <p:nvPr/>
          </p:nvSpPr>
          <p:spPr>
            <a:xfrm>
              <a:off x="6126480" y="1280160"/>
              <a:ext cx="2560320" cy="4114800"/>
            </a:xfrm>
            <a:prstGeom prst="roundRect">
              <a:avLst>
                <a:gd name="adj" fmla="val 5357"/>
              </a:avLst>
            </a:prstGeom>
            <a:solidFill>
              <a:srgbClr val="F3F2F1"/>
            </a:solidFill>
            <a:ln w="25400">
              <a:solidFill>
                <a:srgbClr val="FF8C00"/>
              </a:solidFill>
              <a:prstDash val="solid"/>
            </a:ln>
          </p:spPr>
        </p:sp>
        <p:sp>
          <p:nvSpPr>
            <p:cNvPr id="14" name="Text 12"/>
            <p:cNvSpPr/>
            <p:nvPr/>
          </p:nvSpPr>
          <p:spPr>
            <a:xfrm>
              <a:off x="6126480" y="1463040"/>
              <a:ext cx="2560320" cy="731520"/>
            </a:xfrm>
            <a:prstGeom prst="rect">
              <a:avLst/>
            </a:prstGeom>
            <a:noFill/>
            <a:ln/>
          </p:spPr>
          <p:txBody>
            <a:bodyPr wrap="square" rtlCol="0" anchor="ctr"/>
            <a:lstStyle/>
            <a:p>
              <a:pPr algn="ctr" indent="0" marL="0">
                <a:buNone/>
              </a:pPr>
              <a:r>
                <a:rPr lang="en-US" sz="3600" dirty="0">
                  <a:solidFill>
                    <a:srgbClr val="000000"/>
                  </a:solidFill>
                  <a:latin typeface="Meiryo UI" pitchFamily="34" charset="0"/>
                  <a:ea typeface="Meiryo UI" pitchFamily="34" charset="-122"/>
                  <a:cs typeface="Meiryo UI" pitchFamily="34" charset="-120"/>
                </a:rPr>
                <a:t>⚡</a:t>
              </a:r>
              <a:endParaRPr lang="en-US" sz="3600" dirty="0"/>
            </a:p>
          </p:txBody>
        </p:sp>
        <p:sp>
          <p:nvSpPr>
            <p:cNvPr id="15" name="Text 13"/>
            <p:cNvSpPr/>
            <p:nvPr/>
          </p:nvSpPr>
          <p:spPr>
            <a:xfrm>
              <a:off x="6263640" y="2286000"/>
              <a:ext cx="2286000" cy="731520"/>
            </a:xfrm>
            <a:prstGeom prst="rect">
              <a:avLst/>
            </a:prstGeom>
            <a:noFill/>
            <a:ln/>
          </p:spPr>
          <p:txBody>
            <a:bodyPr wrap="square" rtlCol="0" anchor="ctr"/>
            <a:lstStyle/>
            <a:p>
              <a:pPr algn="ctr" indent="0" marL="0">
                <a:buNone/>
              </a:pPr>
              <a:r>
                <a:rPr lang="en-US" sz="1300" b="1" dirty="0">
                  <a:solidFill>
                    <a:srgbClr val="FF8C00"/>
                  </a:solidFill>
                  <a:latin typeface="Meiryo UI" pitchFamily="34" charset="0"/>
                  <a:ea typeface="Meiryo UI" pitchFamily="34" charset="-122"/>
                  <a:cs typeface="Meiryo UI" pitchFamily="34" charset="-120"/>
                </a:rPr>
                <a:t>制御システム・</a:t>
              </a:r>
              <a:endParaRPr lang="en-US" sz="1300" dirty="0"/>
            </a:p>
            <a:p>
              <a:pPr algn="ctr" indent="0" marL="0">
                <a:buNone/>
              </a:pPr>
              <a:r>
                <a:rPr lang="en-US" sz="1300" b="1" dirty="0">
                  <a:solidFill>
                    <a:srgbClr val="FF8C00"/>
                  </a:solidFill>
                  <a:latin typeface="Meiryo UI" pitchFamily="34" charset="0"/>
                  <a:ea typeface="Meiryo UI" pitchFamily="34" charset="-122"/>
                  <a:cs typeface="Meiryo UI" pitchFamily="34" charset="-120"/>
                </a:rPr>
                <a:t>リアルタイム運用</a:t>
              </a:r>
              <a:endParaRPr lang="en-US" sz="1300" dirty="0"/>
            </a:p>
          </p:txBody>
        </p:sp>
        <p:sp>
          <p:nvSpPr>
            <p:cNvPr id="16" name="Text 14"/>
            <p:cNvSpPr/>
            <p:nvPr/>
          </p:nvSpPr>
          <p:spPr>
            <a:xfrm>
              <a:off x="6309360" y="3108960"/>
              <a:ext cx="2194560" cy="2103120"/>
            </a:xfrm>
            <a:prstGeom prst="rect">
              <a:avLst/>
            </a:prstGeom>
            <a:noFill/>
            <a:ln/>
          </p:spPr>
          <p:txBody>
            <a:bodyPr wrap="square" rtlCol="0" anchor="t"/>
            <a:lstStyle/>
            <a:p>
              <a:pPr algn="l" indent="0" marL="0">
                <a:lnSpc>
                  <a:spcPct val="130000"/>
                </a:lnSpc>
                <a:buNone/>
              </a:pPr>
              <a:r>
                <a:rPr lang="en-US" sz="1050" dirty="0">
                  <a:solidFill>
                    <a:srgbClr val="333333"/>
                  </a:solidFill>
                  <a:latin typeface="Meiryo UI" pitchFamily="34" charset="0"/>
                  <a:ea typeface="Meiryo UI" pitchFamily="34" charset="-122"/>
                  <a:cs typeface="Meiryo UI" pitchFamily="34" charset="-120"/>
                </a:rPr>
                <a:t>極めて低いレイテンシが要求される環境に適しています（例: 製造実行システム、金融インフラ）</a:t>
              </a:r>
              <a:endParaRPr lang="en-US" sz="1050" dirty="0"/>
            </a:p>
          </p:txBody>
        </p:sp>
        <p:sp>
          <p:nvSpPr>
            <p:cNvPr id="17" name="Shape 15"/>
            <p:cNvSpPr/>
            <p:nvPr/>
          </p:nvSpPr>
          <p:spPr>
            <a:xfrm>
              <a:off x="8961120" y="1280160"/>
              <a:ext cx="2560320" cy="4114800"/>
            </a:xfrm>
            <a:prstGeom prst="roundRect">
              <a:avLst>
                <a:gd name="adj" fmla="val 5357"/>
              </a:avLst>
            </a:prstGeom>
            <a:solidFill>
              <a:srgbClr val="F3F2F1"/>
            </a:solidFill>
            <a:ln w="25400">
              <a:solidFill>
                <a:srgbClr val="5C2D91"/>
              </a:solidFill>
              <a:prstDash val="solid"/>
            </a:ln>
          </p:spPr>
        </p:sp>
        <p:sp>
          <p:nvSpPr>
            <p:cNvPr id="18" name="Text 16"/>
            <p:cNvSpPr/>
            <p:nvPr/>
          </p:nvSpPr>
          <p:spPr>
            <a:xfrm>
              <a:off x="8961120" y="1463040"/>
              <a:ext cx="2560320" cy="731520"/>
            </a:xfrm>
            <a:prstGeom prst="rect">
              <a:avLst/>
            </a:prstGeom>
            <a:noFill/>
            <a:ln/>
          </p:spPr>
          <p:txBody>
            <a:bodyPr wrap="square" rtlCol="0" anchor="ctr"/>
            <a:lstStyle/>
            <a:p>
              <a:pPr algn="ctr" indent="0" marL="0">
                <a:buNone/>
              </a:pPr>
              <a:r>
                <a:rPr lang="en-US" sz="3600" dirty="0">
                  <a:solidFill>
                    <a:srgbClr val="000000"/>
                  </a:solidFill>
                  <a:latin typeface="Meiryo UI" pitchFamily="34" charset="0"/>
                  <a:ea typeface="Meiryo UI" pitchFamily="34" charset="-122"/>
                  <a:cs typeface="Meiryo UI" pitchFamily="34" charset="-120"/>
                </a:rPr>
                <a:t>🔒</a:t>
              </a:r>
              <a:endParaRPr lang="en-US" sz="3600" dirty="0"/>
            </a:p>
          </p:txBody>
        </p:sp>
        <p:sp>
          <p:nvSpPr>
            <p:cNvPr id="19" name="Text 17"/>
            <p:cNvSpPr/>
            <p:nvPr/>
          </p:nvSpPr>
          <p:spPr>
            <a:xfrm>
              <a:off x="9098280" y="2286000"/>
              <a:ext cx="2286000" cy="731520"/>
            </a:xfrm>
            <a:prstGeom prst="rect">
              <a:avLst/>
            </a:prstGeom>
            <a:noFill/>
            <a:ln/>
          </p:spPr>
          <p:txBody>
            <a:bodyPr wrap="square" rtlCol="0" anchor="ctr"/>
            <a:lstStyle/>
            <a:p>
              <a:pPr algn="ctr" indent="0" marL="0">
                <a:buNone/>
              </a:pPr>
              <a:r>
                <a:rPr lang="en-US" sz="1300" b="1" dirty="0">
                  <a:solidFill>
                    <a:srgbClr val="5C2D91"/>
                  </a:solidFill>
                  <a:latin typeface="Meiryo UI" pitchFamily="34" charset="0"/>
                  <a:ea typeface="Meiryo UI" pitchFamily="34" charset="-122"/>
                  <a:cs typeface="Meiryo UI" pitchFamily="34" charset="-120"/>
                </a:rPr>
                <a:t>主権・規制要件</a:t>
              </a:r>
              <a:endParaRPr lang="en-US" sz="1300" dirty="0"/>
            </a:p>
          </p:txBody>
        </p:sp>
        <p:sp>
          <p:nvSpPr>
            <p:cNvPr id="20" name="Text 18"/>
            <p:cNvSpPr/>
            <p:nvPr/>
          </p:nvSpPr>
          <p:spPr>
            <a:xfrm>
              <a:off x="9144000" y="3108960"/>
              <a:ext cx="2194560" cy="2103120"/>
            </a:xfrm>
            <a:prstGeom prst="rect">
              <a:avLst/>
            </a:prstGeom>
            <a:noFill/>
            <a:ln/>
          </p:spPr>
          <p:txBody>
            <a:bodyPr wrap="square" rtlCol="0" anchor="t"/>
            <a:lstStyle/>
            <a:p>
              <a:pPr algn="l" indent="0" marL="0">
                <a:lnSpc>
                  <a:spcPct val="130000"/>
                </a:lnSpc>
                <a:buNone/>
              </a:pPr>
              <a:r>
                <a:rPr lang="en-US" sz="1050" dirty="0">
                  <a:solidFill>
                    <a:srgbClr val="333333"/>
                  </a:solidFill>
                  <a:latin typeface="Meiryo UI" pitchFamily="34" charset="0"/>
                  <a:ea typeface="Meiryo UI" pitchFamily="34" charset="-122"/>
                  <a:cs typeface="Meiryo UI" pitchFamily="34" charset="-120"/>
                </a:rPr>
                <a:t>データをローカルに保持・管理する必要がある業界に適しています（例: 防衛・情報セクター、エネルギーインフラ）</a:t>
              </a:r>
              <a:endParaRPr lang="en-US" sz="1050" dirty="0"/>
            </a:p>
          </p:txBody>
        </p:sp>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Local のユースケース</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3 / 10</a:t>
            </a:r>
            <a:endParaRPr lang="en-US" sz="900" dirty="0"/>
          </a:p>
        </p:txBody>
      </p:sp>
      <p:sp>
        <p:nvSpPr>
          <p:cNvPr id="5" name="Shape 3"/>
          <p:cNvSpPr/>
          <p:nvPr/>
        </p:nvSpPr>
        <p:spPr>
          <a:xfrm>
            <a:off x="457200" y="1280160"/>
            <a:ext cx="2560320" cy="4114800"/>
          </a:xfrm>
          <a:prstGeom prst="roundRect">
            <a:avLst>
              <a:gd name="adj" fmla="val 5357"/>
            </a:avLst>
          </a:prstGeom>
          <a:solidFill>
            <a:srgbClr val="F3F2F1"/>
          </a:solidFill>
          <a:ln w="25400">
            <a:solidFill>
              <a:srgbClr val="0078D4"/>
            </a:solidFill>
            <a:prstDash val="solid"/>
          </a:ln>
        </p:spPr>
      </p:sp>
      <p:sp>
        <p:nvSpPr>
          <p:cNvPr id="6" name="Text 4"/>
          <p:cNvSpPr/>
          <p:nvPr/>
        </p:nvSpPr>
        <p:spPr>
          <a:xfrm>
            <a:off x="457200" y="1463040"/>
            <a:ext cx="2560320" cy="731520"/>
          </a:xfrm>
          <a:prstGeom prst="rect">
            <a:avLst/>
          </a:prstGeom>
          <a:noFill/>
          <a:ln/>
        </p:spPr>
        <p:txBody>
          <a:bodyPr wrap="square" rtlCol="0" anchor="ctr"/>
          <a:lstStyle/>
          <a:p>
            <a:pPr algn="ctr" indent="0" marL="0">
              <a:buNone/>
            </a:pPr>
            <a:r>
              <a:rPr lang="en-US" sz="3600" dirty="0">
                <a:solidFill>
                  <a:srgbClr val="000000"/>
                </a:solidFill>
                <a:latin typeface="Meiryo UI" pitchFamily="34" charset="0"/>
                <a:ea typeface="Meiryo UI" pitchFamily="34" charset="-122"/>
                <a:cs typeface="Meiryo UI" pitchFamily="34" charset="-120"/>
              </a:rPr>
              <a:t>🤖</a:t>
            </a:r>
            <a:endParaRPr lang="en-US" sz="3600" dirty="0"/>
          </a:p>
        </p:txBody>
      </p:sp>
      <p:sp>
        <p:nvSpPr>
          <p:cNvPr id="7" name="Text 5"/>
          <p:cNvSpPr/>
          <p:nvPr/>
        </p:nvSpPr>
        <p:spPr>
          <a:xfrm>
            <a:off x="594360" y="2286000"/>
            <a:ext cx="2286000" cy="731520"/>
          </a:xfrm>
          <a:prstGeom prst="rect">
            <a:avLst/>
          </a:prstGeom>
          <a:noFill/>
          <a:ln/>
        </p:spPr>
        <p:txBody>
          <a:bodyPr wrap="square" rtlCol="0" anchor="ctr"/>
          <a:lstStyle/>
          <a:p>
            <a:pPr algn="ctr" indent="0" marL="0">
              <a:buNone/>
            </a:pPr>
            <a:r>
              <a:rPr lang="en-US" sz="1300" b="1" dirty="0">
                <a:solidFill>
                  <a:srgbClr val="0078D4"/>
                </a:solidFill>
                <a:latin typeface="Meiryo UI" pitchFamily="34" charset="0"/>
                <a:ea typeface="Meiryo UI" pitchFamily="34" charset="-122"/>
                <a:cs typeface="Meiryo UI" pitchFamily="34" charset="-120"/>
              </a:rPr>
              <a:t>ローカル AI 推論</a:t>
            </a:r>
            <a:endParaRPr lang="en-US" sz="1300" dirty="0"/>
          </a:p>
        </p:txBody>
      </p:sp>
      <p:sp>
        <p:nvSpPr>
          <p:cNvPr id="8" name="Text 6"/>
          <p:cNvSpPr/>
          <p:nvPr/>
        </p:nvSpPr>
        <p:spPr>
          <a:xfrm>
            <a:off x="640080" y="3108960"/>
            <a:ext cx="2194560" cy="2103120"/>
          </a:xfrm>
          <a:prstGeom prst="rect">
            <a:avLst/>
          </a:prstGeom>
          <a:noFill/>
          <a:ln/>
        </p:spPr>
        <p:txBody>
          <a:bodyPr wrap="square" rtlCol="0" anchor="t"/>
          <a:lstStyle/>
          <a:p>
            <a:pPr algn="l" indent="0" marL="0">
              <a:lnSpc>
                <a:spcPct val="130000"/>
              </a:lnSpc>
              <a:buNone/>
            </a:pPr>
            <a:r>
              <a:rPr lang="en-US" sz="1050" dirty="0">
                <a:solidFill>
                  <a:srgbClr val="333333"/>
                </a:solidFill>
                <a:latin typeface="Meiryo UI" pitchFamily="34" charset="0"/>
                <a:ea typeface="Meiryo UI" pitchFamily="34" charset="-122"/>
                <a:cs typeface="Meiryo UI" pitchFamily="34" charset="-120"/>
              </a:rPr>
              <a:t>データをソースで処理する必要がある環境に適しています（例: 小売店のセルフチェックアウト、パイプラインの漏洩検出）</a:t>
            </a:r>
            <a:endParaRPr lang="en-US" sz="1050" dirty="0"/>
          </a:p>
        </p:txBody>
      </p:sp>
      <p:sp>
        <p:nvSpPr>
          <p:cNvPr id="9" name="Shape 7"/>
          <p:cNvSpPr/>
          <p:nvPr/>
        </p:nvSpPr>
        <p:spPr>
          <a:xfrm>
            <a:off x="3291840" y="1280160"/>
            <a:ext cx="2560320" cy="4114800"/>
          </a:xfrm>
          <a:prstGeom prst="roundRect">
            <a:avLst>
              <a:gd name="adj" fmla="val 5357"/>
            </a:avLst>
          </a:prstGeom>
          <a:solidFill>
            <a:srgbClr val="F3F2F1"/>
          </a:solidFill>
          <a:ln w="25400">
            <a:solidFill>
              <a:srgbClr val="107C10"/>
            </a:solidFill>
            <a:prstDash val="solid"/>
          </a:ln>
        </p:spPr>
      </p:sp>
      <p:sp>
        <p:nvSpPr>
          <p:cNvPr id="10" name="Text 8"/>
          <p:cNvSpPr/>
          <p:nvPr/>
        </p:nvSpPr>
        <p:spPr>
          <a:xfrm>
            <a:off x="3291840" y="1463040"/>
            <a:ext cx="2560320" cy="731520"/>
          </a:xfrm>
          <a:prstGeom prst="rect">
            <a:avLst/>
          </a:prstGeom>
          <a:noFill/>
          <a:ln/>
        </p:spPr>
        <p:txBody>
          <a:bodyPr wrap="square" rtlCol="0" anchor="ctr"/>
          <a:lstStyle/>
          <a:p>
            <a:pPr algn="ctr" indent="0" marL="0">
              <a:buNone/>
            </a:pPr>
            <a:r>
              <a:rPr lang="en-US" sz="3600" dirty="0">
                <a:solidFill>
                  <a:srgbClr val="000000"/>
                </a:solidFill>
                <a:latin typeface="Meiryo UI" pitchFamily="34" charset="0"/>
                <a:ea typeface="Meiryo UI" pitchFamily="34" charset="-122"/>
                <a:cs typeface="Meiryo UI" pitchFamily="34" charset="-120"/>
              </a:rPr>
              <a:t>🏭</a:t>
            </a:r>
            <a:endParaRPr lang="en-US" sz="3600" dirty="0"/>
          </a:p>
        </p:txBody>
      </p:sp>
      <p:sp>
        <p:nvSpPr>
          <p:cNvPr id="11" name="Text 9"/>
          <p:cNvSpPr/>
          <p:nvPr/>
        </p:nvSpPr>
        <p:spPr>
          <a:xfrm>
            <a:off x="3429000" y="2286000"/>
            <a:ext cx="2286000" cy="731520"/>
          </a:xfrm>
          <a:prstGeom prst="rect">
            <a:avLst/>
          </a:prstGeom>
          <a:noFill/>
          <a:ln/>
        </p:spPr>
        <p:txBody>
          <a:bodyPr wrap="square" rtlCol="0" anchor="ctr"/>
          <a:lstStyle/>
          <a:p>
            <a:pPr algn="ctr" indent="0" marL="0">
              <a:buNone/>
            </a:pPr>
            <a:r>
              <a:rPr lang="en-US" sz="1300" b="1" dirty="0">
                <a:solidFill>
                  <a:srgbClr val="107C10"/>
                </a:solidFill>
                <a:latin typeface="Meiryo UI" pitchFamily="34" charset="0"/>
                <a:ea typeface="Meiryo UI" pitchFamily="34" charset="-122"/>
                <a:cs typeface="Meiryo UI" pitchFamily="34" charset="-120"/>
              </a:rPr>
              <a:t>ミッションクリティカルな</a:t>
            </a:r>
            <a:endParaRPr lang="en-US" sz="1300" dirty="0"/>
          </a:p>
          <a:p>
            <a:pPr algn="ctr" indent="0" marL="0">
              <a:buNone/>
            </a:pPr>
            <a:r>
              <a:rPr lang="en-US" sz="1300" b="1" dirty="0">
                <a:solidFill>
                  <a:srgbClr val="107C10"/>
                </a:solidFill>
                <a:latin typeface="Meiryo UI" pitchFamily="34" charset="0"/>
                <a:ea typeface="Meiryo UI" pitchFamily="34" charset="-122"/>
                <a:cs typeface="Meiryo UI" pitchFamily="34" charset="-120"/>
              </a:rPr>
              <a:t>業務継続</a:t>
            </a:r>
            <a:endParaRPr lang="en-US" sz="1300" dirty="0"/>
          </a:p>
        </p:txBody>
      </p:sp>
      <p:sp>
        <p:nvSpPr>
          <p:cNvPr id="12" name="Text 10"/>
          <p:cNvSpPr/>
          <p:nvPr/>
        </p:nvSpPr>
        <p:spPr>
          <a:xfrm>
            <a:off x="3474720" y="3108960"/>
            <a:ext cx="2194560" cy="2103120"/>
          </a:xfrm>
          <a:prstGeom prst="rect">
            <a:avLst/>
          </a:prstGeom>
          <a:noFill/>
          <a:ln/>
        </p:spPr>
        <p:txBody>
          <a:bodyPr wrap="square" rtlCol="0" anchor="t"/>
          <a:lstStyle/>
          <a:p>
            <a:pPr algn="l" indent="0" marL="0">
              <a:lnSpc>
                <a:spcPct val="130000"/>
              </a:lnSpc>
              <a:buNone/>
            </a:pPr>
            <a:r>
              <a:rPr lang="en-US" sz="1050" dirty="0">
                <a:solidFill>
                  <a:srgbClr val="333333"/>
                </a:solidFill>
                <a:latin typeface="Meiryo UI" pitchFamily="34" charset="0"/>
                <a:ea typeface="Meiryo UI" pitchFamily="34" charset="-122"/>
                <a:cs typeface="Meiryo UI" pitchFamily="34" charset="-120"/>
              </a:rPr>
              <a:t>ネットワーク障害時にも稼働し続ける必要があるシステムに適しています（例: 工場の生産ライン、スタジアムのチケッティング）</a:t>
            </a:r>
            <a:endParaRPr lang="en-US" sz="1050" dirty="0"/>
          </a:p>
        </p:txBody>
      </p:sp>
      <p:sp>
        <p:nvSpPr>
          <p:cNvPr id="13" name="Shape 11"/>
          <p:cNvSpPr/>
          <p:nvPr/>
        </p:nvSpPr>
        <p:spPr>
          <a:xfrm>
            <a:off x="6126480" y="1280160"/>
            <a:ext cx="2560320" cy="4114800"/>
          </a:xfrm>
          <a:prstGeom prst="roundRect">
            <a:avLst>
              <a:gd name="adj" fmla="val 5357"/>
            </a:avLst>
          </a:prstGeom>
          <a:solidFill>
            <a:srgbClr val="F3F2F1"/>
          </a:solidFill>
          <a:ln w="25400">
            <a:solidFill>
              <a:srgbClr val="FF8C00"/>
            </a:solidFill>
            <a:prstDash val="solid"/>
          </a:ln>
        </p:spPr>
      </p:sp>
      <p:sp>
        <p:nvSpPr>
          <p:cNvPr id="14" name="Text 12"/>
          <p:cNvSpPr/>
          <p:nvPr/>
        </p:nvSpPr>
        <p:spPr>
          <a:xfrm>
            <a:off x="6126480" y="1463040"/>
            <a:ext cx="2560320" cy="731520"/>
          </a:xfrm>
          <a:prstGeom prst="rect">
            <a:avLst/>
          </a:prstGeom>
          <a:noFill/>
          <a:ln/>
        </p:spPr>
        <p:txBody>
          <a:bodyPr wrap="square" rtlCol="0" anchor="ctr"/>
          <a:lstStyle/>
          <a:p>
            <a:pPr algn="ctr" indent="0" marL="0">
              <a:buNone/>
            </a:pPr>
            <a:r>
              <a:rPr lang="en-US" sz="3600" dirty="0">
                <a:solidFill>
                  <a:srgbClr val="000000"/>
                </a:solidFill>
                <a:latin typeface="Meiryo UI" pitchFamily="34" charset="0"/>
                <a:ea typeface="Meiryo UI" pitchFamily="34" charset="-122"/>
                <a:cs typeface="Meiryo UI" pitchFamily="34" charset="-120"/>
              </a:rPr>
              <a:t>⚡</a:t>
            </a:r>
            <a:endParaRPr lang="en-US" sz="3600" dirty="0"/>
          </a:p>
        </p:txBody>
      </p:sp>
      <p:sp>
        <p:nvSpPr>
          <p:cNvPr id="15" name="Text 13"/>
          <p:cNvSpPr/>
          <p:nvPr/>
        </p:nvSpPr>
        <p:spPr>
          <a:xfrm>
            <a:off x="6263640" y="2286000"/>
            <a:ext cx="2286000" cy="731520"/>
          </a:xfrm>
          <a:prstGeom prst="rect">
            <a:avLst/>
          </a:prstGeom>
          <a:noFill/>
          <a:ln/>
        </p:spPr>
        <p:txBody>
          <a:bodyPr wrap="square" rtlCol="0" anchor="ctr"/>
          <a:lstStyle/>
          <a:p>
            <a:pPr algn="ctr" indent="0" marL="0">
              <a:buNone/>
            </a:pPr>
            <a:r>
              <a:rPr lang="en-US" sz="1300" b="1" dirty="0">
                <a:solidFill>
                  <a:srgbClr val="FF8C00"/>
                </a:solidFill>
                <a:latin typeface="Meiryo UI" pitchFamily="34" charset="0"/>
                <a:ea typeface="Meiryo UI" pitchFamily="34" charset="-122"/>
                <a:cs typeface="Meiryo UI" pitchFamily="34" charset="-120"/>
              </a:rPr>
              <a:t>制御システム・</a:t>
            </a:r>
            <a:endParaRPr lang="en-US" sz="1300" dirty="0"/>
          </a:p>
          <a:p>
            <a:pPr algn="ctr" indent="0" marL="0">
              <a:buNone/>
            </a:pPr>
            <a:r>
              <a:rPr lang="en-US" sz="1300" b="1" dirty="0">
                <a:solidFill>
                  <a:srgbClr val="FF8C00"/>
                </a:solidFill>
                <a:latin typeface="Meiryo UI" pitchFamily="34" charset="0"/>
                <a:ea typeface="Meiryo UI" pitchFamily="34" charset="-122"/>
                <a:cs typeface="Meiryo UI" pitchFamily="34" charset="-120"/>
              </a:rPr>
              <a:t>リアルタイム運用</a:t>
            </a:r>
            <a:endParaRPr lang="en-US" sz="1300" dirty="0"/>
          </a:p>
        </p:txBody>
      </p:sp>
      <p:sp>
        <p:nvSpPr>
          <p:cNvPr id="16" name="Text 14"/>
          <p:cNvSpPr/>
          <p:nvPr/>
        </p:nvSpPr>
        <p:spPr>
          <a:xfrm>
            <a:off x="6309360" y="3108960"/>
            <a:ext cx="2194560" cy="2103120"/>
          </a:xfrm>
          <a:prstGeom prst="rect">
            <a:avLst/>
          </a:prstGeom>
          <a:noFill/>
          <a:ln/>
        </p:spPr>
        <p:txBody>
          <a:bodyPr wrap="square" rtlCol="0" anchor="t"/>
          <a:lstStyle/>
          <a:p>
            <a:pPr algn="l" indent="0" marL="0">
              <a:lnSpc>
                <a:spcPct val="130000"/>
              </a:lnSpc>
              <a:buNone/>
            </a:pPr>
            <a:r>
              <a:rPr lang="en-US" sz="1050" dirty="0">
                <a:solidFill>
                  <a:srgbClr val="333333"/>
                </a:solidFill>
                <a:latin typeface="Meiryo UI" pitchFamily="34" charset="0"/>
                <a:ea typeface="Meiryo UI" pitchFamily="34" charset="-122"/>
                <a:cs typeface="Meiryo UI" pitchFamily="34" charset="-120"/>
              </a:rPr>
              <a:t>極めて低いレイテンシが要求される環境に適しています（例: 製造実行システム、金融インフラ）</a:t>
            </a:r>
            <a:endParaRPr lang="en-US" sz="1050" dirty="0"/>
          </a:p>
        </p:txBody>
      </p:sp>
      <p:sp>
        <p:nvSpPr>
          <p:cNvPr id="17" name="Shape 15"/>
          <p:cNvSpPr/>
          <p:nvPr/>
        </p:nvSpPr>
        <p:spPr>
          <a:xfrm>
            <a:off x="8961120" y="1280160"/>
            <a:ext cx="2560320" cy="4114800"/>
          </a:xfrm>
          <a:prstGeom prst="roundRect">
            <a:avLst>
              <a:gd name="adj" fmla="val 5357"/>
            </a:avLst>
          </a:prstGeom>
          <a:solidFill>
            <a:srgbClr val="F3F2F1"/>
          </a:solidFill>
          <a:ln w="25400">
            <a:solidFill>
              <a:srgbClr val="5C2D91"/>
            </a:solidFill>
            <a:prstDash val="solid"/>
          </a:ln>
        </p:spPr>
      </p:sp>
      <p:sp>
        <p:nvSpPr>
          <p:cNvPr id="18" name="Text 16"/>
          <p:cNvSpPr/>
          <p:nvPr/>
        </p:nvSpPr>
        <p:spPr>
          <a:xfrm>
            <a:off x="8961120" y="1463040"/>
            <a:ext cx="2560320" cy="731520"/>
          </a:xfrm>
          <a:prstGeom prst="rect">
            <a:avLst/>
          </a:prstGeom>
          <a:noFill/>
          <a:ln/>
        </p:spPr>
        <p:txBody>
          <a:bodyPr wrap="square" rtlCol="0" anchor="ctr"/>
          <a:lstStyle/>
          <a:p>
            <a:pPr algn="ctr" indent="0" marL="0">
              <a:buNone/>
            </a:pPr>
            <a:r>
              <a:rPr lang="en-US" sz="3600" dirty="0">
                <a:solidFill>
                  <a:srgbClr val="000000"/>
                </a:solidFill>
                <a:latin typeface="Meiryo UI" pitchFamily="34" charset="0"/>
                <a:ea typeface="Meiryo UI" pitchFamily="34" charset="-122"/>
                <a:cs typeface="Meiryo UI" pitchFamily="34" charset="-120"/>
              </a:rPr>
              <a:t>🔒</a:t>
            </a:r>
            <a:endParaRPr lang="en-US" sz="3600" dirty="0"/>
          </a:p>
        </p:txBody>
      </p:sp>
      <p:sp>
        <p:nvSpPr>
          <p:cNvPr id="19" name="Text 17"/>
          <p:cNvSpPr/>
          <p:nvPr/>
        </p:nvSpPr>
        <p:spPr>
          <a:xfrm>
            <a:off x="9098280" y="2286000"/>
            <a:ext cx="2286000" cy="731520"/>
          </a:xfrm>
          <a:prstGeom prst="rect">
            <a:avLst/>
          </a:prstGeom>
          <a:noFill/>
          <a:ln/>
        </p:spPr>
        <p:txBody>
          <a:bodyPr wrap="square" rtlCol="0" anchor="ctr"/>
          <a:lstStyle/>
          <a:p>
            <a:pPr algn="ctr" indent="0" marL="0">
              <a:buNone/>
            </a:pPr>
            <a:r>
              <a:rPr lang="en-US" sz="1300" b="1" dirty="0">
                <a:solidFill>
                  <a:srgbClr val="5C2D91"/>
                </a:solidFill>
                <a:latin typeface="Meiryo UI" pitchFamily="34" charset="0"/>
                <a:ea typeface="Meiryo UI" pitchFamily="34" charset="-122"/>
                <a:cs typeface="Meiryo UI" pitchFamily="34" charset="-120"/>
              </a:rPr>
              <a:t>主権・規制要件</a:t>
            </a:r>
            <a:endParaRPr lang="en-US" sz="1300" dirty="0"/>
          </a:p>
        </p:txBody>
      </p:sp>
      <p:sp>
        <p:nvSpPr>
          <p:cNvPr id="20" name="Text 18"/>
          <p:cNvSpPr/>
          <p:nvPr/>
        </p:nvSpPr>
        <p:spPr>
          <a:xfrm>
            <a:off x="9144000" y="3108960"/>
            <a:ext cx="2194560" cy="2103120"/>
          </a:xfrm>
          <a:prstGeom prst="rect">
            <a:avLst/>
          </a:prstGeom>
          <a:noFill/>
          <a:ln/>
        </p:spPr>
        <p:txBody>
          <a:bodyPr wrap="square" rtlCol="0" anchor="t"/>
          <a:lstStyle/>
          <a:p>
            <a:pPr algn="l" indent="0" marL="0">
              <a:lnSpc>
                <a:spcPct val="130000"/>
              </a:lnSpc>
              <a:buNone/>
            </a:pPr>
            <a:r>
              <a:rPr lang="en-US" sz="1050" dirty="0">
                <a:solidFill>
                  <a:srgbClr val="333333"/>
                </a:solidFill>
                <a:latin typeface="Meiryo UI" pitchFamily="34" charset="0"/>
                <a:ea typeface="Meiryo UI" pitchFamily="34" charset="-122"/>
                <a:cs typeface="Meiryo UI" pitchFamily="34" charset="-120"/>
              </a:rPr>
              <a:t>データをローカルに保持・管理する必要がある業界に適しています（例: 防衛・情報セクター、エネルギーインフラ）</a:t>
            </a:r>
            <a:endParaRPr lang="en-US" sz="105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アーキテクチャとシステム要件</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4 / 10</a:t>
              </a:r>
              <a:endParaRPr lang="en-US" sz="900" dirty="0"/>
            </a:p>
          </p:txBody>
        </p:sp>
        <p:sp>
          <p:nvSpPr>
            <p:cNvPr id="5" name="Text 3"/>
            <p:cNvSpPr/>
            <p:nvPr/>
          </p:nvSpPr>
          <p:spPr>
            <a:xfrm>
              <a:off x="457200" y="1188720"/>
              <a:ext cx="5303520" cy="320040"/>
            </a:xfrm>
            <a:prstGeom prst="rect">
              <a:avLst/>
            </a:prstGeom>
            <a:noFill/>
            <a:ln/>
          </p:spPr>
          <p:txBody>
            <a:bodyPr wrap="square" rtlCol="0" anchor="ctr"/>
            <a:lstStyle/>
            <a:p>
              <a:pPr indent="0" marL="0">
                <a:buNone/>
              </a:pPr>
              <a:r>
                <a:rPr lang="en-US" sz="1300" b="1" dirty="0">
                  <a:solidFill>
                    <a:srgbClr val="0078D4"/>
                  </a:solidFill>
                  <a:latin typeface="Meiryo UI" pitchFamily="34" charset="0"/>
                  <a:ea typeface="Meiryo UI" pitchFamily="34" charset="-122"/>
                  <a:cs typeface="Meiryo UI" pitchFamily="34" charset="-120"/>
                </a:rPr>
                <a:t>アーキテクチャ構成</a:t>
              </a:r>
              <a:endParaRPr lang="en-US" sz="1300" dirty="0"/>
            </a:p>
          </p:txBody>
        </p:sp>
        <p:sp>
          <p:nvSpPr>
            <p:cNvPr id="6" name="Shape 4"/>
            <p:cNvSpPr/>
            <p:nvPr/>
          </p:nvSpPr>
          <p:spPr>
            <a:xfrm>
              <a:off x="457200" y="1600200"/>
              <a:ext cx="5303520" cy="731520"/>
            </a:xfrm>
            <a:prstGeom prst="roundRect">
              <a:avLst>
                <a:gd name="adj" fmla="val 12500"/>
              </a:avLst>
            </a:prstGeom>
            <a:solidFill>
              <a:srgbClr val="0078D4"/>
            </a:solidFill>
            <a:ln/>
          </p:spPr>
        </p:sp>
        <p:sp>
          <p:nvSpPr>
            <p:cNvPr id="7" name="Text 5"/>
            <p:cNvSpPr/>
            <p:nvPr/>
          </p:nvSpPr>
          <p:spPr>
            <a:xfrm>
              <a:off x="457200" y="1600200"/>
              <a:ext cx="5303520" cy="731520"/>
            </a:xfrm>
            <a:prstGeom prst="rect">
              <a:avLst/>
            </a:prstGeom>
            <a:noFill/>
            <a:ln/>
          </p:spPr>
          <p:txBody>
            <a:bodyPr wrap="square" rtlCol="0" anchor="ctr"/>
            <a:lstStyle/>
            <a:p>
              <a:pPr algn="ctr" indent="0" marL="0">
                <a:buNone/>
              </a:pPr>
              <a:r>
                <a:rPr lang="en-US" sz="1150" b="1" dirty="0">
                  <a:solidFill>
                    <a:srgbClr val="FFFFFF"/>
                  </a:solidFill>
                  <a:latin typeface="Meiryo UI" pitchFamily="34" charset="0"/>
                  <a:ea typeface="Meiryo UI" pitchFamily="34" charset="-122"/>
                  <a:cs typeface="Meiryo UI" pitchFamily="34" charset="-120"/>
                </a:rPr>
                <a:t>Azure クラウドサービス群</a:t>
              </a:r>
              <a:endParaRPr lang="en-US" sz="1150" dirty="0"/>
            </a:p>
          </p:txBody>
        </p:sp>
        <p:sp>
          <p:nvSpPr>
            <p:cNvPr id="8" name="Shape 6"/>
            <p:cNvSpPr/>
            <p:nvPr/>
          </p:nvSpPr>
          <p:spPr>
            <a:xfrm>
              <a:off x="457200" y="2468880"/>
              <a:ext cx="5303520" cy="731520"/>
            </a:xfrm>
            <a:prstGeom prst="roundRect">
              <a:avLst>
                <a:gd name="adj" fmla="val 12500"/>
              </a:avLst>
            </a:prstGeom>
            <a:solidFill>
              <a:srgbClr val="5C2D91"/>
            </a:solidFill>
            <a:ln/>
          </p:spPr>
        </p:sp>
        <p:sp>
          <p:nvSpPr>
            <p:cNvPr id="9" name="Text 7"/>
            <p:cNvSpPr/>
            <p:nvPr/>
          </p:nvSpPr>
          <p:spPr>
            <a:xfrm>
              <a:off x="457200" y="2468880"/>
              <a:ext cx="5303520" cy="731520"/>
            </a:xfrm>
            <a:prstGeom prst="rect">
              <a:avLst/>
            </a:prstGeom>
            <a:noFill/>
            <a:ln/>
          </p:spPr>
          <p:txBody>
            <a:bodyPr wrap="square" rtlCol="0" anchor="ctr"/>
            <a:lstStyle/>
            <a:p>
              <a:pPr algn="ctr" indent="0" marL="0">
                <a:buNone/>
              </a:pPr>
              <a:r>
                <a:rPr lang="en-US" sz="1150" b="1" dirty="0">
                  <a:solidFill>
                    <a:srgbClr val="FFFFFF"/>
                  </a:solidFill>
                  <a:latin typeface="Meiryo UI" pitchFamily="34" charset="0"/>
                  <a:ea typeface="Meiryo UI" pitchFamily="34" charset="-122"/>
                  <a:cs typeface="Meiryo UI" pitchFamily="34" charset="-120"/>
                </a:rPr>
                <a:t>Azure Arc (統一管理プレーン)</a:t>
              </a:r>
              <a:endParaRPr lang="en-US" sz="1150" dirty="0"/>
            </a:p>
          </p:txBody>
        </p:sp>
        <p:sp>
          <p:nvSpPr>
            <p:cNvPr id="10" name="Shape 8"/>
            <p:cNvSpPr/>
            <p:nvPr/>
          </p:nvSpPr>
          <p:spPr>
            <a:xfrm>
              <a:off x="457200" y="3337560"/>
              <a:ext cx="5303520" cy="731520"/>
            </a:xfrm>
            <a:prstGeom prst="roundRect">
              <a:avLst>
                <a:gd name="adj" fmla="val 12500"/>
              </a:avLst>
            </a:prstGeom>
            <a:solidFill>
              <a:srgbClr val="107C10"/>
            </a:solidFill>
            <a:ln/>
          </p:spPr>
        </p:sp>
        <p:sp>
          <p:nvSpPr>
            <p:cNvPr id="11" name="Text 9"/>
            <p:cNvSpPr/>
            <p:nvPr/>
          </p:nvSpPr>
          <p:spPr>
            <a:xfrm>
              <a:off x="457200" y="3337560"/>
              <a:ext cx="5303520" cy="731520"/>
            </a:xfrm>
            <a:prstGeom prst="rect">
              <a:avLst/>
            </a:prstGeom>
            <a:noFill/>
            <a:ln/>
          </p:spPr>
          <p:txBody>
            <a:bodyPr wrap="square" rtlCol="0" anchor="ctr"/>
            <a:lstStyle/>
            <a:p>
              <a:pPr algn="ctr" indent="0" marL="0">
                <a:buNone/>
              </a:pPr>
              <a:r>
                <a:rPr lang="en-US" sz="1150" b="1" dirty="0">
                  <a:solidFill>
                    <a:srgbClr val="FFFFFF"/>
                  </a:solidFill>
                  <a:latin typeface="Meiryo UI" pitchFamily="34" charset="0"/>
                  <a:ea typeface="Meiryo UI" pitchFamily="34" charset="-122"/>
                  <a:cs typeface="Meiryo UI" pitchFamily="34" charset="-120"/>
                </a:rPr>
                <a:t>HCI 基盤 (Hyper-V / S2D / FCI)</a:t>
              </a:r>
              <a:endParaRPr lang="en-US" sz="1150" dirty="0"/>
            </a:p>
          </p:txBody>
        </p:sp>
        <p:sp>
          <p:nvSpPr>
            <p:cNvPr id="12" name="Shape 10"/>
            <p:cNvSpPr/>
            <p:nvPr/>
          </p:nvSpPr>
          <p:spPr>
            <a:xfrm>
              <a:off x="457200" y="4206240"/>
              <a:ext cx="5303520" cy="731520"/>
            </a:xfrm>
            <a:prstGeom prst="roundRect">
              <a:avLst>
                <a:gd name="adj" fmla="val 12500"/>
              </a:avLst>
            </a:prstGeom>
            <a:solidFill>
              <a:srgbClr val="6B6B6B"/>
            </a:solidFill>
            <a:ln/>
          </p:spPr>
        </p:sp>
        <p:sp>
          <p:nvSpPr>
            <p:cNvPr id="13" name="Text 11"/>
            <p:cNvSpPr/>
            <p:nvPr/>
          </p:nvSpPr>
          <p:spPr>
            <a:xfrm>
              <a:off x="457200" y="4206240"/>
              <a:ext cx="5303520" cy="731520"/>
            </a:xfrm>
            <a:prstGeom prst="rect">
              <a:avLst/>
            </a:prstGeom>
            <a:noFill/>
            <a:ln/>
          </p:spPr>
          <p:txBody>
            <a:bodyPr wrap="square" rtlCol="0" anchor="ctr"/>
            <a:lstStyle/>
            <a:p>
              <a:pPr algn="ctr" indent="0" marL="0">
                <a:buNone/>
              </a:pPr>
              <a:r>
                <a:rPr lang="en-US" sz="1150" b="1" dirty="0">
                  <a:solidFill>
                    <a:srgbClr val="FFFFFF"/>
                  </a:solidFill>
                  <a:latin typeface="Meiryo UI" pitchFamily="34" charset="0"/>
                  <a:ea typeface="Meiryo UI" pitchFamily="34" charset="-122"/>
                  <a:cs typeface="Meiryo UI" pitchFamily="34" charset="-120"/>
                </a:rPr>
                <a:t>物理サーバー (1〜16台)</a:t>
              </a:r>
              <a:endParaRPr lang="en-US" sz="1150" dirty="0"/>
            </a:p>
          </p:txBody>
        </p:sp>
        <p:sp>
          <p:nvSpPr>
            <p:cNvPr id="14" name="Text 12"/>
            <p:cNvSpPr/>
            <p:nvPr/>
          </p:nvSpPr>
          <p:spPr>
            <a:xfrm>
              <a:off x="2651760" y="2331720"/>
              <a:ext cx="914400" cy="182880"/>
            </a:xfrm>
            <a:prstGeom prst="rect">
              <a:avLst/>
            </a:prstGeom>
            <a:noFill/>
            <a:ln/>
          </p:spPr>
          <p:txBody>
            <a:bodyPr wrap="square" rtlCol="0" anchor="ctr"/>
            <a:lstStyle/>
            <a:p>
              <a:pPr algn="ctr" indent="0" marL="0">
                <a:buNone/>
              </a:pPr>
              <a:r>
                <a:rPr lang="en-US" sz="1200" dirty="0">
                  <a:solidFill>
                    <a:srgbClr val="0078D4"/>
                  </a:solidFill>
                  <a:latin typeface="Meiryo UI" pitchFamily="34" charset="0"/>
                  <a:ea typeface="Meiryo UI" pitchFamily="34" charset="-122"/>
                  <a:cs typeface="Meiryo UI" pitchFamily="34" charset="-120"/>
                </a:rPr>
                <a:t>▲</a:t>
              </a:r>
              <a:endParaRPr lang="en-US" sz="1200" dirty="0"/>
            </a:p>
          </p:txBody>
        </p:sp>
        <p:sp>
          <p:nvSpPr>
            <p:cNvPr id="15" name="Text 13"/>
            <p:cNvSpPr/>
            <p:nvPr/>
          </p:nvSpPr>
          <p:spPr>
            <a:xfrm>
              <a:off x="2651760" y="3200400"/>
              <a:ext cx="914400" cy="182880"/>
            </a:xfrm>
            <a:prstGeom prst="rect">
              <a:avLst/>
            </a:prstGeom>
            <a:noFill/>
            <a:ln/>
          </p:spPr>
          <p:txBody>
            <a:bodyPr wrap="square" rtlCol="0" anchor="ctr"/>
            <a:lstStyle/>
            <a:p>
              <a:pPr algn="ctr" indent="0" marL="0">
                <a:buNone/>
              </a:pPr>
              <a:r>
                <a:rPr lang="en-US" sz="1200" dirty="0">
                  <a:solidFill>
                    <a:srgbClr val="0078D4"/>
                  </a:solidFill>
                  <a:latin typeface="Meiryo UI" pitchFamily="34" charset="0"/>
                  <a:ea typeface="Meiryo UI" pitchFamily="34" charset="-122"/>
                  <a:cs typeface="Meiryo UI" pitchFamily="34" charset="-120"/>
                </a:rPr>
                <a:t>▲</a:t>
              </a:r>
              <a:endParaRPr lang="en-US" sz="1200" dirty="0"/>
            </a:p>
          </p:txBody>
        </p:sp>
        <p:sp>
          <p:nvSpPr>
            <p:cNvPr id="16" name="Text 14"/>
            <p:cNvSpPr/>
            <p:nvPr/>
          </p:nvSpPr>
          <p:spPr>
            <a:xfrm>
              <a:off x="2651760" y="4069080"/>
              <a:ext cx="914400" cy="182880"/>
            </a:xfrm>
            <a:prstGeom prst="rect">
              <a:avLst/>
            </a:prstGeom>
            <a:noFill/>
            <a:ln/>
          </p:spPr>
          <p:txBody>
            <a:bodyPr wrap="square" rtlCol="0" anchor="ctr"/>
            <a:lstStyle/>
            <a:p>
              <a:pPr algn="ctr" indent="0" marL="0">
                <a:buNone/>
              </a:pPr>
              <a:r>
                <a:rPr lang="en-US" sz="1200" dirty="0">
                  <a:solidFill>
                    <a:srgbClr val="0078D4"/>
                  </a:solidFill>
                  <a:latin typeface="Meiryo UI" pitchFamily="34" charset="0"/>
                  <a:ea typeface="Meiryo UI" pitchFamily="34" charset="-122"/>
                  <a:cs typeface="Meiryo UI" pitchFamily="34" charset="-120"/>
                </a:rPr>
                <a:t>▲</a:t>
              </a:r>
              <a:endParaRPr lang="en-US" sz="1200" dirty="0"/>
            </a:p>
          </p:txBody>
        </p:sp>
        <p:sp>
          <p:nvSpPr>
            <p:cNvPr id="17" name="Text 15"/>
            <p:cNvSpPr/>
            <p:nvPr/>
          </p:nvSpPr>
          <p:spPr>
            <a:xfrm>
              <a:off x="457200" y="5120640"/>
              <a:ext cx="5303520" cy="731520"/>
            </a:xfrm>
            <a:prstGeom prst="rect">
              <a:avLst/>
            </a:prstGeom>
            <a:noFill/>
            <a:ln/>
          </p:spPr>
          <p:txBody>
            <a:bodyPr wrap="square" rtlCol="0" anchor="t"/>
            <a:lstStyle/>
            <a:p>
              <a:pPr indent="0" marL="0">
                <a:lnSpc>
                  <a:spcPct val="130000"/>
                </a:lnSpc>
                <a:buNone/>
              </a:pPr>
              <a:r>
                <a:rPr lang="en-US" sz="1000" dirty="0">
                  <a:solidFill>
                    <a:srgbClr val="333333"/>
                  </a:solidFill>
                  <a:latin typeface="Meiryo UI" pitchFamily="34" charset="0"/>
                  <a:ea typeface="Meiryo UI" pitchFamily="34" charset="-122"/>
                  <a:cs typeface="Meiryo UI" pitchFamily="34" charset="-120"/>
                </a:rPr>
                <a:t>● Azure Local (コンピュート・ストレージ)
</a:t>
              </a:r>
              <a:pPr indent="0" marL="0">
                <a:lnSpc>
                  <a:spcPct val="130000"/>
                </a:lnSpc>
                <a:buNone/>
              </a:pPr>
              <a:r>
                <a:rPr lang="en-US" sz="1000" dirty="0">
                  <a:solidFill>
                    <a:srgbClr val="333333"/>
                  </a:solidFill>
                  <a:latin typeface="Meiryo UI" pitchFamily="34" charset="0"/>
                  <a:ea typeface="Meiryo UI" pitchFamily="34" charset="-122"/>
                  <a:cs typeface="Meiryo UI" pitchFamily="34" charset="-120"/>
                </a:rPr>
                <a:t>● Azure Key Vault / Monitor / Defender for Cloud</a:t>
              </a:r>
              <a:endParaRPr lang="en-US" sz="1000" dirty="0"/>
            </a:p>
          </p:txBody>
        </p:sp>
        <p:sp>
          <p:nvSpPr>
            <p:cNvPr id="18" name="Shape 16"/>
            <p:cNvSpPr/>
            <p:nvPr/>
          </p:nvSpPr>
          <p:spPr>
            <a:xfrm>
              <a:off x="6126480" y="1188720"/>
              <a:ext cx="5577840" cy="1645920"/>
            </a:xfrm>
            <a:prstGeom prst="roundRect">
              <a:avLst>
                <a:gd name="adj" fmla="val 5556"/>
              </a:avLst>
            </a:prstGeom>
            <a:solidFill>
              <a:srgbClr val="DEECF9"/>
            </a:solidFill>
            <a:ln/>
          </p:spPr>
        </p:sp>
        <p:sp>
          <p:nvSpPr>
            <p:cNvPr id="19" name="Text 17"/>
            <p:cNvSpPr/>
            <p:nvPr/>
          </p:nvSpPr>
          <p:spPr>
            <a:xfrm>
              <a:off x="6309360" y="1234440"/>
              <a:ext cx="5212080" cy="320040"/>
            </a:xfrm>
            <a:prstGeom prst="rect">
              <a:avLst/>
            </a:prstGeom>
            <a:noFill/>
            <a:ln/>
          </p:spPr>
          <p:txBody>
            <a:bodyPr wrap="square" rtlCol="0" anchor="ctr"/>
            <a:lstStyle/>
            <a:p>
              <a:pPr indent="0" marL="0">
                <a:buNone/>
              </a:pPr>
              <a:r>
                <a:rPr lang="en-US" sz="1300" b="1" dirty="0">
                  <a:solidFill>
                    <a:srgbClr val="0078D4"/>
                  </a:solidFill>
                  <a:latin typeface="Meiryo UI" pitchFamily="34" charset="0"/>
                  <a:ea typeface="Meiryo UI" pitchFamily="34" charset="-122"/>
                  <a:cs typeface="Meiryo UI" pitchFamily="34" charset="-120"/>
                </a:rPr>
                <a:t>Azure / ネットワーク要件</a:t>
              </a:r>
              <a:endParaRPr lang="en-US" sz="1300" dirty="0"/>
            </a:p>
          </p:txBody>
        </p:sp>
        <p:sp>
          <p:nvSpPr>
            <p:cNvPr id="20" name="Text 18"/>
            <p:cNvSpPr/>
            <p:nvPr/>
          </p:nvSpPr>
          <p:spPr>
            <a:xfrm>
              <a:off x="6309360" y="1554480"/>
              <a:ext cx="5212080" cy="1188720"/>
            </a:xfrm>
            <a:prstGeom prst="rect">
              <a:avLst/>
            </a:prstGeom>
            <a:noFill/>
            <a:ln/>
          </p:spPr>
          <p:txBody>
            <a:bodyPr wrap="square" rtlCol="0" anchor="t"/>
            <a:lstStyle/>
            <a:p>
              <a:pPr indent="0" marL="0">
                <a:lnSpc>
                  <a:spcPct val="120000"/>
                </a:lnSpc>
                <a:buNone/>
              </a:pPr>
              <a:r>
                <a:rPr lang="en-US" sz="1050" dirty="0">
                  <a:solidFill>
                    <a:srgbClr val="333333"/>
                  </a:solidFill>
                  <a:latin typeface="Meiryo UI" pitchFamily="34" charset="0"/>
                  <a:ea typeface="Meiryo UI" pitchFamily="34" charset="-122"/>
                  <a:cs typeface="Meiryo UI" pitchFamily="34" charset="-120"/>
                </a:rPr>
                <a:t>• Azure サブスクリプション（EA / CSP / Pay-as-you-go 等）が必要です
</a:t>
              </a:r>
              <a:pPr indent="0" marL="0">
                <a:lnSpc>
                  <a:spcPct val="120000"/>
                </a:lnSpc>
                <a:buNone/>
              </a:pPr>
              <a:r>
                <a:rPr lang="en-US" sz="1050" dirty="0">
                  <a:solidFill>
                    <a:srgbClr val="333333"/>
                  </a:solidFill>
                  <a:latin typeface="Meiryo UI" pitchFamily="34" charset="0"/>
                  <a:ea typeface="Meiryo UI" pitchFamily="34" charset="-122"/>
                  <a:cs typeface="Meiryo UI" pitchFamily="34" charset="-120"/>
                </a:rPr>
                <a:t>• 対応リージョン: East US、West Europe、Japan East 等に対応しています
</a:t>
              </a:r>
              <a:pPr indent="0" marL="0">
                <a:lnSpc>
                  <a:spcPct val="120000"/>
                </a:lnSpc>
                <a:buNone/>
              </a:pPr>
              <a:r>
                <a:rPr lang="en-US" sz="1050" dirty="0">
                  <a:solidFill>
                    <a:srgbClr val="333333"/>
                  </a:solidFill>
                  <a:latin typeface="Meiryo UI" pitchFamily="34" charset="0"/>
                  <a:ea typeface="Meiryo UI" pitchFamily="34" charset="-122"/>
                  <a:cs typeface="Meiryo UI" pitchFamily="34" charset="-120"/>
                </a:rPr>
                <a:t>• ネットワーク: Azure への接続が必要です（最低 10 Mbit）</a:t>
              </a:r>
              <a:endParaRPr lang="en-US" sz="1050" dirty="0"/>
            </a:p>
          </p:txBody>
        </p:sp>
        <p:sp>
          <p:nvSpPr>
            <p:cNvPr id="21" name="Text 19"/>
            <p:cNvSpPr/>
            <p:nvPr/>
          </p:nvSpPr>
          <p:spPr>
            <a:xfrm>
              <a:off x="6126480" y="3017520"/>
              <a:ext cx="5577840" cy="320040"/>
            </a:xfrm>
            <a:prstGeom prst="rect">
              <a:avLst/>
            </a:prstGeom>
            <a:noFill/>
            <a:ln/>
          </p:spPr>
          <p:txBody>
            <a:bodyPr wrap="square" rtlCol="0" anchor="ctr"/>
            <a:lstStyle/>
            <a:p>
              <a:pPr indent="0" marL="0">
                <a:buNone/>
              </a:pPr>
              <a:r>
                <a:rPr lang="en-US" sz="1300" b="1" dirty="0">
                  <a:solidFill>
                    <a:srgbClr val="0078D4"/>
                  </a:solidFill>
                  <a:latin typeface="Meiryo UI" pitchFamily="34" charset="0"/>
                  <a:ea typeface="Meiryo UI" pitchFamily="34" charset="-122"/>
                  <a:cs typeface="Meiryo UI" pitchFamily="34" charset="-120"/>
                </a:rPr>
                <a:t>最大ハードウェア仕様</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126480" y="3383280"/>
            <a:ext cx="5577840" cy="914400"/>
          </p:xfrm>
          <a:graphic>
            <a:graphicData uri="http://schemas.openxmlformats.org/drawingml/2006/table">
              <a:tbl>
                <a:tblPr/>
                <a:tblGrid>
                  <a:gridCol w="2788920"/>
                  <a:gridCol w="2788920"/>
                </a:tblGrid>
                <a:tr h="338328">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項目</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最大値</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r>
                <a:tr h="338328">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物理マシン数</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algn="ctr" indent="0" marL="0">
                          <a:buNone/>
                        </a:pPr>
                        <a:r>
                          <a:rPr lang="en-US" sz="1000" dirty="0">
                            <a:solidFill>
                              <a:srgbClr val="000000"/>
                            </a:solidFill>
                            <a:latin typeface="Meiryo UI" pitchFamily="34" charset="0"/>
                            <a:ea typeface="Meiryo UI" pitchFamily="34" charset="-122"/>
                            <a:cs typeface="Meiryo UI" pitchFamily="34" charset="-120"/>
                          </a:rPr>
                          <a:t>16台/システム</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338328">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ストレージ</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000000"/>
                            </a:solidFill>
                            <a:latin typeface="Meiryo UI" pitchFamily="34" charset="0"/>
                            <a:ea typeface="Meiryo UI" pitchFamily="34" charset="-122"/>
                            <a:cs typeface="Meiryo UI" pitchFamily="34" charset="-120"/>
                          </a:rPr>
                          <a:t>4 PB/システム、400 TB/マシン</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38328">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ボリューム</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algn="ctr" indent="0" marL="0">
                          <a:buNone/>
                        </a:pPr>
                        <a:r>
                          <a:rPr lang="en-US" sz="1000" dirty="0">
                            <a:solidFill>
                              <a:srgbClr val="000000"/>
                            </a:solidFill>
                            <a:latin typeface="Meiryo UI" pitchFamily="34" charset="0"/>
                            <a:ea typeface="Meiryo UI" pitchFamily="34" charset="-122"/>
                            <a:cs typeface="Meiryo UI" pitchFamily="34" charset="-120"/>
                          </a:rPr>
                          <a:t>64個/システム、64 TB/ボリューム</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338328">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論理プロセッサ</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000000"/>
                            </a:solidFill>
                            <a:latin typeface="Meiryo UI" pitchFamily="34" charset="0"/>
                            <a:ea typeface="Meiryo UI" pitchFamily="34" charset="-122"/>
                            <a:cs typeface="Meiryo UI" pitchFamily="34" charset="-120"/>
                          </a:rPr>
                          <a:t>512個/ホスト</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38328">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RAM</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algn="ctr" indent="0" marL="0">
                          <a:buNone/>
                        </a:pPr>
                        <a:r>
                          <a:rPr lang="en-US" sz="1000" dirty="0">
                            <a:solidFill>
                              <a:srgbClr val="000000"/>
                            </a:solidFill>
                            <a:latin typeface="Meiryo UI" pitchFamily="34" charset="0"/>
                            <a:ea typeface="Meiryo UI" pitchFamily="34" charset="-122"/>
                            <a:cs typeface="Meiryo UI" pitchFamily="34" charset="-120"/>
                          </a:rPr>
                          <a:t>24 TB/ホスト</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338328">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仮想プロセッサ</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000000"/>
                            </a:solidFill>
                            <a:latin typeface="Meiryo UI" pitchFamily="34" charset="0"/>
                            <a:ea typeface="Meiryo UI" pitchFamily="34" charset="-122"/>
                            <a:cs typeface="Meiryo UI" pitchFamily="34" charset="-120"/>
                          </a:rPr>
                          <a:t>2,048個/ホスト</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アーキテクチャとシステム要件</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4 / 10</a:t>
            </a:r>
            <a:endParaRPr lang="en-US" sz="900" dirty="0"/>
          </a:p>
        </p:txBody>
      </p:sp>
      <p:sp>
        <p:nvSpPr>
          <p:cNvPr id="5" name="Text 3"/>
          <p:cNvSpPr/>
          <p:nvPr/>
        </p:nvSpPr>
        <p:spPr>
          <a:xfrm>
            <a:off x="457200" y="1188720"/>
            <a:ext cx="5303520" cy="320040"/>
          </a:xfrm>
          <a:prstGeom prst="rect">
            <a:avLst/>
          </a:prstGeom>
          <a:noFill/>
          <a:ln/>
        </p:spPr>
        <p:txBody>
          <a:bodyPr wrap="square" rtlCol="0" anchor="ctr"/>
          <a:lstStyle/>
          <a:p>
            <a:pPr indent="0" marL="0">
              <a:buNone/>
            </a:pPr>
            <a:r>
              <a:rPr lang="en-US" sz="1300" b="1" dirty="0">
                <a:solidFill>
                  <a:srgbClr val="0078D4"/>
                </a:solidFill>
                <a:latin typeface="Meiryo UI" pitchFamily="34" charset="0"/>
                <a:ea typeface="Meiryo UI" pitchFamily="34" charset="-122"/>
                <a:cs typeface="Meiryo UI" pitchFamily="34" charset="-120"/>
              </a:rPr>
              <a:t>アーキテクチャ構成</a:t>
            </a:r>
            <a:endParaRPr lang="en-US" sz="1300" dirty="0"/>
          </a:p>
        </p:txBody>
      </p:sp>
      <p:sp>
        <p:nvSpPr>
          <p:cNvPr id="6" name="Shape 4"/>
          <p:cNvSpPr/>
          <p:nvPr/>
        </p:nvSpPr>
        <p:spPr>
          <a:xfrm>
            <a:off x="457200" y="1600200"/>
            <a:ext cx="5303520" cy="731520"/>
          </a:xfrm>
          <a:prstGeom prst="roundRect">
            <a:avLst>
              <a:gd name="adj" fmla="val 12500"/>
            </a:avLst>
          </a:prstGeom>
          <a:solidFill>
            <a:srgbClr val="0078D4"/>
          </a:solidFill>
          <a:ln/>
        </p:spPr>
      </p:sp>
      <p:sp>
        <p:nvSpPr>
          <p:cNvPr id="7" name="Text 5"/>
          <p:cNvSpPr/>
          <p:nvPr/>
        </p:nvSpPr>
        <p:spPr>
          <a:xfrm>
            <a:off x="457200" y="1600200"/>
            <a:ext cx="5303520" cy="731520"/>
          </a:xfrm>
          <a:prstGeom prst="rect">
            <a:avLst/>
          </a:prstGeom>
          <a:noFill/>
          <a:ln/>
        </p:spPr>
        <p:txBody>
          <a:bodyPr wrap="square" rtlCol="0" anchor="ctr"/>
          <a:lstStyle/>
          <a:p>
            <a:pPr algn="ctr" indent="0" marL="0">
              <a:buNone/>
            </a:pPr>
            <a:r>
              <a:rPr lang="en-US" sz="1150" b="1" dirty="0">
                <a:solidFill>
                  <a:srgbClr val="FFFFFF"/>
                </a:solidFill>
                <a:latin typeface="Meiryo UI" pitchFamily="34" charset="0"/>
                <a:ea typeface="Meiryo UI" pitchFamily="34" charset="-122"/>
                <a:cs typeface="Meiryo UI" pitchFamily="34" charset="-120"/>
              </a:rPr>
              <a:t>Azure クラウドサービス群</a:t>
            </a:r>
            <a:endParaRPr lang="en-US" sz="1150" dirty="0"/>
          </a:p>
        </p:txBody>
      </p:sp>
      <p:sp>
        <p:nvSpPr>
          <p:cNvPr id="8" name="Shape 6"/>
          <p:cNvSpPr/>
          <p:nvPr/>
        </p:nvSpPr>
        <p:spPr>
          <a:xfrm>
            <a:off x="457200" y="2468880"/>
            <a:ext cx="5303520" cy="731520"/>
          </a:xfrm>
          <a:prstGeom prst="roundRect">
            <a:avLst>
              <a:gd name="adj" fmla="val 12500"/>
            </a:avLst>
          </a:prstGeom>
          <a:solidFill>
            <a:srgbClr val="5C2D91"/>
          </a:solidFill>
          <a:ln/>
        </p:spPr>
      </p:sp>
      <p:sp>
        <p:nvSpPr>
          <p:cNvPr id="9" name="Text 7"/>
          <p:cNvSpPr/>
          <p:nvPr/>
        </p:nvSpPr>
        <p:spPr>
          <a:xfrm>
            <a:off x="457200" y="2468880"/>
            <a:ext cx="5303520" cy="731520"/>
          </a:xfrm>
          <a:prstGeom prst="rect">
            <a:avLst/>
          </a:prstGeom>
          <a:noFill/>
          <a:ln/>
        </p:spPr>
        <p:txBody>
          <a:bodyPr wrap="square" rtlCol="0" anchor="ctr"/>
          <a:lstStyle/>
          <a:p>
            <a:pPr algn="ctr" indent="0" marL="0">
              <a:buNone/>
            </a:pPr>
            <a:r>
              <a:rPr lang="en-US" sz="1150" b="1" dirty="0">
                <a:solidFill>
                  <a:srgbClr val="FFFFFF"/>
                </a:solidFill>
                <a:latin typeface="Meiryo UI" pitchFamily="34" charset="0"/>
                <a:ea typeface="Meiryo UI" pitchFamily="34" charset="-122"/>
                <a:cs typeface="Meiryo UI" pitchFamily="34" charset="-120"/>
              </a:rPr>
              <a:t>Azure Arc (統一管理プレーン)</a:t>
            </a:r>
            <a:endParaRPr lang="en-US" sz="1150" dirty="0"/>
          </a:p>
        </p:txBody>
      </p:sp>
      <p:sp>
        <p:nvSpPr>
          <p:cNvPr id="10" name="Shape 8"/>
          <p:cNvSpPr/>
          <p:nvPr/>
        </p:nvSpPr>
        <p:spPr>
          <a:xfrm>
            <a:off x="457200" y="3337560"/>
            <a:ext cx="5303520" cy="731520"/>
          </a:xfrm>
          <a:prstGeom prst="roundRect">
            <a:avLst>
              <a:gd name="adj" fmla="val 12500"/>
            </a:avLst>
          </a:prstGeom>
          <a:solidFill>
            <a:srgbClr val="107C10"/>
          </a:solidFill>
          <a:ln/>
        </p:spPr>
      </p:sp>
      <p:sp>
        <p:nvSpPr>
          <p:cNvPr id="11" name="Text 9"/>
          <p:cNvSpPr/>
          <p:nvPr/>
        </p:nvSpPr>
        <p:spPr>
          <a:xfrm>
            <a:off x="457200" y="3337560"/>
            <a:ext cx="5303520" cy="731520"/>
          </a:xfrm>
          <a:prstGeom prst="rect">
            <a:avLst/>
          </a:prstGeom>
          <a:noFill/>
          <a:ln/>
        </p:spPr>
        <p:txBody>
          <a:bodyPr wrap="square" rtlCol="0" anchor="ctr"/>
          <a:lstStyle/>
          <a:p>
            <a:pPr algn="ctr" indent="0" marL="0">
              <a:buNone/>
            </a:pPr>
            <a:r>
              <a:rPr lang="en-US" sz="1150" b="1" dirty="0">
                <a:solidFill>
                  <a:srgbClr val="FFFFFF"/>
                </a:solidFill>
                <a:latin typeface="Meiryo UI" pitchFamily="34" charset="0"/>
                <a:ea typeface="Meiryo UI" pitchFamily="34" charset="-122"/>
                <a:cs typeface="Meiryo UI" pitchFamily="34" charset="-120"/>
              </a:rPr>
              <a:t>HCI 基盤 (Hyper-V / S2D / FCI)</a:t>
            </a:r>
            <a:endParaRPr lang="en-US" sz="1150" dirty="0"/>
          </a:p>
        </p:txBody>
      </p:sp>
      <p:sp>
        <p:nvSpPr>
          <p:cNvPr id="12" name="Shape 10"/>
          <p:cNvSpPr/>
          <p:nvPr/>
        </p:nvSpPr>
        <p:spPr>
          <a:xfrm>
            <a:off x="457200" y="4206240"/>
            <a:ext cx="5303520" cy="731520"/>
          </a:xfrm>
          <a:prstGeom prst="roundRect">
            <a:avLst>
              <a:gd name="adj" fmla="val 12500"/>
            </a:avLst>
          </a:prstGeom>
          <a:solidFill>
            <a:srgbClr val="6B6B6B"/>
          </a:solidFill>
          <a:ln/>
        </p:spPr>
      </p:sp>
      <p:sp>
        <p:nvSpPr>
          <p:cNvPr id="13" name="Text 11"/>
          <p:cNvSpPr/>
          <p:nvPr/>
        </p:nvSpPr>
        <p:spPr>
          <a:xfrm>
            <a:off x="457200" y="4206240"/>
            <a:ext cx="5303520" cy="731520"/>
          </a:xfrm>
          <a:prstGeom prst="rect">
            <a:avLst/>
          </a:prstGeom>
          <a:noFill/>
          <a:ln/>
        </p:spPr>
        <p:txBody>
          <a:bodyPr wrap="square" rtlCol="0" anchor="ctr"/>
          <a:lstStyle/>
          <a:p>
            <a:pPr algn="ctr" indent="0" marL="0">
              <a:buNone/>
            </a:pPr>
            <a:r>
              <a:rPr lang="en-US" sz="1150" b="1" dirty="0">
                <a:solidFill>
                  <a:srgbClr val="FFFFFF"/>
                </a:solidFill>
                <a:latin typeface="Meiryo UI" pitchFamily="34" charset="0"/>
                <a:ea typeface="Meiryo UI" pitchFamily="34" charset="-122"/>
                <a:cs typeface="Meiryo UI" pitchFamily="34" charset="-120"/>
              </a:rPr>
              <a:t>物理サーバー (1〜16台)</a:t>
            </a:r>
            <a:endParaRPr lang="en-US" sz="1150" dirty="0"/>
          </a:p>
        </p:txBody>
      </p:sp>
      <p:sp>
        <p:nvSpPr>
          <p:cNvPr id="14" name="Text 12"/>
          <p:cNvSpPr/>
          <p:nvPr/>
        </p:nvSpPr>
        <p:spPr>
          <a:xfrm>
            <a:off x="2651760" y="2331720"/>
            <a:ext cx="914400" cy="182880"/>
          </a:xfrm>
          <a:prstGeom prst="rect">
            <a:avLst/>
          </a:prstGeom>
          <a:noFill/>
          <a:ln/>
        </p:spPr>
        <p:txBody>
          <a:bodyPr wrap="square" rtlCol="0" anchor="ctr"/>
          <a:lstStyle/>
          <a:p>
            <a:pPr algn="ctr" indent="0" marL="0">
              <a:buNone/>
            </a:pPr>
            <a:r>
              <a:rPr lang="en-US" sz="1200" dirty="0">
                <a:solidFill>
                  <a:srgbClr val="0078D4"/>
                </a:solidFill>
                <a:latin typeface="Meiryo UI" pitchFamily="34" charset="0"/>
                <a:ea typeface="Meiryo UI" pitchFamily="34" charset="-122"/>
                <a:cs typeface="Meiryo UI" pitchFamily="34" charset="-120"/>
              </a:rPr>
              <a:t>▲</a:t>
            </a:r>
            <a:endParaRPr lang="en-US" sz="1200" dirty="0"/>
          </a:p>
        </p:txBody>
      </p:sp>
      <p:sp>
        <p:nvSpPr>
          <p:cNvPr id="15" name="Text 13"/>
          <p:cNvSpPr/>
          <p:nvPr/>
        </p:nvSpPr>
        <p:spPr>
          <a:xfrm>
            <a:off x="2651760" y="3200400"/>
            <a:ext cx="914400" cy="182880"/>
          </a:xfrm>
          <a:prstGeom prst="rect">
            <a:avLst/>
          </a:prstGeom>
          <a:noFill/>
          <a:ln/>
        </p:spPr>
        <p:txBody>
          <a:bodyPr wrap="square" rtlCol="0" anchor="ctr"/>
          <a:lstStyle/>
          <a:p>
            <a:pPr algn="ctr" indent="0" marL="0">
              <a:buNone/>
            </a:pPr>
            <a:r>
              <a:rPr lang="en-US" sz="1200" dirty="0">
                <a:solidFill>
                  <a:srgbClr val="0078D4"/>
                </a:solidFill>
                <a:latin typeface="Meiryo UI" pitchFamily="34" charset="0"/>
                <a:ea typeface="Meiryo UI" pitchFamily="34" charset="-122"/>
                <a:cs typeface="Meiryo UI" pitchFamily="34" charset="-120"/>
              </a:rPr>
              <a:t>▲</a:t>
            </a:r>
            <a:endParaRPr lang="en-US" sz="1200" dirty="0"/>
          </a:p>
        </p:txBody>
      </p:sp>
      <p:sp>
        <p:nvSpPr>
          <p:cNvPr id="16" name="Text 14"/>
          <p:cNvSpPr/>
          <p:nvPr/>
        </p:nvSpPr>
        <p:spPr>
          <a:xfrm>
            <a:off x="2651760" y="4069080"/>
            <a:ext cx="914400" cy="182880"/>
          </a:xfrm>
          <a:prstGeom prst="rect">
            <a:avLst/>
          </a:prstGeom>
          <a:noFill/>
          <a:ln/>
        </p:spPr>
        <p:txBody>
          <a:bodyPr wrap="square" rtlCol="0" anchor="ctr"/>
          <a:lstStyle/>
          <a:p>
            <a:pPr algn="ctr" indent="0" marL="0">
              <a:buNone/>
            </a:pPr>
            <a:r>
              <a:rPr lang="en-US" sz="1200" dirty="0">
                <a:solidFill>
                  <a:srgbClr val="0078D4"/>
                </a:solidFill>
                <a:latin typeface="Meiryo UI" pitchFamily="34" charset="0"/>
                <a:ea typeface="Meiryo UI" pitchFamily="34" charset="-122"/>
                <a:cs typeface="Meiryo UI" pitchFamily="34" charset="-120"/>
              </a:rPr>
              <a:t>▲</a:t>
            </a:r>
            <a:endParaRPr lang="en-US" sz="1200" dirty="0"/>
          </a:p>
        </p:txBody>
      </p:sp>
      <p:sp>
        <p:nvSpPr>
          <p:cNvPr id="17" name="Text 15"/>
          <p:cNvSpPr/>
          <p:nvPr/>
        </p:nvSpPr>
        <p:spPr>
          <a:xfrm>
            <a:off x="457200" y="5120640"/>
            <a:ext cx="5303520" cy="731520"/>
          </a:xfrm>
          <a:prstGeom prst="rect">
            <a:avLst/>
          </a:prstGeom>
          <a:noFill/>
          <a:ln/>
        </p:spPr>
        <p:txBody>
          <a:bodyPr wrap="square" rtlCol="0" anchor="t"/>
          <a:lstStyle/>
          <a:p>
            <a:pPr indent="0" marL="0">
              <a:lnSpc>
                <a:spcPct val="130000"/>
              </a:lnSpc>
              <a:buNone/>
            </a:pPr>
            <a:r>
              <a:rPr lang="en-US" sz="1000" dirty="0">
                <a:solidFill>
                  <a:srgbClr val="333333"/>
                </a:solidFill>
                <a:latin typeface="Meiryo UI" pitchFamily="34" charset="0"/>
                <a:ea typeface="Meiryo UI" pitchFamily="34" charset="-122"/>
                <a:cs typeface="Meiryo UI" pitchFamily="34" charset="-120"/>
              </a:rPr>
              <a:t>● Azure Local (コンピュート・ストレージ)
</a:t>
            </a:r>
            <a:pPr indent="0" marL="0">
              <a:lnSpc>
                <a:spcPct val="130000"/>
              </a:lnSpc>
              <a:buNone/>
            </a:pPr>
            <a:r>
              <a:rPr lang="en-US" sz="1000" dirty="0">
                <a:solidFill>
                  <a:srgbClr val="333333"/>
                </a:solidFill>
                <a:latin typeface="Meiryo UI" pitchFamily="34" charset="0"/>
                <a:ea typeface="Meiryo UI" pitchFamily="34" charset="-122"/>
                <a:cs typeface="Meiryo UI" pitchFamily="34" charset="-120"/>
              </a:rPr>
              <a:t>● Azure Key Vault / Monitor / Defender for Cloud</a:t>
            </a:r>
            <a:endParaRPr lang="en-US" sz="1000" dirty="0"/>
          </a:p>
        </p:txBody>
      </p:sp>
      <p:sp>
        <p:nvSpPr>
          <p:cNvPr id="18" name="Shape 16"/>
          <p:cNvSpPr/>
          <p:nvPr/>
        </p:nvSpPr>
        <p:spPr>
          <a:xfrm>
            <a:off x="6126480" y="1188720"/>
            <a:ext cx="5577840" cy="1645920"/>
          </a:xfrm>
          <a:prstGeom prst="roundRect">
            <a:avLst>
              <a:gd name="adj" fmla="val 5556"/>
            </a:avLst>
          </a:prstGeom>
          <a:solidFill>
            <a:srgbClr val="DEECF9"/>
          </a:solidFill>
          <a:ln/>
        </p:spPr>
      </p:sp>
      <p:sp>
        <p:nvSpPr>
          <p:cNvPr id="19" name="Text 17"/>
          <p:cNvSpPr/>
          <p:nvPr/>
        </p:nvSpPr>
        <p:spPr>
          <a:xfrm>
            <a:off x="6309360" y="1234440"/>
            <a:ext cx="5212080" cy="320040"/>
          </a:xfrm>
          <a:prstGeom prst="rect">
            <a:avLst/>
          </a:prstGeom>
          <a:noFill/>
          <a:ln/>
        </p:spPr>
        <p:txBody>
          <a:bodyPr wrap="square" rtlCol="0" anchor="ctr"/>
          <a:lstStyle/>
          <a:p>
            <a:pPr indent="0" marL="0">
              <a:buNone/>
            </a:pPr>
            <a:r>
              <a:rPr lang="en-US" sz="1300" b="1" dirty="0">
                <a:solidFill>
                  <a:srgbClr val="0078D4"/>
                </a:solidFill>
                <a:latin typeface="Meiryo UI" pitchFamily="34" charset="0"/>
                <a:ea typeface="Meiryo UI" pitchFamily="34" charset="-122"/>
                <a:cs typeface="Meiryo UI" pitchFamily="34" charset="-120"/>
              </a:rPr>
              <a:t>Azure / ネットワーク要件</a:t>
            </a:r>
            <a:endParaRPr lang="en-US" sz="1300" dirty="0"/>
          </a:p>
        </p:txBody>
      </p:sp>
      <p:sp>
        <p:nvSpPr>
          <p:cNvPr id="20" name="Text 18"/>
          <p:cNvSpPr/>
          <p:nvPr/>
        </p:nvSpPr>
        <p:spPr>
          <a:xfrm>
            <a:off x="6309360" y="1554480"/>
            <a:ext cx="5212080" cy="1188720"/>
          </a:xfrm>
          <a:prstGeom prst="rect">
            <a:avLst/>
          </a:prstGeom>
          <a:noFill/>
          <a:ln/>
        </p:spPr>
        <p:txBody>
          <a:bodyPr wrap="square" rtlCol="0" anchor="t"/>
          <a:lstStyle/>
          <a:p>
            <a:pPr indent="0" marL="0">
              <a:lnSpc>
                <a:spcPct val="120000"/>
              </a:lnSpc>
              <a:buNone/>
            </a:pPr>
            <a:r>
              <a:rPr lang="en-US" sz="1050" dirty="0">
                <a:solidFill>
                  <a:srgbClr val="333333"/>
                </a:solidFill>
                <a:latin typeface="Meiryo UI" pitchFamily="34" charset="0"/>
                <a:ea typeface="Meiryo UI" pitchFamily="34" charset="-122"/>
                <a:cs typeface="Meiryo UI" pitchFamily="34" charset="-120"/>
              </a:rPr>
              <a:t>• Azure サブスクリプション（EA / CSP / Pay-as-you-go 等）が必要です
</a:t>
            </a:r>
            <a:pPr indent="0" marL="0">
              <a:lnSpc>
                <a:spcPct val="120000"/>
              </a:lnSpc>
              <a:buNone/>
            </a:pPr>
            <a:r>
              <a:rPr lang="en-US" sz="1050" dirty="0">
                <a:solidFill>
                  <a:srgbClr val="333333"/>
                </a:solidFill>
                <a:latin typeface="Meiryo UI" pitchFamily="34" charset="0"/>
                <a:ea typeface="Meiryo UI" pitchFamily="34" charset="-122"/>
                <a:cs typeface="Meiryo UI" pitchFamily="34" charset="-120"/>
              </a:rPr>
              <a:t>• 対応リージョン: East US、West Europe、Japan East 等に対応しています
</a:t>
            </a:r>
            <a:pPr indent="0" marL="0">
              <a:lnSpc>
                <a:spcPct val="120000"/>
              </a:lnSpc>
              <a:buNone/>
            </a:pPr>
            <a:r>
              <a:rPr lang="en-US" sz="1050" dirty="0">
                <a:solidFill>
                  <a:srgbClr val="333333"/>
                </a:solidFill>
                <a:latin typeface="Meiryo UI" pitchFamily="34" charset="0"/>
                <a:ea typeface="Meiryo UI" pitchFamily="34" charset="-122"/>
                <a:cs typeface="Meiryo UI" pitchFamily="34" charset="-120"/>
              </a:rPr>
              <a:t>• ネットワーク: Azure への接続が必要です（最低 10 Mbit）</a:t>
            </a:r>
            <a:endParaRPr lang="en-US" sz="1050" dirty="0"/>
          </a:p>
        </p:txBody>
      </p:sp>
      <p:sp>
        <p:nvSpPr>
          <p:cNvPr id="21" name="Text 19"/>
          <p:cNvSpPr/>
          <p:nvPr/>
        </p:nvSpPr>
        <p:spPr>
          <a:xfrm>
            <a:off x="6126480" y="3017520"/>
            <a:ext cx="5577840" cy="320040"/>
          </a:xfrm>
          <a:prstGeom prst="rect">
            <a:avLst/>
          </a:prstGeom>
          <a:noFill/>
          <a:ln/>
        </p:spPr>
        <p:txBody>
          <a:bodyPr wrap="square" rtlCol="0" anchor="ctr"/>
          <a:lstStyle/>
          <a:p>
            <a:pPr indent="0" marL="0">
              <a:buNone/>
            </a:pPr>
            <a:r>
              <a:rPr lang="en-US" sz="1300" b="1" dirty="0">
                <a:solidFill>
                  <a:srgbClr val="0078D4"/>
                </a:solidFill>
                <a:latin typeface="Meiryo UI" pitchFamily="34" charset="0"/>
                <a:ea typeface="Meiryo UI" pitchFamily="34" charset="-122"/>
                <a:cs typeface="Meiryo UI" pitchFamily="34" charset="-120"/>
              </a:rPr>
              <a:t>最大ハードウェア仕様</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126480" y="3383280"/>
          <a:ext cx="5577840" cy="914400"/>
        </p:xfrm>
        <a:graphic>
          <a:graphicData uri="http://schemas.openxmlformats.org/drawingml/2006/table">
            <a:tbl>
              <a:tblPr/>
              <a:tblGrid>
                <a:gridCol w="2788920"/>
                <a:gridCol w="2788920"/>
              </a:tblGrid>
              <a:tr h="338328">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項目</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最大値</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r>
              <a:tr h="338328">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物理マシン数</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algn="ctr" indent="0" marL="0">
                        <a:buNone/>
                      </a:pPr>
                      <a:r>
                        <a:rPr lang="en-US" sz="1000" dirty="0">
                          <a:solidFill>
                            <a:srgbClr val="000000"/>
                          </a:solidFill>
                          <a:latin typeface="Meiryo UI" pitchFamily="34" charset="0"/>
                          <a:ea typeface="Meiryo UI" pitchFamily="34" charset="-122"/>
                          <a:cs typeface="Meiryo UI" pitchFamily="34" charset="-120"/>
                        </a:rPr>
                        <a:t>16台/システム</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338328">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ストレージ</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000000"/>
                          </a:solidFill>
                          <a:latin typeface="Meiryo UI" pitchFamily="34" charset="0"/>
                          <a:ea typeface="Meiryo UI" pitchFamily="34" charset="-122"/>
                          <a:cs typeface="Meiryo UI" pitchFamily="34" charset="-120"/>
                        </a:rPr>
                        <a:t>4 PB/システム、400 TB/マシン</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38328">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ボリューム</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algn="ctr" indent="0" marL="0">
                        <a:buNone/>
                      </a:pPr>
                      <a:r>
                        <a:rPr lang="en-US" sz="1000" dirty="0">
                          <a:solidFill>
                            <a:srgbClr val="000000"/>
                          </a:solidFill>
                          <a:latin typeface="Meiryo UI" pitchFamily="34" charset="0"/>
                          <a:ea typeface="Meiryo UI" pitchFamily="34" charset="-122"/>
                          <a:cs typeface="Meiryo UI" pitchFamily="34" charset="-120"/>
                        </a:rPr>
                        <a:t>64個/システム、64 TB/ボリューム</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338328">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論理プロセッサ</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000000"/>
                          </a:solidFill>
                          <a:latin typeface="Meiryo UI" pitchFamily="34" charset="0"/>
                          <a:ea typeface="Meiryo UI" pitchFamily="34" charset="-122"/>
                          <a:cs typeface="Meiryo UI" pitchFamily="34" charset="-120"/>
                        </a:rPr>
                        <a:t>512個/ホスト</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38328">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RAM</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algn="ctr" indent="0" marL="0">
                        <a:buNone/>
                      </a:pPr>
                      <a:r>
                        <a:rPr lang="en-US" sz="1000" dirty="0">
                          <a:solidFill>
                            <a:srgbClr val="000000"/>
                          </a:solidFill>
                          <a:latin typeface="Meiryo UI" pitchFamily="34" charset="0"/>
                          <a:ea typeface="Meiryo UI" pitchFamily="34" charset="-122"/>
                          <a:cs typeface="Meiryo UI" pitchFamily="34" charset="-120"/>
                        </a:rPr>
                        <a:t>24 TB/ホスト</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338328">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仮想プロセッサ</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000000"/>
                          </a:solidFill>
                          <a:latin typeface="Meiryo UI" pitchFamily="34" charset="0"/>
                          <a:ea typeface="Meiryo UI" pitchFamily="34" charset="-122"/>
                          <a:cs typeface="Meiryo UI" pitchFamily="34" charset="-120"/>
                        </a:rPr>
                        <a:t>2,048個/ホスト</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ワークロード管理機能</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5 / 10</a:t>
              </a:r>
              <a:endParaRPr lang="en-US" sz="900" dirty="0"/>
            </a:p>
          </p:txBody>
        </p:sp>
        <p:sp>
          <p:nvSpPr>
            <p:cNvPr id="5" name="Shape 3"/>
            <p:cNvSpPr/>
            <p:nvPr/>
          </p:nvSpPr>
          <p:spPr>
            <a:xfrm>
              <a:off x="457200" y="1280160"/>
              <a:ext cx="3474720" cy="4754880"/>
            </a:xfrm>
            <a:prstGeom prst="roundRect">
              <a:avLst>
                <a:gd name="adj" fmla="val 3947"/>
              </a:avLst>
            </a:prstGeom>
            <a:solidFill>
              <a:srgbClr val="F3F2F1"/>
            </a:solidFill>
            <a:ln w="25400">
              <a:solidFill>
                <a:srgbClr val="0078D4"/>
              </a:solidFill>
              <a:prstDash val="solid"/>
            </a:ln>
          </p:spPr>
        </p:sp>
        <p:sp>
          <p:nvSpPr>
            <p:cNvPr id="6" name="Shape 4"/>
            <p:cNvSpPr/>
            <p:nvPr/>
          </p:nvSpPr>
          <p:spPr>
            <a:xfrm>
              <a:off x="457200" y="1280160"/>
              <a:ext cx="3474720" cy="822960"/>
            </a:xfrm>
            <a:prstGeom prst="roundRect">
              <a:avLst>
                <a:gd name="adj" fmla="val 16667"/>
              </a:avLst>
            </a:prstGeom>
            <a:solidFill>
              <a:srgbClr val="0078D4"/>
            </a:solidFill>
            <a:ln/>
          </p:spPr>
        </p:sp>
        <p:sp>
          <p:nvSpPr>
            <p:cNvPr id="7" name="Shape 5"/>
            <p:cNvSpPr/>
            <p:nvPr/>
          </p:nvSpPr>
          <p:spPr>
            <a:xfrm>
              <a:off x="457200" y="1828800"/>
              <a:ext cx="3474720" cy="320040"/>
            </a:xfrm>
            <a:prstGeom prst="rect">
              <a:avLst/>
            </a:prstGeom>
            <a:solidFill>
              <a:srgbClr val="0078D4"/>
            </a:solidFill>
            <a:ln/>
          </p:spPr>
        </p:sp>
        <p:sp>
          <p:nvSpPr>
            <p:cNvPr id="8" name="Text 6"/>
            <p:cNvSpPr/>
            <p:nvPr/>
          </p:nvSpPr>
          <p:spPr>
            <a:xfrm>
              <a:off x="457200" y="1280160"/>
              <a:ext cx="3474720" cy="82296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Azure Local VM 管理</a:t>
              </a:r>
              <a:endParaRPr lang="en-US" sz="1400" dirty="0"/>
            </a:p>
          </p:txBody>
        </p:sp>
        <p:sp>
          <p:nvSpPr>
            <p:cNvPr id="9" name="Text 7"/>
            <p:cNvSpPr/>
            <p:nvPr/>
          </p:nvSpPr>
          <p:spPr>
            <a:xfrm>
              <a:off x="594360" y="2286000"/>
              <a:ext cx="3200400" cy="3566160"/>
            </a:xfrm>
            <a:prstGeom prst="rect">
              <a:avLst/>
            </a:prstGeom>
            <a:noFill/>
            <a:ln/>
          </p:spPr>
          <p:txBody>
            <a:bodyPr wrap="square" rtlCol="0" anchor="t"/>
            <a:lstStyle/>
            <a:p>
              <a:pPr marL="342900" indent="-342900">
                <a:lnSpc>
                  <a:spcPct val="140000"/>
                </a:lnSpc>
                <a:buSzPct val="100000"/>
                <a:buChar char="•"/>
              </a:pPr>
              <a:r>
                <a:rPr lang="en-US" sz="1050" dirty="0">
                  <a:solidFill>
                    <a:srgbClr val="333333"/>
                  </a:solidFill>
                  <a:latin typeface="Meiryo UI" pitchFamily="34" charset="0"/>
                  <a:ea typeface="Meiryo UI" pitchFamily="34" charset="-122"/>
                  <a:cs typeface="Meiryo UI" pitchFamily="34" charset="-120"/>
                </a:rPr>
                <a:t>Windows/Linux VM のプロビジョニングと管理ができます</a:t>
              </a:r>
              <a:endParaRPr lang="en-US" sz="1050" dirty="0"/>
            </a:p>
            <a:p>
              <a:pPr marL="342900" indent="-342900">
                <a:lnSpc>
                  <a:spcPct val="140000"/>
                </a:lnSpc>
                <a:buSzPct val="100000"/>
                <a:buChar char="•"/>
              </a:pPr>
              <a:r>
                <a:rPr lang="en-US" sz="1050" dirty="0">
                  <a:solidFill>
                    <a:srgbClr val="333333"/>
                  </a:solidFill>
                  <a:latin typeface="Meiryo UI" pitchFamily="34" charset="0"/>
                  <a:ea typeface="Meiryo UI" pitchFamily="34" charset="-122"/>
                  <a:cs typeface="Meiryo UI" pitchFamily="34" charset="-120"/>
                </a:rPr>
                <a:t>Azure Portal、CLI、PowerShell、ARM テンプレートから操作が可能です</a:t>
              </a:r>
              <a:endParaRPr lang="en-US" sz="1050" dirty="0"/>
            </a:p>
            <a:p>
              <a:pPr marL="342900" indent="-342900">
                <a:lnSpc>
                  <a:spcPct val="140000"/>
                </a:lnSpc>
                <a:buSzPct val="100000"/>
                <a:buChar char="•"/>
              </a:pPr>
              <a:r>
                <a:rPr lang="en-US" sz="1050" dirty="0">
                  <a:solidFill>
                    <a:srgbClr val="333333"/>
                  </a:solidFill>
                  <a:latin typeface="Meiryo UI" pitchFamily="34" charset="0"/>
                  <a:ea typeface="Meiryo UI" pitchFamily="34" charset="-122"/>
                  <a:cs typeface="Meiryo UI" pitchFamily="34" charset="-120"/>
                </a:rPr>
                <a:t>VM ライフサイクル操作（作成・起動・停止・削除・リサイズ等）に対応しています</a:t>
              </a:r>
              <a:endParaRPr lang="en-US" sz="1050" dirty="0"/>
            </a:p>
            <a:p>
              <a:pPr marL="342900" indent="-342900">
                <a:lnSpc>
                  <a:spcPct val="140000"/>
                </a:lnSpc>
                <a:buSzPct val="100000"/>
                <a:buChar char="•"/>
              </a:pPr>
              <a:r>
                <a:rPr lang="en-US" sz="1050" dirty="0">
                  <a:solidFill>
                    <a:srgbClr val="333333"/>
                  </a:solidFill>
                  <a:latin typeface="Meiryo UI" pitchFamily="34" charset="0"/>
                  <a:ea typeface="Meiryo UI" pitchFamily="34" charset="-122"/>
                  <a:cs typeface="Meiryo UI" pitchFamily="34" charset="-120"/>
                </a:rPr>
                <a:t>RBAC による役割ベースのアクセス制御を提供しています</a:t>
              </a:r>
              <a:endParaRPr lang="en-US" sz="1050" dirty="0"/>
            </a:p>
          </p:txBody>
        </p:sp>
        <p:sp>
          <p:nvSpPr>
            <p:cNvPr id="10" name="Shape 8"/>
            <p:cNvSpPr/>
            <p:nvPr/>
          </p:nvSpPr>
          <p:spPr>
            <a:xfrm>
              <a:off x="4206240" y="1280160"/>
              <a:ext cx="3474720" cy="4754880"/>
            </a:xfrm>
            <a:prstGeom prst="roundRect">
              <a:avLst>
                <a:gd name="adj" fmla="val 3947"/>
              </a:avLst>
            </a:prstGeom>
            <a:solidFill>
              <a:srgbClr val="F3F2F1"/>
            </a:solidFill>
            <a:ln w="25400">
              <a:solidFill>
                <a:srgbClr val="107C10"/>
              </a:solidFill>
              <a:prstDash val="solid"/>
            </a:ln>
          </p:spPr>
        </p:sp>
        <p:sp>
          <p:nvSpPr>
            <p:cNvPr id="11" name="Shape 9"/>
            <p:cNvSpPr/>
            <p:nvPr/>
          </p:nvSpPr>
          <p:spPr>
            <a:xfrm>
              <a:off x="4206240" y="1280160"/>
              <a:ext cx="3474720" cy="822960"/>
            </a:xfrm>
            <a:prstGeom prst="roundRect">
              <a:avLst>
                <a:gd name="adj" fmla="val 16667"/>
              </a:avLst>
            </a:prstGeom>
            <a:solidFill>
              <a:srgbClr val="107C10"/>
            </a:solidFill>
            <a:ln/>
          </p:spPr>
        </p:sp>
        <p:sp>
          <p:nvSpPr>
            <p:cNvPr id="12" name="Shape 10"/>
            <p:cNvSpPr/>
            <p:nvPr/>
          </p:nvSpPr>
          <p:spPr>
            <a:xfrm>
              <a:off x="4206240" y="1828800"/>
              <a:ext cx="3474720" cy="320040"/>
            </a:xfrm>
            <a:prstGeom prst="rect">
              <a:avLst/>
            </a:prstGeom>
            <a:solidFill>
              <a:srgbClr val="107C10"/>
            </a:solidFill>
            <a:ln/>
          </p:spPr>
        </p:sp>
        <p:sp>
          <p:nvSpPr>
            <p:cNvPr id="13" name="Text 11"/>
            <p:cNvSpPr/>
            <p:nvPr/>
          </p:nvSpPr>
          <p:spPr>
            <a:xfrm>
              <a:off x="4206240" y="1280160"/>
              <a:ext cx="3474720" cy="82296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AKS on Azure Local</a:t>
              </a:r>
              <a:endParaRPr lang="en-US" sz="1400" dirty="0"/>
            </a:p>
          </p:txBody>
        </p:sp>
        <p:sp>
          <p:nvSpPr>
            <p:cNvPr id="14" name="Text 12"/>
            <p:cNvSpPr/>
            <p:nvPr/>
          </p:nvSpPr>
          <p:spPr>
            <a:xfrm>
              <a:off x="4343400" y="2286000"/>
              <a:ext cx="3200400" cy="3566160"/>
            </a:xfrm>
            <a:prstGeom prst="rect">
              <a:avLst/>
            </a:prstGeom>
            <a:noFill/>
            <a:ln/>
          </p:spPr>
          <p:txBody>
            <a:bodyPr wrap="square" rtlCol="0" anchor="t"/>
            <a:lstStyle/>
            <a:p>
              <a:pPr marL="342900" indent="-342900">
                <a:lnSpc>
                  <a:spcPct val="140000"/>
                </a:lnSpc>
                <a:buSzPct val="100000"/>
                <a:buChar char="•"/>
              </a:pPr>
              <a:r>
                <a:rPr lang="en-US" sz="1050" dirty="0">
                  <a:solidFill>
                    <a:srgbClr val="333333"/>
                  </a:solidFill>
                  <a:latin typeface="Meiryo UI" pitchFamily="34" charset="0"/>
                  <a:ea typeface="Meiryo UI" pitchFamily="34" charset="-122"/>
                  <a:cs typeface="Meiryo UI" pitchFamily="34" charset="-120"/>
                </a:rPr>
                <a:t>Azure Arc 対応の Azure Kubernetes Service を展開できます</a:t>
              </a:r>
              <a:endParaRPr lang="en-US" sz="1050" dirty="0"/>
            </a:p>
            <a:p>
              <a:pPr marL="342900" indent="-342900">
                <a:lnSpc>
                  <a:spcPct val="140000"/>
                </a:lnSpc>
                <a:buSzPct val="100000"/>
                <a:buChar char="•"/>
              </a:pPr>
              <a:r>
                <a:rPr lang="en-US" sz="1050" dirty="0">
                  <a:solidFill>
                    <a:srgbClr val="333333"/>
                  </a:solidFill>
                  <a:latin typeface="Meiryo UI" pitchFamily="34" charset="0"/>
                  <a:ea typeface="Meiryo UI" pitchFamily="34" charset="-122"/>
                  <a:cs typeface="Meiryo UI" pitchFamily="34" charset="-120"/>
                </a:rPr>
                <a:t>Azure Portal から直接 Kubernetes クラスタの作成・管理が可能です</a:t>
              </a:r>
              <a:endParaRPr lang="en-US" sz="1050" dirty="0"/>
            </a:p>
            <a:p>
              <a:pPr marL="342900" indent="-342900">
                <a:lnSpc>
                  <a:spcPct val="140000"/>
                </a:lnSpc>
                <a:buSzPct val="100000"/>
                <a:buChar char="•"/>
              </a:pPr>
              <a:r>
                <a:rPr lang="en-US" sz="1050" dirty="0">
                  <a:solidFill>
                    <a:srgbClr val="333333"/>
                  </a:solidFill>
                  <a:latin typeface="Meiryo UI" pitchFamily="34" charset="0"/>
                  <a:ea typeface="Meiryo UI" pitchFamily="34" charset="-122"/>
                  <a:cs typeface="Meiryo UI" pitchFamily="34" charset="-120"/>
                </a:rPr>
                <a:t>コンテナ化されたアプリケーションのスケーリングに対応しています</a:t>
              </a:r>
              <a:endParaRPr lang="en-US" sz="1050" dirty="0"/>
            </a:p>
          </p:txBody>
        </p:sp>
        <p:sp>
          <p:nvSpPr>
            <p:cNvPr id="15" name="Shape 13"/>
            <p:cNvSpPr/>
            <p:nvPr/>
          </p:nvSpPr>
          <p:spPr>
            <a:xfrm>
              <a:off x="7955280" y="1280160"/>
              <a:ext cx="3474720" cy="4754880"/>
            </a:xfrm>
            <a:prstGeom prst="roundRect">
              <a:avLst>
                <a:gd name="adj" fmla="val 3947"/>
              </a:avLst>
            </a:prstGeom>
            <a:solidFill>
              <a:srgbClr val="F3F2F1"/>
            </a:solidFill>
            <a:ln w="25400">
              <a:solidFill>
                <a:srgbClr val="5C2D91"/>
              </a:solidFill>
              <a:prstDash val="solid"/>
            </a:ln>
          </p:spPr>
        </p:sp>
        <p:sp>
          <p:nvSpPr>
            <p:cNvPr id="16" name="Shape 14"/>
            <p:cNvSpPr/>
            <p:nvPr/>
          </p:nvSpPr>
          <p:spPr>
            <a:xfrm>
              <a:off x="7955280" y="1280160"/>
              <a:ext cx="3474720" cy="822960"/>
            </a:xfrm>
            <a:prstGeom prst="roundRect">
              <a:avLst>
                <a:gd name="adj" fmla="val 16667"/>
              </a:avLst>
            </a:prstGeom>
            <a:solidFill>
              <a:srgbClr val="5C2D91"/>
            </a:solidFill>
            <a:ln/>
          </p:spPr>
        </p:sp>
        <p:sp>
          <p:nvSpPr>
            <p:cNvPr id="17" name="Shape 15"/>
            <p:cNvSpPr/>
            <p:nvPr/>
          </p:nvSpPr>
          <p:spPr>
            <a:xfrm>
              <a:off x="7955280" y="1828800"/>
              <a:ext cx="3474720" cy="320040"/>
            </a:xfrm>
            <a:prstGeom prst="rect">
              <a:avLst/>
            </a:prstGeom>
            <a:solidFill>
              <a:srgbClr val="5C2D91"/>
            </a:solidFill>
            <a:ln/>
          </p:spPr>
        </p:sp>
        <p:sp>
          <p:nvSpPr>
            <p:cNvPr id="18" name="Text 16"/>
            <p:cNvSpPr/>
            <p:nvPr/>
          </p:nvSpPr>
          <p:spPr>
            <a:xfrm>
              <a:off x="7955280" y="1280160"/>
              <a:ext cx="3474720" cy="82296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Azure Virtual Desktop</a:t>
              </a:r>
              <a:endParaRPr lang="en-US" sz="1400" dirty="0"/>
            </a:p>
          </p:txBody>
        </p:sp>
        <p:sp>
          <p:nvSpPr>
            <p:cNvPr id="19" name="Text 17"/>
            <p:cNvSpPr/>
            <p:nvPr/>
          </p:nvSpPr>
          <p:spPr>
            <a:xfrm>
              <a:off x="8092440" y="2286000"/>
              <a:ext cx="3200400" cy="3566160"/>
            </a:xfrm>
            <a:prstGeom prst="rect">
              <a:avLst/>
            </a:prstGeom>
            <a:noFill/>
            <a:ln/>
          </p:spPr>
          <p:txBody>
            <a:bodyPr wrap="square" rtlCol="0" anchor="t"/>
            <a:lstStyle/>
            <a:p>
              <a:pPr marL="342900" indent="-342900">
                <a:lnSpc>
                  <a:spcPct val="140000"/>
                </a:lnSpc>
                <a:buSzPct val="100000"/>
                <a:buChar char="•"/>
              </a:pPr>
              <a:r>
                <a:rPr lang="en-US" sz="1050" dirty="0">
                  <a:solidFill>
                    <a:srgbClr val="333333"/>
                  </a:solidFill>
                  <a:latin typeface="Meiryo UI" pitchFamily="34" charset="0"/>
                  <a:ea typeface="Meiryo UI" pitchFamily="34" charset="-122"/>
                  <a:cs typeface="Meiryo UI" pitchFamily="34" charset="-120"/>
                </a:rPr>
                <a:t>オンプレミスインフラにセッションホストを展開できます</a:t>
              </a:r>
              <a:endParaRPr lang="en-US" sz="1050" dirty="0"/>
            </a:p>
            <a:p>
              <a:pPr marL="342900" indent="-342900">
                <a:lnSpc>
                  <a:spcPct val="140000"/>
                </a:lnSpc>
                <a:buSzPct val="100000"/>
                <a:buChar char="•"/>
              </a:pPr>
              <a:r>
                <a:rPr lang="en-US" sz="1050" dirty="0">
                  <a:solidFill>
                    <a:srgbClr val="333333"/>
                  </a:solidFill>
                  <a:latin typeface="Meiryo UI" pitchFamily="34" charset="0"/>
                  <a:ea typeface="Meiryo UI" pitchFamily="34" charset="-122"/>
                  <a:cs typeface="Meiryo UI" pitchFamily="34" charset="-120"/>
                </a:rPr>
                <a:t>シングルセッション・マルチセッション構成を選択できます</a:t>
              </a:r>
              <a:endParaRPr lang="en-US" sz="1050" dirty="0"/>
            </a:p>
          </p:txBody>
        </p:sp>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ワークロード管理機能</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5 / 10</a:t>
            </a:r>
            <a:endParaRPr lang="en-US" sz="900" dirty="0"/>
          </a:p>
        </p:txBody>
      </p:sp>
      <p:sp>
        <p:nvSpPr>
          <p:cNvPr id="5" name="Shape 3"/>
          <p:cNvSpPr/>
          <p:nvPr/>
        </p:nvSpPr>
        <p:spPr>
          <a:xfrm>
            <a:off x="457200" y="1280160"/>
            <a:ext cx="3474720" cy="4754880"/>
          </a:xfrm>
          <a:prstGeom prst="roundRect">
            <a:avLst>
              <a:gd name="adj" fmla="val 3947"/>
            </a:avLst>
          </a:prstGeom>
          <a:solidFill>
            <a:srgbClr val="F3F2F1"/>
          </a:solidFill>
          <a:ln w="25400">
            <a:solidFill>
              <a:srgbClr val="0078D4"/>
            </a:solidFill>
            <a:prstDash val="solid"/>
          </a:ln>
        </p:spPr>
      </p:sp>
      <p:sp>
        <p:nvSpPr>
          <p:cNvPr id="6" name="Shape 4"/>
          <p:cNvSpPr/>
          <p:nvPr/>
        </p:nvSpPr>
        <p:spPr>
          <a:xfrm>
            <a:off x="457200" y="1280160"/>
            <a:ext cx="3474720" cy="822960"/>
          </a:xfrm>
          <a:prstGeom prst="roundRect">
            <a:avLst>
              <a:gd name="adj" fmla="val 16667"/>
            </a:avLst>
          </a:prstGeom>
          <a:solidFill>
            <a:srgbClr val="0078D4"/>
          </a:solidFill>
          <a:ln/>
        </p:spPr>
      </p:sp>
      <p:sp>
        <p:nvSpPr>
          <p:cNvPr id="7" name="Shape 5"/>
          <p:cNvSpPr/>
          <p:nvPr/>
        </p:nvSpPr>
        <p:spPr>
          <a:xfrm>
            <a:off x="457200" y="1828800"/>
            <a:ext cx="3474720" cy="320040"/>
          </a:xfrm>
          <a:prstGeom prst="rect">
            <a:avLst/>
          </a:prstGeom>
          <a:solidFill>
            <a:srgbClr val="0078D4"/>
          </a:solidFill>
          <a:ln/>
        </p:spPr>
      </p:sp>
      <p:sp>
        <p:nvSpPr>
          <p:cNvPr id="8" name="Text 6"/>
          <p:cNvSpPr/>
          <p:nvPr/>
        </p:nvSpPr>
        <p:spPr>
          <a:xfrm>
            <a:off x="457200" y="1280160"/>
            <a:ext cx="3474720" cy="82296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Azure Local VM 管理</a:t>
            </a:r>
            <a:endParaRPr lang="en-US" sz="1400" dirty="0"/>
          </a:p>
        </p:txBody>
      </p:sp>
      <p:sp>
        <p:nvSpPr>
          <p:cNvPr id="9" name="Text 7"/>
          <p:cNvSpPr/>
          <p:nvPr/>
        </p:nvSpPr>
        <p:spPr>
          <a:xfrm>
            <a:off x="594360" y="2286000"/>
            <a:ext cx="3200400" cy="3566160"/>
          </a:xfrm>
          <a:prstGeom prst="rect">
            <a:avLst/>
          </a:prstGeom>
          <a:noFill/>
          <a:ln/>
        </p:spPr>
        <p:txBody>
          <a:bodyPr wrap="square" rtlCol="0" anchor="t"/>
          <a:lstStyle/>
          <a:p>
            <a:pPr marL="342900" indent="-342900">
              <a:lnSpc>
                <a:spcPct val="140000"/>
              </a:lnSpc>
              <a:buSzPct val="100000"/>
              <a:buChar char="•"/>
            </a:pPr>
            <a:r>
              <a:rPr lang="en-US" sz="1050" dirty="0">
                <a:solidFill>
                  <a:srgbClr val="333333"/>
                </a:solidFill>
                <a:latin typeface="Meiryo UI" pitchFamily="34" charset="0"/>
                <a:ea typeface="Meiryo UI" pitchFamily="34" charset="-122"/>
                <a:cs typeface="Meiryo UI" pitchFamily="34" charset="-120"/>
              </a:rPr>
              <a:t>Windows/Linux VM のプロビジョニングと管理ができます</a:t>
            </a:r>
            <a:endParaRPr lang="en-US" sz="1050" dirty="0"/>
          </a:p>
          <a:p>
            <a:pPr marL="342900" indent="-342900">
              <a:lnSpc>
                <a:spcPct val="140000"/>
              </a:lnSpc>
              <a:buSzPct val="100000"/>
              <a:buChar char="•"/>
            </a:pPr>
            <a:r>
              <a:rPr lang="en-US" sz="1050" dirty="0">
                <a:solidFill>
                  <a:srgbClr val="333333"/>
                </a:solidFill>
                <a:latin typeface="Meiryo UI" pitchFamily="34" charset="0"/>
                <a:ea typeface="Meiryo UI" pitchFamily="34" charset="-122"/>
                <a:cs typeface="Meiryo UI" pitchFamily="34" charset="-120"/>
              </a:rPr>
              <a:t>Azure Portal、CLI、PowerShell、ARM テンプレートから操作が可能です</a:t>
            </a:r>
            <a:endParaRPr lang="en-US" sz="1050" dirty="0"/>
          </a:p>
          <a:p>
            <a:pPr marL="342900" indent="-342900">
              <a:lnSpc>
                <a:spcPct val="140000"/>
              </a:lnSpc>
              <a:buSzPct val="100000"/>
              <a:buChar char="•"/>
            </a:pPr>
            <a:r>
              <a:rPr lang="en-US" sz="1050" dirty="0">
                <a:solidFill>
                  <a:srgbClr val="333333"/>
                </a:solidFill>
                <a:latin typeface="Meiryo UI" pitchFamily="34" charset="0"/>
                <a:ea typeface="Meiryo UI" pitchFamily="34" charset="-122"/>
                <a:cs typeface="Meiryo UI" pitchFamily="34" charset="-120"/>
              </a:rPr>
              <a:t>VM ライフサイクル操作（作成・起動・停止・削除・リサイズ等）に対応しています</a:t>
            </a:r>
            <a:endParaRPr lang="en-US" sz="1050" dirty="0"/>
          </a:p>
          <a:p>
            <a:pPr marL="342900" indent="-342900">
              <a:lnSpc>
                <a:spcPct val="140000"/>
              </a:lnSpc>
              <a:buSzPct val="100000"/>
              <a:buChar char="•"/>
            </a:pPr>
            <a:r>
              <a:rPr lang="en-US" sz="1050" dirty="0">
                <a:solidFill>
                  <a:srgbClr val="333333"/>
                </a:solidFill>
                <a:latin typeface="Meiryo UI" pitchFamily="34" charset="0"/>
                <a:ea typeface="Meiryo UI" pitchFamily="34" charset="-122"/>
                <a:cs typeface="Meiryo UI" pitchFamily="34" charset="-120"/>
              </a:rPr>
              <a:t>RBAC による役割ベースのアクセス制御を提供しています</a:t>
            </a:r>
            <a:endParaRPr lang="en-US" sz="1050" dirty="0"/>
          </a:p>
        </p:txBody>
      </p:sp>
      <p:sp>
        <p:nvSpPr>
          <p:cNvPr id="10" name="Shape 8"/>
          <p:cNvSpPr/>
          <p:nvPr/>
        </p:nvSpPr>
        <p:spPr>
          <a:xfrm>
            <a:off x="4206240" y="1280160"/>
            <a:ext cx="3474720" cy="4754880"/>
          </a:xfrm>
          <a:prstGeom prst="roundRect">
            <a:avLst>
              <a:gd name="adj" fmla="val 3947"/>
            </a:avLst>
          </a:prstGeom>
          <a:solidFill>
            <a:srgbClr val="F3F2F1"/>
          </a:solidFill>
          <a:ln w="25400">
            <a:solidFill>
              <a:srgbClr val="107C10"/>
            </a:solidFill>
            <a:prstDash val="solid"/>
          </a:ln>
        </p:spPr>
      </p:sp>
      <p:sp>
        <p:nvSpPr>
          <p:cNvPr id="11" name="Shape 9"/>
          <p:cNvSpPr/>
          <p:nvPr/>
        </p:nvSpPr>
        <p:spPr>
          <a:xfrm>
            <a:off x="4206240" y="1280160"/>
            <a:ext cx="3474720" cy="822960"/>
          </a:xfrm>
          <a:prstGeom prst="roundRect">
            <a:avLst>
              <a:gd name="adj" fmla="val 16667"/>
            </a:avLst>
          </a:prstGeom>
          <a:solidFill>
            <a:srgbClr val="107C10"/>
          </a:solidFill>
          <a:ln/>
        </p:spPr>
      </p:sp>
      <p:sp>
        <p:nvSpPr>
          <p:cNvPr id="12" name="Shape 10"/>
          <p:cNvSpPr/>
          <p:nvPr/>
        </p:nvSpPr>
        <p:spPr>
          <a:xfrm>
            <a:off x="4206240" y="1828800"/>
            <a:ext cx="3474720" cy="320040"/>
          </a:xfrm>
          <a:prstGeom prst="rect">
            <a:avLst/>
          </a:prstGeom>
          <a:solidFill>
            <a:srgbClr val="107C10"/>
          </a:solidFill>
          <a:ln/>
        </p:spPr>
      </p:sp>
      <p:sp>
        <p:nvSpPr>
          <p:cNvPr id="13" name="Text 11"/>
          <p:cNvSpPr/>
          <p:nvPr/>
        </p:nvSpPr>
        <p:spPr>
          <a:xfrm>
            <a:off x="4206240" y="1280160"/>
            <a:ext cx="3474720" cy="82296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AKS on Azure Local</a:t>
            </a:r>
            <a:endParaRPr lang="en-US" sz="1400" dirty="0"/>
          </a:p>
        </p:txBody>
      </p:sp>
      <p:sp>
        <p:nvSpPr>
          <p:cNvPr id="14" name="Text 12"/>
          <p:cNvSpPr/>
          <p:nvPr/>
        </p:nvSpPr>
        <p:spPr>
          <a:xfrm>
            <a:off x="4343400" y="2286000"/>
            <a:ext cx="3200400" cy="3566160"/>
          </a:xfrm>
          <a:prstGeom prst="rect">
            <a:avLst/>
          </a:prstGeom>
          <a:noFill/>
          <a:ln/>
        </p:spPr>
        <p:txBody>
          <a:bodyPr wrap="square" rtlCol="0" anchor="t"/>
          <a:lstStyle/>
          <a:p>
            <a:pPr marL="342900" indent="-342900">
              <a:lnSpc>
                <a:spcPct val="140000"/>
              </a:lnSpc>
              <a:buSzPct val="100000"/>
              <a:buChar char="•"/>
            </a:pPr>
            <a:r>
              <a:rPr lang="en-US" sz="1050" dirty="0">
                <a:solidFill>
                  <a:srgbClr val="333333"/>
                </a:solidFill>
                <a:latin typeface="Meiryo UI" pitchFamily="34" charset="0"/>
                <a:ea typeface="Meiryo UI" pitchFamily="34" charset="-122"/>
                <a:cs typeface="Meiryo UI" pitchFamily="34" charset="-120"/>
              </a:rPr>
              <a:t>Azure Arc 対応の Azure Kubernetes Service を展開できます</a:t>
            </a:r>
            <a:endParaRPr lang="en-US" sz="1050" dirty="0"/>
          </a:p>
          <a:p>
            <a:pPr marL="342900" indent="-342900">
              <a:lnSpc>
                <a:spcPct val="140000"/>
              </a:lnSpc>
              <a:buSzPct val="100000"/>
              <a:buChar char="•"/>
            </a:pPr>
            <a:r>
              <a:rPr lang="en-US" sz="1050" dirty="0">
                <a:solidFill>
                  <a:srgbClr val="333333"/>
                </a:solidFill>
                <a:latin typeface="Meiryo UI" pitchFamily="34" charset="0"/>
                <a:ea typeface="Meiryo UI" pitchFamily="34" charset="-122"/>
                <a:cs typeface="Meiryo UI" pitchFamily="34" charset="-120"/>
              </a:rPr>
              <a:t>Azure Portal から直接 Kubernetes クラスタの作成・管理が可能です</a:t>
            </a:r>
            <a:endParaRPr lang="en-US" sz="1050" dirty="0"/>
          </a:p>
          <a:p>
            <a:pPr marL="342900" indent="-342900">
              <a:lnSpc>
                <a:spcPct val="140000"/>
              </a:lnSpc>
              <a:buSzPct val="100000"/>
              <a:buChar char="•"/>
            </a:pPr>
            <a:r>
              <a:rPr lang="en-US" sz="1050" dirty="0">
                <a:solidFill>
                  <a:srgbClr val="333333"/>
                </a:solidFill>
                <a:latin typeface="Meiryo UI" pitchFamily="34" charset="0"/>
                <a:ea typeface="Meiryo UI" pitchFamily="34" charset="-122"/>
                <a:cs typeface="Meiryo UI" pitchFamily="34" charset="-120"/>
              </a:rPr>
              <a:t>コンテナ化されたアプリケーションのスケーリングに対応しています</a:t>
            </a:r>
            <a:endParaRPr lang="en-US" sz="1050" dirty="0"/>
          </a:p>
        </p:txBody>
      </p:sp>
      <p:sp>
        <p:nvSpPr>
          <p:cNvPr id="15" name="Shape 13"/>
          <p:cNvSpPr/>
          <p:nvPr/>
        </p:nvSpPr>
        <p:spPr>
          <a:xfrm>
            <a:off x="7955280" y="1280160"/>
            <a:ext cx="3474720" cy="4754880"/>
          </a:xfrm>
          <a:prstGeom prst="roundRect">
            <a:avLst>
              <a:gd name="adj" fmla="val 3947"/>
            </a:avLst>
          </a:prstGeom>
          <a:solidFill>
            <a:srgbClr val="F3F2F1"/>
          </a:solidFill>
          <a:ln w="25400">
            <a:solidFill>
              <a:srgbClr val="5C2D91"/>
            </a:solidFill>
            <a:prstDash val="solid"/>
          </a:ln>
        </p:spPr>
      </p:sp>
      <p:sp>
        <p:nvSpPr>
          <p:cNvPr id="16" name="Shape 14"/>
          <p:cNvSpPr/>
          <p:nvPr/>
        </p:nvSpPr>
        <p:spPr>
          <a:xfrm>
            <a:off x="7955280" y="1280160"/>
            <a:ext cx="3474720" cy="822960"/>
          </a:xfrm>
          <a:prstGeom prst="roundRect">
            <a:avLst>
              <a:gd name="adj" fmla="val 16667"/>
            </a:avLst>
          </a:prstGeom>
          <a:solidFill>
            <a:srgbClr val="5C2D91"/>
          </a:solidFill>
          <a:ln/>
        </p:spPr>
      </p:sp>
      <p:sp>
        <p:nvSpPr>
          <p:cNvPr id="17" name="Shape 15"/>
          <p:cNvSpPr/>
          <p:nvPr/>
        </p:nvSpPr>
        <p:spPr>
          <a:xfrm>
            <a:off x="7955280" y="1828800"/>
            <a:ext cx="3474720" cy="320040"/>
          </a:xfrm>
          <a:prstGeom prst="rect">
            <a:avLst/>
          </a:prstGeom>
          <a:solidFill>
            <a:srgbClr val="5C2D91"/>
          </a:solidFill>
          <a:ln/>
        </p:spPr>
      </p:sp>
      <p:sp>
        <p:nvSpPr>
          <p:cNvPr id="18" name="Text 16"/>
          <p:cNvSpPr/>
          <p:nvPr/>
        </p:nvSpPr>
        <p:spPr>
          <a:xfrm>
            <a:off x="7955280" y="1280160"/>
            <a:ext cx="3474720" cy="82296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Azure Virtual Desktop</a:t>
            </a:r>
            <a:endParaRPr lang="en-US" sz="1400" dirty="0"/>
          </a:p>
        </p:txBody>
      </p:sp>
      <p:sp>
        <p:nvSpPr>
          <p:cNvPr id="19" name="Text 17"/>
          <p:cNvSpPr/>
          <p:nvPr/>
        </p:nvSpPr>
        <p:spPr>
          <a:xfrm>
            <a:off x="8092440" y="2286000"/>
            <a:ext cx="3200400" cy="3566160"/>
          </a:xfrm>
          <a:prstGeom prst="rect">
            <a:avLst/>
          </a:prstGeom>
          <a:noFill/>
          <a:ln/>
        </p:spPr>
        <p:txBody>
          <a:bodyPr wrap="square" rtlCol="0" anchor="t"/>
          <a:lstStyle/>
          <a:p>
            <a:pPr marL="342900" indent="-342900">
              <a:lnSpc>
                <a:spcPct val="140000"/>
              </a:lnSpc>
              <a:buSzPct val="100000"/>
              <a:buChar char="•"/>
            </a:pPr>
            <a:r>
              <a:rPr lang="en-US" sz="1050" dirty="0">
                <a:solidFill>
                  <a:srgbClr val="333333"/>
                </a:solidFill>
                <a:latin typeface="Meiryo UI" pitchFamily="34" charset="0"/>
                <a:ea typeface="Meiryo UI" pitchFamily="34" charset="-122"/>
                <a:cs typeface="Meiryo UI" pitchFamily="34" charset="-120"/>
              </a:rPr>
              <a:t>オンプレミスインフラにセッションホストを展開できます</a:t>
            </a:r>
            <a:endParaRPr lang="en-US" sz="1050" dirty="0"/>
          </a:p>
          <a:p>
            <a:pPr marL="342900" indent="-342900">
              <a:lnSpc>
                <a:spcPct val="140000"/>
              </a:lnSpc>
              <a:buSzPct val="100000"/>
              <a:buChar char="•"/>
            </a:pPr>
            <a:r>
              <a:rPr lang="en-US" sz="1050" dirty="0">
                <a:solidFill>
                  <a:srgbClr val="333333"/>
                </a:solidFill>
                <a:latin typeface="Meiryo UI" pitchFamily="34" charset="0"/>
                <a:ea typeface="Meiryo UI" pitchFamily="34" charset="-122"/>
                <a:cs typeface="Meiryo UI" pitchFamily="34" charset="-120"/>
              </a:rPr>
              <a:t>シングルセッション・マルチセッション構成を選択できます</a:t>
            </a:r>
            <a:endParaRPr lang="en-US" sz="105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管理ツールと Azure サービス連携</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6 / 10</a:t>
              </a:r>
              <a:endParaRPr lang="en-US" sz="900" dirty="0"/>
            </a:p>
          </p:txBody>
        </p:sp>
        <p:sp>
          <p:nvSpPr>
            <p:cNvPr id="5" name="Shape 3"/>
            <p:cNvSpPr/>
            <p:nvPr/>
          </p:nvSpPr>
          <p:spPr>
            <a:xfrm>
              <a:off x="457200" y="1188720"/>
              <a:ext cx="5303520" cy="2194560"/>
            </a:xfrm>
            <a:prstGeom prst="roundRect">
              <a:avLst>
                <a:gd name="adj" fmla="val 5000"/>
              </a:avLst>
            </a:prstGeom>
            <a:solidFill>
              <a:srgbClr val="DEECF9"/>
            </a:solidFill>
            <a:ln/>
          </p:spPr>
        </p:sp>
        <p:sp>
          <p:nvSpPr>
            <p:cNvPr id="6" name="Text 4"/>
            <p:cNvSpPr/>
            <p:nvPr/>
          </p:nvSpPr>
          <p:spPr>
            <a:xfrm>
              <a:off x="640080" y="1280160"/>
              <a:ext cx="4937760" cy="365760"/>
            </a:xfrm>
            <a:prstGeom prst="rect">
              <a:avLst/>
            </a:prstGeom>
            <a:noFill/>
            <a:ln/>
          </p:spPr>
          <p:txBody>
            <a:bodyPr wrap="square" rtlCol="0" anchor="ctr"/>
            <a:lstStyle/>
            <a:p>
              <a:pPr indent="0" marL="0">
                <a:buNone/>
              </a:pPr>
              <a:r>
                <a:rPr lang="en-US" sz="1400" b="1" dirty="0">
                  <a:solidFill>
                    <a:srgbClr val="0078D4"/>
                  </a:solidFill>
                  <a:latin typeface="Meiryo UI" pitchFamily="34" charset="0"/>
                  <a:ea typeface="Meiryo UI" pitchFamily="34" charset="-122"/>
                  <a:cs typeface="Meiryo UI" pitchFamily="34" charset="-120"/>
                </a:rPr>
                <a:t>☁️  クラウド管理ツール</a:t>
              </a:r>
              <a:endParaRPr lang="en-US" sz="1400" dirty="0"/>
            </a:p>
          </p:txBody>
        </p:sp>
        <p:sp>
          <p:nvSpPr>
            <p:cNvPr id="7" name="Text 5"/>
            <p:cNvSpPr/>
            <p:nvPr/>
          </p:nvSpPr>
          <p:spPr>
            <a:xfrm>
              <a:off x="640080" y="1691640"/>
              <a:ext cx="4937760" cy="1554480"/>
            </a:xfrm>
            <a:prstGeom prst="rect">
              <a:avLst/>
            </a:prstGeom>
            <a:noFill/>
            <a:ln/>
          </p:spPr>
          <p:txBody>
            <a:bodyPr wrap="square" rtlCol="0" anchor="t"/>
            <a:lstStyle/>
            <a:p>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Azure Portal（単一管理画面）を使用できます
</a:t>
              </a:r>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Azure CLI / Azure PowerShell でコマンドライン管理が可能です
</a:t>
              </a:r>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ARM / Bicep / Terraform テンプレートで自動化できます</a:t>
              </a:r>
              <a:endParaRPr lang="en-US" sz="1100" dirty="0"/>
            </a:p>
          </p:txBody>
        </p:sp>
        <p:sp>
          <p:nvSpPr>
            <p:cNvPr id="8" name="Shape 6"/>
            <p:cNvSpPr/>
            <p:nvPr/>
          </p:nvSpPr>
          <p:spPr>
            <a:xfrm>
              <a:off x="457200" y="3657600"/>
              <a:ext cx="5303520" cy="2194560"/>
            </a:xfrm>
            <a:prstGeom prst="roundRect">
              <a:avLst>
                <a:gd name="adj" fmla="val 5000"/>
              </a:avLst>
            </a:prstGeom>
            <a:solidFill>
              <a:srgbClr val="F3F2F1"/>
            </a:solidFill>
            <a:ln/>
          </p:spPr>
        </p:sp>
        <p:sp>
          <p:nvSpPr>
            <p:cNvPr id="9" name="Text 7"/>
            <p:cNvSpPr/>
            <p:nvPr/>
          </p:nvSpPr>
          <p:spPr>
            <a:xfrm>
              <a:off x="640080" y="3749040"/>
              <a:ext cx="4937760" cy="365760"/>
            </a:xfrm>
            <a:prstGeom prst="rect">
              <a:avLst/>
            </a:prstGeom>
            <a:noFill/>
            <a:ln/>
          </p:spPr>
          <p:txBody>
            <a:bodyPr wrap="square" rtlCol="0" anchor="ctr"/>
            <a:lstStyle/>
            <a:p>
              <a:pPr indent="0" marL="0">
                <a:buNone/>
              </a:pPr>
              <a:r>
                <a:rPr lang="en-US" sz="1400" b="1" dirty="0">
                  <a:solidFill>
                    <a:srgbClr val="333333"/>
                  </a:solidFill>
                  <a:latin typeface="Meiryo UI" pitchFamily="34" charset="0"/>
                  <a:ea typeface="Meiryo UI" pitchFamily="34" charset="-122"/>
                  <a:cs typeface="Meiryo UI" pitchFamily="34" charset="-120"/>
                </a:rPr>
                <a:t>🏢  オンプレミス管理ツール</a:t>
              </a:r>
              <a:endParaRPr lang="en-US" sz="1400" dirty="0"/>
            </a:p>
          </p:txBody>
        </p:sp>
        <p:sp>
          <p:nvSpPr>
            <p:cNvPr id="10" name="Text 8"/>
            <p:cNvSpPr/>
            <p:nvPr/>
          </p:nvSpPr>
          <p:spPr>
            <a:xfrm>
              <a:off x="640080" y="4160520"/>
              <a:ext cx="4937760" cy="1554480"/>
            </a:xfrm>
            <a:prstGeom prst="rect">
              <a:avLst/>
            </a:prstGeom>
            <a:noFill/>
            <a:ln/>
          </p:spPr>
          <p:txBody>
            <a:bodyPr wrap="square" rtlCol="0" anchor="t"/>
            <a:lstStyle/>
            <a:p>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Windows Admin Center から管理できます
</a:t>
              </a:r>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Hyper-V Manager / Failover Cluster Manager が利用可能です
</a:t>
              </a:r>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PowerShell での操作に対応しています</a:t>
              </a:r>
              <a:endParaRPr lang="en-US" sz="1100" dirty="0"/>
            </a:p>
          </p:txBody>
        </p:sp>
        <p:sp>
          <p:nvSpPr>
            <p:cNvPr id="11" name="Shape 9"/>
            <p:cNvSpPr/>
            <p:nvPr/>
          </p:nvSpPr>
          <p:spPr>
            <a:xfrm>
              <a:off x="6126480" y="1188720"/>
              <a:ext cx="5486400" cy="4754880"/>
            </a:xfrm>
            <a:prstGeom prst="roundRect">
              <a:avLst>
                <a:gd name="adj" fmla="val 2885"/>
              </a:avLst>
            </a:prstGeom>
            <a:solidFill>
              <a:srgbClr val="F3F2F1"/>
            </a:solidFill>
            <a:ln w="19050">
              <a:solidFill>
                <a:srgbClr val="0078D4"/>
              </a:solidFill>
              <a:prstDash val="solid"/>
            </a:ln>
          </p:spPr>
        </p:sp>
        <p:sp>
          <p:nvSpPr>
            <p:cNvPr id="12" name="Text 10"/>
            <p:cNvSpPr/>
            <p:nvPr/>
          </p:nvSpPr>
          <p:spPr>
            <a:xfrm>
              <a:off x="6126480" y="1280160"/>
              <a:ext cx="5486400" cy="365760"/>
            </a:xfrm>
            <a:prstGeom prst="rect">
              <a:avLst/>
            </a:prstGeom>
            <a:noFill/>
            <a:ln/>
          </p:spPr>
          <p:txBody>
            <a:bodyPr wrap="square" rtlCol="0" anchor="ctr"/>
            <a:lstStyle/>
            <a:p>
              <a:pPr algn="ctr" indent="0" marL="0">
                <a:buNone/>
              </a:pPr>
              <a:r>
                <a:rPr lang="en-US" sz="1400" b="1" dirty="0">
                  <a:solidFill>
                    <a:srgbClr val="0078D4"/>
                  </a:solidFill>
                  <a:latin typeface="Meiryo UI" pitchFamily="34" charset="0"/>
                  <a:ea typeface="Meiryo UI" pitchFamily="34" charset="-122"/>
                  <a:cs typeface="Meiryo UI" pitchFamily="34" charset="-120"/>
                </a:rPr>
                <a:t>Azure サービス連携</a:t>
              </a:r>
              <a:endParaRPr lang="en-US" sz="1400" dirty="0"/>
            </a:p>
          </p:txBody>
        </p:sp>
        <p:sp>
          <p:nvSpPr>
            <p:cNvPr id="13" name="Shape 11"/>
            <p:cNvSpPr/>
            <p:nvPr/>
          </p:nvSpPr>
          <p:spPr>
            <a:xfrm>
              <a:off x="7955280" y="2743200"/>
              <a:ext cx="2286000" cy="1097280"/>
            </a:xfrm>
            <a:prstGeom prst="ellipse">
              <a:avLst/>
            </a:prstGeom>
            <a:solidFill>
              <a:srgbClr val="0078D4"/>
            </a:solidFill>
            <a:ln/>
          </p:spPr>
        </p:sp>
        <p:sp>
          <p:nvSpPr>
            <p:cNvPr id="14" name="Text 12"/>
            <p:cNvSpPr/>
            <p:nvPr/>
          </p:nvSpPr>
          <p:spPr>
            <a:xfrm>
              <a:off x="7955280" y="2743200"/>
              <a:ext cx="2286000" cy="109728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Azure</a:t>
              </a:r>
              <a:endParaRPr lang="en-US" sz="1400" dirty="0"/>
            </a:p>
            <a:p>
              <a:pPr algn="ctr" indent="0" marL="0">
                <a:buNone/>
              </a:pPr>
              <a:r>
                <a:rPr lang="en-US" sz="1400" b="1" dirty="0">
                  <a:solidFill>
                    <a:srgbClr val="FFFFFF"/>
                  </a:solidFill>
                  <a:latin typeface="Meiryo UI" pitchFamily="34" charset="0"/>
                  <a:ea typeface="Meiryo UI" pitchFamily="34" charset="-122"/>
                  <a:cs typeface="Meiryo UI" pitchFamily="34" charset="-120"/>
                </a:rPr>
                <a:t>Local</a:t>
              </a:r>
              <a:endParaRPr lang="en-US" sz="1400" dirty="0"/>
            </a:p>
          </p:txBody>
        </p:sp>
        <p:sp>
          <p:nvSpPr>
            <p:cNvPr id="15" name="Shape 13"/>
            <p:cNvSpPr/>
            <p:nvPr/>
          </p:nvSpPr>
          <p:spPr>
            <a:xfrm>
              <a:off x="6400800" y="1737360"/>
              <a:ext cx="1828800" cy="822960"/>
            </a:xfrm>
            <a:prstGeom prst="roundRect">
              <a:avLst>
                <a:gd name="adj" fmla="val 11111"/>
              </a:avLst>
            </a:prstGeom>
            <a:solidFill>
              <a:srgbClr val="FFFFFF"/>
            </a:solidFill>
            <a:ln w="12700">
              <a:solidFill>
                <a:srgbClr val="0078D4"/>
              </a:solidFill>
              <a:prstDash val="solid"/>
            </a:ln>
          </p:spPr>
        </p:sp>
        <p:sp>
          <p:nvSpPr>
            <p:cNvPr id="16" name="Text 14"/>
            <p:cNvSpPr/>
            <p:nvPr/>
          </p:nvSpPr>
          <p:spPr>
            <a:xfrm>
              <a:off x="6400800" y="1737360"/>
              <a:ext cx="1828800" cy="822960"/>
            </a:xfrm>
            <a:prstGeom prst="rect">
              <a:avLst/>
            </a:prstGeom>
            <a:noFill/>
            <a:ln/>
          </p:spPr>
          <p:txBody>
            <a:bodyPr wrap="square" rtlCol="0" anchor="ctr"/>
            <a:lstStyle/>
            <a:p>
              <a:pPr algn="ctr" indent="0" marL="0">
                <a:buNone/>
              </a:pPr>
              <a:r>
                <a:rPr lang="en-US" sz="950" b="1" dirty="0">
                  <a:solidFill>
                    <a:srgbClr val="0078D4"/>
                  </a:solidFill>
                  <a:latin typeface="Meiryo UI" pitchFamily="34" charset="0"/>
                  <a:ea typeface="Meiryo UI" pitchFamily="34" charset="-122"/>
                  <a:cs typeface="Meiryo UI" pitchFamily="34" charset="-120"/>
                </a:rPr>
                <a:t>Azure Monitor</a:t>
              </a:r>
              <a:endParaRPr lang="en-US" sz="950" dirty="0"/>
            </a:p>
            <a:p>
              <a:pPr algn="ctr" indent="0" marL="0">
                <a:buNone/>
              </a:pPr>
              <a:r>
                <a:rPr lang="en-US" sz="950" b="1" dirty="0">
                  <a:solidFill>
                    <a:srgbClr val="0078D4"/>
                  </a:solidFill>
                  <a:latin typeface="Meiryo UI" pitchFamily="34" charset="0"/>
                  <a:ea typeface="Meiryo UI" pitchFamily="34" charset="-122"/>
                  <a:cs typeface="Meiryo UI" pitchFamily="34" charset="-120"/>
                </a:rPr>
                <a:t>Azure Policy</a:t>
              </a:r>
              <a:endParaRPr lang="en-US" sz="950" dirty="0"/>
            </a:p>
          </p:txBody>
        </p:sp>
        <p:sp>
          <p:nvSpPr>
            <p:cNvPr id="17" name="Shape 15"/>
            <p:cNvSpPr/>
            <p:nvPr/>
          </p:nvSpPr>
          <p:spPr>
            <a:xfrm>
              <a:off x="9326880" y="1737360"/>
              <a:ext cx="1828800" cy="822960"/>
            </a:xfrm>
            <a:prstGeom prst="roundRect">
              <a:avLst>
                <a:gd name="adj" fmla="val 11111"/>
              </a:avLst>
            </a:prstGeom>
            <a:solidFill>
              <a:srgbClr val="FFFFFF"/>
            </a:solidFill>
            <a:ln w="12700">
              <a:solidFill>
                <a:srgbClr val="0078D4"/>
              </a:solidFill>
              <a:prstDash val="solid"/>
            </a:ln>
          </p:spPr>
        </p:sp>
        <p:sp>
          <p:nvSpPr>
            <p:cNvPr id="18" name="Text 16"/>
            <p:cNvSpPr/>
            <p:nvPr/>
          </p:nvSpPr>
          <p:spPr>
            <a:xfrm>
              <a:off x="9326880" y="1737360"/>
              <a:ext cx="1828800" cy="822960"/>
            </a:xfrm>
            <a:prstGeom prst="rect">
              <a:avLst/>
            </a:prstGeom>
            <a:noFill/>
            <a:ln/>
          </p:spPr>
          <p:txBody>
            <a:bodyPr wrap="square" rtlCol="0" anchor="ctr"/>
            <a:lstStyle/>
            <a:p>
              <a:pPr algn="ctr" indent="0" marL="0">
                <a:buNone/>
              </a:pPr>
              <a:r>
                <a:rPr lang="en-US" sz="950" b="1" dirty="0">
                  <a:solidFill>
                    <a:srgbClr val="0078D4"/>
                  </a:solidFill>
                  <a:latin typeface="Meiryo UI" pitchFamily="34" charset="0"/>
                  <a:ea typeface="Meiryo UI" pitchFamily="34" charset="-122"/>
                  <a:cs typeface="Meiryo UI" pitchFamily="34" charset="-120"/>
                </a:rPr>
                <a:t>Azure Backup</a:t>
              </a:r>
              <a:endParaRPr lang="en-US" sz="950" dirty="0"/>
            </a:p>
            <a:p>
              <a:pPr algn="ctr" indent="0" marL="0">
                <a:buNone/>
              </a:pPr>
              <a:r>
                <a:rPr lang="en-US" sz="950" b="1" dirty="0">
                  <a:solidFill>
                    <a:srgbClr val="0078D4"/>
                  </a:solidFill>
                  <a:latin typeface="Meiryo UI" pitchFamily="34" charset="0"/>
                  <a:ea typeface="Meiryo UI" pitchFamily="34" charset="-122"/>
                  <a:cs typeface="Meiryo UI" pitchFamily="34" charset="-120"/>
                </a:rPr>
                <a:t>Site Recovery</a:t>
              </a:r>
              <a:endParaRPr lang="en-US" sz="950" dirty="0"/>
            </a:p>
          </p:txBody>
        </p:sp>
        <p:sp>
          <p:nvSpPr>
            <p:cNvPr id="19" name="Shape 17"/>
            <p:cNvSpPr/>
            <p:nvPr/>
          </p:nvSpPr>
          <p:spPr>
            <a:xfrm>
              <a:off x="6400800" y="4114800"/>
              <a:ext cx="1828800" cy="822960"/>
            </a:xfrm>
            <a:prstGeom prst="roundRect">
              <a:avLst>
                <a:gd name="adj" fmla="val 11111"/>
              </a:avLst>
            </a:prstGeom>
            <a:solidFill>
              <a:srgbClr val="FFFFFF"/>
            </a:solidFill>
            <a:ln w="12700">
              <a:solidFill>
                <a:srgbClr val="0078D4"/>
              </a:solidFill>
              <a:prstDash val="solid"/>
            </a:ln>
          </p:spPr>
        </p:sp>
        <p:sp>
          <p:nvSpPr>
            <p:cNvPr id="20" name="Text 18"/>
            <p:cNvSpPr/>
            <p:nvPr/>
          </p:nvSpPr>
          <p:spPr>
            <a:xfrm>
              <a:off x="6400800" y="4114800"/>
              <a:ext cx="1828800" cy="822960"/>
            </a:xfrm>
            <a:prstGeom prst="rect">
              <a:avLst/>
            </a:prstGeom>
            <a:noFill/>
            <a:ln/>
          </p:spPr>
          <p:txBody>
            <a:bodyPr wrap="square" rtlCol="0" anchor="ctr"/>
            <a:lstStyle/>
            <a:p>
              <a:pPr algn="ctr" indent="0" marL="0">
                <a:buNone/>
              </a:pPr>
              <a:r>
                <a:rPr lang="en-US" sz="950" b="1" dirty="0">
                  <a:solidFill>
                    <a:srgbClr val="0078D4"/>
                  </a:solidFill>
                  <a:latin typeface="Meiryo UI" pitchFamily="34" charset="0"/>
                  <a:ea typeface="Meiryo UI" pitchFamily="34" charset="-122"/>
                  <a:cs typeface="Meiryo UI" pitchFamily="34" charset="-120"/>
                </a:rPr>
                <a:t>Azure Update</a:t>
              </a:r>
              <a:endParaRPr lang="en-US" sz="950" dirty="0"/>
            </a:p>
            <a:p>
              <a:pPr algn="ctr" indent="0" marL="0">
                <a:buNone/>
              </a:pPr>
              <a:r>
                <a:rPr lang="en-US" sz="950" b="1" dirty="0">
                  <a:solidFill>
                    <a:srgbClr val="0078D4"/>
                  </a:solidFill>
                  <a:latin typeface="Meiryo UI" pitchFamily="34" charset="0"/>
                  <a:ea typeface="Meiryo UI" pitchFamily="34" charset="-122"/>
                  <a:cs typeface="Meiryo UI" pitchFamily="34" charset="-120"/>
                </a:rPr>
                <a:t>Manager</a:t>
              </a:r>
              <a:endParaRPr lang="en-US" sz="950" dirty="0"/>
            </a:p>
          </p:txBody>
        </p:sp>
        <p:sp>
          <p:nvSpPr>
            <p:cNvPr id="21" name="Shape 19"/>
            <p:cNvSpPr/>
            <p:nvPr/>
          </p:nvSpPr>
          <p:spPr>
            <a:xfrm>
              <a:off x="9326880" y="4114800"/>
              <a:ext cx="1828800" cy="822960"/>
            </a:xfrm>
            <a:prstGeom prst="roundRect">
              <a:avLst>
                <a:gd name="adj" fmla="val 11111"/>
              </a:avLst>
            </a:prstGeom>
            <a:solidFill>
              <a:srgbClr val="FFFFFF"/>
            </a:solidFill>
            <a:ln w="12700">
              <a:solidFill>
                <a:srgbClr val="0078D4"/>
              </a:solidFill>
              <a:prstDash val="solid"/>
            </a:ln>
          </p:spPr>
        </p:sp>
        <p:sp>
          <p:nvSpPr>
            <p:cNvPr id="22" name="Text 20"/>
            <p:cNvSpPr/>
            <p:nvPr/>
          </p:nvSpPr>
          <p:spPr>
            <a:xfrm>
              <a:off x="9326880" y="4114800"/>
              <a:ext cx="1828800" cy="822960"/>
            </a:xfrm>
            <a:prstGeom prst="rect">
              <a:avLst/>
            </a:prstGeom>
            <a:noFill/>
            <a:ln/>
          </p:spPr>
          <p:txBody>
            <a:bodyPr wrap="square" rtlCol="0" anchor="ctr"/>
            <a:lstStyle/>
            <a:p>
              <a:pPr algn="ctr" indent="0" marL="0">
                <a:buNone/>
              </a:pPr>
              <a:r>
                <a:rPr lang="en-US" sz="950" b="1" dirty="0">
                  <a:solidFill>
                    <a:srgbClr val="0078D4"/>
                  </a:solidFill>
                  <a:latin typeface="Meiryo UI" pitchFamily="34" charset="0"/>
                  <a:ea typeface="Meiryo UI" pitchFamily="34" charset="-122"/>
                  <a:cs typeface="Meiryo UI" pitchFamily="34" charset="-120"/>
                </a:rPr>
                <a:t>Copilot for</a:t>
              </a:r>
              <a:endParaRPr lang="en-US" sz="950" dirty="0"/>
            </a:p>
            <a:p>
              <a:pPr algn="ctr" indent="0" marL="0">
                <a:buNone/>
              </a:pPr>
              <a:r>
                <a:rPr lang="en-US" sz="950" b="1" dirty="0">
                  <a:solidFill>
                    <a:srgbClr val="0078D4"/>
                  </a:solidFill>
                  <a:latin typeface="Meiryo UI" pitchFamily="34" charset="0"/>
                  <a:ea typeface="Meiryo UI" pitchFamily="34" charset="-122"/>
                  <a:cs typeface="Meiryo UI" pitchFamily="34" charset="-120"/>
                </a:rPr>
                <a:t>Azure</a:t>
              </a:r>
              <a:endParaRPr lang="en-US" sz="950" dirty="0"/>
            </a:p>
          </p:txBody>
        </p:sp>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管理ツールと Azure サービス連携</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6 / 10</a:t>
            </a:r>
            <a:endParaRPr lang="en-US" sz="900" dirty="0"/>
          </a:p>
        </p:txBody>
      </p:sp>
      <p:sp>
        <p:nvSpPr>
          <p:cNvPr id="5" name="Shape 3"/>
          <p:cNvSpPr/>
          <p:nvPr/>
        </p:nvSpPr>
        <p:spPr>
          <a:xfrm>
            <a:off x="457200" y="1188720"/>
            <a:ext cx="5303520" cy="2194560"/>
          </a:xfrm>
          <a:prstGeom prst="roundRect">
            <a:avLst>
              <a:gd name="adj" fmla="val 5000"/>
            </a:avLst>
          </a:prstGeom>
          <a:solidFill>
            <a:srgbClr val="DEECF9"/>
          </a:solidFill>
          <a:ln/>
        </p:spPr>
      </p:sp>
      <p:sp>
        <p:nvSpPr>
          <p:cNvPr id="6" name="Text 4"/>
          <p:cNvSpPr/>
          <p:nvPr/>
        </p:nvSpPr>
        <p:spPr>
          <a:xfrm>
            <a:off x="640080" y="1280160"/>
            <a:ext cx="4937760" cy="365760"/>
          </a:xfrm>
          <a:prstGeom prst="rect">
            <a:avLst/>
          </a:prstGeom>
          <a:noFill/>
          <a:ln/>
        </p:spPr>
        <p:txBody>
          <a:bodyPr wrap="square" rtlCol="0" anchor="ctr"/>
          <a:lstStyle/>
          <a:p>
            <a:pPr indent="0" marL="0">
              <a:buNone/>
            </a:pPr>
            <a:r>
              <a:rPr lang="en-US" sz="1400" b="1" dirty="0">
                <a:solidFill>
                  <a:srgbClr val="0078D4"/>
                </a:solidFill>
                <a:latin typeface="Meiryo UI" pitchFamily="34" charset="0"/>
                <a:ea typeface="Meiryo UI" pitchFamily="34" charset="-122"/>
                <a:cs typeface="Meiryo UI" pitchFamily="34" charset="-120"/>
              </a:rPr>
              <a:t>☁️  クラウド管理ツール</a:t>
            </a:r>
            <a:endParaRPr lang="en-US" sz="1400" dirty="0"/>
          </a:p>
        </p:txBody>
      </p:sp>
      <p:sp>
        <p:nvSpPr>
          <p:cNvPr id="7" name="Text 5"/>
          <p:cNvSpPr/>
          <p:nvPr/>
        </p:nvSpPr>
        <p:spPr>
          <a:xfrm>
            <a:off x="640080" y="1691640"/>
            <a:ext cx="4937760" cy="1554480"/>
          </a:xfrm>
          <a:prstGeom prst="rect">
            <a:avLst/>
          </a:prstGeom>
          <a:noFill/>
          <a:ln/>
        </p:spPr>
        <p:txBody>
          <a:bodyPr wrap="square" rtlCol="0" anchor="t"/>
          <a:lstStyle/>
          <a:p>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Azure Portal（単一管理画面）を使用できます
</a:t>
            </a:r>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Azure CLI / Azure PowerShell でコマンドライン管理が可能です
</a:t>
            </a:r>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ARM / Bicep / Terraform テンプレートで自動化できます</a:t>
            </a:r>
            <a:endParaRPr lang="en-US" sz="1100" dirty="0"/>
          </a:p>
        </p:txBody>
      </p:sp>
      <p:sp>
        <p:nvSpPr>
          <p:cNvPr id="8" name="Shape 6"/>
          <p:cNvSpPr/>
          <p:nvPr/>
        </p:nvSpPr>
        <p:spPr>
          <a:xfrm>
            <a:off x="457200" y="3657600"/>
            <a:ext cx="5303520" cy="2194560"/>
          </a:xfrm>
          <a:prstGeom prst="roundRect">
            <a:avLst>
              <a:gd name="adj" fmla="val 5000"/>
            </a:avLst>
          </a:prstGeom>
          <a:solidFill>
            <a:srgbClr val="F3F2F1"/>
          </a:solidFill>
          <a:ln/>
        </p:spPr>
      </p:sp>
      <p:sp>
        <p:nvSpPr>
          <p:cNvPr id="9" name="Text 7"/>
          <p:cNvSpPr/>
          <p:nvPr/>
        </p:nvSpPr>
        <p:spPr>
          <a:xfrm>
            <a:off x="640080" y="3749040"/>
            <a:ext cx="4937760" cy="365760"/>
          </a:xfrm>
          <a:prstGeom prst="rect">
            <a:avLst/>
          </a:prstGeom>
          <a:noFill/>
          <a:ln/>
        </p:spPr>
        <p:txBody>
          <a:bodyPr wrap="square" rtlCol="0" anchor="ctr"/>
          <a:lstStyle/>
          <a:p>
            <a:pPr indent="0" marL="0">
              <a:buNone/>
            </a:pPr>
            <a:r>
              <a:rPr lang="en-US" sz="1400" b="1" dirty="0">
                <a:solidFill>
                  <a:srgbClr val="333333"/>
                </a:solidFill>
                <a:latin typeface="Meiryo UI" pitchFamily="34" charset="0"/>
                <a:ea typeface="Meiryo UI" pitchFamily="34" charset="-122"/>
                <a:cs typeface="Meiryo UI" pitchFamily="34" charset="-120"/>
              </a:rPr>
              <a:t>🏢  オンプレミス管理ツール</a:t>
            </a:r>
            <a:endParaRPr lang="en-US" sz="1400" dirty="0"/>
          </a:p>
        </p:txBody>
      </p:sp>
      <p:sp>
        <p:nvSpPr>
          <p:cNvPr id="10" name="Text 8"/>
          <p:cNvSpPr/>
          <p:nvPr/>
        </p:nvSpPr>
        <p:spPr>
          <a:xfrm>
            <a:off x="640080" y="4160520"/>
            <a:ext cx="4937760" cy="1554480"/>
          </a:xfrm>
          <a:prstGeom prst="rect">
            <a:avLst/>
          </a:prstGeom>
          <a:noFill/>
          <a:ln/>
        </p:spPr>
        <p:txBody>
          <a:bodyPr wrap="square" rtlCol="0" anchor="t"/>
          <a:lstStyle/>
          <a:p>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Windows Admin Center から管理できます
</a:t>
            </a:r>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Hyper-V Manager / Failover Cluster Manager が利用可能です
</a:t>
            </a:r>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PowerShell での操作に対応しています</a:t>
            </a:r>
            <a:endParaRPr lang="en-US" sz="1100" dirty="0"/>
          </a:p>
        </p:txBody>
      </p:sp>
      <p:sp>
        <p:nvSpPr>
          <p:cNvPr id="11" name="Shape 9"/>
          <p:cNvSpPr/>
          <p:nvPr/>
        </p:nvSpPr>
        <p:spPr>
          <a:xfrm>
            <a:off x="6126480" y="1188720"/>
            <a:ext cx="5486400" cy="4754880"/>
          </a:xfrm>
          <a:prstGeom prst="roundRect">
            <a:avLst>
              <a:gd name="adj" fmla="val 2885"/>
            </a:avLst>
          </a:prstGeom>
          <a:solidFill>
            <a:srgbClr val="F3F2F1"/>
          </a:solidFill>
          <a:ln w="19050">
            <a:solidFill>
              <a:srgbClr val="0078D4"/>
            </a:solidFill>
            <a:prstDash val="solid"/>
          </a:ln>
        </p:spPr>
      </p:sp>
      <p:sp>
        <p:nvSpPr>
          <p:cNvPr id="12" name="Text 10"/>
          <p:cNvSpPr/>
          <p:nvPr/>
        </p:nvSpPr>
        <p:spPr>
          <a:xfrm>
            <a:off x="6126480" y="1280160"/>
            <a:ext cx="5486400" cy="365760"/>
          </a:xfrm>
          <a:prstGeom prst="rect">
            <a:avLst/>
          </a:prstGeom>
          <a:noFill/>
          <a:ln/>
        </p:spPr>
        <p:txBody>
          <a:bodyPr wrap="square" rtlCol="0" anchor="ctr"/>
          <a:lstStyle/>
          <a:p>
            <a:pPr algn="ctr" indent="0" marL="0">
              <a:buNone/>
            </a:pPr>
            <a:r>
              <a:rPr lang="en-US" sz="1400" b="1" dirty="0">
                <a:solidFill>
                  <a:srgbClr val="0078D4"/>
                </a:solidFill>
                <a:latin typeface="Meiryo UI" pitchFamily="34" charset="0"/>
                <a:ea typeface="Meiryo UI" pitchFamily="34" charset="-122"/>
                <a:cs typeface="Meiryo UI" pitchFamily="34" charset="-120"/>
              </a:rPr>
              <a:t>Azure サービス連携</a:t>
            </a:r>
            <a:endParaRPr lang="en-US" sz="1400" dirty="0"/>
          </a:p>
        </p:txBody>
      </p:sp>
      <p:sp>
        <p:nvSpPr>
          <p:cNvPr id="13" name="Shape 11"/>
          <p:cNvSpPr/>
          <p:nvPr/>
        </p:nvSpPr>
        <p:spPr>
          <a:xfrm>
            <a:off x="7955280" y="2743200"/>
            <a:ext cx="2286000" cy="1097280"/>
          </a:xfrm>
          <a:prstGeom prst="ellipse">
            <a:avLst/>
          </a:prstGeom>
          <a:solidFill>
            <a:srgbClr val="0078D4"/>
          </a:solidFill>
          <a:ln/>
        </p:spPr>
      </p:sp>
      <p:sp>
        <p:nvSpPr>
          <p:cNvPr id="14" name="Text 12"/>
          <p:cNvSpPr/>
          <p:nvPr/>
        </p:nvSpPr>
        <p:spPr>
          <a:xfrm>
            <a:off x="7955280" y="2743200"/>
            <a:ext cx="2286000" cy="109728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Azure</a:t>
            </a:r>
            <a:endParaRPr lang="en-US" sz="1400" dirty="0"/>
          </a:p>
          <a:p>
            <a:pPr algn="ctr" indent="0" marL="0">
              <a:buNone/>
            </a:pPr>
            <a:r>
              <a:rPr lang="en-US" sz="1400" b="1" dirty="0">
                <a:solidFill>
                  <a:srgbClr val="FFFFFF"/>
                </a:solidFill>
                <a:latin typeface="Meiryo UI" pitchFamily="34" charset="0"/>
                <a:ea typeface="Meiryo UI" pitchFamily="34" charset="-122"/>
                <a:cs typeface="Meiryo UI" pitchFamily="34" charset="-120"/>
              </a:rPr>
              <a:t>Local</a:t>
            </a:r>
            <a:endParaRPr lang="en-US" sz="1400" dirty="0"/>
          </a:p>
        </p:txBody>
      </p:sp>
      <p:sp>
        <p:nvSpPr>
          <p:cNvPr id="15" name="Shape 13"/>
          <p:cNvSpPr/>
          <p:nvPr/>
        </p:nvSpPr>
        <p:spPr>
          <a:xfrm>
            <a:off x="6400800" y="1737360"/>
            <a:ext cx="1828800" cy="822960"/>
          </a:xfrm>
          <a:prstGeom prst="roundRect">
            <a:avLst>
              <a:gd name="adj" fmla="val 11111"/>
            </a:avLst>
          </a:prstGeom>
          <a:solidFill>
            <a:srgbClr val="FFFFFF"/>
          </a:solidFill>
          <a:ln w="12700">
            <a:solidFill>
              <a:srgbClr val="0078D4"/>
            </a:solidFill>
            <a:prstDash val="solid"/>
          </a:ln>
        </p:spPr>
      </p:sp>
      <p:sp>
        <p:nvSpPr>
          <p:cNvPr id="16" name="Text 14"/>
          <p:cNvSpPr/>
          <p:nvPr/>
        </p:nvSpPr>
        <p:spPr>
          <a:xfrm>
            <a:off x="6400800" y="1737360"/>
            <a:ext cx="1828800" cy="822960"/>
          </a:xfrm>
          <a:prstGeom prst="rect">
            <a:avLst/>
          </a:prstGeom>
          <a:noFill/>
          <a:ln/>
        </p:spPr>
        <p:txBody>
          <a:bodyPr wrap="square" rtlCol="0" anchor="ctr"/>
          <a:lstStyle/>
          <a:p>
            <a:pPr algn="ctr" indent="0" marL="0">
              <a:buNone/>
            </a:pPr>
            <a:r>
              <a:rPr lang="en-US" sz="950" b="1" dirty="0">
                <a:solidFill>
                  <a:srgbClr val="0078D4"/>
                </a:solidFill>
                <a:latin typeface="Meiryo UI" pitchFamily="34" charset="0"/>
                <a:ea typeface="Meiryo UI" pitchFamily="34" charset="-122"/>
                <a:cs typeface="Meiryo UI" pitchFamily="34" charset="-120"/>
              </a:rPr>
              <a:t>Azure Monitor</a:t>
            </a:r>
            <a:endParaRPr lang="en-US" sz="950" dirty="0"/>
          </a:p>
          <a:p>
            <a:pPr algn="ctr" indent="0" marL="0">
              <a:buNone/>
            </a:pPr>
            <a:r>
              <a:rPr lang="en-US" sz="950" b="1" dirty="0">
                <a:solidFill>
                  <a:srgbClr val="0078D4"/>
                </a:solidFill>
                <a:latin typeface="Meiryo UI" pitchFamily="34" charset="0"/>
                <a:ea typeface="Meiryo UI" pitchFamily="34" charset="-122"/>
                <a:cs typeface="Meiryo UI" pitchFamily="34" charset="-120"/>
              </a:rPr>
              <a:t>Azure Policy</a:t>
            </a:r>
            <a:endParaRPr lang="en-US" sz="950" dirty="0"/>
          </a:p>
        </p:txBody>
      </p:sp>
      <p:sp>
        <p:nvSpPr>
          <p:cNvPr id="17" name="Shape 15"/>
          <p:cNvSpPr/>
          <p:nvPr/>
        </p:nvSpPr>
        <p:spPr>
          <a:xfrm>
            <a:off x="9326880" y="1737360"/>
            <a:ext cx="1828800" cy="822960"/>
          </a:xfrm>
          <a:prstGeom prst="roundRect">
            <a:avLst>
              <a:gd name="adj" fmla="val 11111"/>
            </a:avLst>
          </a:prstGeom>
          <a:solidFill>
            <a:srgbClr val="FFFFFF"/>
          </a:solidFill>
          <a:ln w="12700">
            <a:solidFill>
              <a:srgbClr val="0078D4"/>
            </a:solidFill>
            <a:prstDash val="solid"/>
          </a:ln>
        </p:spPr>
      </p:sp>
      <p:sp>
        <p:nvSpPr>
          <p:cNvPr id="18" name="Text 16"/>
          <p:cNvSpPr/>
          <p:nvPr/>
        </p:nvSpPr>
        <p:spPr>
          <a:xfrm>
            <a:off x="9326880" y="1737360"/>
            <a:ext cx="1828800" cy="822960"/>
          </a:xfrm>
          <a:prstGeom prst="rect">
            <a:avLst/>
          </a:prstGeom>
          <a:noFill/>
          <a:ln/>
        </p:spPr>
        <p:txBody>
          <a:bodyPr wrap="square" rtlCol="0" anchor="ctr"/>
          <a:lstStyle/>
          <a:p>
            <a:pPr algn="ctr" indent="0" marL="0">
              <a:buNone/>
            </a:pPr>
            <a:r>
              <a:rPr lang="en-US" sz="950" b="1" dirty="0">
                <a:solidFill>
                  <a:srgbClr val="0078D4"/>
                </a:solidFill>
                <a:latin typeface="Meiryo UI" pitchFamily="34" charset="0"/>
                <a:ea typeface="Meiryo UI" pitchFamily="34" charset="-122"/>
                <a:cs typeface="Meiryo UI" pitchFamily="34" charset="-120"/>
              </a:rPr>
              <a:t>Azure Backup</a:t>
            </a:r>
            <a:endParaRPr lang="en-US" sz="950" dirty="0"/>
          </a:p>
          <a:p>
            <a:pPr algn="ctr" indent="0" marL="0">
              <a:buNone/>
            </a:pPr>
            <a:r>
              <a:rPr lang="en-US" sz="950" b="1" dirty="0">
                <a:solidFill>
                  <a:srgbClr val="0078D4"/>
                </a:solidFill>
                <a:latin typeface="Meiryo UI" pitchFamily="34" charset="0"/>
                <a:ea typeface="Meiryo UI" pitchFamily="34" charset="-122"/>
                <a:cs typeface="Meiryo UI" pitchFamily="34" charset="-120"/>
              </a:rPr>
              <a:t>Site Recovery</a:t>
            </a:r>
            <a:endParaRPr lang="en-US" sz="950" dirty="0"/>
          </a:p>
        </p:txBody>
      </p:sp>
      <p:sp>
        <p:nvSpPr>
          <p:cNvPr id="19" name="Shape 17"/>
          <p:cNvSpPr/>
          <p:nvPr/>
        </p:nvSpPr>
        <p:spPr>
          <a:xfrm>
            <a:off x="6400800" y="4114800"/>
            <a:ext cx="1828800" cy="822960"/>
          </a:xfrm>
          <a:prstGeom prst="roundRect">
            <a:avLst>
              <a:gd name="adj" fmla="val 11111"/>
            </a:avLst>
          </a:prstGeom>
          <a:solidFill>
            <a:srgbClr val="FFFFFF"/>
          </a:solidFill>
          <a:ln w="12700">
            <a:solidFill>
              <a:srgbClr val="0078D4"/>
            </a:solidFill>
            <a:prstDash val="solid"/>
          </a:ln>
        </p:spPr>
      </p:sp>
      <p:sp>
        <p:nvSpPr>
          <p:cNvPr id="20" name="Text 18"/>
          <p:cNvSpPr/>
          <p:nvPr/>
        </p:nvSpPr>
        <p:spPr>
          <a:xfrm>
            <a:off x="6400800" y="4114800"/>
            <a:ext cx="1828800" cy="822960"/>
          </a:xfrm>
          <a:prstGeom prst="rect">
            <a:avLst/>
          </a:prstGeom>
          <a:noFill/>
          <a:ln/>
        </p:spPr>
        <p:txBody>
          <a:bodyPr wrap="square" rtlCol="0" anchor="ctr"/>
          <a:lstStyle/>
          <a:p>
            <a:pPr algn="ctr" indent="0" marL="0">
              <a:buNone/>
            </a:pPr>
            <a:r>
              <a:rPr lang="en-US" sz="950" b="1" dirty="0">
                <a:solidFill>
                  <a:srgbClr val="0078D4"/>
                </a:solidFill>
                <a:latin typeface="Meiryo UI" pitchFamily="34" charset="0"/>
                <a:ea typeface="Meiryo UI" pitchFamily="34" charset="-122"/>
                <a:cs typeface="Meiryo UI" pitchFamily="34" charset="-120"/>
              </a:rPr>
              <a:t>Azure Update</a:t>
            </a:r>
            <a:endParaRPr lang="en-US" sz="950" dirty="0"/>
          </a:p>
          <a:p>
            <a:pPr algn="ctr" indent="0" marL="0">
              <a:buNone/>
            </a:pPr>
            <a:r>
              <a:rPr lang="en-US" sz="950" b="1" dirty="0">
                <a:solidFill>
                  <a:srgbClr val="0078D4"/>
                </a:solidFill>
                <a:latin typeface="Meiryo UI" pitchFamily="34" charset="0"/>
                <a:ea typeface="Meiryo UI" pitchFamily="34" charset="-122"/>
                <a:cs typeface="Meiryo UI" pitchFamily="34" charset="-120"/>
              </a:rPr>
              <a:t>Manager</a:t>
            </a:r>
            <a:endParaRPr lang="en-US" sz="950" dirty="0"/>
          </a:p>
        </p:txBody>
      </p:sp>
      <p:sp>
        <p:nvSpPr>
          <p:cNvPr id="21" name="Shape 19"/>
          <p:cNvSpPr/>
          <p:nvPr/>
        </p:nvSpPr>
        <p:spPr>
          <a:xfrm>
            <a:off x="9326880" y="4114800"/>
            <a:ext cx="1828800" cy="822960"/>
          </a:xfrm>
          <a:prstGeom prst="roundRect">
            <a:avLst>
              <a:gd name="adj" fmla="val 11111"/>
            </a:avLst>
          </a:prstGeom>
          <a:solidFill>
            <a:srgbClr val="FFFFFF"/>
          </a:solidFill>
          <a:ln w="12700">
            <a:solidFill>
              <a:srgbClr val="0078D4"/>
            </a:solidFill>
            <a:prstDash val="solid"/>
          </a:ln>
        </p:spPr>
      </p:sp>
      <p:sp>
        <p:nvSpPr>
          <p:cNvPr id="22" name="Text 20"/>
          <p:cNvSpPr/>
          <p:nvPr/>
        </p:nvSpPr>
        <p:spPr>
          <a:xfrm>
            <a:off x="9326880" y="4114800"/>
            <a:ext cx="1828800" cy="822960"/>
          </a:xfrm>
          <a:prstGeom prst="rect">
            <a:avLst/>
          </a:prstGeom>
          <a:noFill/>
          <a:ln/>
        </p:spPr>
        <p:txBody>
          <a:bodyPr wrap="square" rtlCol="0" anchor="ctr"/>
          <a:lstStyle/>
          <a:p>
            <a:pPr algn="ctr" indent="0" marL="0">
              <a:buNone/>
            </a:pPr>
            <a:r>
              <a:rPr lang="en-US" sz="950" b="1" dirty="0">
                <a:solidFill>
                  <a:srgbClr val="0078D4"/>
                </a:solidFill>
                <a:latin typeface="Meiryo UI" pitchFamily="34" charset="0"/>
                <a:ea typeface="Meiryo UI" pitchFamily="34" charset="-122"/>
                <a:cs typeface="Meiryo UI" pitchFamily="34" charset="-120"/>
              </a:rPr>
              <a:t>Copilot for</a:t>
            </a:r>
            <a:endParaRPr lang="en-US" sz="950" dirty="0"/>
          </a:p>
          <a:p>
            <a:pPr algn="ctr" indent="0" marL="0">
              <a:buNone/>
            </a:pPr>
            <a:r>
              <a:rPr lang="en-US" sz="950" b="1" dirty="0">
                <a:solidFill>
                  <a:srgbClr val="0078D4"/>
                </a:solidFill>
                <a:latin typeface="Meiryo UI" pitchFamily="34" charset="0"/>
                <a:ea typeface="Meiryo UI" pitchFamily="34" charset="-122"/>
                <a:cs typeface="Meiryo UI" pitchFamily="34" charset="-120"/>
              </a:rPr>
              <a:t>Azure</a:t>
            </a:r>
            <a:endParaRPr lang="en-US" sz="95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セキュリティ機能</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7 / 10</a:t>
              </a:r>
              <a:endParaRPr lang="en-US" sz="900" dirty="0"/>
            </a:p>
          </p:txBody>
        </p:sp>
        <p:sp>
          <p:nvSpPr>
            <p:cNvPr id="5" name="Shape 3"/>
            <p:cNvSpPr/>
            <p:nvPr/>
          </p:nvSpPr>
          <p:spPr>
            <a:xfrm>
              <a:off x="457200" y="1188720"/>
              <a:ext cx="11247120" cy="914400"/>
            </a:xfrm>
            <a:prstGeom prst="roundRect">
              <a:avLst>
                <a:gd name="adj" fmla="val 12000"/>
              </a:avLst>
            </a:prstGeom>
            <a:solidFill>
              <a:srgbClr val="0078D4"/>
            </a:solidFill>
            <a:ln/>
          </p:spPr>
        </p:sp>
        <p:sp>
          <p:nvSpPr>
            <p:cNvPr id="6" name="Text 4"/>
            <p:cNvSpPr/>
            <p:nvPr/>
          </p:nvSpPr>
          <p:spPr>
            <a:xfrm>
              <a:off x="640080" y="1188720"/>
              <a:ext cx="10881360" cy="914400"/>
            </a:xfrm>
            <a:prstGeom prst="rect">
              <a:avLst/>
            </a:prstGeom>
            <a:noFill/>
            <a:ln/>
          </p:spPr>
          <p:txBody>
            <a:bodyPr wrap="square" rtlCol="0" anchor="ctr"/>
            <a:lstStyle/>
            <a:p>
              <a:pPr algn="l" indent="0" marL="0">
                <a:buNone/>
              </a:pPr>
              <a:r>
                <a:rPr lang="en-US" sz="1300" b="1" dirty="0">
                  <a:solidFill>
                    <a:srgbClr val="FFFFFF"/>
                  </a:solidFill>
                  <a:latin typeface="Meiryo UI" pitchFamily="34" charset="0"/>
                  <a:ea typeface="Meiryo UI" pitchFamily="34" charset="-122"/>
                  <a:cs typeface="Meiryo UI" pitchFamily="34" charset="-120"/>
                </a:rPr>
                <a:t>クラウドサービス層: Microsoft Defender for Cloud / Azure RBAC / SIEM 連携</a:t>
              </a:r>
              <a:endParaRPr lang="en-US" sz="1300" dirty="0"/>
            </a:p>
          </p:txBody>
        </p:sp>
        <p:sp>
          <p:nvSpPr>
            <p:cNvPr id="7" name="Shape 5"/>
            <p:cNvSpPr/>
            <p:nvPr/>
          </p:nvSpPr>
          <p:spPr>
            <a:xfrm>
              <a:off x="457200" y="2286000"/>
              <a:ext cx="11247120" cy="914400"/>
            </a:xfrm>
            <a:prstGeom prst="roundRect">
              <a:avLst>
                <a:gd name="adj" fmla="val 12000"/>
              </a:avLst>
            </a:prstGeom>
            <a:solidFill>
              <a:srgbClr val="5C2D91"/>
            </a:solidFill>
            <a:ln/>
          </p:spPr>
        </p:sp>
        <p:sp>
          <p:nvSpPr>
            <p:cNvPr id="8" name="Text 6"/>
            <p:cNvSpPr/>
            <p:nvPr/>
          </p:nvSpPr>
          <p:spPr>
            <a:xfrm>
              <a:off x="640080" y="2286000"/>
              <a:ext cx="10881360" cy="914400"/>
            </a:xfrm>
            <a:prstGeom prst="rect">
              <a:avLst/>
            </a:prstGeom>
            <a:noFill/>
            <a:ln/>
          </p:spPr>
          <p:txBody>
            <a:bodyPr wrap="square" rtlCol="0" anchor="ctr"/>
            <a:lstStyle/>
            <a:p>
              <a:pPr algn="l" indent="0" marL="0">
                <a:buNone/>
              </a:pPr>
              <a:r>
                <a:rPr lang="en-US" sz="1300" b="1" dirty="0">
                  <a:solidFill>
                    <a:srgbClr val="FFFFFF"/>
                  </a:solidFill>
                  <a:latin typeface="Meiryo UI" pitchFamily="34" charset="0"/>
                  <a:ea typeface="Meiryo UI" pitchFamily="34" charset="-122"/>
                  <a:cs typeface="Meiryo UI" pitchFamily="34" charset="-120"/>
                </a:rPr>
                <a:t>ワークロード層: Trusted Launch / VM 保護 / BitLocker ディスク暗号化</a:t>
              </a:r>
              <a:endParaRPr lang="en-US" sz="1300" dirty="0"/>
            </a:p>
          </p:txBody>
        </p:sp>
        <p:sp>
          <p:nvSpPr>
            <p:cNvPr id="9" name="Shape 7"/>
            <p:cNvSpPr/>
            <p:nvPr/>
          </p:nvSpPr>
          <p:spPr>
            <a:xfrm>
              <a:off x="457200" y="3383280"/>
              <a:ext cx="11247120" cy="914400"/>
            </a:xfrm>
            <a:prstGeom prst="roundRect">
              <a:avLst>
                <a:gd name="adj" fmla="val 12000"/>
              </a:avLst>
            </a:prstGeom>
            <a:solidFill>
              <a:srgbClr val="107C10"/>
            </a:solidFill>
            <a:ln/>
          </p:spPr>
        </p:sp>
        <p:sp>
          <p:nvSpPr>
            <p:cNvPr id="10" name="Text 8"/>
            <p:cNvSpPr/>
            <p:nvPr/>
          </p:nvSpPr>
          <p:spPr>
            <a:xfrm>
              <a:off x="640080" y="3383280"/>
              <a:ext cx="10881360" cy="914400"/>
            </a:xfrm>
            <a:prstGeom prst="rect">
              <a:avLst/>
            </a:prstGeom>
            <a:noFill/>
            <a:ln/>
          </p:spPr>
          <p:txBody>
            <a:bodyPr wrap="square" rtlCol="0" anchor="ctr"/>
            <a:lstStyle/>
            <a:p>
              <a:pPr algn="l" indent="0" marL="0">
                <a:buNone/>
              </a:pPr>
              <a:r>
                <a:rPr lang="en-US" sz="1300" b="1" dirty="0">
                  <a:solidFill>
                    <a:srgbClr val="FFFFFF"/>
                  </a:solidFill>
                  <a:latin typeface="Meiryo UI" pitchFamily="34" charset="0"/>
                  <a:ea typeface="Meiryo UI" pitchFamily="34" charset="-122"/>
                  <a:cs typeface="Meiryo UI" pitchFamily="34" charset="-120"/>
                </a:rPr>
                <a:t>OS 層: セキュア・バイ・デフォルト (300+ 設定) / ドリフト制御</a:t>
              </a:r>
              <a:endParaRPr lang="en-US" sz="1300" dirty="0"/>
            </a:p>
          </p:txBody>
        </p:sp>
        <p:sp>
          <p:nvSpPr>
            <p:cNvPr id="11" name="Shape 9"/>
            <p:cNvSpPr/>
            <p:nvPr/>
          </p:nvSpPr>
          <p:spPr>
            <a:xfrm>
              <a:off x="457200" y="4480560"/>
              <a:ext cx="11247120" cy="914400"/>
            </a:xfrm>
            <a:prstGeom prst="roundRect">
              <a:avLst>
                <a:gd name="adj" fmla="val 12000"/>
              </a:avLst>
            </a:prstGeom>
            <a:solidFill>
              <a:srgbClr val="6B6B6B"/>
            </a:solidFill>
            <a:ln/>
          </p:spPr>
        </p:sp>
        <p:sp>
          <p:nvSpPr>
            <p:cNvPr id="12" name="Text 10"/>
            <p:cNvSpPr/>
            <p:nvPr/>
          </p:nvSpPr>
          <p:spPr>
            <a:xfrm>
              <a:off x="640080" y="4480560"/>
              <a:ext cx="10881360" cy="914400"/>
            </a:xfrm>
            <a:prstGeom prst="rect">
              <a:avLst/>
            </a:prstGeom>
            <a:noFill/>
            <a:ln/>
          </p:spPr>
          <p:txBody>
            <a:bodyPr wrap="square" rtlCol="0" anchor="ctr"/>
            <a:lstStyle/>
            <a:p>
              <a:pPr algn="l" indent="0" marL="0">
                <a:buNone/>
              </a:pPr>
              <a:r>
                <a:rPr lang="en-US" sz="1300" b="1" dirty="0">
                  <a:solidFill>
                    <a:srgbClr val="FFFFFF"/>
                  </a:solidFill>
                  <a:latin typeface="Meiryo UI" pitchFamily="34" charset="0"/>
                  <a:ea typeface="Meiryo UI" pitchFamily="34" charset="-122"/>
                  <a:cs typeface="Meiryo UI" pitchFamily="34" charset="-120"/>
                </a:rPr>
                <a:t>ハードウェア層: Secure Boot / UEFI / TPM / VBS</a:t>
              </a:r>
              <a:endParaRPr lang="en-US" sz="1300" dirty="0"/>
            </a:p>
          </p:txBody>
        </p:sp>
        <p:sp>
          <p:nvSpPr>
            <p:cNvPr id="13" name="Text 11"/>
            <p:cNvSpPr/>
            <p:nvPr/>
          </p:nvSpPr>
          <p:spPr>
            <a:xfrm>
              <a:off x="457200" y="5212080"/>
              <a:ext cx="11247120" cy="1371600"/>
            </a:xfrm>
            <a:prstGeom prst="rect">
              <a:avLst/>
            </a:prstGeom>
            <a:noFill/>
            <a:ln/>
          </p:spPr>
          <p:txBody>
            <a:bodyPr wrap="square" rtlCol="0" anchor="t"/>
            <a:lstStyle/>
            <a:p>
              <a:pPr indent="0" marL="0">
                <a:lnSpc>
                  <a:spcPct val="120000"/>
                </a:lnSpc>
                <a:buNone/>
              </a:pPr>
              <a:r>
                <a:rPr lang="en-US" sz="1200" b="1" dirty="0">
                  <a:solidFill>
                    <a:srgbClr val="333333"/>
                  </a:solidFill>
                  <a:latin typeface="Meiryo UI" pitchFamily="34" charset="0"/>
                  <a:ea typeface="Meiryo UI" pitchFamily="34" charset="-122"/>
                  <a:cs typeface="Meiryo UI" pitchFamily="34" charset="-120"/>
                </a:rPr>
                <a:t>主要なセキュリティ特徴:</a:t>
              </a:r>
              <a:pPr indent="0" marL="0">
                <a:lnSpc>
                  <a:spcPct val="120000"/>
                </a:lnSpc>
                <a:buNone/>
              </a:pPr>
              <a:endParaRPr lang="en-US" sz="1200" dirty="0"/>
            </a:p>
            <a:p>
              <a:pPr indent="0" marL="0">
                <a:lnSpc>
                  <a:spcPct val="120000"/>
                </a:lnSpc>
                <a:buNone/>
              </a:pPr>
              <a:r>
                <a:rPr lang="en-US" sz="1100" dirty="0">
                  <a:solidFill>
                    <a:srgbClr val="333333"/>
                  </a:solidFill>
                  <a:latin typeface="Meiryo UI" pitchFamily="34" charset="0"/>
                  <a:ea typeface="Meiryo UI" pitchFamily="34" charset="-122"/>
                  <a:cs typeface="Meiryo UI" pitchFamily="34" charset="-120"/>
                </a:rPr>
                <a:t>• 300以上のセキュリティ設定を標準搭載し、一貫したセキュリティベースラインを提供しています</a:t>
              </a:r>
              <a:endParaRPr lang="en-US" sz="1200" dirty="0"/>
            </a:p>
            <a:p>
              <a:pPr indent="0" marL="0">
                <a:lnSpc>
                  <a:spcPct val="120000"/>
                </a:lnSpc>
                <a:buNone/>
              </a:pPr>
              <a:endParaRPr lang="en-US" sz="1200" dirty="0"/>
            </a:p>
            <a:p>
              <a:pPr indent="0" marL="0">
                <a:lnSpc>
                  <a:spcPct val="120000"/>
                </a:lnSpc>
                <a:buNone/>
              </a:pPr>
              <a:r>
                <a:rPr lang="en-US" sz="1100" dirty="0">
                  <a:solidFill>
                    <a:srgbClr val="333333"/>
                  </a:solidFill>
                  <a:latin typeface="Meiryo UI" pitchFamily="34" charset="0"/>
                  <a:ea typeface="Meiryo UI" pitchFamily="34" charset="-122"/>
                  <a:cs typeface="Meiryo UI" pitchFamily="34" charset="-120"/>
                </a:rPr>
                <a:t>• ドリフト制御メカニズムにより設定の逸脱を防止します</a:t>
              </a:r>
              <a:endParaRPr lang="en-US" sz="1200" dirty="0"/>
            </a:p>
            <a:p>
              <a:pPr indent="0" marL="0">
                <a:lnSpc>
                  <a:spcPct val="120000"/>
                </a:lnSpc>
                <a:buNone/>
              </a:pPr>
              <a:endParaRPr lang="en-US" sz="1200" dirty="0"/>
            </a:p>
            <a:p>
              <a:pPr indent="0" marL="0">
                <a:lnSpc>
                  <a:spcPct val="120000"/>
                </a:lnSpc>
                <a:buNone/>
              </a:pPr>
              <a:r>
                <a:rPr lang="en-US" sz="1100" dirty="0">
                  <a:solidFill>
                    <a:srgbClr val="333333"/>
                  </a:solidFill>
                  <a:latin typeface="Meiryo UI" pitchFamily="34" charset="0"/>
                  <a:ea typeface="Meiryo UI" pitchFamily="34" charset="-122"/>
                  <a:cs typeface="Meiryo UI" pitchFamily="34" charset="-120"/>
                </a:rPr>
                <a:t>• SMB 暗号化によるストレージトラフィック保護に対応しています</a:t>
              </a:r>
              <a:endParaRPr lang="en-US" sz="1200" dirty="0"/>
            </a:p>
          </p:txBody>
        </p:sp>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セキュリティ機能</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7 / 10</a:t>
            </a:r>
            <a:endParaRPr lang="en-US" sz="900" dirty="0"/>
          </a:p>
        </p:txBody>
      </p:sp>
      <p:sp>
        <p:nvSpPr>
          <p:cNvPr id="5" name="Shape 3"/>
          <p:cNvSpPr/>
          <p:nvPr/>
        </p:nvSpPr>
        <p:spPr>
          <a:xfrm>
            <a:off x="457200" y="1188720"/>
            <a:ext cx="11247120" cy="914400"/>
          </a:xfrm>
          <a:prstGeom prst="roundRect">
            <a:avLst>
              <a:gd name="adj" fmla="val 12000"/>
            </a:avLst>
          </a:prstGeom>
          <a:solidFill>
            <a:srgbClr val="0078D4"/>
          </a:solidFill>
          <a:ln/>
        </p:spPr>
      </p:sp>
      <p:sp>
        <p:nvSpPr>
          <p:cNvPr id="6" name="Text 4"/>
          <p:cNvSpPr/>
          <p:nvPr/>
        </p:nvSpPr>
        <p:spPr>
          <a:xfrm>
            <a:off x="640080" y="1188720"/>
            <a:ext cx="10881360" cy="914400"/>
          </a:xfrm>
          <a:prstGeom prst="rect">
            <a:avLst/>
          </a:prstGeom>
          <a:noFill/>
          <a:ln/>
        </p:spPr>
        <p:txBody>
          <a:bodyPr wrap="square" rtlCol="0" anchor="ctr"/>
          <a:lstStyle/>
          <a:p>
            <a:pPr algn="l" indent="0" marL="0">
              <a:buNone/>
            </a:pPr>
            <a:r>
              <a:rPr lang="en-US" sz="1300" b="1" dirty="0">
                <a:solidFill>
                  <a:srgbClr val="FFFFFF"/>
                </a:solidFill>
                <a:latin typeface="Meiryo UI" pitchFamily="34" charset="0"/>
                <a:ea typeface="Meiryo UI" pitchFamily="34" charset="-122"/>
                <a:cs typeface="Meiryo UI" pitchFamily="34" charset="-120"/>
              </a:rPr>
              <a:t>クラウドサービス層: Microsoft Defender for Cloud / Azure RBAC / SIEM 連携</a:t>
            </a:r>
            <a:endParaRPr lang="en-US" sz="1300" dirty="0"/>
          </a:p>
        </p:txBody>
      </p:sp>
      <p:sp>
        <p:nvSpPr>
          <p:cNvPr id="7" name="Shape 5"/>
          <p:cNvSpPr/>
          <p:nvPr/>
        </p:nvSpPr>
        <p:spPr>
          <a:xfrm>
            <a:off x="457200" y="2286000"/>
            <a:ext cx="11247120" cy="914400"/>
          </a:xfrm>
          <a:prstGeom prst="roundRect">
            <a:avLst>
              <a:gd name="adj" fmla="val 12000"/>
            </a:avLst>
          </a:prstGeom>
          <a:solidFill>
            <a:srgbClr val="5C2D91"/>
          </a:solidFill>
          <a:ln/>
        </p:spPr>
      </p:sp>
      <p:sp>
        <p:nvSpPr>
          <p:cNvPr id="8" name="Text 6"/>
          <p:cNvSpPr/>
          <p:nvPr/>
        </p:nvSpPr>
        <p:spPr>
          <a:xfrm>
            <a:off x="640080" y="2286000"/>
            <a:ext cx="10881360" cy="914400"/>
          </a:xfrm>
          <a:prstGeom prst="rect">
            <a:avLst/>
          </a:prstGeom>
          <a:noFill/>
          <a:ln/>
        </p:spPr>
        <p:txBody>
          <a:bodyPr wrap="square" rtlCol="0" anchor="ctr"/>
          <a:lstStyle/>
          <a:p>
            <a:pPr algn="l" indent="0" marL="0">
              <a:buNone/>
            </a:pPr>
            <a:r>
              <a:rPr lang="en-US" sz="1300" b="1" dirty="0">
                <a:solidFill>
                  <a:srgbClr val="FFFFFF"/>
                </a:solidFill>
                <a:latin typeface="Meiryo UI" pitchFamily="34" charset="0"/>
                <a:ea typeface="Meiryo UI" pitchFamily="34" charset="-122"/>
                <a:cs typeface="Meiryo UI" pitchFamily="34" charset="-120"/>
              </a:rPr>
              <a:t>ワークロード層: Trusted Launch / VM 保護 / BitLocker ディスク暗号化</a:t>
            </a:r>
            <a:endParaRPr lang="en-US" sz="1300" dirty="0"/>
          </a:p>
        </p:txBody>
      </p:sp>
      <p:sp>
        <p:nvSpPr>
          <p:cNvPr id="9" name="Shape 7"/>
          <p:cNvSpPr/>
          <p:nvPr/>
        </p:nvSpPr>
        <p:spPr>
          <a:xfrm>
            <a:off x="457200" y="3383280"/>
            <a:ext cx="11247120" cy="914400"/>
          </a:xfrm>
          <a:prstGeom prst="roundRect">
            <a:avLst>
              <a:gd name="adj" fmla="val 12000"/>
            </a:avLst>
          </a:prstGeom>
          <a:solidFill>
            <a:srgbClr val="107C10"/>
          </a:solidFill>
          <a:ln/>
        </p:spPr>
      </p:sp>
      <p:sp>
        <p:nvSpPr>
          <p:cNvPr id="10" name="Text 8"/>
          <p:cNvSpPr/>
          <p:nvPr/>
        </p:nvSpPr>
        <p:spPr>
          <a:xfrm>
            <a:off x="640080" y="3383280"/>
            <a:ext cx="10881360" cy="914400"/>
          </a:xfrm>
          <a:prstGeom prst="rect">
            <a:avLst/>
          </a:prstGeom>
          <a:noFill/>
          <a:ln/>
        </p:spPr>
        <p:txBody>
          <a:bodyPr wrap="square" rtlCol="0" anchor="ctr"/>
          <a:lstStyle/>
          <a:p>
            <a:pPr algn="l" indent="0" marL="0">
              <a:buNone/>
            </a:pPr>
            <a:r>
              <a:rPr lang="en-US" sz="1300" b="1" dirty="0">
                <a:solidFill>
                  <a:srgbClr val="FFFFFF"/>
                </a:solidFill>
                <a:latin typeface="Meiryo UI" pitchFamily="34" charset="0"/>
                <a:ea typeface="Meiryo UI" pitchFamily="34" charset="-122"/>
                <a:cs typeface="Meiryo UI" pitchFamily="34" charset="-120"/>
              </a:rPr>
              <a:t>OS 層: セキュア・バイ・デフォルト (300+ 設定) / ドリフト制御</a:t>
            </a:r>
            <a:endParaRPr lang="en-US" sz="1300" dirty="0"/>
          </a:p>
        </p:txBody>
      </p:sp>
      <p:sp>
        <p:nvSpPr>
          <p:cNvPr id="11" name="Shape 9"/>
          <p:cNvSpPr/>
          <p:nvPr/>
        </p:nvSpPr>
        <p:spPr>
          <a:xfrm>
            <a:off x="457200" y="4480560"/>
            <a:ext cx="11247120" cy="914400"/>
          </a:xfrm>
          <a:prstGeom prst="roundRect">
            <a:avLst>
              <a:gd name="adj" fmla="val 12000"/>
            </a:avLst>
          </a:prstGeom>
          <a:solidFill>
            <a:srgbClr val="6B6B6B"/>
          </a:solidFill>
          <a:ln/>
        </p:spPr>
      </p:sp>
      <p:sp>
        <p:nvSpPr>
          <p:cNvPr id="12" name="Text 10"/>
          <p:cNvSpPr/>
          <p:nvPr/>
        </p:nvSpPr>
        <p:spPr>
          <a:xfrm>
            <a:off x="640080" y="4480560"/>
            <a:ext cx="10881360" cy="914400"/>
          </a:xfrm>
          <a:prstGeom prst="rect">
            <a:avLst/>
          </a:prstGeom>
          <a:noFill/>
          <a:ln/>
        </p:spPr>
        <p:txBody>
          <a:bodyPr wrap="square" rtlCol="0" anchor="ctr"/>
          <a:lstStyle/>
          <a:p>
            <a:pPr algn="l" indent="0" marL="0">
              <a:buNone/>
            </a:pPr>
            <a:r>
              <a:rPr lang="en-US" sz="1300" b="1" dirty="0">
                <a:solidFill>
                  <a:srgbClr val="FFFFFF"/>
                </a:solidFill>
                <a:latin typeface="Meiryo UI" pitchFamily="34" charset="0"/>
                <a:ea typeface="Meiryo UI" pitchFamily="34" charset="-122"/>
                <a:cs typeface="Meiryo UI" pitchFamily="34" charset="-120"/>
              </a:rPr>
              <a:t>ハードウェア層: Secure Boot / UEFI / TPM / VBS</a:t>
            </a:r>
            <a:endParaRPr lang="en-US" sz="1300" dirty="0"/>
          </a:p>
        </p:txBody>
      </p:sp>
      <p:sp>
        <p:nvSpPr>
          <p:cNvPr id="13" name="Text 11"/>
          <p:cNvSpPr/>
          <p:nvPr/>
        </p:nvSpPr>
        <p:spPr>
          <a:xfrm>
            <a:off x="457200" y="5212080"/>
            <a:ext cx="11247120" cy="1371600"/>
          </a:xfrm>
          <a:prstGeom prst="rect">
            <a:avLst/>
          </a:prstGeom>
          <a:noFill/>
          <a:ln/>
        </p:spPr>
        <p:txBody>
          <a:bodyPr wrap="square" rtlCol="0" anchor="t"/>
          <a:lstStyle/>
          <a:p>
            <a:pPr indent="0" marL="0">
              <a:lnSpc>
                <a:spcPct val="120000"/>
              </a:lnSpc>
              <a:buNone/>
            </a:pPr>
            <a:r>
              <a:rPr lang="en-US" sz="1200" b="1" dirty="0">
                <a:solidFill>
                  <a:srgbClr val="333333"/>
                </a:solidFill>
                <a:latin typeface="Meiryo UI" pitchFamily="34" charset="0"/>
                <a:ea typeface="Meiryo UI" pitchFamily="34" charset="-122"/>
                <a:cs typeface="Meiryo UI" pitchFamily="34" charset="-120"/>
              </a:rPr>
              <a:t>主要なセキュリティ特徴:</a:t>
            </a:r>
            <a:pPr indent="0" marL="0">
              <a:lnSpc>
                <a:spcPct val="120000"/>
              </a:lnSpc>
              <a:buNone/>
            </a:pPr>
            <a:endParaRPr lang="en-US" sz="1200" dirty="0"/>
          </a:p>
          <a:p>
            <a:pPr indent="0" marL="0">
              <a:lnSpc>
                <a:spcPct val="120000"/>
              </a:lnSpc>
              <a:buNone/>
            </a:pPr>
            <a:r>
              <a:rPr lang="en-US" sz="1100" dirty="0">
                <a:solidFill>
                  <a:srgbClr val="333333"/>
                </a:solidFill>
                <a:latin typeface="Meiryo UI" pitchFamily="34" charset="0"/>
                <a:ea typeface="Meiryo UI" pitchFamily="34" charset="-122"/>
                <a:cs typeface="Meiryo UI" pitchFamily="34" charset="-120"/>
              </a:rPr>
              <a:t>• 300以上のセキュリティ設定を標準搭載し、一貫したセキュリティベースラインを提供しています</a:t>
            </a:r>
            <a:endParaRPr lang="en-US" sz="1200" dirty="0"/>
          </a:p>
          <a:p>
            <a:pPr indent="0" marL="0">
              <a:lnSpc>
                <a:spcPct val="120000"/>
              </a:lnSpc>
              <a:buNone/>
            </a:pPr>
            <a:endParaRPr lang="en-US" sz="1200" dirty="0"/>
          </a:p>
          <a:p>
            <a:pPr indent="0" marL="0">
              <a:lnSpc>
                <a:spcPct val="120000"/>
              </a:lnSpc>
              <a:buNone/>
            </a:pPr>
            <a:r>
              <a:rPr lang="en-US" sz="1100" dirty="0">
                <a:solidFill>
                  <a:srgbClr val="333333"/>
                </a:solidFill>
                <a:latin typeface="Meiryo UI" pitchFamily="34" charset="0"/>
                <a:ea typeface="Meiryo UI" pitchFamily="34" charset="-122"/>
                <a:cs typeface="Meiryo UI" pitchFamily="34" charset="-120"/>
              </a:rPr>
              <a:t>• ドリフト制御メカニズムにより設定の逸脱を防止します</a:t>
            </a:r>
            <a:endParaRPr lang="en-US" sz="1200" dirty="0"/>
          </a:p>
          <a:p>
            <a:pPr indent="0" marL="0">
              <a:lnSpc>
                <a:spcPct val="120000"/>
              </a:lnSpc>
              <a:buNone/>
            </a:pPr>
            <a:endParaRPr lang="en-US" sz="1200" dirty="0"/>
          </a:p>
          <a:p>
            <a:pPr indent="0" marL="0">
              <a:lnSpc>
                <a:spcPct val="120000"/>
              </a:lnSpc>
              <a:buNone/>
            </a:pPr>
            <a:r>
              <a:rPr lang="en-US" sz="1100" dirty="0">
                <a:solidFill>
                  <a:srgbClr val="333333"/>
                </a:solidFill>
                <a:latin typeface="Meiryo UI" pitchFamily="34" charset="0"/>
                <a:ea typeface="Meiryo UI" pitchFamily="34" charset="-122"/>
                <a:cs typeface="Meiryo UI" pitchFamily="34" charset="-120"/>
              </a:rPr>
              <a:t>• SMB 暗号化によるストレージトラフィック保護に対応しています</a:t>
            </a:r>
            <a:endParaRPr lang="en-US" sz="12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料金体系と Windows Server との比較</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8 / 10</a:t>
              </a:r>
              <a:endParaRPr lang="en-US" sz="900" dirty="0"/>
            </a:p>
          </p:txBody>
        </p:sp>
        <p:sp>
          <p:nvSpPr>
            <p:cNvPr id="5" name="Text 3"/>
            <p:cNvSpPr/>
            <p:nvPr/>
          </p:nvSpPr>
          <p:spPr>
            <a:xfrm>
              <a:off x="457200" y="1188720"/>
              <a:ext cx="4572000" cy="365760"/>
            </a:xfrm>
            <a:prstGeom prst="rect">
              <a:avLst/>
            </a:prstGeom>
            <a:noFill/>
            <a:ln/>
          </p:spPr>
          <p:txBody>
            <a:bodyPr wrap="square" rtlCol="0" anchor="ctr"/>
            <a:lstStyle/>
            <a:p>
              <a:pPr indent="0" marL="0">
                <a:buNone/>
              </a:pPr>
              <a:r>
                <a:rPr lang="en-US" sz="1500" b="1" dirty="0">
                  <a:solidFill>
                    <a:srgbClr val="0078D4"/>
                  </a:solidFill>
                  <a:latin typeface="Meiryo UI" pitchFamily="34" charset="0"/>
                  <a:ea typeface="Meiryo UI" pitchFamily="34" charset="-122"/>
                  <a:cs typeface="Meiryo UI" pitchFamily="34" charset="-120"/>
                </a:rPr>
                <a:t>料金体系</a:t>
              </a:r>
              <a:endParaRPr lang="en-US" sz="1500" dirty="0"/>
            </a:p>
          </p:txBody>
        </p:sp>
        <p:sp>
          <p:nvSpPr>
            <p:cNvPr id="6" name="Text 4"/>
            <p:cNvSpPr/>
            <p:nvPr/>
          </p:nvSpPr>
          <p:spPr>
            <a:xfrm>
              <a:off x="457200" y="1554480"/>
              <a:ext cx="11247120" cy="1371600"/>
            </a:xfrm>
            <a:prstGeom prst="rect">
              <a:avLst/>
            </a:prstGeom>
            <a:noFill/>
            <a:ln/>
          </p:spPr>
          <p:txBody>
            <a:bodyPr wrap="square" rtlCol="0" anchor="t"/>
            <a:lstStyle/>
            <a:p>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物理コアあたりの月額サブスクリプション課金モデルです
</a:t>
              </a:r>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追加 Azure サービス利用時は従量課金が適用されます
</a:t>
              </a:r>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Azure Hybrid Benefit により既存ライセンスを活用できます
</a:t>
              </a:r>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AKS on Azure Local は Azure Local 料金に含まれています</a:t>
              </a:r>
              <a:endParaRPr lang="en-US" sz="1100" dirty="0"/>
            </a:p>
          </p:txBody>
        </p:sp>
        <p:sp>
          <p:nvSpPr>
            <p:cNvPr id="7" name="Text 5"/>
            <p:cNvSpPr/>
            <p:nvPr/>
          </p:nvSpPr>
          <p:spPr>
            <a:xfrm>
              <a:off x="457200" y="3017520"/>
              <a:ext cx="7315200" cy="365760"/>
            </a:xfrm>
            <a:prstGeom prst="rect">
              <a:avLst/>
            </a:prstGeom>
            <a:noFill/>
            <a:ln/>
          </p:spPr>
          <p:txBody>
            <a:bodyPr wrap="square" rtlCol="0" anchor="ctr"/>
            <a:lstStyle/>
            <a:p>
              <a:pPr indent="0" marL="0">
                <a:buNone/>
              </a:pPr>
              <a:r>
                <a:rPr lang="en-US" sz="1500" b="1" dirty="0">
                  <a:solidFill>
                    <a:srgbClr val="0078D4"/>
                  </a:solidFill>
                  <a:latin typeface="Meiryo UI" pitchFamily="34" charset="0"/>
                  <a:ea typeface="Meiryo UI" pitchFamily="34" charset="-122"/>
                  <a:cs typeface="Meiryo UI" pitchFamily="34" charset="-120"/>
                </a:rPr>
                <a:t>Windows Server との主な違い</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3474720"/>
            <a:ext cx="11247120" cy="914400"/>
          </p:xfrm>
          <a:graphic>
            <a:graphicData uri="http://schemas.openxmlformats.org/drawingml/2006/table">
              <a:tbl>
                <a:tblPr/>
                <a:tblGrid>
                  <a:gridCol w="2286000"/>
                  <a:gridCol w="4572000"/>
                  <a:gridCol w="4389120"/>
                </a:tblGrid>
                <a:tr h="457200">
                  <a:tc>
                    <a:txBody>
                      <a:bodyPr/>
                      <a:lstStyle/>
                      <a:p>
                        <a:pPr algn="ctr" indent="0" marL="0">
                          <a:buNone/>
                        </a:pPr>
                        <a:r>
                          <a:rPr lang="en-US" sz="1100" b="1" dirty="0">
                            <a:solidFill>
                              <a:srgbClr val="FFFFFF"/>
                            </a:solidFill>
                            <a:latin typeface="Meiryo UI" pitchFamily="34" charset="0"/>
                            <a:ea typeface="Meiryo UI" pitchFamily="34" charset="-122"/>
                            <a:cs typeface="Meiryo UI" pitchFamily="34" charset="-120"/>
                          </a:rPr>
                          <a:t>項目</a:t>
                        </a:r>
                        <a:endParaRPr lang="en-US" sz="11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Azure Local</a:t>
                        </a:r>
                        <a:endParaRPr lang="en-US" sz="11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100" b="1" dirty="0">
                            <a:solidFill>
                              <a:srgbClr val="FFFFFF"/>
                            </a:solidFill>
                            <a:latin typeface="Meiryo UI" pitchFamily="34" charset="0"/>
                            <a:ea typeface="Meiryo UI" pitchFamily="34" charset="-122"/>
                            <a:cs typeface="Meiryo UI" pitchFamily="34" charset="-120"/>
                          </a:rPr>
                          <a:t>Windows Server</a:t>
                        </a:r>
                        <a:endParaRPr lang="en-US" sz="11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r>
                <a:tr h="457200">
                  <a:tc>
                    <a:txBody>
                      <a:bodyPr/>
                      <a:lstStyle/>
                      <a:p>
                        <a:pPr indent="0" marL="0">
                          <a:buNone/>
                        </a:pPr>
                        <a:r>
                          <a:rPr lang="en-US" sz="1050" b="1" dirty="0">
                            <a:solidFill>
                              <a:srgbClr val="333333"/>
                            </a:solidFill>
                            <a:latin typeface="Meiryo UI" pitchFamily="34" charset="0"/>
                            <a:ea typeface="Meiryo UI" pitchFamily="34" charset="-122"/>
                            <a:cs typeface="Meiryo UI" pitchFamily="34" charset="-120"/>
                          </a:rPr>
                          <a:t>クラウド接続</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必須（30日に1回以上）</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オプション</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57200">
                  <a:tc>
                    <a:txBody>
                      <a:bodyPr/>
                      <a:lstStyle/>
                      <a:p>
                        <a:pPr indent="0" marL="0">
                          <a:buNone/>
                        </a:pPr>
                        <a:r>
                          <a:rPr lang="en-US" sz="1050" b="1" dirty="0">
                            <a:solidFill>
                              <a:srgbClr val="333333"/>
                            </a:solidFill>
                            <a:latin typeface="Meiryo UI" pitchFamily="34" charset="0"/>
                            <a:ea typeface="Meiryo UI" pitchFamily="34" charset="-122"/>
                            <a:cs typeface="Meiryo UI" pitchFamily="34" charset="-120"/>
                          </a:rPr>
                          <a:t>ライセンス</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Pay-as-you-go / Azure Hybrid Benefit</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従来型ライセンス</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457200">
                  <a:tc>
                    <a:txBody>
                      <a:bodyPr/>
                      <a:lstStyle/>
                      <a:p>
                        <a:pPr indent="0" marL="0">
                          <a:buNone/>
                        </a:pPr>
                        <a:r>
                          <a:rPr lang="en-US" sz="1050" b="1" dirty="0">
                            <a:solidFill>
                              <a:srgbClr val="333333"/>
                            </a:solidFill>
                            <a:latin typeface="Meiryo UI" pitchFamily="34" charset="0"/>
                            <a:ea typeface="Meiryo UI" pitchFamily="34" charset="-122"/>
                            <a:cs typeface="Meiryo UI" pitchFamily="34" charset="-120"/>
                          </a:rPr>
                          <a:t>ハードウェア</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認定カタログから選択（200以上）</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Certified for Windows Server</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57200">
                  <a:tc>
                    <a:txBody>
                      <a:bodyPr/>
                      <a:lstStyle/>
                      <a:p>
                        <a:pPr indent="0" marL="0">
                          <a:buNone/>
                        </a:pPr>
                        <a:r>
                          <a:rPr lang="en-US" sz="1050" b="1" dirty="0">
                            <a:solidFill>
                              <a:srgbClr val="333333"/>
                            </a:solidFill>
                            <a:latin typeface="Meiryo UI" pitchFamily="34" charset="0"/>
                            <a:ea typeface="Meiryo UI" pitchFamily="34" charset="-122"/>
                            <a:cs typeface="Meiryo UI" pitchFamily="34" charset="-120"/>
                          </a:rPr>
                          <a:t>ライフサイクル</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常に最新（更新適用猶予6ヶ月）</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LTSC（10年サポート）</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457200">
                  <a:tc>
                    <a:txBody>
                      <a:bodyPr/>
                      <a:lstStyle/>
                      <a:p>
                        <a:pPr indent="0" marL="0">
                          <a:buNone/>
                        </a:pPr>
                        <a:r>
                          <a:rPr lang="en-US" sz="1050" b="1" dirty="0">
                            <a:solidFill>
                              <a:srgbClr val="333333"/>
                            </a:solidFill>
                            <a:latin typeface="Meiryo UI" pitchFamily="34" charset="0"/>
                            <a:ea typeface="Meiryo UI" pitchFamily="34" charset="-122"/>
                            <a:cs typeface="Meiryo UI" pitchFamily="34" charset="-120"/>
                          </a:rPr>
                          <a:t>サポート</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Azure サポートに含まれます</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別途サポート契約で対応</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料金体系と Windows Server との比較</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8 / 10</a:t>
            </a:r>
            <a:endParaRPr lang="en-US" sz="900" dirty="0"/>
          </a:p>
        </p:txBody>
      </p:sp>
      <p:sp>
        <p:nvSpPr>
          <p:cNvPr id="5" name="Text 3"/>
          <p:cNvSpPr/>
          <p:nvPr/>
        </p:nvSpPr>
        <p:spPr>
          <a:xfrm>
            <a:off x="457200" y="1188720"/>
            <a:ext cx="4572000" cy="365760"/>
          </a:xfrm>
          <a:prstGeom prst="rect">
            <a:avLst/>
          </a:prstGeom>
          <a:noFill/>
          <a:ln/>
        </p:spPr>
        <p:txBody>
          <a:bodyPr wrap="square" rtlCol="0" anchor="ctr"/>
          <a:lstStyle/>
          <a:p>
            <a:pPr indent="0" marL="0">
              <a:buNone/>
            </a:pPr>
            <a:r>
              <a:rPr lang="en-US" sz="1500" b="1" dirty="0">
                <a:solidFill>
                  <a:srgbClr val="0078D4"/>
                </a:solidFill>
                <a:latin typeface="Meiryo UI" pitchFamily="34" charset="0"/>
                <a:ea typeface="Meiryo UI" pitchFamily="34" charset="-122"/>
                <a:cs typeface="Meiryo UI" pitchFamily="34" charset="-120"/>
              </a:rPr>
              <a:t>料金体系</a:t>
            </a:r>
            <a:endParaRPr lang="en-US" sz="1500" dirty="0"/>
          </a:p>
        </p:txBody>
      </p:sp>
      <p:sp>
        <p:nvSpPr>
          <p:cNvPr id="6" name="Text 4"/>
          <p:cNvSpPr/>
          <p:nvPr/>
        </p:nvSpPr>
        <p:spPr>
          <a:xfrm>
            <a:off x="457200" y="1554480"/>
            <a:ext cx="11247120" cy="1371600"/>
          </a:xfrm>
          <a:prstGeom prst="rect">
            <a:avLst/>
          </a:prstGeom>
          <a:noFill/>
          <a:ln/>
        </p:spPr>
        <p:txBody>
          <a:bodyPr wrap="square" rtlCol="0" anchor="t"/>
          <a:lstStyle/>
          <a:p>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物理コアあたりの月額サブスクリプション課金モデルです
</a:t>
            </a:r>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追加 Azure サービス利用時は従量課金が適用されます
</a:t>
            </a:r>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Azure Hybrid Benefit により既存ライセンスを活用できます
</a:t>
            </a:r>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AKS on Azure Local は Azure Local 料金に含まれています</a:t>
            </a:r>
            <a:endParaRPr lang="en-US" sz="1100" dirty="0"/>
          </a:p>
        </p:txBody>
      </p:sp>
      <p:sp>
        <p:nvSpPr>
          <p:cNvPr id="7" name="Text 5"/>
          <p:cNvSpPr/>
          <p:nvPr/>
        </p:nvSpPr>
        <p:spPr>
          <a:xfrm>
            <a:off x="457200" y="3017520"/>
            <a:ext cx="7315200" cy="365760"/>
          </a:xfrm>
          <a:prstGeom prst="rect">
            <a:avLst/>
          </a:prstGeom>
          <a:noFill/>
          <a:ln/>
        </p:spPr>
        <p:txBody>
          <a:bodyPr wrap="square" rtlCol="0" anchor="ctr"/>
          <a:lstStyle/>
          <a:p>
            <a:pPr indent="0" marL="0">
              <a:buNone/>
            </a:pPr>
            <a:r>
              <a:rPr lang="en-US" sz="1500" b="1" dirty="0">
                <a:solidFill>
                  <a:srgbClr val="0078D4"/>
                </a:solidFill>
                <a:latin typeface="Meiryo UI" pitchFamily="34" charset="0"/>
                <a:ea typeface="Meiryo UI" pitchFamily="34" charset="-122"/>
                <a:cs typeface="Meiryo UI" pitchFamily="34" charset="-120"/>
              </a:rPr>
              <a:t>Windows Server との主な違い</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3474720"/>
          <a:ext cx="11247120" cy="914400"/>
        </p:xfrm>
        <a:graphic>
          <a:graphicData uri="http://schemas.openxmlformats.org/drawingml/2006/table">
            <a:tbl>
              <a:tblPr/>
              <a:tblGrid>
                <a:gridCol w="2286000"/>
                <a:gridCol w="4572000"/>
                <a:gridCol w="4389120"/>
              </a:tblGrid>
              <a:tr h="457200">
                <a:tc>
                  <a:txBody>
                    <a:bodyPr/>
                    <a:lstStyle/>
                    <a:p>
                      <a:pPr algn="ctr" indent="0" marL="0">
                        <a:buNone/>
                      </a:pPr>
                      <a:r>
                        <a:rPr lang="en-US" sz="1100" b="1" dirty="0">
                          <a:solidFill>
                            <a:srgbClr val="FFFFFF"/>
                          </a:solidFill>
                          <a:latin typeface="Meiryo UI" pitchFamily="34" charset="0"/>
                          <a:ea typeface="Meiryo UI" pitchFamily="34" charset="-122"/>
                          <a:cs typeface="Meiryo UI" pitchFamily="34" charset="-120"/>
                        </a:rPr>
                        <a:t>項目</a:t>
                      </a:r>
                      <a:endParaRPr lang="en-US" sz="11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Azure Local</a:t>
                      </a:r>
                      <a:endParaRPr lang="en-US" sz="11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100" b="1" dirty="0">
                          <a:solidFill>
                            <a:srgbClr val="FFFFFF"/>
                          </a:solidFill>
                          <a:latin typeface="Meiryo UI" pitchFamily="34" charset="0"/>
                          <a:ea typeface="Meiryo UI" pitchFamily="34" charset="-122"/>
                          <a:cs typeface="Meiryo UI" pitchFamily="34" charset="-120"/>
                        </a:rPr>
                        <a:t>Windows Server</a:t>
                      </a:r>
                      <a:endParaRPr lang="en-US" sz="11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r>
              <a:tr h="457200">
                <a:tc>
                  <a:txBody>
                    <a:bodyPr/>
                    <a:lstStyle/>
                    <a:p>
                      <a:pPr indent="0" marL="0">
                        <a:buNone/>
                      </a:pPr>
                      <a:r>
                        <a:rPr lang="en-US" sz="1050" b="1" dirty="0">
                          <a:solidFill>
                            <a:srgbClr val="333333"/>
                          </a:solidFill>
                          <a:latin typeface="Meiryo UI" pitchFamily="34" charset="0"/>
                          <a:ea typeface="Meiryo UI" pitchFamily="34" charset="-122"/>
                          <a:cs typeface="Meiryo UI" pitchFamily="34" charset="-120"/>
                        </a:rPr>
                        <a:t>クラウド接続</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必須（30日に1回以上）</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オプション</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57200">
                <a:tc>
                  <a:txBody>
                    <a:bodyPr/>
                    <a:lstStyle/>
                    <a:p>
                      <a:pPr indent="0" marL="0">
                        <a:buNone/>
                      </a:pPr>
                      <a:r>
                        <a:rPr lang="en-US" sz="1050" b="1" dirty="0">
                          <a:solidFill>
                            <a:srgbClr val="333333"/>
                          </a:solidFill>
                          <a:latin typeface="Meiryo UI" pitchFamily="34" charset="0"/>
                          <a:ea typeface="Meiryo UI" pitchFamily="34" charset="-122"/>
                          <a:cs typeface="Meiryo UI" pitchFamily="34" charset="-120"/>
                        </a:rPr>
                        <a:t>ライセンス</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Pay-as-you-go / Azure Hybrid Benefit</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従来型ライセンス</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457200">
                <a:tc>
                  <a:txBody>
                    <a:bodyPr/>
                    <a:lstStyle/>
                    <a:p>
                      <a:pPr indent="0" marL="0">
                        <a:buNone/>
                      </a:pPr>
                      <a:r>
                        <a:rPr lang="en-US" sz="1050" b="1" dirty="0">
                          <a:solidFill>
                            <a:srgbClr val="333333"/>
                          </a:solidFill>
                          <a:latin typeface="Meiryo UI" pitchFamily="34" charset="0"/>
                          <a:ea typeface="Meiryo UI" pitchFamily="34" charset="-122"/>
                          <a:cs typeface="Meiryo UI" pitchFamily="34" charset="-120"/>
                        </a:rPr>
                        <a:t>ハードウェア</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認定カタログから選択（200以上）</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Certified for Windows Server</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57200">
                <a:tc>
                  <a:txBody>
                    <a:bodyPr/>
                    <a:lstStyle/>
                    <a:p>
                      <a:pPr indent="0" marL="0">
                        <a:buNone/>
                      </a:pPr>
                      <a:r>
                        <a:rPr lang="en-US" sz="1050" b="1" dirty="0">
                          <a:solidFill>
                            <a:srgbClr val="333333"/>
                          </a:solidFill>
                          <a:latin typeface="Meiryo UI" pitchFamily="34" charset="0"/>
                          <a:ea typeface="Meiryo UI" pitchFamily="34" charset="-122"/>
                          <a:cs typeface="Meiryo UI" pitchFamily="34" charset="-120"/>
                        </a:rPr>
                        <a:t>ライフサイクル</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常に最新（更新適用猶予6ヶ月）</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LTSC（10年サポート）</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457200">
                <a:tc>
                  <a:txBody>
                    <a:bodyPr/>
                    <a:lstStyle/>
                    <a:p>
                      <a:pPr indent="0" marL="0">
                        <a:buNone/>
                      </a:pPr>
                      <a:r>
                        <a:rPr lang="en-US" sz="1050" b="1" dirty="0">
                          <a:solidFill>
                            <a:srgbClr val="333333"/>
                          </a:solidFill>
                          <a:latin typeface="Meiryo UI" pitchFamily="34" charset="0"/>
                          <a:ea typeface="Meiryo UI" pitchFamily="34" charset="-122"/>
                          <a:cs typeface="Meiryo UI" pitchFamily="34" charset="-120"/>
                        </a:rPr>
                        <a:t>サポート</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Azure サポートに含まれます</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別途サポート契約で対応</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まとめと次のステップ</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9 / 10</a:t>
              </a:r>
              <a:endParaRPr lang="en-US" sz="900" dirty="0"/>
            </a:p>
          </p:txBody>
        </p:sp>
        <p:sp>
          <p:nvSpPr>
            <p:cNvPr id="5" name="Shape 3"/>
            <p:cNvSpPr/>
            <p:nvPr/>
          </p:nvSpPr>
          <p:spPr>
            <a:xfrm>
              <a:off x="457200" y="1188720"/>
              <a:ext cx="5486400" cy="3840480"/>
            </a:xfrm>
            <a:prstGeom prst="roundRect">
              <a:avLst>
                <a:gd name="adj" fmla="val 3571"/>
              </a:avLst>
            </a:prstGeom>
            <a:solidFill>
              <a:srgbClr val="DEECF9"/>
            </a:solidFill>
            <a:ln/>
          </p:spPr>
        </p:sp>
        <p:sp>
          <p:nvSpPr>
            <p:cNvPr id="6" name="Text 4"/>
            <p:cNvSpPr/>
            <p:nvPr/>
          </p:nvSpPr>
          <p:spPr>
            <a:xfrm>
              <a:off x="640080" y="1280160"/>
              <a:ext cx="5120640" cy="365760"/>
            </a:xfrm>
            <a:prstGeom prst="rect">
              <a:avLst/>
            </a:prstGeom>
            <a:noFill/>
            <a:ln/>
          </p:spPr>
          <p:txBody>
            <a:bodyPr wrap="square" rtlCol="0" anchor="ctr"/>
            <a:lstStyle/>
            <a:p>
              <a:pPr indent="0" marL="0">
                <a:buNone/>
              </a:pPr>
              <a:r>
                <a:rPr lang="en-US" sz="1600" b="1" dirty="0">
                  <a:solidFill>
                    <a:srgbClr val="0078D4"/>
                  </a:solidFill>
                  <a:latin typeface="Meiryo UI" pitchFamily="34" charset="0"/>
                  <a:ea typeface="Meiryo UI" pitchFamily="34" charset="-122"/>
                  <a:cs typeface="Meiryo UI" pitchFamily="34" charset="-120"/>
                </a:rPr>
                <a:t>Azure Local の価値</a:t>
              </a:r>
              <a:endParaRPr lang="en-US" sz="1600" dirty="0"/>
            </a:p>
          </p:txBody>
        </p:sp>
        <p:sp>
          <p:nvSpPr>
            <p:cNvPr id="7" name="Text 5"/>
            <p:cNvSpPr/>
            <p:nvPr/>
          </p:nvSpPr>
          <p:spPr>
            <a:xfrm>
              <a:off x="640080" y="1737360"/>
              <a:ext cx="5120640" cy="3108960"/>
            </a:xfrm>
            <a:prstGeom prst="rect">
              <a:avLst/>
            </a:prstGeom>
            <a:noFill/>
            <a:ln/>
          </p:spPr>
          <p:txBody>
            <a:bodyPr wrap="square" rtlCol="0" anchor="t"/>
            <a:lstStyle/>
            <a:p>
              <a:pPr indent="0" marL="0">
                <a:lnSpc>
                  <a:spcPct val="110000"/>
                </a:lnSpc>
                <a:buNone/>
              </a:pPr>
              <a:r>
                <a:rPr lang="en-US" sz="1200" dirty="0">
                  <a:solidFill>
                    <a:srgbClr val="333333"/>
                  </a:solidFill>
                  <a:latin typeface="Meiryo UI" pitchFamily="34" charset="0"/>
                  <a:ea typeface="Meiryo UI" pitchFamily="34" charset="-122"/>
                  <a:cs typeface="Meiryo UI" pitchFamily="34" charset="-120"/>
                </a:rPr>
                <a:t>✔ Azure の一貫した管理体験をオンプレミスに拡張できます
</a:t>
              </a:r>
              <a:pPr indent="0" marL="0">
                <a:lnSpc>
                  <a:spcPct val="110000"/>
                </a:lnSpc>
                <a:buNone/>
              </a:pPr>
              <a:r>
                <a:rPr lang="en-US" sz="1200" dirty="0">
                  <a:solidFill>
                    <a:srgbClr val="333333"/>
                  </a:solidFill>
                  <a:latin typeface="Meiryo UI" pitchFamily="34" charset="0"/>
                  <a:ea typeface="Meiryo UI" pitchFamily="34" charset="-122"/>
                  <a:cs typeface="Meiryo UI" pitchFamily="34" charset="-120"/>
                </a:rPr>
                <a:t>✔ AI・ミッションクリティカル・低レイテンシ・主権要件に対応しています
</a:t>
              </a:r>
              <a:pPr indent="0" marL="0">
                <a:lnSpc>
                  <a:spcPct val="110000"/>
                </a:lnSpc>
                <a:buNone/>
              </a:pPr>
              <a:r>
                <a:rPr lang="en-US" sz="1200" dirty="0">
                  <a:solidFill>
                    <a:srgbClr val="333333"/>
                  </a:solidFill>
                  <a:latin typeface="Meiryo UI" pitchFamily="34" charset="0"/>
                  <a:ea typeface="Meiryo UI" pitchFamily="34" charset="-122"/>
                  <a:cs typeface="Meiryo UI" pitchFamily="34" charset="-120"/>
                </a:rPr>
                <a:t>✔ セキュア・バイ・デフォルトで運用負荷を軽減します
</a:t>
              </a:r>
              <a:pPr indent="0" marL="0">
                <a:lnSpc>
                  <a:spcPct val="110000"/>
                </a:lnSpc>
                <a:buNone/>
              </a:pPr>
              <a:r>
                <a:rPr lang="en-US" sz="1200" dirty="0">
                  <a:solidFill>
                    <a:srgbClr val="333333"/>
                  </a:solidFill>
                  <a:latin typeface="Meiryo UI" pitchFamily="34" charset="0"/>
                  <a:ea typeface="Meiryo UI" pitchFamily="34" charset="-122"/>
                  <a:cs typeface="Meiryo UI" pitchFamily="34" charset="-120"/>
                </a:rPr>
                <a:t>✔ 柔軟なハードウェア選択と課金モデルを提供しています</a:t>
              </a:r>
              <a:endParaRPr lang="en-US" sz="1200" dirty="0"/>
            </a:p>
          </p:txBody>
        </p:sp>
        <p:sp>
          <p:nvSpPr>
            <p:cNvPr id="8" name="Shape 6"/>
            <p:cNvSpPr/>
            <p:nvPr/>
          </p:nvSpPr>
          <p:spPr>
            <a:xfrm>
              <a:off x="6309360" y="1188720"/>
              <a:ext cx="5486400" cy="3840480"/>
            </a:xfrm>
            <a:prstGeom prst="roundRect">
              <a:avLst>
                <a:gd name="adj" fmla="val 3571"/>
              </a:avLst>
            </a:prstGeom>
            <a:solidFill>
              <a:srgbClr val="F3F2F1"/>
            </a:solidFill>
            <a:ln/>
          </p:spPr>
        </p:sp>
        <p:sp>
          <p:nvSpPr>
            <p:cNvPr id="9" name="Text 7"/>
            <p:cNvSpPr/>
            <p:nvPr/>
          </p:nvSpPr>
          <p:spPr>
            <a:xfrm>
              <a:off x="6492240" y="1280160"/>
              <a:ext cx="5120640" cy="365760"/>
            </a:xfrm>
            <a:prstGeom prst="rect">
              <a:avLst/>
            </a:prstGeom>
            <a:noFill/>
            <a:ln/>
          </p:spPr>
          <p:txBody>
            <a:bodyPr wrap="square" rtlCol="0" anchor="ctr"/>
            <a:lstStyle/>
            <a:p>
              <a:pPr indent="0" marL="0">
                <a:buNone/>
              </a:pPr>
              <a:r>
                <a:rPr lang="en-US" sz="1600" b="1" dirty="0">
                  <a:solidFill>
                    <a:srgbClr val="333333"/>
                  </a:solidFill>
                  <a:latin typeface="Meiryo UI" pitchFamily="34" charset="0"/>
                  <a:ea typeface="Meiryo UI" pitchFamily="34" charset="-122"/>
                  <a:cs typeface="Meiryo UI" pitchFamily="34" charset="-120"/>
                </a:rPr>
                <a:t>次のステップ</a:t>
              </a:r>
              <a:endParaRPr lang="en-US" sz="1600" dirty="0"/>
            </a:p>
          </p:txBody>
        </p:sp>
        <p:sp>
          <p:nvSpPr>
            <p:cNvPr id="10" name="Text 8"/>
            <p:cNvSpPr/>
            <p:nvPr/>
          </p:nvSpPr>
          <p:spPr>
            <a:xfrm>
              <a:off x="6492240" y="1737360"/>
              <a:ext cx="5120640" cy="3108960"/>
            </a:xfrm>
            <a:prstGeom prst="rect">
              <a:avLst/>
            </a:prstGeom>
            <a:noFill/>
            <a:ln/>
          </p:spPr>
          <p:txBody>
            <a:bodyPr wrap="square" rtlCol="0" anchor="t"/>
            <a:lstStyle/>
            <a:p>
              <a:pPr indent="0" marL="0">
                <a:lnSpc>
                  <a:spcPct val="110000"/>
                </a:lnSpc>
                <a:buNone/>
              </a:pPr>
              <a:r>
                <a:rPr lang="en-US" sz="1200" dirty="0">
                  <a:solidFill>
                    <a:srgbClr val="333333"/>
                  </a:solidFill>
                  <a:latin typeface="Meiryo UI" pitchFamily="34" charset="0"/>
                  <a:ea typeface="Meiryo UI" pitchFamily="34" charset="-122"/>
                  <a:cs typeface="Meiryo UI" pitchFamily="34" charset="-120"/>
                </a:rPr>
                <a:t>➊  Azure Local Catalog でハードウェアパートナーを確認してください
</a:t>
              </a:r>
              <a:pPr indent="0" marL="0">
                <a:lnSpc>
                  <a:spcPct val="110000"/>
                </a:lnSpc>
                <a:buNone/>
              </a:pPr>
              <a:r>
                <a:rPr lang="en-US" sz="1200" dirty="0">
                  <a:solidFill>
                    <a:srgbClr val="333333"/>
                  </a:solidFill>
                  <a:latin typeface="Meiryo UI" pitchFamily="34" charset="0"/>
                  <a:ea typeface="Meiryo UI" pitchFamily="34" charset="-122"/>
                  <a:cs typeface="Meiryo UI" pitchFamily="34" charset="-120"/>
                </a:rPr>
                <a:t>➋  Azure Local サイジングツールで構成を見積もってください
</a:t>
              </a:r>
              <a:pPr indent="0" marL="0">
                <a:lnSpc>
                  <a:spcPct val="110000"/>
                </a:lnSpc>
                <a:buNone/>
              </a:pPr>
              <a:r>
                <a:rPr lang="en-US" sz="1200" dirty="0">
                  <a:solidFill>
                    <a:srgbClr val="333333"/>
                  </a:solidFill>
                  <a:latin typeface="Meiryo UI" pitchFamily="34" charset="0"/>
                  <a:ea typeface="Meiryo UI" pitchFamily="34" charset="-122"/>
                  <a:cs typeface="Meiryo UI" pitchFamily="34" charset="-120"/>
                </a:rPr>
                <a:t>➌  60日間の無料試用版をダウンロードしてお試しいただけます
</a:t>
              </a:r>
              <a:pPr indent="0" marL="0">
                <a:lnSpc>
                  <a:spcPct val="110000"/>
                </a:lnSpc>
                <a:buNone/>
              </a:pPr>
              <a:r>
                <a:rPr lang="en-US" sz="1200" dirty="0">
                  <a:solidFill>
                    <a:srgbClr val="333333"/>
                  </a:solidFill>
                  <a:latin typeface="Meiryo UI" pitchFamily="34" charset="0"/>
                  <a:ea typeface="Meiryo UI" pitchFamily="34" charset="-122"/>
                  <a:cs typeface="Meiryo UI" pitchFamily="34" charset="-120"/>
                </a:rPr>
                <a:t>➍  Microsoft パートナーにご相談ください</a:t>
              </a:r>
              <a:endParaRPr lang="en-US" sz="1200" dirty="0"/>
            </a:p>
          </p:txBody>
        </p:sp>
        <p:sp>
          <p:nvSpPr>
            <p:cNvPr id="11" name="Text 9"/>
            <p:cNvSpPr/>
            <p:nvPr/>
          </p:nvSpPr>
          <p:spPr>
            <a:xfrm>
              <a:off x="457200" y="5303520"/>
              <a:ext cx="4572000" cy="365760"/>
            </a:xfrm>
            <a:prstGeom prst="rect">
              <a:avLst/>
            </a:prstGeom>
            <a:noFill/>
            <a:ln/>
          </p:spPr>
          <p:txBody>
            <a:bodyPr wrap="square" rtlCol="0" anchor="ctr"/>
            <a:lstStyle/>
            <a:p>
              <a:pPr indent="0" marL="0">
                <a:buNone/>
              </a:pPr>
              <a:r>
                <a:rPr lang="en-US" sz="1400" b="1" dirty="0">
                  <a:solidFill>
                    <a:srgbClr val="0078D4"/>
                  </a:solidFill>
                  <a:latin typeface="Meiryo UI" pitchFamily="34" charset="0"/>
                  <a:ea typeface="Meiryo UI" pitchFamily="34" charset="-122"/>
                  <a:cs typeface="Meiryo UI" pitchFamily="34" charset="-120"/>
                </a:rPr>
                <a:t>参考リンク</a:t>
              </a:r>
              <a:endParaRPr lang="en-US" sz="1400" dirty="0"/>
            </a:p>
          </p:txBody>
        </p:sp>
        <p:sp>
          <p:nvSpPr>
            <p:cNvPr id="12" name="Text 10"/>
            <p:cNvSpPr/>
            <p:nvPr/>
          </p:nvSpPr>
          <p:spPr>
            <a:xfrm>
              <a:off x="457200" y="5669280"/>
              <a:ext cx="11247120" cy="914400"/>
            </a:xfrm>
            <a:prstGeom prst="rect">
              <a:avLst/>
            </a:prstGeom>
            <a:noFill/>
            <a:ln/>
          </p:spPr>
          <p:txBody>
            <a:bodyPr wrap="square" rtlCol="0" anchor="t"/>
            <a:lstStyle/>
            <a:p>
              <a:pPr indent="0" marL="0">
                <a:lnSpc>
                  <a:spcPct val="140000"/>
                </a:lnSpc>
                <a:buNone/>
              </a:pPr>
              <a:r>
                <a:rPr lang="en-US" sz="1000" dirty="0">
                  <a:solidFill>
                    <a:srgbClr val="333333"/>
                  </a:solidFill>
                  <a:latin typeface="Meiryo UI" pitchFamily="34" charset="0"/>
                  <a:ea typeface="Meiryo UI" pitchFamily="34" charset="-122"/>
                  <a:cs typeface="Meiryo UI" pitchFamily="34" charset="-120"/>
                </a:rPr>
                <a:t>• Azure Local とは: </a:t>
              </a:r>
              <a:pPr indent="0" marL="0">
                <a:lnSpc>
                  <a:spcPct val="140000"/>
                </a:lnSpc>
                <a:buNone/>
              </a:pPr>
              <a:r>
                <a:rPr lang="en-US" sz="1000" u="sng" dirty="0">
                  <a:solidFill>
                    <a:srgbClr val="0078D4"/>
                  </a:solidFill>
                  <a:latin typeface="Meiryo UI" pitchFamily="34" charset="0"/>
                  <a:ea typeface="Meiryo UI" pitchFamily="34" charset="-122"/>
                  <a:cs typeface="Meiryo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https://learn.microsoft.com/azure/azure-local/overview</a:t>
              </a:r>
              <a:pPr indent="0" marL="0">
                <a:lnSpc>
                  <a:spcPct val="140000"/>
                </a:lnSpc>
                <a:buNone/>
              </a:pPr>
              <a:endParaRPr lang="en-US" sz="1000" dirty="0"/>
            </a:p>
            <a:p>
              <a:pPr indent="0" marL="0">
                <a:lnSpc>
                  <a:spcPct val="140000"/>
                </a:lnSpc>
                <a:buNone/>
              </a:pPr>
              <a:r>
                <a:rPr lang="en-US" sz="1000" dirty="0">
                  <a:solidFill>
                    <a:srgbClr val="333333"/>
                  </a:solidFill>
                  <a:latin typeface="Meiryo UI" pitchFamily="34" charset="0"/>
                  <a:ea typeface="Meiryo UI" pitchFamily="34" charset="-122"/>
                  <a:cs typeface="Meiryo UI" pitchFamily="34" charset="-120"/>
                </a:rPr>
                <a:t>• ハイパーコンバージド展開の概要: </a:t>
              </a:r>
              <a:endParaRPr lang="en-US" sz="1000" dirty="0"/>
            </a:p>
            <a:p>
              <a:pPr indent="0" marL="0">
                <a:lnSpc>
                  <a:spcPct val="140000"/>
                </a:lnSpc>
                <a:buNone/>
              </a:pPr>
              <a:r>
                <a:rPr lang="en-US" sz="1000" u="sng" dirty="0">
                  <a:solidFill>
                    <a:srgbClr val="0078D4"/>
                  </a:solidFill>
                  <a:latin typeface="Meiryo UI" pitchFamily="34" charset="0"/>
                  <a:ea typeface="Meiryo UI" pitchFamily="34" charset="-122"/>
                  <a:cs typeface="Meiryo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https://learn.microsoft.com/azure/azure-local/overview/hyperconverged-overview</a:t>
              </a:r>
              <a:pPr indent="0" marL="0">
                <a:lnSpc>
                  <a:spcPct val="140000"/>
                </a:lnSpc>
                <a:buNone/>
              </a:pPr>
              <a:endParaRPr lang="en-US" sz="1000" dirty="0"/>
            </a:p>
            <a:p>
              <a:pPr indent="0" marL="0">
                <a:lnSpc>
                  <a:spcPct val="140000"/>
                </a:lnSpc>
                <a:buNone/>
              </a:pPr>
              <a:r>
                <a:rPr lang="en-US" sz="1000" dirty="0">
                  <a:solidFill>
                    <a:srgbClr val="333333"/>
                  </a:solidFill>
                  <a:latin typeface="Meiryo UI" pitchFamily="34" charset="0"/>
                  <a:ea typeface="Meiryo UI" pitchFamily="34" charset="-122"/>
                  <a:cs typeface="Meiryo UI" pitchFamily="34" charset="-120"/>
                </a:rPr>
                <a:t>• システム要件: </a:t>
              </a:r>
              <a:endParaRPr lang="en-US" sz="1000" dirty="0"/>
            </a:p>
            <a:p>
              <a:pPr indent="0" marL="0">
                <a:lnSpc>
                  <a:spcPct val="140000"/>
                </a:lnSpc>
                <a:buNone/>
              </a:pPr>
              <a:r>
                <a:rPr lang="en-US" sz="1000" u="sng" dirty="0">
                  <a:solidFill>
                    <a:srgbClr val="0078D4"/>
                  </a:solidFill>
                  <a:latin typeface="Meiryo UI" pitchFamily="34" charset="0"/>
                  <a:ea typeface="Meiryo UI" pitchFamily="34" charset="-122"/>
                  <a:cs typeface="Meiryo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https://learn.microsoft.com/azure/azure-local/concepts/system-requirements-23h2</a:t>
              </a:r>
              <a:endParaRPr lang="en-US" sz="1000" dirty="0"/>
            </a:p>
          </p:txBody>
        </p:sp>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まとめと次のステップ</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9 / 10</a:t>
            </a:r>
            <a:endParaRPr lang="en-US" sz="900" dirty="0"/>
          </a:p>
        </p:txBody>
      </p:sp>
      <p:sp>
        <p:nvSpPr>
          <p:cNvPr id="5" name="Shape 3"/>
          <p:cNvSpPr/>
          <p:nvPr/>
        </p:nvSpPr>
        <p:spPr>
          <a:xfrm>
            <a:off x="457200" y="1188720"/>
            <a:ext cx="5486400" cy="3840480"/>
          </a:xfrm>
          <a:prstGeom prst="roundRect">
            <a:avLst>
              <a:gd name="adj" fmla="val 3571"/>
            </a:avLst>
          </a:prstGeom>
          <a:solidFill>
            <a:srgbClr val="DEECF9"/>
          </a:solidFill>
          <a:ln/>
        </p:spPr>
      </p:sp>
      <p:sp>
        <p:nvSpPr>
          <p:cNvPr id="6" name="Text 4"/>
          <p:cNvSpPr/>
          <p:nvPr/>
        </p:nvSpPr>
        <p:spPr>
          <a:xfrm>
            <a:off x="640080" y="1280160"/>
            <a:ext cx="5120640" cy="365760"/>
          </a:xfrm>
          <a:prstGeom prst="rect">
            <a:avLst/>
          </a:prstGeom>
          <a:noFill/>
          <a:ln/>
        </p:spPr>
        <p:txBody>
          <a:bodyPr wrap="square" rtlCol="0" anchor="ctr"/>
          <a:lstStyle/>
          <a:p>
            <a:pPr indent="0" marL="0">
              <a:buNone/>
            </a:pPr>
            <a:r>
              <a:rPr lang="en-US" sz="1600" b="1" dirty="0">
                <a:solidFill>
                  <a:srgbClr val="0078D4"/>
                </a:solidFill>
                <a:latin typeface="Meiryo UI" pitchFamily="34" charset="0"/>
                <a:ea typeface="Meiryo UI" pitchFamily="34" charset="-122"/>
                <a:cs typeface="Meiryo UI" pitchFamily="34" charset="-120"/>
              </a:rPr>
              <a:t>Azure Local の価値</a:t>
            </a:r>
            <a:endParaRPr lang="en-US" sz="1600" dirty="0"/>
          </a:p>
        </p:txBody>
      </p:sp>
      <p:sp>
        <p:nvSpPr>
          <p:cNvPr id="7" name="Text 5"/>
          <p:cNvSpPr/>
          <p:nvPr/>
        </p:nvSpPr>
        <p:spPr>
          <a:xfrm>
            <a:off x="640080" y="1737360"/>
            <a:ext cx="5120640" cy="3108960"/>
          </a:xfrm>
          <a:prstGeom prst="rect">
            <a:avLst/>
          </a:prstGeom>
          <a:noFill/>
          <a:ln/>
        </p:spPr>
        <p:txBody>
          <a:bodyPr wrap="square" rtlCol="0" anchor="t"/>
          <a:lstStyle/>
          <a:p>
            <a:pPr indent="0" marL="0">
              <a:lnSpc>
                <a:spcPct val="110000"/>
              </a:lnSpc>
              <a:buNone/>
            </a:pPr>
            <a:r>
              <a:rPr lang="en-US" sz="1200" dirty="0">
                <a:solidFill>
                  <a:srgbClr val="333333"/>
                </a:solidFill>
                <a:latin typeface="Meiryo UI" pitchFamily="34" charset="0"/>
                <a:ea typeface="Meiryo UI" pitchFamily="34" charset="-122"/>
                <a:cs typeface="Meiryo UI" pitchFamily="34" charset="-120"/>
              </a:rPr>
              <a:t>✔ Azure の一貫した管理体験をオンプレミスに拡張できます
</a:t>
            </a:r>
            <a:pPr indent="0" marL="0">
              <a:lnSpc>
                <a:spcPct val="110000"/>
              </a:lnSpc>
              <a:buNone/>
            </a:pPr>
            <a:r>
              <a:rPr lang="en-US" sz="1200" dirty="0">
                <a:solidFill>
                  <a:srgbClr val="333333"/>
                </a:solidFill>
                <a:latin typeface="Meiryo UI" pitchFamily="34" charset="0"/>
                <a:ea typeface="Meiryo UI" pitchFamily="34" charset="-122"/>
                <a:cs typeface="Meiryo UI" pitchFamily="34" charset="-120"/>
              </a:rPr>
              <a:t>✔ AI・ミッションクリティカル・低レイテンシ・主権要件に対応しています
</a:t>
            </a:r>
            <a:pPr indent="0" marL="0">
              <a:lnSpc>
                <a:spcPct val="110000"/>
              </a:lnSpc>
              <a:buNone/>
            </a:pPr>
            <a:r>
              <a:rPr lang="en-US" sz="1200" dirty="0">
                <a:solidFill>
                  <a:srgbClr val="333333"/>
                </a:solidFill>
                <a:latin typeface="Meiryo UI" pitchFamily="34" charset="0"/>
                <a:ea typeface="Meiryo UI" pitchFamily="34" charset="-122"/>
                <a:cs typeface="Meiryo UI" pitchFamily="34" charset="-120"/>
              </a:rPr>
              <a:t>✔ セキュア・バイ・デフォルトで運用負荷を軽減します
</a:t>
            </a:r>
            <a:pPr indent="0" marL="0">
              <a:lnSpc>
                <a:spcPct val="110000"/>
              </a:lnSpc>
              <a:buNone/>
            </a:pPr>
            <a:r>
              <a:rPr lang="en-US" sz="1200" dirty="0">
                <a:solidFill>
                  <a:srgbClr val="333333"/>
                </a:solidFill>
                <a:latin typeface="Meiryo UI" pitchFamily="34" charset="0"/>
                <a:ea typeface="Meiryo UI" pitchFamily="34" charset="-122"/>
                <a:cs typeface="Meiryo UI" pitchFamily="34" charset="-120"/>
              </a:rPr>
              <a:t>✔ 柔軟なハードウェア選択と課金モデルを提供しています</a:t>
            </a:r>
            <a:endParaRPr lang="en-US" sz="1200" dirty="0"/>
          </a:p>
        </p:txBody>
      </p:sp>
      <p:sp>
        <p:nvSpPr>
          <p:cNvPr id="8" name="Shape 6"/>
          <p:cNvSpPr/>
          <p:nvPr/>
        </p:nvSpPr>
        <p:spPr>
          <a:xfrm>
            <a:off x="6309360" y="1188720"/>
            <a:ext cx="5486400" cy="3840480"/>
          </a:xfrm>
          <a:prstGeom prst="roundRect">
            <a:avLst>
              <a:gd name="adj" fmla="val 3571"/>
            </a:avLst>
          </a:prstGeom>
          <a:solidFill>
            <a:srgbClr val="F3F2F1"/>
          </a:solidFill>
          <a:ln/>
        </p:spPr>
      </p:sp>
      <p:sp>
        <p:nvSpPr>
          <p:cNvPr id="9" name="Text 7"/>
          <p:cNvSpPr/>
          <p:nvPr/>
        </p:nvSpPr>
        <p:spPr>
          <a:xfrm>
            <a:off x="6492240" y="1280160"/>
            <a:ext cx="5120640" cy="365760"/>
          </a:xfrm>
          <a:prstGeom prst="rect">
            <a:avLst/>
          </a:prstGeom>
          <a:noFill/>
          <a:ln/>
        </p:spPr>
        <p:txBody>
          <a:bodyPr wrap="square" rtlCol="0" anchor="ctr"/>
          <a:lstStyle/>
          <a:p>
            <a:pPr indent="0" marL="0">
              <a:buNone/>
            </a:pPr>
            <a:r>
              <a:rPr lang="en-US" sz="1600" b="1" dirty="0">
                <a:solidFill>
                  <a:srgbClr val="333333"/>
                </a:solidFill>
                <a:latin typeface="Meiryo UI" pitchFamily="34" charset="0"/>
                <a:ea typeface="Meiryo UI" pitchFamily="34" charset="-122"/>
                <a:cs typeface="Meiryo UI" pitchFamily="34" charset="-120"/>
              </a:rPr>
              <a:t>次のステップ</a:t>
            </a:r>
            <a:endParaRPr lang="en-US" sz="1600" dirty="0"/>
          </a:p>
        </p:txBody>
      </p:sp>
      <p:sp>
        <p:nvSpPr>
          <p:cNvPr id="10" name="Text 8"/>
          <p:cNvSpPr/>
          <p:nvPr/>
        </p:nvSpPr>
        <p:spPr>
          <a:xfrm>
            <a:off x="6492240" y="1737360"/>
            <a:ext cx="5120640" cy="3108960"/>
          </a:xfrm>
          <a:prstGeom prst="rect">
            <a:avLst/>
          </a:prstGeom>
          <a:noFill/>
          <a:ln/>
        </p:spPr>
        <p:txBody>
          <a:bodyPr wrap="square" rtlCol="0" anchor="t"/>
          <a:lstStyle/>
          <a:p>
            <a:pPr indent="0" marL="0">
              <a:lnSpc>
                <a:spcPct val="110000"/>
              </a:lnSpc>
              <a:buNone/>
            </a:pPr>
            <a:r>
              <a:rPr lang="en-US" sz="1200" dirty="0">
                <a:solidFill>
                  <a:srgbClr val="333333"/>
                </a:solidFill>
                <a:latin typeface="Meiryo UI" pitchFamily="34" charset="0"/>
                <a:ea typeface="Meiryo UI" pitchFamily="34" charset="-122"/>
                <a:cs typeface="Meiryo UI" pitchFamily="34" charset="-120"/>
              </a:rPr>
              <a:t>➊  Azure Local Catalog でハードウェアパートナーを確認してください
</a:t>
            </a:r>
            <a:pPr indent="0" marL="0">
              <a:lnSpc>
                <a:spcPct val="110000"/>
              </a:lnSpc>
              <a:buNone/>
            </a:pPr>
            <a:r>
              <a:rPr lang="en-US" sz="1200" dirty="0">
                <a:solidFill>
                  <a:srgbClr val="333333"/>
                </a:solidFill>
                <a:latin typeface="Meiryo UI" pitchFamily="34" charset="0"/>
                <a:ea typeface="Meiryo UI" pitchFamily="34" charset="-122"/>
                <a:cs typeface="Meiryo UI" pitchFamily="34" charset="-120"/>
              </a:rPr>
              <a:t>➋  Azure Local サイジングツールで構成を見積もってください
</a:t>
            </a:r>
            <a:pPr indent="0" marL="0">
              <a:lnSpc>
                <a:spcPct val="110000"/>
              </a:lnSpc>
              <a:buNone/>
            </a:pPr>
            <a:r>
              <a:rPr lang="en-US" sz="1200" dirty="0">
                <a:solidFill>
                  <a:srgbClr val="333333"/>
                </a:solidFill>
                <a:latin typeface="Meiryo UI" pitchFamily="34" charset="0"/>
                <a:ea typeface="Meiryo UI" pitchFamily="34" charset="-122"/>
                <a:cs typeface="Meiryo UI" pitchFamily="34" charset="-120"/>
              </a:rPr>
              <a:t>➌  60日間の無料試用版をダウンロードしてお試しいただけます
</a:t>
            </a:r>
            <a:pPr indent="0" marL="0">
              <a:lnSpc>
                <a:spcPct val="110000"/>
              </a:lnSpc>
              <a:buNone/>
            </a:pPr>
            <a:r>
              <a:rPr lang="en-US" sz="1200" dirty="0">
                <a:solidFill>
                  <a:srgbClr val="333333"/>
                </a:solidFill>
                <a:latin typeface="Meiryo UI" pitchFamily="34" charset="0"/>
                <a:ea typeface="Meiryo UI" pitchFamily="34" charset="-122"/>
                <a:cs typeface="Meiryo UI" pitchFamily="34" charset="-120"/>
              </a:rPr>
              <a:t>➍  Microsoft パートナーにご相談ください</a:t>
            </a:r>
            <a:endParaRPr lang="en-US" sz="1200" dirty="0"/>
          </a:p>
        </p:txBody>
      </p:sp>
      <p:sp>
        <p:nvSpPr>
          <p:cNvPr id="11" name="Text 9"/>
          <p:cNvSpPr/>
          <p:nvPr/>
        </p:nvSpPr>
        <p:spPr>
          <a:xfrm>
            <a:off x="457200" y="5303520"/>
            <a:ext cx="4572000" cy="365760"/>
          </a:xfrm>
          <a:prstGeom prst="rect">
            <a:avLst/>
          </a:prstGeom>
          <a:noFill/>
          <a:ln/>
        </p:spPr>
        <p:txBody>
          <a:bodyPr wrap="square" rtlCol="0" anchor="ctr"/>
          <a:lstStyle/>
          <a:p>
            <a:pPr indent="0" marL="0">
              <a:buNone/>
            </a:pPr>
            <a:r>
              <a:rPr lang="en-US" sz="1400" b="1" dirty="0">
                <a:solidFill>
                  <a:srgbClr val="0078D4"/>
                </a:solidFill>
                <a:latin typeface="Meiryo UI" pitchFamily="34" charset="0"/>
                <a:ea typeface="Meiryo UI" pitchFamily="34" charset="-122"/>
                <a:cs typeface="Meiryo UI" pitchFamily="34" charset="-120"/>
              </a:rPr>
              <a:t>参考リンク</a:t>
            </a:r>
            <a:endParaRPr lang="en-US" sz="1400" dirty="0"/>
          </a:p>
        </p:txBody>
      </p:sp>
      <p:sp>
        <p:nvSpPr>
          <p:cNvPr id="12" name="Text 10"/>
          <p:cNvSpPr/>
          <p:nvPr/>
        </p:nvSpPr>
        <p:spPr>
          <a:xfrm>
            <a:off x="457200" y="5669280"/>
            <a:ext cx="11247120" cy="914400"/>
          </a:xfrm>
          <a:prstGeom prst="rect">
            <a:avLst/>
          </a:prstGeom>
          <a:noFill/>
          <a:ln/>
        </p:spPr>
        <p:txBody>
          <a:bodyPr wrap="square" rtlCol="0" anchor="t"/>
          <a:lstStyle/>
          <a:p>
            <a:pPr indent="0" marL="0">
              <a:lnSpc>
                <a:spcPct val="140000"/>
              </a:lnSpc>
              <a:buNone/>
            </a:pPr>
            <a:r>
              <a:rPr lang="en-US" sz="1000" dirty="0">
                <a:solidFill>
                  <a:srgbClr val="333333"/>
                </a:solidFill>
                <a:latin typeface="Meiryo UI" pitchFamily="34" charset="0"/>
                <a:ea typeface="Meiryo UI" pitchFamily="34" charset="-122"/>
                <a:cs typeface="Meiryo UI" pitchFamily="34" charset="-120"/>
              </a:rPr>
              <a:t>• Azure Local とは: </a:t>
            </a:r>
            <a:pPr indent="0" marL="0">
              <a:lnSpc>
                <a:spcPct val="140000"/>
              </a:lnSpc>
              <a:buNone/>
            </a:pPr>
            <a:r>
              <a:rPr lang="en-US" sz="1000" u="sng" dirty="0">
                <a:solidFill>
                  <a:srgbClr val="0078D4"/>
                </a:solidFill>
                <a:latin typeface="Meiryo UI" pitchFamily="34" charset="0"/>
                <a:ea typeface="Meiryo UI" pitchFamily="34" charset="-122"/>
                <a:cs typeface="Meiryo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https://learn.microsoft.com/azure/azure-local/overview</a:t>
            </a:r>
            <a:pPr indent="0" marL="0">
              <a:lnSpc>
                <a:spcPct val="140000"/>
              </a:lnSpc>
              <a:buNone/>
            </a:pPr>
            <a:endParaRPr lang="en-US" sz="1000" dirty="0"/>
          </a:p>
          <a:p>
            <a:pPr indent="0" marL="0">
              <a:lnSpc>
                <a:spcPct val="140000"/>
              </a:lnSpc>
              <a:buNone/>
            </a:pPr>
            <a:r>
              <a:rPr lang="en-US" sz="1000" dirty="0">
                <a:solidFill>
                  <a:srgbClr val="333333"/>
                </a:solidFill>
                <a:latin typeface="Meiryo UI" pitchFamily="34" charset="0"/>
                <a:ea typeface="Meiryo UI" pitchFamily="34" charset="-122"/>
                <a:cs typeface="Meiryo UI" pitchFamily="34" charset="-120"/>
              </a:rPr>
              <a:t>• ハイパーコンバージド展開の概要: </a:t>
            </a:r>
            <a:endParaRPr lang="en-US" sz="1000" dirty="0"/>
          </a:p>
          <a:p>
            <a:pPr indent="0" marL="0">
              <a:lnSpc>
                <a:spcPct val="140000"/>
              </a:lnSpc>
              <a:buNone/>
            </a:pPr>
            <a:r>
              <a:rPr lang="en-US" sz="1000" u="sng" dirty="0">
                <a:solidFill>
                  <a:srgbClr val="0078D4"/>
                </a:solidFill>
                <a:latin typeface="Meiryo UI" pitchFamily="34" charset="0"/>
                <a:ea typeface="Meiryo UI" pitchFamily="34" charset="-122"/>
                <a:cs typeface="Meiryo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https://learn.microsoft.com/azure/azure-local/overview/hyperconverged-overview</a:t>
            </a:r>
            <a:pPr indent="0" marL="0">
              <a:lnSpc>
                <a:spcPct val="140000"/>
              </a:lnSpc>
              <a:buNone/>
            </a:pPr>
            <a:endParaRPr lang="en-US" sz="1000" dirty="0"/>
          </a:p>
          <a:p>
            <a:pPr indent="0" marL="0">
              <a:lnSpc>
                <a:spcPct val="140000"/>
              </a:lnSpc>
              <a:buNone/>
            </a:pPr>
            <a:r>
              <a:rPr lang="en-US" sz="1000" dirty="0">
                <a:solidFill>
                  <a:srgbClr val="333333"/>
                </a:solidFill>
                <a:latin typeface="Meiryo UI" pitchFamily="34" charset="0"/>
                <a:ea typeface="Meiryo UI" pitchFamily="34" charset="-122"/>
                <a:cs typeface="Meiryo UI" pitchFamily="34" charset="-120"/>
              </a:rPr>
              <a:t>• システム要件: </a:t>
            </a:r>
            <a:endParaRPr lang="en-US" sz="1000" dirty="0"/>
          </a:p>
          <a:p>
            <a:pPr indent="0" marL="0">
              <a:lnSpc>
                <a:spcPct val="140000"/>
              </a:lnSpc>
              <a:buNone/>
            </a:pPr>
            <a:r>
              <a:rPr lang="en-US" sz="1000" u="sng" dirty="0">
                <a:solidFill>
                  <a:srgbClr val="0078D4"/>
                </a:solidFill>
                <a:latin typeface="Meiryo UI" pitchFamily="34" charset="0"/>
                <a:ea typeface="Meiryo UI" pitchFamily="34" charset="-122"/>
                <a:cs typeface="Meiryo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https://learn.microsoft.com/azure/azure-local/concepts/system-requirements-23h2</a:t>
            </a:r>
            <a:endParaRPr lang="en-US" sz="10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AD5E1-A6F1-47DC-90FE-80EB7ABB4789}"/>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1653626648"/>
        </p:ext>
      </p:extLst>
    </p:cSld>
    <p:spTree>
      <p:nvGrpSpPr>
        <p:cNvPr id="1" name=""/>
        <p:cNvGrpSpPr/>
        <p:nvPr/>
      </p:nvGrpSpPr>
      <p:grpSpPr/>
      <p:sp>
        <p:nvSpPr>
          <p:cNvPr id="2" name="Title 1">
            <a:extLst>
              <a:ext uri="{FF2B5EF4-FFF2-40B4-BE49-F238E27FC236}">
                <a16:creationId xmlns:a16="http://schemas.microsoft.com/office/drawing/2014/main" id="{645AD5E1-A6F1-47DC-90FE-80EB7ABB4789}"/>
              </a:ext>
            </a:extLst>
          </p:cNvPr>
          <p:cNvSpPr>
            <a:spLocks noGrp="1"/>
          </p:cNvSpPr>
          <p:nvPr>
            <p:ph type="title"/>
          </p:nvPr>
        </p:nvSpPr>
        <p:spPr/>
        <p:txBody>
          <a:bodyPr/>
          <a:lstStyle/>
          <a:p>
            <a:r>
              <a:rPr lang="en-US" dirty="0"/>
              <a:t>Thank you.</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TotalTime>
  <Words>8</Words>
  <Application>Microsoft Office PowerPoint</Application>
  <PresentationFormat>ワイド画面</PresentationFormat>
  <Paragraphs>4</Paragraphs>
  <Slides>1</Slides>
  <Notes>1</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vt:i4>
      </vt:variant>
    </vt:vector>
  </HeadingPairs>
  <TitlesOfParts>
    <vt:vector size="6" baseType="lpstr">
      <vt:lpstr>游ゴシック</vt:lpstr>
      <vt:lpstr>游ゴシック Light</vt:lpstr>
      <vt:lpstr>Arial</vt:lpstr>
      <vt:lpstr>Segoe UI</vt:lpstr>
      <vt:lpstr>Office テーマ</vt:lpstr>
      <vt:lpstr>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Akira Koike</dc:creator>
  <cp:lastModifiedBy>Akira Koike</cp:lastModifiedBy>
  <cp:revision>3</cp:revision>
  <dcterms:created xsi:type="dcterms:W3CDTF">2026-03-26T13:45:22Z</dcterms:created>
  <dcterms:modified xsi:type="dcterms:W3CDTF">2026-03-27T10:27:38Z</dcterms:modified>
</cp:coreProperties>
</file>