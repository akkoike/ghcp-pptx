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learn.microsoft.com/azure/azure-local/overview" TargetMode="External"/><Relationship Id="rId2" Type="http://schemas.openxmlformats.org/officeDocument/2006/relationships/hyperlink" Target="https://learn.microsoft.com/azure/azure-local/overview/hyperconverged-overview" TargetMode="External"/><Relationship Id="rId3" Type="http://schemas.openxmlformats.org/officeDocument/2006/relationships/hyperlink" Target="https://learn.microsoft.com/azure/azure-local/concepts/system-requirements-23h2" TargetMode="External"/><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Local の概要</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10</a:t>
            </a:r>
            <a:endParaRPr lang="en-US" sz="900" dirty="0"/>
          </a:p>
        </p:txBody>
      </p:sp>
      <p:sp>
        <p:nvSpPr>
          <p:cNvPr id="5" name="Shape 3"/>
          <p:cNvSpPr/>
          <p:nvPr/>
        </p:nvSpPr>
        <p:spPr>
          <a:xfrm>
            <a:off x="457200" y="1188720"/>
            <a:ext cx="2743200" cy="1097280"/>
          </a:xfrm>
          <a:prstGeom prst="roundRect">
            <a:avLst>
              <a:gd name="adj" fmla="val 12500"/>
            </a:avLst>
          </a:prstGeom>
          <a:solidFill>
            <a:srgbClr val="0078D4"/>
          </a:solidFill>
          <a:ln/>
        </p:spPr>
      </p:sp>
      <p:sp>
        <p:nvSpPr>
          <p:cNvPr id="6" name="Text 4"/>
          <p:cNvSpPr/>
          <p:nvPr/>
        </p:nvSpPr>
        <p:spPr>
          <a:xfrm>
            <a:off x="457200" y="1188720"/>
            <a:ext cx="2743200" cy="1097280"/>
          </a:xfrm>
          <a:prstGeom prst="rect">
            <a:avLst/>
          </a:prstGeom>
          <a:noFill/>
          <a:ln/>
        </p:spPr>
        <p:txBody>
          <a:bodyPr wrap="square"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Azure クラウド</a:t>
            </a:r>
            <a:endParaRPr lang="en-US" sz="1600" dirty="0"/>
          </a:p>
        </p:txBody>
      </p:sp>
      <p:sp>
        <p:nvSpPr>
          <p:cNvPr id="7" name="Text 5"/>
          <p:cNvSpPr/>
          <p:nvPr/>
        </p:nvSpPr>
        <p:spPr>
          <a:xfrm>
            <a:off x="3383280" y="1188720"/>
            <a:ext cx="91440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8" name="Shape 6"/>
          <p:cNvSpPr/>
          <p:nvPr/>
        </p:nvSpPr>
        <p:spPr>
          <a:xfrm>
            <a:off x="4389120" y="1188720"/>
            <a:ext cx="2743200" cy="1097280"/>
          </a:xfrm>
          <a:prstGeom prst="roundRect">
            <a:avLst>
              <a:gd name="adj" fmla="val 12500"/>
            </a:avLst>
          </a:prstGeom>
          <a:solidFill>
            <a:srgbClr val="5C2D91"/>
          </a:solidFill>
          <a:ln/>
        </p:spPr>
      </p:sp>
      <p:sp>
        <p:nvSpPr>
          <p:cNvPr id="9" name="Text 7"/>
          <p:cNvSpPr/>
          <p:nvPr/>
        </p:nvSpPr>
        <p:spPr>
          <a:xfrm>
            <a:off x="4389120" y="1188720"/>
            <a:ext cx="274320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 Arc</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(統一管理プレーン)</a:t>
            </a:r>
            <a:endParaRPr lang="en-US" sz="1400" dirty="0"/>
          </a:p>
        </p:txBody>
      </p:sp>
      <p:sp>
        <p:nvSpPr>
          <p:cNvPr id="10" name="Text 8"/>
          <p:cNvSpPr/>
          <p:nvPr/>
        </p:nvSpPr>
        <p:spPr>
          <a:xfrm>
            <a:off x="7315200" y="1188720"/>
            <a:ext cx="914400" cy="10972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1" name="Shape 9"/>
          <p:cNvSpPr/>
          <p:nvPr/>
        </p:nvSpPr>
        <p:spPr>
          <a:xfrm>
            <a:off x="8412480" y="1188720"/>
            <a:ext cx="2743200" cy="1097280"/>
          </a:xfrm>
          <a:prstGeom prst="roundRect">
            <a:avLst>
              <a:gd name="adj" fmla="val 12500"/>
            </a:avLst>
          </a:prstGeom>
          <a:solidFill>
            <a:srgbClr val="107C10"/>
          </a:solidFill>
          <a:ln/>
        </p:spPr>
      </p:sp>
      <p:sp>
        <p:nvSpPr>
          <p:cNvPr id="12" name="Text 10"/>
          <p:cNvSpPr/>
          <p:nvPr/>
        </p:nvSpPr>
        <p:spPr>
          <a:xfrm>
            <a:off x="8412480" y="1188720"/>
            <a:ext cx="274320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 Local</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(オンプレミス)</a:t>
            </a:r>
            <a:endParaRPr lang="en-US" sz="1400" dirty="0"/>
          </a:p>
        </p:txBody>
      </p:sp>
      <p:sp>
        <p:nvSpPr>
          <p:cNvPr id="13" name="Text 11"/>
          <p:cNvSpPr/>
          <p:nvPr/>
        </p:nvSpPr>
        <p:spPr>
          <a:xfrm>
            <a:off x="457200" y="2560320"/>
            <a:ext cx="11274552" cy="3840480"/>
          </a:xfrm>
          <a:prstGeom prst="rect">
            <a:avLst/>
          </a:prstGeom>
          <a:noFill/>
          <a:ln/>
        </p:spPr>
        <p:txBody>
          <a:bodyPr wrap="square" rtlCol="0" anchor="t"/>
          <a:lstStyle/>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Azure Local は、Microsoft の分散インフラストラクチャソリューションです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お客様のオンプレミス環境に Azure の機能を拡張し、ローカルでのアプリケーション展開を実現します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旧称「Azure Stack HCI」から名称が変更されています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Azure Arc を統一コントロールプレーンとして使用し、クラウドからエッジまでシームレスに管理できます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クラウドネイティブな管理エクスペリエンスを提供し、接続・切断両方のデプロイをサポートします</a:t>
            </a:r>
            <a:endParaRPr lang="en-US" sz="1300" dirty="0"/>
          </a:p>
          <a:p>
            <a:pPr marL="342900" indent="-342900">
              <a:lnSpc>
                <a:spcPct val="130000"/>
              </a:lnSpc>
              <a:buSzPct val="100000"/>
              <a:buChar char="•"/>
            </a:pPr>
            <a:r>
              <a:rPr lang="en-US" sz="1300" dirty="0">
                <a:solidFill>
                  <a:srgbClr val="333333"/>
                </a:solidFill>
                <a:latin typeface="Meiryo UI" pitchFamily="34" charset="0"/>
                <a:ea typeface="Meiryo UI" pitchFamily="34" charset="-122"/>
                <a:cs typeface="Meiryo UI" pitchFamily="34" charset="-120"/>
              </a:rPr>
              <a:t>物理コアあたりの月額サブスクリプション課金モデルを採用しています</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Local のユースケース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10</a:t>
            </a:r>
            <a:endParaRPr lang="en-US" sz="900" dirty="0"/>
          </a:p>
        </p:txBody>
      </p:sp>
      <p:sp>
        <p:nvSpPr>
          <p:cNvPr id="5" name="Shape 3"/>
          <p:cNvSpPr/>
          <p:nvPr/>
        </p:nvSpPr>
        <p:spPr>
          <a:xfrm>
            <a:off x="457200" y="1280160"/>
            <a:ext cx="2560320" cy="4114800"/>
          </a:xfrm>
          <a:prstGeom prst="roundRect">
            <a:avLst>
              <a:gd name="adj" fmla="val 5357"/>
            </a:avLst>
          </a:prstGeom>
          <a:solidFill>
            <a:srgbClr val="F3F2F1"/>
          </a:solidFill>
          <a:ln w="25400">
            <a:solidFill>
              <a:srgbClr val="0078D4"/>
            </a:solidFill>
            <a:prstDash val="solid"/>
          </a:ln>
        </p:spPr>
      </p:sp>
      <p:sp>
        <p:nvSpPr>
          <p:cNvPr id="6" name="Text 4"/>
          <p:cNvSpPr/>
          <p:nvPr/>
        </p:nvSpPr>
        <p:spPr>
          <a:xfrm>
            <a:off x="45720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7" name="Text 5"/>
          <p:cNvSpPr/>
          <p:nvPr/>
        </p:nvSpPr>
        <p:spPr>
          <a:xfrm>
            <a:off x="594360" y="2286000"/>
            <a:ext cx="2286000" cy="731520"/>
          </a:xfrm>
          <a:prstGeom prst="rect">
            <a:avLst/>
          </a:prstGeom>
          <a:noFill/>
          <a:ln/>
        </p:spPr>
        <p:txBody>
          <a:bodyPr wrap="square" rtlCol="0" anchor="ctr"/>
          <a:lstStyle/>
          <a:p>
            <a:pPr algn="ctr" indent="0" marL="0">
              <a:buNone/>
            </a:pPr>
            <a:r>
              <a:rPr lang="en-US" sz="1300" b="1" dirty="0">
                <a:solidFill>
                  <a:srgbClr val="0078D4"/>
                </a:solidFill>
                <a:latin typeface="Meiryo UI" pitchFamily="34" charset="0"/>
                <a:ea typeface="Meiryo UI" pitchFamily="34" charset="-122"/>
                <a:cs typeface="Meiryo UI" pitchFamily="34" charset="-120"/>
              </a:rPr>
              <a:t>ローカル AI 推論</a:t>
            </a:r>
            <a:endParaRPr lang="en-US" sz="1300" dirty="0"/>
          </a:p>
        </p:txBody>
      </p:sp>
      <p:sp>
        <p:nvSpPr>
          <p:cNvPr id="8" name="Text 6"/>
          <p:cNvSpPr/>
          <p:nvPr/>
        </p:nvSpPr>
        <p:spPr>
          <a:xfrm>
            <a:off x="64008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データをソースで処理する必要がある環境に適しています（例: 小売店のセルフチェックアウト、パイプラインの漏洩検出）</a:t>
            </a:r>
            <a:endParaRPr lang="en-US" sz="1050" dirty="0"/>
          </a:p>
        </p:txBody>
      </p:sp>
      <p:sp>
        <p:nvSpPr>
          <p:cNvPr id="9" name="Shape 7"/>
          <p:cNvSpPr/>
          <p:nvPr/>
        </p:nvSpPr>
        <p:spPr>
          <a:xfrm>
            <a:off x="3291840" y="1280160"/>
            <a:ext cx="2560320" cy="4114800"/>
          </a:xfrm>
          <a:prstGeom prst="roundRect">
            <a:avLst>
              <a:gd name="adj" fmla="val 5357"/>
            </a:avLst>
          </a:prstGeom>
          <a:solidFill>
            <a:srgbClr val="F3F2F1"/>
          </a:solidFill>
          <a:ln w="25400">
            <a:solidFill>
              <a:srgbClr val="107C10"/>
            </a:solidFill>
            <a:prstDash val="solid"/>
          </a:ln>
        </p:spPr>
      </p:sp>
      <p:sp>
        <p:nvSpPr>
          <p:cNvPr id="10" name="Text 8"/>
          <p:cNvSpPr/>
          <p:nvPr/>
        </p:nvSpPr>
        <p:spPr>
          <a:xfrm>
            <a:off x="329184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11" name="Text 9"/>
          <p:cNvSpPr/>
          <p:nvPr/>
        </p:nvSpPr>
        <p:spPr>
          <a:xfrm>
            <a:off x="3429000" y="2286000"/>
            <a:ext cx="2286000" cy="731520"/>
          </a:xfrm>
          <a:prstGeom prst="rect">
            <a:avLst/>
          </a:prstGeom>
          <a:noFill/>
          <a:ln/>
        </p:spPr>
        <p:txBody>
          <a:bodyPr wrap="square" rtlCol="0" anchor="ctr"/>
          <a:lstStyle/>
          <a:p>
            <a:pPr algn="ctr" indent="0" marL="0">
              <a:buNone/>
            </a:pPr>
            <a:r>
              <a:rPr lang="en-US" sz="1300" b="1" dirty="0">
                <a:solidFill>
                  <a:srgbClr val="107C10"/>
                </a:solidFill>
                <a:latin typeface="Meiryo UI" pitchFamily="34" charset="0"/>
                <a:ea typeface="Meiryo UI" pitchFamily="34" charset="-122"/>
                <a:cs typeface="Meiryo UI" pitchFamily="34" charset="-120"/>
              </a:rPr>
              <a:t>ミッションクリティカルな</a:t>
            </a:r>
            <a:endParaRPr lang="en-US" sz="1300" dirty="0"/>
          </a:p>
          <a:p>
            <a:pPr algn="ctr" indent="0" marL="0">
              <a:buNone/>
            </a:pPr>
            <a:r>
              <a:rPr lang="en-US" sz="1300" b="1" dirty="0">
                <a:solidFill>
                  <a:srgbClr val="107C10"/>
                </a:solidFill>
                <a:latin typeface="Meiryo UI" pitchFamily="34" charset="0"/>
                <a:ea typeface="Meiryo UI" pitchFamily="34" charset="-122"/>
                <a:cs typeface="Meiryo UI" pitchFamily="34" charset="-120"/>
              </a:rPr>
              <a:t>業務継続</a:t>
            </a:r>
            <a:endParaRPr lang="en-US" sz="1300" dirty="0"/>
          </a:p>
        </p:txBody>
      </p:sp>
      <p:sp>
        <p:nvSpPr>
          <p:cNvPr id="12" name="Text 10"/>
          <p:cNvSpPr/>
          <p:nvPr/>
        </p:nvSpPr>
        <p:spPr>
          <a:xfrm>
            <a:off x="347472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ネットワーク障害時にも稼働し続ける必要があるシステムに適しています（例: 工場の生産ライン、スタジアムのチケッティング）</a:t>
            </a:r>
            <a:endParaRPr lang="en-US" sz="1050" dirty="0"/>
          </a:p>
        </p:txBody>
      </p:sp>
      <p:sp>
        <p:nvSpPr>
          <p:cNvPr id="13" name="Shape 11"/>
          <p:cNvSpPr/>
          <p:nvPr/>
        </p:nvSpPr>
        <p:spPr>
          <a:xfrm>
            <a:off x="6126480" y="1280160"/>
            <a:ext cx="2560320" cy="4114800"/>
          </a:xfrm>
          <a:prstGeom prst="roundRect">
            <a:avLst>
              <a:gd name="adj" fmla="val 5357"/>
            </a:avLst>
          </a:prstGeom>
          <a:solidFill>
            <a:srgbClr val="F3F2F1"/>
          </a:solidFill>
          <a:ln w="25400">
            <a:solidFill>
              <a:srgbClr val="FF8C00"/>
            </a:solidFill>
            <a:prstDash val="solid"/>
          </a:ln>
        </p:spPr>
      </p:sp>
      <p:sp>
        <p:nvSpPr>
          <p:cNvPr id="14" name="Text 12"/>
          <p:cNvSpPr/>
          <p:nvPr/>
        </p:nvSpPr>
        <p:spPr>
          <a:xfrm>
            <a:off x="612648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15" name="Text 13"/>
          <p:cNvSpPr/>
          <p:nvPr/>
        </p:nvSpPr>
        <p:spPr>
          <a:xfrm>
            <a:off x="6263640" y="2286000"/>
            <a:ext cx="2286000" cy="731520"/>
          </a:xfrm>
          <a:prstGeom prst="rect">
            <a:avLst/>
          </a:prstGeom>
          <a:noFill/>
          <a:ln/>
        </p:spPr>
        <p:txBody>
          <a:bodyPr wrap="square" rtlCol="0" anchor="ctr"/>
          <a:lstStyle/>
          <a:p>
            <a:pPr algn="ctr" indent="0" marL="0">
              <a:buNone/>
            </a:pPr>
            <a:r>
              <a:rPr lang="en-US" sz="1300" b="1" dirty="0">
                <a:solidFill>
                  <a:srgbClr val="FF8C00"/>
                </a:solidFill>
                <a:latin typeface="Meiryo UI" pitchFamily="34" charset="0"/>
                <a:ea typeface="Meiryo UI" pitchFamily="34" charset="-122"/>
                <a:cs typeface="Meiryo UI" pitchFamily="34" charset="-120"/>
              </a:rPr>
              <a:t>制御システム・</a:t>
            </a:r>
            <a:endParaRPr lang="en-US" sz="1300" dirty="0"/>
          </a:p>
          <a:p>
            <a:pPr algn="ctr" indent="0" marL="0">
              <a:buNone/>
            </a:pPr>
            <a:r>
              <a:rPr lang="en-US" sz="1300" b="1" dirty="0">
                <a:solidFill>
                  <a:srgbClr val="FF8C00"/>
                </a:solidFill>
                <a:latin typeface="Meiryo UI" pitchFamily="34" charset="0"/>
                <a:ea typeface="Meiryo UI" pitchFamily="34" charset="-122"/>
                <a:cs typeface="Meiryo UI" pitchFamily="34" charset="-120"/>
              </a:rPr>
              <a:t>リアルタイム運用</a:t>
            </a:r>
            <a:endParaRPr lang="en-US" sz="1300" dirty="0"/>
          </a:p>
        </p:txBody>
      </p:sp>
      <p:sp>
        <p:nvSpPr>
          <p:cNvPr id="16" name="Text 14"/>
          <p:cNvSpPr/>
          <p:nvPr/>
        </p:nvSpPr>
        <p:spPr>
          <a:xfrm>
            <a:off x="630936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極めて低いレイテンシが要求される環境に適しています（例: 製造実行システム、金融インフラ）</a:t>
            </a:r>
            <a:endParaRPr lang="en-US" sz="1050" dirty="0"/>
          </a:p>
        </p:txBody>
      </p:sp>
      <p:sp>
        <p:nvSpPr>
          <p:cNvPr id="17" name="Shape 15"/>
          <p:cNvSpPr/>
          <p:nvPr/>
        </p:nvSpPr>
        <p:spPr>
          <a:xfrm>
            <a:off x="8961120" y="1280160"/>
            <a:ext cx="2560320" cy="4114800"/>
          </a:xfrm>
          <a:prstGeom prst="roundRect">
            <a:avLst>
              <a:gd name="adj" fmla="val 5357"/>
            </a:avLst>
          </a:prstGeom>
          <a:solidFill>
            <a:srgbClr val="F3F2F1"/>
          </a:solidFill>
          <a:ln w="25400">
            <a:solidFill>
              <a:srgbClr val="5C2D91"/>
            </a:solidFill>
            <a:prstDash val="solid"/>
          </a:ln>
        </p:spPr>
      </p:sp>
      <p:sp>
        <p:nvSpPr>
          <p:cNvPr id="18" name="Text 16"/>
          <p:cNvSpPr/>
          <p:nvPr/>
        </p:nvSpPr>
        <p:spPr>
          <a:xfrm>
            <a:off x="8961120" y="1463040"/>
            <a:ext cx="2560320" cy="731520"/>
          </a:xfrm>
          <a:prstGeom prst="rect">
            <a:avLst/>
          </a:prstGeom>
          <a:noFill/>
          <a:ln/>
        </p:spPr>
        <p:txBody>
          <a:bodyPr wrap="square" rtlCol="0" anchor="ctr"/>
          <a:lstStyle/>
          <a:p>
            <a:pPr algn="ctr" indent="0" marL="0">
              <a:buNone/>
            </a:pPr>
            <a:r>
              <a:rPr lang="en-US" sz="3600" dirty="0">
                <a:solidFill>
                  <a:srgbClr val="000000"/>
                </a:solidFill>
                <a:latin typeface="Meiryo UI" pitchFamily="34" charset="0"/>
                <a:ea typeface="Meiryo UI" pitchFamily="34" charset="-122"/>
                <a:cs typeface="Meiryo UI" pitchFamily="34" charset="-120"/>
              </a:rPr>
              <a:t>🔒</a:t>
            </a:r>
            <a:endParaRPr lang="en-US" sz="3600" dirty="0"/>
          </a:p>
        </p:txBody>
      </p:sp>
      <p:sp>
        <p:nvSpPr>
          <p:cNvPr id="19" name="Text 17"/>
          <p:cNvSpPr/>
          <p:nvPr/>
        </p:nvSpPr>
        <p:spPr>
          <a:xfrm>
            <a:off x="9098280" y="2286000"/>
            <a:ext cx="2286000" cy="731520"/>
          </a:xfrm>
          <a:prstGeom prst="rect">
            <a:avLst/>
          </a:prstGeom>
          <a:noFill/>
          <a:ln/>
        </p:spPr>
        <p:txBody>
          <a:bodyPr wrap="square" rtlCol="0" anchor="ctr"/>
          <a:lstStyle/>
          <a:p>
            <a:pPr algn="ctr" indent="0" marL="0">
              <a:buNone/>
            </a:pPr>
            <a:r>
              <a:rPr lang="en-US" sz="1300" b="1" dirty="0">
                <a:solidFill>
                  <a:srgbClr val="5C2D91"/>
                </a:solidFill>
                <a:latin typeface="Meiryo UI" pitchFamily="34" charset="0"/>
                <a:ea typeface="Meiryo UI" pitchFamily="34" charset="-122"/>
                <a:cs typeface="Meiryo UI" pitchFamily="34" charset="-120"/>
              </a:rPr>
              <a:t>主権・規制要件</a:t>
            </a:r>
            <a:endParaRPr lang="en-US" sz="1300" dirty="0"/>
          </a:p>
        </p:txBody>
      </p:sp>
      <p:sp>
        <p:nvSpPr>
          <p:cNvPr id="20" name="Text 18"/>
          <p:cNvSpPr/>
          <p:nvPr/>
        </p:nvSpPr>
        <p:spPr>
          <a:xfrm>
            <a:off x="9144000" y="3108960"/>
            <a:ext cx="2194560" cy="2103120"/>
          </a:xfrm>
          <a:prstGeom prst="rect">
            <a:avLst/>
          </a:prstGeom>
          <a:noFill/>
          <a:ln/>
        </p:spPr>
        <p:txBody>
          <a:bodyPr wrap="square" rtlCol="0" anchor="t"/>
          <a:lstStyle/>
          <a:p>
            <a:pPr algn="l" indent="0" marL="0">
              <a:lnSpc>
                <a:spcPct val="130000"/>
              </a:lnSpc>
              <a:buNone/>
            </a:pPr>
            <a:r>
              <a:rPr lang="en-US" sz="1050" dirty="0">
                <a:solidFill>
                  <a:srgbClr val="333333"/>
                </a:solidFill>
                <a:latin typeface="Meiryo UI" pitchFamily="34" charset="0"/>
                <a:ea typeface="Meiryo UI" pitchFamily="34" charset="-122"/>
                <a:cs typeface="Meiryo UI" pitchFamily="34" charset="-120"/>
              </a:rPr>
              <a:t>データをローカルに保持・管理する必要がある業界に適しています（例: 防衛・情報セクター、エネルギーインフラ）</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アーキテクチャとシステム要件</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10</a:t>
            </a:r>
            <a:endParaRPr lang="en-US" sz="900" dirty="0"/>
          </a:p>
        </p:txBody>
      </p:sp>
      <p:sp>
        <p:nvSpPr>
          <p:cNvPr id="5" name="Text 3"/>
          <p:cNvSpPr/>
          <p:nvPr/>
        </p:nvSpPr>
        <p:spPr>
          <a:xfrm>
            <a:off x="457200" y="1188720"/>
            <a:ext cx="530352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アーキテクチャ構成</a:t>
            </a:r>
            <a:endParaRPr lang="en-US" sz="1300" dirty="0"/>
          </a:p>
        </p:txBody>
      </p:sp>
      <p:sp>
        <p:nvSpPr>
          <p:cNvPr id="6" name="Shape 4"/>
          <p:cNvSpPr/>
          <p:nvPr/>
        </p:nvSpPr>
        <p:spPr>
          <a:xfrm>
            <a:off x="457200" y="1600200"/>
            <a:ext cx="5303520" cy="731520"/>
          </a:xfrm>
          <a:prstGeom prst="roundRect">
            <a:avLst>
              <a:gd name="adj" fmla="val 12500"/>
            </a:avLst>
          </a:prstGeom>
          <a:solidFill>
            <a:srgbClr val="0078D4"/>
          </a:solidFill>
          <a:ln/>
        </p:spPr>
      </p:sp>
      <p:sp>
        <p:nvSpPr>
          <p:cNvPr id="7" name="Text 5"/>
          <p:cNvSpPr/>
          <p:nvPr/>
        </p:nvSpPr>
        <p:spPr>
          <a:xfrm>
            <a:off x="457200" y="160020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Azure クラウドサービス群</a:t>
            </a:r>
            <a:endParaRPr lang="en-US" sz="1150" dirty="0"/>
          </a:p>
        </p:txBody>
      </p:sp>
      <p:sp>
        <p:nvSpPr>
          <p:cNvPr id="8" name="Shape 6"/>
          <p:cNvSpPr/>
          <p:nvPr/>
        </p:nvSpPr>
        <p:spPr>
          <a:xfrm>
            <a:off x="457200" y="2468880"/>
            <a:ext cx="5303520" cy="731520"/>
          </a:xfrm>
          <a:prstGeom prst="roundRect">
            <a:avLst>
              <a:gd name="adj" fmla="val 12500"/>
            </a:avLst>
          </a:prstGeom>
          <a:solidFill>
            <a:srgbClr val="5C2D91"/>
          </a:solidFill>
          <a:ln/>
        </p:spPr>
      </p:sp>
      <p:sp>
        <p:nvSpPr>
          <p:cNvPr id="9" name="Text 7"/>
          <p:cNvSpPr/>
          <p:nvPr/>
        </p:nvSpPr>
        <p:spPr>
          <a:xfrm>
            <a:off x="457200" y="246888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Azure Arc (統一管理プレーン)</a:t>
            </a:r>
            <a:endParaRPr lang="en-US" sz="1150" dirty="0"/>
          </a:p>
        </p:txBody>
      </p:sp>
      <p:sp>
        <p:nvSpPr>
          <p:cNvPr id="10" name="Shape 8"/>
          <p:cNvSpPr/>
          <p:nvPr/>
        </p:nvSpPr>
        <p:spPr>
          <a:xfrm>
            <a:off x="457200" y="3337560"/>
            <a:ext cx="5303520" cy="731520"/>
          </a:xfrm>
          <a:prstGeom prst="roundRect">
            <a:avLst>
              <a:gd name="adj" fmla="val 12500"/>
            </a:avLst>
          </a:prstGeom>
          <a:solidFill>
            <a:srgbClr val="107C10"/>
          </a:solidFill>
          <a:ln/>
        </p:spPr>
      </p:sp>
      <p:sp>
        <p:nvSpPr>
          <p:cNvPr id="11" name="Text 9"/>
          <p:cNvSpPr/>
          <p:nvPr/>
        </p:nvSpPr>
        <p:spPr>
          <a:xfrm>
            <a:off x="457200" y="333756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HCI 基盤 (Hyper-V / S2D / FCI)</a:t>
            </a:r>
            <a:endParaRPr lang="en-US" sz="1150" dirty="0"/>
          </a:p>
        </p:txBody>
      </p:sp>
      <p:sp>
        <p:nvSpPr>
          <p:cNvPr id="12" name="Shape 10"/>
          <p:cNvSpPr/>
          <p:nvPr/>
        </p:nvSpPr>
        <p:spPr>
          <a:xfrm>
            <a:off x="457200" y="4206240"/>
            <a:ext cx="5303520" cy="731520"/>
          </a:xfrm>
          <a:prstGeom prst="roundRect">
            <a:avLst>
              <a:gd name="adj" fmla="val 12500"/>
            </a:avLst>
          </a:prstGeom>
          <a:solidFill>
            <a:srgbClr val="6B6B6B"/>
          </a:solidFill>
          <a:ln/>
        </p:spPr>
      </p:sp>
      <p:sp>
        <p:nvSpPr>
          <p:cNvPr id="13" name="Text 11"/>
          <p:cNvSpPr/>
          <p:nvPr/>
        </p:nvSpPr>
        <p:spPr>
          <a:xfrm>
            <a:off x="457200" y="4206240"/>
            <a:ext cx="5303520" cy="731520"/>
          </a:xfrm>
          <a:prstGeom prst="rect">
            <a:avLst/>
          </a:prstGeom>
          <a:noFill/>
          <a:ln/>
        </p:spPr>
        <p:txBody>
          <a:bodyPr wrap="square"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物理サーバー (1〜16台)</a:t>
            </a:r>
            <a:endParaRPr lang="en-US" sz="1150" dirty="0"/>
          </a:p>
        </p:txBody>
      </p:sp>
      <p:sp>
        <p:nvSpPr>
          <p:cNvPr id="14" name="Text 12"/>
          <p:cNvSpPr/>
          <p:nvPr/>
        </p:nvSpPr>
        <p:spPr>
          <a:xfrm>
            <a:off x="2651760" y="2331720"/>
            <a:ext cx="914400" cy="182880"/>
          </a:xfrm>
          <a:prstGeom prst="rect">
            <a:avLst/>
          </a:prstGeom>
          <a:noFill/>
          <a:ln/>
        </p:spPr>
        <p:txBody>
          <a:bodyPr wrap="square" rtlCol="0" anchor="ctr"/>
          <a:lstStyle/>
          <a:p>
            <a:pPr algn="ctr" indent="0" marL="0">
              <a:buNone/>
            </a:pPr>
            <a:r>
              <a:rPr lang="en-US" sz="1200" dirty="0">
                <a:solidFill>
                  <a:srgbClr val="0078D4"/>
                </a:solidFill>
                <a:latin typeface="Meiryo UI" pitchFamily="34" charset="0"/>
                <a:ea typeface="Meiryo UI" pitchFamily="34" charset="-122"/>
                <a:cs typeface="Meiryo UI" pitchFamily="34" charset="-120"/>
              </a:rPr>
              <a:t>▲</a:t>
            </a:r>
            <a:endParaRPr lang="en-US" sz="1200" dirty="0"/>
          </a:p>
        </p:txBody>
      </p:sp>
      <p:sp>
        <p:nvSpPr>
          <p:cNvPr id="15" name="Text 13"/>
          <p:cNvSpPr/>
          <p:nvPr/>
        </p:nvSpPr>
        <p:spPr>
          <a:xfrm>
            <a:off x="2651760" y="3200400"/>
            <a:ext cx="914400" cy="182880"/>
          </a:xfrm>
          <a:prstGeom prst="rect">
            <a:avLst/>
          </a:prstGeom>
          <a:noFill/>
          <a:ln/>
        </p:spPr>
        <p:txBody>
          <a:bodyPr wrap="square" rtlCol="0" anchor="ctr"/>
          <a:lstStyle/>
          <a:p>
            <a:pPr algn="ctr" indent="0" marL="0">
              <a:buNone/>
            </a:pPr>
            <a:r>
              <a:rPr lang="en-US" sz="1200" dirty="0">
                <a:solidFill>
                  <a:srgbClr val="0078D4"/>
                </a:solidFill>
                <a:latin typeface="Meiryo UI" pitchFamily="34" charset="0"/>
                <a:ea typeface="Meiryo UI" pitchFamily="34" charset="-122"/>
                <a:cs typeface="Meiryo UI" pitchFamily="34" charset="-120"/>
              </a:rPr>
              <a:t>▲</a:t>
            </a:r>
            <a:endParaRPr lang="en-US" sz="1200" dirty="0"/>
          </a:p>
        </p:txBody>
      </p:sp>
      <p:sp>
        <p:nvSpPr>
          <p:cNvPr id="16" name="Text 14"/>
          <p:cNvSpPr/>
          <p:nvPr/>
        </p:nvSpPr>
        <p:spPr>
          <a:xfrm>
            <a:off x="2651760" y="4069080"/>
            <a:ext cx="914400" cy="182880"/>
          </a:xfrm>
          <a:prstGeom prst="rect">
            <a:avLst/>
          </a:prstGeom>
          <a:noFill/>
          <a:ln/>
        </p:spPr>
        <p:txBody>
          <a:bodyPr wrap="square" rtlCol="0" anchor="ctr"/>
          <a:lstStyle/>
          <a:p>
            <a:pPr algn="ctr" indent="0" marL="0">
              <a:buNone/>
            </a:pPr>
            <a:r>
              <a:rPr lang="en-US" sz="1200" dirty="0">
                <a:solidFill>
                  <a:srgbClr val="0078D4"/>
                </a:solidFill>
                <a:latin typeface="Meiryo UI" pitchFamily="34" charset="0"/>
                <a:ea typeface="Meiryo UI" pitchFamily="34" charset="-122"/>
                <a:cs typeface="Meiryo UI" pitchFamily="34" charset="-120"/>
              </a:rPr>
              <a:t>▲</a:t>
            </a:r>
            <a:endParaRPr lang="en-US" sz="1200" dirty="0"/>
          </a:p>
        </p:txBody>
      </p:sp>
      <p:sp>
        <p:nvSpPr>
          <p:cNvPr id="17" name="Text 15"/>
          <p:cNvSpPr/>
          <p:nvPr/>
        </p:nvSpPr>
        <p:spPr>
          <a:xfrm>
            <a:off x="457200" y="5120640"/>
            <a:ext cx="5303520" cy="731520"/>
          </a:xfrm>
          <a:prstGeom prst="rect">
            <a:avLst/>
          </a:prstGeom>
          <a:noFill/>
          <a:ln/>
        </p:spPr>
        <p:txBody>
          <a:bodyPr wrap="square" rtlCol="0" anchor="t"/>
          <a:lstStyle/>
          <a:p>
            <a:pPr indent="0" marL="0">
              <a:lnSpc>
                <a:spcPct val="130000"/>
              </a:lnSpc>
              <a:buNone/>
            </a:pPr>
            <a:r>
              <a:rPr lang="en-US" sz="1000" dirty="0">
                <a:solidFill>
                  <a:srgbClr val="333333"/>
                </a:solidFill>
                <a:latin typeface="Meiryo UI" pitchFamily="34" charset="0"/>
                <a:ea typeface="Meiryo UI" pitchFamily="34" charset="-122"/>
                <a:cs typeface="Meiryo UI" pitchFamily="34" charset="-120"/>
              </a:rPr>
              <a:t>● Azure Local (コンピュート・ストレージ)
</a:t>
            </a:r>
            <a:pPr indent="0" marL="0">
              <a:lnSpc>
                <a:spcPct val="130000"/>
              </a:lnSpc>
              <a:buNone/>
            </a:pPr>
            <a:r>
              <a:rPr lang="en-US" sz="1000" dirty="0">
                <a:solidFill>
                  <a:srgbClr val="333333"/>
                </a:solidFill>
                <a:latin typeface="Meiryo UI" pitchFamily="34" charset="0"/>
                <a:ea typeface="Meiryo UI" pitchFamily="34" charset="-122"/>
                <a:cs typeface="Meiryo UI" pitchFamily="34" charset="-120"/>
              </a:rPr>
              <a:t>● Azure Key Vault / Monitor / Defender for Cloud</a:t>
            </a:r>
            <a:endParaRPr lang="en-US" sz="1000" dirty="0"/>
          </a:p>
        </p:txBody>
      </p:sp>
      <p:sp>
        <p:nvSpPr>
          <p:cNvPr id="18" name="Shape 16"/>
          <p:cNvSpPr/>
          <p:nvPr/>
        </p:nvSpPr>
        <p:spPr>
          <a:xfrm>
            <a:off x="6126480" y="1188720"/>
            <a:ext cx="5577840" cy="1645920"/>
          </a:xfrm>
          <a:prstGeom prst="roundRect">
            <a:avLst>
              <a:gd name="adj" fmla="val 5556"/>
            </a:avLst>
          </a:prstGeom>
          <a:solidFill>
            <a:srgbClr val="DEECF9"/>
          </a:solidFill>
          <a:ln/>
        </p:spPr>
      </p:sp>
      <p:sp>
        <p:nvSpPr>
          <p:cNvPr id="19" name="Text 17"/>
          <p:cNvSpPr/>
          <p:nvPr/>
        </p:nvSpPr>
        <p:spPr>
          <a:xfrm>
            <a:off x="6309360" y="1234440"/>
            <a:ext cx="521208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Azure / ネットワーク要件</a:t>
            </a:r>
            <a:endParaRPr lang="en-US" sz="1300" dirty="0"/>
          </a:p>
        </p:txBody>
      </p:sp>
      <p:sp>
        <p:nvSpPr>
          <p:cNvPr id="20" name="Text 18"/>
          <p:cNvSpPr/>
          <p:nvPr/>
        </p:nvSpPr>
        <p:spPr>
          <a:xfrm>
            <a:off x="6309360" y="1554480"/>
            <a:ext cx="5212080" cy="1188720"/>
          </a:xfrm>
          <a:prstGeom prst="rect">
            <a:avLst/>
          </a:prstGeom>
          <a:noFill/>
          <a:ln/>
        </p:spPr>
        <p:txBody>
          <a:bodyPr wrap="square" rtlCol="0" anchor="t"/>
          <a:lstStyle/>
          <a:p>
            <a:pPr indent="0" marL="0">
              <a:lnSpc>
                <a:spcPct val="120000"/>
              </a:lnSpc>
              <a:buNone/>
            </a:pPr>
            <a:r>
              <a:rPr lang="en-US" sz="1050" dirty="0">
                <a:solidFill>
                  <a:srgbClr val="333333"/>
                </a:solidFill>
                <a:latin typeface="Meiryo UI" pitchFamily="34" charset="0"/>
                <a:ea typeface="Meiryo UI" pitchFamily="34" charset="-122"/>
                <a:cs typeface="Meiryo UI" pitchFamily="34" charset="-120"/>
              </a:rPr>
              <a:t>• Azure サブスクリプション（EA / CSP / Pay-as-you-go 等）が必要です
</a:t>
            </a:r>
            <a:pPr indent="0" marL="0">
              <a:lnSpc>
                <a:spcPct val="120000"/>
              </a:lnSpc>
              <a:buNone/>
            </a:pPr>
            <a:r>
              <a:rPr lang="en-US" sz="1050" dirty="0">
                <a:solidFill>
                  <a:srgbClr val="333333"/>
                </a:solidFill>
                <a:latin typeface="Meiryo UI" pitchFamily="34" charset="0"/>
                <a:ea typeface="Meiryo UI" pitchFamily="34" charset="-122"/>
                <a:cs typeface="Meiryo UI" pitchFamily="34" charset="-120"/>
              </a:rPr>
              <a:t>• 対応リージョン: East US、West Europe、Japan East 等に対応しています
</a:t>
            </a:r>
            <a:pPr indent="0" marL="0">
              <a:lnSpc>
                <a:spcPct val="120000"/>
              </a:lnSpc>
              <a:buNone/>
            </a:pPr>
            <a:r>
              <a:rPr lang="en-US" sz="1050" dirty="0">
                <a:solidFill>
                  <a:srgbClr val="333333"/>
                </a:solidFill>
                <a:latin typeface="Meiryo UI" pitchFamily="34" charset="0"/>
                <a:ea typeface="Meiryo UI" pitchFamily="34" charset="-122"/>
                <a:cs typeface="Meiryo UI" pitchFamily="34" charset="-120"/>
              </a:rPr>
              <a:t>• ネットワーク: Azure への接続が必要です（最低 10 Mbit）</a:t>
            </a:r>
            <a:endParaRPr lang="en-US" sz="1050" dirty="0"/>
          </a:p>
        </p:txBody>
      </p:sp>
      <p:sp>
        <p:nvSpPr>
          <p:cNvPr id="21" name="Text 19"/>
          <p:cNvSpPr/>
          <p:nvPr/>
        </p:nvSpPr>
        <p:spPr>
          <a:xfrm>
            <a:off x="6126480" y="3017520"/>
            <a:ext cx="5577840" cy="320040"/>
          </a:xfrm>
          <a:prstGeom prst="rect">
            <a:avLst/>
          </a:prstGeom>
          <a:noFill/>
          <a:ln/>
        </p:spPr>
        <p:txBody>
          <a:bodyPr wrap="square" rtlCol="0" anchor="ctr"/>
          <a:lstStyle/>
          <a:p>
            <a:pPr indent="0" marL="0">
              <a:buNone/>
            </a:pPr>
            <a:r>
              <a:rPr lang="en-US" sz="1300" b="1" dirty="0">
                <a:solidFill>
                  <a:srgbClr val="0078D4"/>
                </a:solidFill>
                <a:latin typeface="Meiryo UI" pitchFamily="34" charset="0"/>
                <a:ea typeface="Meiryo UI" pitchFamily="34" charset="-122"/>
                <a:cs typeface="Meiryo UI" pitchFamily="34" charset="-120"/>
              </a:rPr>
              <a:t>最大ハードウェア仕様</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26480" y="3383280"/>
          <a:ext cx="5577840" cy="914400"/>
        </p:xfrm>
        <a:graphic>
          <a:graphicData uri="http://schemas.openxmlformats.org/drawingml/2006/table">
            <a:tbl>
              <a:tblPr/>
              <a:tblGrid>
                <a:gridCol w="2788920"/>
                <a:gridCol w="2788920"/>
              </a:tblGrid>
              <a:tr h="338328">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項目</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最大値</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物理マシン数</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16台/システム</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ストレージ</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4 PB/システム、400 TB/マシン</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ボリューム</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64個/システム、64 TB/ボリューム</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論理プロセッサ</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512個/ホスト</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RAM</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24 TB/ホスト</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38328">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仮想プロセッサ</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Meiryo UI" pitchFamily="34" charset="0"/>
                          <a:ea typeface="Meiryo UI" pitchFamily="34" charset="-122"/>
                          <a:cs typeface="Meiryo UI" pitchFamily="34" charset="-120"/>
                        </a:rPr>
                        <a:t>2,048個/ホスト</a:t>
                      </a:r>
                      <a:endParaRPr lang="en-US" sz="1000" dirty="0">
                        <a:latin typeface="Meiryo UI" charset="0"/>
                        <a:ea typeface="Meiryo UI" charset="0"/>
                        <a:cs typeface="Meiryo U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ワークロード管理機能</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10</a:t>
            </a:r>
            <a:endParaRPr lang="en-US" sz="900" dirty="0"/>
          </a:p>
        </p:txBody>
      </p:sp>
      <p:sp>
        <p:nvSpPr>
          <p:cNvPr id="5" name="Shape 3"/>
          <p:cNvSpPr/>
          <p:nvPr/>
        </p:nvSpPr>
        <p:spPr>
          <a:xfrm>
            <a:off x="457200" y="1280160"/>
            <a:ext cx="3474720" cy="4754880"/>
          </a:xfrm>
          <a:prstGeom prst="roundRect">
            <a:avLst>
              <a:gd name="adj" fmla="val 3947"/>
            </a:avLst>
          </a:prstGeom>
          <a:solidFill>
            <a:srgbClr val="F3F2F1"/>
          </a:solidFill>
          <a:ln w="25400">
            <a:solidFill>
              <a:srgbClr val="0078D4"/>
            </a:solidFill>
            <a:prstDash val="solid"/>
          </a:ln>
        </p:spPr>
      </p:sp>
      <p:sp>
        <p:nvSpPr>
          <p:cNvPr id="6" name="Shape 4"/>
          <p:cNvSpPr/>
          <p:nvPr/>
        </p:nvSpPr>
        <p:spPr>
          <a:xfrm>
            <a:off x="457200" y="1280160"/>
            <a:ext cx="3474720" cy="822960"/>
          </a:xfrm>
          <a:prstGeom prst="roundRect">
            <a:avLst>
              <a:gd name="adj" fmla="val 16667"/>
            </a:avLst>
          </a:prstGeom>
          <a:solidFill>
            <a:srgbClr val="0078D4"/>
          </a:solidFill>
          <a:ln/>
        </p:spPr>
      </p:sp>
      <p:sp>
        <p:nvSpPr>
          <p:cNvPr id="7" name="Shape 5"/>
          <p:cNvSpPr/>
          <p:nvPr/>
        </p:nvSpPr>
        <p:spPr>
          <a:xfrm>
            <a:off x="457200" y="1828800"/>
            <a:ext cx="3474720" cy="320040"/>
          </a:xfrm>
          <a:prstGeom prst="rect">
            <a:avLst/>
          </a:prstGeom>
          <a:solidFill>
            <a:srgbClr val="0078D4"/>
          </a:solidFill>
          <a:ln/>
        </p:spPr>
      </p:sp>
      <p:sp>
        <p:nvSpPr>
          <p:cNvPr id="8" name="Text 6"/>
          <p:cNvSpPr/>
          <p:nvPr/>
        </p:nvSpPr>
        <p:spPr>
          <a:xfrm>
            <a:off x="457200" y="1280160"/>
            <a:ext cx="3474720" cy="82296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Azure Local VM 管理</a:t>
            </a:r>
            <a:endParaRPr lang="en-US" sz="1400" dirty="0"/>
          </a:p>
        </p:txBody>
      </p:sp>
      <p:sp>
        <p:nvSpPr>
          <p:cNvPr id="9" name="Text 7"/>
          <p:cNvSpPr/>
          <p:nvPr/>
        </p:nvSpPr>
        <p:spPr>
          <a:xfrm>
            <a:off x="594360" y="2286000"/>
            <a:ext cx="3200400" cy="3566160"/>
          </a:xfrm>
          <a:prstGeom prst="rect">
            <a:avLst/>
          </a:prstGeom>
          <a:noFill/>
          <a:ln/>
        </p:spPr>
        <p:txBody>
          <a:bodyPr wrap="square" rtlCol="0" anchor="t"/>
          <a:lstStyle/>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Windows/Linux VM のプロビジョニングと管理ができます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Azure Portal、CLI、PowerShell、ARM テンプレートから操作が可能です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VM ライフサイクル操作（作成・起動・停止・削除・リサイズ等）に対応しています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RBAC による役割ベースのアクセス制御を提供しています</a:t>
            </a:r>
            <a:endParaRPr lang="en-US" sz="1050" dirty="0"/>
          </a:p>
        </p:txBody>
      </p:sp>
      <p:sp>
        <p:nvSpPr>
          <p:cNvPr id="10" name="Shape 8"/>
          <p:cNvSpPr/>
          <p:nvPr/>
        </p:nvSpPr>
        <p:spPr>
          <a:xfrm>
            <a:off x="4206240" y="1280160"/>
            <a:ext cx="3474720" cy="4754880"/>
          </a:xfrm>
          <a:prstGeom prst="roundRect">
            <a:avLst>
              <a:gd name="adj" fmla="val 3947"/>
            </a:avLst>
          </a:prstGeom>
          <a:solidFill>
            <a:srgbClr val="F3F2F1"/>
          </a:solidFill>
          <a:ln w="25400">
            <a:solidFill>
              <a:srgbClr val="107C10"/>
            </a:solidFill>
            <a:prstDash val="solid"/>
          </a:ln>
        </p:spPr>
      </p:sp>
      <p:sp>
        <p:nvSpPr>
          <p:cNvPr id="11" name="Shape 9"/>
          <p:cNvSpPr/>
          <p:nvPr/>
        </p:nvSpPr>
        <p:spPr>
          <a:xfrm>
            <a:off x="4206240" y="1280160"/>
            <a:ext cx="3474720" cy="822960"/>
          </a:xfrm>
          <a:prstGeom prst="roundRect">
            <a:avLst>
              <a:gd name="adj" fmla="val 16667"/>
            </a:avLst>
          </a:prstGeom>
          <a:solidFill>
            <a:srgbClr val="107C10"/>
          </a:solidFill>
          <a:ln/>
        </p:spPr>
      </p:sp>
      <p:sp>
        <p:nvSpPr>
          <p:cNvPr id="12" name="Shape 10"/>
          <p:cNvSpPr/>
          <p:nvPr/>
        </p:nvSpPr>
        <p:spPr>
          <a:xfrm>
            <a:off x="4206240" y="1828800"/>
            <a:ext cx="3474720" cy="320040"/>
          </a:xfrm>
          <a:prstGeom prst="rect">
            <a:avLst/>
          </a:prstGeom>
          <a:solidFill>
            <a:srgbClr val="107C10"/>
          </a:solidFill>
          <a:ln/>
        </p:spPr>
      </p:sp>
      <p:sp>
        <p:nvSpPr>
          <p:cNvPr id="13" name="Text 11"/>
          <p:cNvSpPr/>
          <p:nvPr/>
        </p:nvSpPr>
        <p:spPr>
          <a:xfrm>
            <a:off x="4206240" y="1280160"/>
            <a:ext cx="3474720" cy="82296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AKS on Azure Local</a:t>
            </a:r>
            <a:endParaRPr lang="en-US" sz="1400" dirty="0"/>
          </a:p>
        </p:txBody>
      </p:sp>
      <p:sp>
        <p:nvSpPr>
          <p:cNvPr id="14" name="Text 12"/>
          <p:cNvSpPr/>
          <p:nvPr/>
        </p:nvSpPr>
        <p:spPr>
          <a:xfrm>
            <a:off x="4343400" y="2286000"/>
            <a:ext cx="3200400" cy="3566160"/>
          </a:xfrm>
          <a:prstGeom prst="rect">
            <a:avLst/>
          </a:prstGeom>
          <a:noFill/>
          <a:ln/>
        </p:spPr>
        <p:txBody>
          <a:bodyPr wrap="square" rtlCol="0" anchor="t"/>
          <a:lstStyle/>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Azure Arc 対応の Azure Kubernetes Service を展開できます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Azure Portal から直接 Kubernetes クラスタの作成・管理が可能です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コンテナ化されたアプリケーションのスケーリングに対応しています</a:t>
            </a:r>
            <a:endParaRPr lang="en-US" sz="1050" dirty="0"/>
          </a:p>
        </p:txBody>
      </p:sp>
      <p:sp>
        <p:nvSpPr>
          <p:cNvPr id="15" name="Shape 13"/>
          <p:cNvSpPr/>
          <p:nvPr/>
        </p:nvSpPr>
        <p:spPr>
          <a:xfrm>
            <a:off x="7955280" y="1280160"/>
            <a:ext cx="3474720" cy="4754880"/>
          </a:xfrm>
          <a:prstGeom prst="roundRect">
            <a:avLst>
              <a:gd name="adj" fmla="val 3947"/>
            </a:avLst>
          </a:prstGeom>
          <a:solidFill>
            <a:srgbClr val="F3F2F1"/>
          </a:solidFill>
          <a:ln w="25400">
            <a:solidFill>
              <a:srgbClr val="5C2D91"/>
            </a:solidFill>
            <a:prstDash val="solid"/>
          </a:ln>
        </p:spPr>
      </p:sp>
      <p:sp>
        <p:nvSpPr>
          <p:cNvPr id="16" name="Shape 14"/>
          <p:cNvSpPr/>
          <p:nvPr/>
        </p:nvSpPr>
        <p:spPr>
          <a:xfrm>
            <a:off x="7955280" y="1280160"/>
            <a:ext cx="3474720" cy="822960"/>
          </a:xfrm>
          <a:prstGeom prst="roundRect">
            <a:avLst>
              <a:gd name="adj" fmla="val 16667"/>
            </a:avLst>
          </a:prstGeom>
          <a:solidFill>
            <a:srgbClr val="5C2D91"/>
          </a:solidFill>
          <a:ln/>
        </p:spPr>
      </p:sp>
      <p:sp>
        <p:nvSpPr>
          <p:cNvPr id="17" name="Shape 15"/>
          <p:cNvSpPr/>
          <p:nvPr/>
        </p:nvSpPr>
        <p:spPr>
          <a:xfrm>
            <a:off x="7955280" y="1828800"/>
            <a:ext cx="3474720" cy="320040"/>
          </a:xfrm>
          <a:prstGeom prst="rect">
            <a:avLst/>
          </a:prstGeom>
          <a:solidFill>
            <a:srgbClr val="5C2D91"/>
          </a:solidFill>
          <a:ln/>
        </p:spPr>
      </p:sp>
      <p:sp>
        <p:nvSpPr>
          <p:cNvPr id="18" name="Text 16"/>
          <p:cNvSpPr/>
          <p:nvPr/>
        </p:nvSpPr>
        <p:spPr>
          <a:xfrm>
            <a:off x="7955280" y="1280160"/>
            <a:ext cx="3474720" cy="82296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  Azure Virtual Desktop</a:t>
            </a:r>
            <a:endParaRPr lang="en-US" sz="1400" dirty="0"/>
          </a:p>
        </p:txBody>
      </p:sp>
      <p:sp>
        <p:nvSpPr>
          <p:cNvPr id="19" name="Text 17"/>
          <p:cNvSpPr/>
          <p:nvPr/>
        </p:nvSpPr>
        <p:spPr>
          <a:xfrm>
            <a:off x="8092440" y="2286000"/>
            <a:ext cx="3200400" cy="3566160"/>
          </a:xfrm>
          <a:prstGeom prst="rect">
            <a:avLst/>
          </a:prstGeom>
          <a:noFill/>
          <a:ln/>
        </p:spPr>
        <p:txBody>
          <a:bodyPr wrap="square" rtlCol="0" anchor="t"/>
          <a:lstStyle/>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オンプレミスインフラにセッションホストを展開できます</a:t>
            </a:r>
            <a:endParaRPr lang="en-US" sz="1050" dirty="0"/>
          </a:p>
          <a:p>
            <a:pPr marL="342900" indent="-342900">
              <a:lnSpc>
                <a:spcPct val="140000"/>
              </a:lnSpc>
              <a:buSzPct val="100000"/>
              <a:buChar char="•"/>
            </a:pPr>
            <a:r>
              <a:rPr lang="en-US" sz="1050" dirty="0">
                <a:solidFill>
                  <a:srgbClr val="333333"/>
                </a:solidFill>
                <a:latin typeface="Meiryo UI" pitchFamily="34" charset="0"/>
                <a:ea typeface="Meiryo UI" pitchFamily="34" charset="-122"/>
                <a:cs typeface="Meiryo UI" pitchFamily="34" charset="-120"/>
              </a:rPr>
              <a:t>シングルセッション・マルチセッション構成を選択できます</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管理ツールと Azure サービス連携</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10</a:t>
            </a:r>
            <a:endParaRPr lang="en-US" sz="900" dirty="0"/>
          </a:p>
        </p:txBody>
      </p:sp>
      <p:sp>
        <p:nvSpPr>
          <p:cNvPr id="5" name="Shape 3"/>
          <p:cNvSpPr/>
          <p:nvPr/>
        </p:nvSpPr>
        <p:spPr>
          <a:xfrm>
            <a:off x="457200" y="1188720"/>
            <a:ext cx="5303520" cy="2194560"/>
          </a:xfrm>
          <a:prstGeom prst="roundRect">
            <a:avLst>
              <a:gd name="adj" fmla="val 5000"/>
            </a:avLst>
          </a:prstGeom>
          <a:solidFill>
            <a:srgbClr val="DEECF9"/>
          </a:solidFill>
          <a:ln/>
        </p:spPr>
      </p:sp>
      <p:sp>
        <p:nvSpPr>
          <p:cNvPr id="6" name="Text 4"/>
          <p:cNvSpPr/>
          <p:nvPr/>
        </p:nvSpPr>
        <p:spPr>
          <a:xfrm>
            <a:off x="640080" y="1280160"/>
            <a:ext cx="493776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  クラウド管理ツール</a:t>
            </a:r>
            <a:endParaRPr lang="en-US" sz="1400" dirty="0"/>
          </a:p>
        </p:txBody>
      </p:sp>
      <p:sp>
        <p:nvSpPr>
          <p:cNvPr id="7" name="Text 5"/>
          <p:cNvSpPr/>
          <p:nvPr/>
        </p:nvSpPr>
        <p:spPr>
          <a:xfrm>
            <a:off x="640080" y="1691640"/>
            <a:ext cx="4937760" cy="1554480"/>
          </a:xfrm>
          <a:prstGeom prst="rect">
            <a:avLst/>
          </a:prstGeom>
          <a:noFill/>
          <a:ln/>
        </p:spPr>
        <p:txBody>
          <a:bodyPr wrap="square" rtlCol="0" anchor="t"/>
          <a:lstStyle/>
          <a:p>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Azure Portal（単一管理画面）を使用できます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Azure CLI / Azure PowerShell でコマンドライン管理が可能です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ARM / Bicep / Terraform テンプレートで自動化できます</a:t>
            </a:r>
            <a:endParaRPr lang="en-US" sz="1100" dirty="0"/>
          </a:p>
        </p:txBody>
      </p:sp>
      <p:sp>
        <p:nvSpPr>
          <p:cNvPr id="8" name="Shape 6"/>
          <p:cNvSpPr/>
          <p:nvPr/>
        </p:nvSpPr>
        <p:spPr>
          <a:xfrm>
            <a:off x="457200" y="3657600"/>
            <a:ext cx="5303520" cy="2194560"/>
          </a:xfrm>
          <a:prstGeom prst="roundRect">
            <a:avLst>
              <a:gd name="adj" fmla="val 5000"/>
            </a:avLst>
          </a:prstGeom>
          <a:solidFill>
            <a:srgbClr val="F3F2F1"/>
          </a:solidFill>
          <a:ln/>
        </p:spPr>
      </p:sp>
      <p:sp>
        <p:nvSpPr>
          <p:cNvPr id="9" name="Text 7"/>
          <p:cNvSpPr/>
          <p:nvPr/>
        </p:nvSpPr>
        <p:spPr>
          <a:xfrm>
            <a:off x="640080" y="3749040"/>
            <a:ext cx="4937760" cy="365760"/>
          </a:xfrm>
          <a:prstGeom prst="rect">
            <a:avLst/>
          </a:prstGeom>
          <a:noFill/>
          <a:ln/>
        </p:spPr>
        <p:txBody>
          <a:bodyPr wrap="square" rtlCol="0" anchor="ctr"/>
          <a:lstStyle/>
          <a:p>
            <a:pPr indent="0" marL="0">
              <a:buNone/>
            </a:pPr>
            <a:r>
              <a:rPr lang="en-US" sz="1400" b="1" dirty="0">
                <a:solidFill>
                  <a:srgbClr val="333333"/>
                </a:solidFill>
                <a:latin typeface="Meiryo UI" pitchFamily="34" charset="0"/>
                <a:ea typeface="Meiryo UI" pitchFamily="34" charset="-122"/>
                <a:cs typeface="Meiryo UI" pitchFamily="34" charset="-120"/>
              </a:rPr>
              <a:t>🏢  オンプレミス管理ツール</a:t>
            </a:r>
            <a:endParaRPr lang="en-US" sz="1400" dirty="0"/>
          </a:p>
        </p:txBody>
      </p:sp>
      <p:sp>
        <p:nvSpPr>
          <p:cNvPr id="10" name="Text 8"/>
          <p:cNvSpPr/>
          <p:nvPr/>
        </p:nvSpPr>
        <p:spPr>
          <a:xfrm>
            <a:off x="640080" y="4160520"/>
            <a:ext cx="4937760" cy="1554480"/>
          </a:xfrm>
          <a:prstGeom prst="rect">
            <a:avLst/>
          </a:prstGeom>
          <a:noFill/>
          <a:ln/>
        </p:spPr>
        <p:txBody>
          <a:bodyPr wrap="square" rtlCol="0" anchor="t"/>
          <a:lstStyle/>
          <a:p>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Windows Admin Center から管理できます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Hyper-V Manager / Failover Cluster Manager が利用可能です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PowerShell での操作に対応しています</a:t>
            </a:r>
            <a:endParaRPr lang="en-US" sz="1100" dirty="0"/>
          </a:p>
        </p:txBody>
      </p:sp>
      <p:sp>
        <p:nvSpPr>
          <p:cNvPr id="11" name="Shape 9"/>
          <p:cNvSpPr/>
          <p:nvPr/>
        </p:nvSpPr>
        <p:spPr>
          <a:xfrm>
            <a:off x="6126480" y="1188720"/>
            <a:ext cx="5486400" cy="4754880"/>
          </a:xfrm>
          <a:prstGeom prst="roundRect">
            <a:avLst>
              <a:gd name="adj" fmla="val 2885"/>
            </a:avLst>
          </a:prstGeom>
          <a:solidFill>
            <a:srgbClr val="F3F2F1"/>
          </a:solidFill>
          <a:ln w="19050">
            <a:solidFill>
              <a:srgbClr val="0078D4"/>
            </a:solidFill>
            <a:prstDash val="solid"/>
          </a:ln>
        </p:spPr>
      </p:sp>
      <p:sp>
        <p:nvSpPr>
          <p:cNvPr id="12" name="Text 10"/>
          <p:cNvSpPr/>
          <p:nvPr/>
        </p:nvSpPr>
        <p:spPr>
          <a:xfrm>
            <a:off x="6126480" y="1280160"/>
            <a:ext cx="5486400" cy="365760"/>
          </a:xfrm>
          <a:prstGeom prst="rect">
            <a:avLst/>
          </a:prstGeom>
          <a:noFill/>
          <a:ln/>
        </p:spPr>
        <p:txBody>
          <a:bodyPr wrap="square" rtlCol="0" anchor="ctr"/>
          <a:lstStyle/>
          <a:p>
            <a:pPr algn="ctr" indent="0" marL="0">
              <a:buNone/>
            </a:pPr>
            <a:r>
              <a:rPr lang="en-US" sz="1400" b="1" dirty="0">
                <a:solidFill>
                  <a:srgbClr val="0078D4"/>
                </a:solidFill>
                <a:latin typeface="Meiryo UI" pitchFamily="34" charset="0"/>
                <a:ea typeface="Meiryo UI" pitchFamily="34" charset="-122"/>
                <a:cs typeface="Meiryo UI" pitchFamily="34" charset="-120"/>
              </a:rPr>
              <a:t>Azure サービス連携</a:t>
            </a:r>
            <a:endParaRPr lang="en-US" sz="1400" dirty="0"/>
          </a:p>
        </p:txBody>
      </p:sp>
      <p:sp>
        <p:nvSpPr>
          <p:cNvPr id="13" name="Shape 11"/>
          <p:cNvSpPr/>
          <p:nvPr/>
        </p:nvSpPr>
        <p:spPr>
          <a:xfrm>
            <a:off x="7955280" y="2743200"/>
            <a:ext cx="2286000" cy="1097280"/>
          </a:xfrm>
          <a:prstGeom prst="ellipse">
            <a:avLst/>
          </a:prstGeom>
          <a:solidFill>
            <a:srgbClr val="0078D4"/>
          </a:solidFill>
          <a:ln/>
        </p:spPr>
      </p:sp>
      <p:sp>
        <p:nvSpPr>
          <p:cNvPr id="14" name="Text 12"/>
          <p:cNvSpPr/>
          <p:nvPr/>
        </p:nvSpPr>
        <p:spPr>
          <a:xfrm>
            <a:off x="7955280" y="2743200"/>
            <a:ext cx="2286000" cy="1097280"/>
          </a:xfrm>
          <a:prstGeom prst="rect">
            <a:avLst/>
          </a:prstGeom>
          <a:noFill/>
          <a:ln/>
        </p:spPr>
        <p:txBody>
          <a:bodyPr wrap="square"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Azure</a:t>
            </a:r>
            <a:endParaRPr lang="en-US" sz="1400" dirty="0"/>
          </a:p>
          <a:p>
            <a:pPr algn="ctr" indent="0" marL="0">
              <a:buNone/>
            </a:pPr>
            <a:r>
              <a:rPr lang="en-US" sz="1400" b="1" dirty="0">
                <a:solidFill>
                  <a:srgbClr val="FFFFFF"/>
                </a:solidFill>
                <a:latin typeface="Meiryo UI" pitchFamily="34" charset="0"/>
                <a:ea typeface="Meiryo UI" pitchFamily="34" charset="-122"/>
                <a:cs typeface="Meiryo UI" pitchFamily="34" charset="-120"/>
              </a:rPr>
              <a:t>Local</a:t>
            </a:r>
            <a:endParaRPr lang="en-US" sz="1400" dirty="0"/>
          </a:p>
        </p:txBody>
      </p:sp>
      <p:sp>
        <p:nvSpPr>
          <p:cNvPr id="15" name="Shape 13"/>
          <p:cNvSpPr/>
          <p:nvPr/>
        </p:nvSpPr>
        <p:spPr>
          <a:xfrm>
            <a:off x="6400800" y="1737360"/>
            <a:ext cx="1828800" cy="822960"/>
          </a:xfrm>
          <a:prstGeom prst="roundRect">
            <a:avLst>
              <a:gd name="adj" fmla="val 11111"/>
            </a:avLst>
          </a:prstGeom>
          <a:solidFill>
            <a:srgbClr val="FFFFFF"/>
          </a:solidFill>
          <a:ln w="12700">
            <a:solidFill>
              <a:srgbClr val="0078D4"/>
            </a:solidFill>
            <a:prstDash val="solid"/>
          </a:ln>
        </p:spPr>
      </p:sp>
      <p:sp>
        <p:nvSpPr>
          <p:cNvPr id="16" name="Text 14"/>
          <p:cNvSpPr/>
          <p:nvPr/>
        </p:nvSpPr>
        <p:spPr>
          <a:xfrm>
            <a:off x="6400800" y="173736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Azure Monitor</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Azure Policy</a:t>
            </a:r>
            <a:endParaRPr lang="en-US" sz="950" dirty="0"/>
          </a:p>
        </p:txBody>
      </p:sp>
      <p:sp>
        <p:nvSpPr>
          <p:cNvPr id="17" name="Shape 15"/>
          <p:cNvSpPr/>
          <p:nvPr/>
        </p:nvSpPr>
        <p:spPr>
          <a:xfrm>
            <a:off x="9326880" y="1737360"/>
            <a:ext cx="1828800" cy="822960"/>
          </a:xfrm>
          <a:prstGeom prst="roundRect">
            <a:avLst>
              <a:gd name="adj" fmla="val 11111"/>
            </a:avLst>
          </a:prstGeom>
          <a:solidFill>
            <a:srgbClr val="FFFFFF"/>
          </a:solidFill>
          <a:ln w="12700">
            <a:solidFill>
              <a:srgbClr val="0078D4"/>
            </a:solidFill>
            <a:prstDash val="solid"/>
          </a:ln>
        </p:spPr>
      </p:sp>
      <p:sp>
        <p:nvSpPr>
          <p:cNvPr id="18" name="Text 16"/>
          <p:cNvSpPr/>
          <p:nvPr/>
        </p:nvSpPr>
        <p:spPr>
          <a:xfrm>
            <a:off x="9326880" y="173736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Azure Backup</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Site Recovery</a:t>
            </a:r>
            <a:endParaRPr lang="en-US" sz="950" dirty="0"/>
          </a:p>
        </p:txBody>
      </p:sp>
      <p:sp>
        <p:nvSpPr>
          <p:cNvPr id="19" name="Shape 17"/>
          <p:cNvSpPr/>
          <p:nvPr/>
        </p:nvSpPr>
        <p:spPr>
          <a:xfrm>
            <a:off x="6400800" y="4114800"/>
            <a:ext cx="1828800" cy="822960"/>
          </a:xfrm>
          <a:prstGeom prst="roundRect">
            <a:avLst>
              <a:gd name="adj" fmla="val 11111"/>
            </a:avLst>
          </a:prstGeom>
          <a:solidFill>
            <a:srgbClr val="FFFFFF"/>
          </a:solidFill>
          <a:ln w="12700">
            <a:solidFill>
              <a:srgbClr val="0078D4"/>
            </a:solidFill>
            <a:prstDash val="solid"/>
          </a:ln>
        </p:spPr>
      </p:sp>
      <p:sp>
        <p:nvSpPr>
          <p:cNvPr id="20" name="Text 18"/>
          <p:cNvSpPr/>
          <p:nvPr/>
        </p:nvSpPr>
        <p:spPr>
          <a:xfrm>
            <a:off x="6400800" y="411480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Azure Update</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Manager</a:t>
            </a:r>
            <a:endParaRPr lang="en-US" sz="950" dirty="0"/>
          </a:p>
        </p:txBody>
      </p:sp>
      <p:sp>
        <p:nvSpPr>
          <p:cNvPr id="21" name="Shape 19"/>
          <p:cNvSpPr/>
          <p:nvPr/>
        </p:nvSpPr>
        <p:spPr>
          <a:xfrm>
            <a:off x="9326880" y="4114800"/>
            <a:ext cx="1828800" cy="822960"/>
          </a:xfrm>
          <a:prstGeom prst="roundRect">
            <a:avLst>
              <a:gd name="adj" fmla="val 11111"/>
            </a:avLst>
          </a:prstGeom>
          <a:solidFill>
            <a:srgbClr val="FFFFFF"/>
          </a:solidFill>
          <a:ln w="12700">
            <a:solidFill>
              <a:srgbClr val="0078D4"/>
            </a:solidFill>
            <a:prstDash val="solid"/>
          </a:ln>
        </p:spPr>
      </p:sp>
      <p:sp>
        <p:nvSpPr>
          <p:cNvPr id="22" name="Text 20"/>
          <p:cNvSpPr/>
          <p:nvPr/>
        </p:nvSpPr>
        <p:spPr>
          <a:xfrm>
            <a:off x="9326880" y="4114800"/>
            <a:ext cx="1828800" cy="822960"/>
          </a:xfrm>
          <a:prstGeom prst="rect">
            <a:avLst/>
          </a:prstGeom>
          <a:noFill/>
          <a:ln/>
        </p:spPr>
        <p:txBody>
          <a:bodyPr wrap="square" rtlCol="0" anchor="ctr"/>
          <a:lstStyle/>
          <a:p>
            <a:pPr algn="ctr" indent="0" marL="0">
              <a:buNone/>
            </a:pPr>
            <a:r>
              <a:rPr lang="en-US" sz="950" b="1" dirty="0">
                <a:solidFill>
                  <a:srgbClr val="0078D4"/>
                </a:solidFill>
                <a:latin typeface="Meiryo UI" pitchFamily="34" charset="0"/>
                <a:ea typeface="Meiryo UI" pitchFamily="34" charset="-122"/>
                <a:cs typeface="Meiryo UI" pitchFamily="34" charset="-120"/>
              </a:rPr>
              <a:t>Copilot for</a:t>
            </a:r>
            <a:endParaRPr lang="en-US" sz="950" dirty="0"/>
          </a:p>
          <a:p>
            <a:pPr algn="ctr" indent="0" marL="0">
              <a:buNone/>
            </a:pPr>
            <a:r>
              <a:rPr lang="en-US" sz="950" b="1" dirty="0">
                <a:solidFill>
                  <a:srgbClr val="0078D4"/>
                </a:solidFill>
                <a:latin typeface="Meiryo UI" pitchFamily="34" charset="0"/>
                <a:ea typeface="Meiryo UI" pitchFamily="34" charset="-122"/>
                <a:cs typeface="Meiryo UI" pitchFamily="34" charset="-120"/>
              </a:rPr>
              <a:t>Azure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セキュリティ機能</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10</a:t>
            </a:r>
            <a:endParaRPr lang="en-US" sz="900" dirty="0"/>
          </a:p>
        </p:txBody>
      </p:sp>
      <p:sp>
        <p:nvSpPr>
          <p:cNvPr id="5" name="Shape 3"/>
          <p:cNvSpPr/>
          <p:nvPr/>
        </p:nvSpPr>
        <p:spPr>
          <a:xfrm>
            <a:off x="457200" y="1188720"/>
            <a:ext cx="11247120" cy="914400"/>
          </a:xfrm>
          <a:prstGeom prst="roundRect">
            <a:avLst>
              <a:gd name="adj" fmla="val 12000"/>
            </a:avLst>
          </a:prstGeom>
          <a:solidFill>
            <a:srgbClr val="0078D4"/>
          </a:solidFill>
          <a:ln/>
        </p:spPr>
      </p:sp>
      <p:sp>
        <p:nvSpPr>
          <p:cNvPr id="6" name="Text 4"/>
          <p:cNvSpPr/>
          <p:nvPr/>
        </p:nvSpPr>
        <p:spPr>
          <a:xfrm>
            <a:off x="640080" y="118872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クラウドサービス層: Microsoft Defender for Cloud / Azure RBAC / SIEM 連携</a:t>
            </a:r>
            <a:endParaRPr lang="en-US" sz="1300" dirty="0"/>
          </a:p>
        </p:txBody>
      </p:sp>
      <p:sp>
        <p:nvSpPr>
          <p:cNvPr id="7" name="Shape 5"/>
          <p:cNvSpPr/>
          <p:nvPr/>
        </p:nvSpPr>
        <p:spPr>
          <a:xfrm>
            <a:off x="457200" y="2286000"/>
            <a:ext cx="11247120" cy="914400"/>
          </a:xfrm>
          <a:prstGeom prst="roundRect">
            <a:avLst>
              <a:gd name="adj" fmla="val 12000"/>
            </a:avLst>
          </a:prstGeom>
          <a:solidFill>
            <a:srgbClr val="5C2D91"/>
          </a:solidFill>
          <a:ln/>
        </p:spPr>
      </p:sp>
      <p:sp>
        <p:nvSpPr>
          <p:cNvPr id="8" name="Text 6"/>
          <p:cNvSpPr/>
          <p:nvPr/>
        </p:nvSpPr>
        <p:spPr>
          <a:xfrm>
            <a:off x="640080" y="228600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ワークロード層: Trusted Launch / VM 保護 / BitLocker ディスク暗号化</a:t>
            </a:r>
            <a:endParaRPr lang="en-US" sz="1300" dirty="0"/>
          </a:p>
        </p:txBody>
      </p:sp>
      <p:sp>
        <p:nvSpPr>
          <p:cNvPr id="9" name="Shape 7"/>
          <p:cNvSpPr/>
          <p:nvPr/>
        </p:nvSpPr>
        <p:spPr>
          <a:xfrm>
            <a:off x="457200" y="3383280"/>
            <a:ext cx="11247120" cy="914400"/>
          </a:xfrm>
          <a:prstGeom prst="roundRect">
            <a:avLst>
              <a:gd name="adj" fmla="val 12000"/>
            </a:avLst>
          </a:prstGeom>
          <a:solidFill>
            <a:srgbClr val="107C10"/>
          </a:solidFill>
          <a:ln/>
        </p:spPr>
      </p:sp>
      <p:sp>
        <p:nvSpPr>
          <p:cNvPr id="10" name="Text 8"/>
          <p:cNvSpPr/>
          <p:nvPr/>
        </p:nvSpPr>
        <p:spPr>
          <a:xfrm>
            <a:off x="640080" y="338328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OS 層: セキュア・バイ・デフォルト (300+ 設定) / ドリフト制御</a:t>
            </a:r>
            <a:endParaRPr lang="en-US" sz="1300" dirty="0"/>
          </a:p>
        </p:txBody>
      </p:sp>
      <p:sp>
        <p:nvSpPr>
          <p:cNvPr id="11" name="Shape 9"/>
          <p:cNvSpPr/>
          <p:nvPr/>
        </p:nvSpPr>
        <p:spPr>
          <a:xfrm>
            <a:off x="457200" y="4480560"/>
            <a:ext cx="11247120" cy="914400"/>
          </a:xfrm>
          <a:prstGeom prst="roundRect">
            <a:avLst>
              <a:gd name="adj" fmla="val 12000"/>
            </a:avLst>
          </a:prstGeom>
          <a:solidFill>
            <a:srgbClr val="6B6B6B"/>
          </a:solidFill>
          <a:ln/>
        </p:spPr>
      </p:sp>
      <p:sp>
        <p:nvSpPr>
          <p:cNvPr id="12" name="Text 10"/>
          <p:cNvSpPr/>
          <p:nvPr/>
        </p:nvSpPr>
        <p:spPr>
          <a:xfrm>
            <a:off x="640080" y="4480560"/>
            <a:ext cx="10881360" cy="914400"/>
          </a:xfrm>
          <a:prstGeom prst="rect">
            <a:avLst/>
          </a:prstGeom>
          <a:noFill/>
          <a:ln/>
        </p:spPr>
        <p:txBody>
          <a:bodyPr wrap="square" rtlCol="0" anchor="ctr"/>
          <a:lstStyle/>
          <a:p>
            <a:pPr algn="l" indent="0" marL="0">
              <a:buNone/>
            </a:pPr>
            <a:r>
              <a:rPr lang="en-US" sz="1300" b="1" dirty="0">
                <a:solidFill>
                  <a:srgbClr val="FFFFFF"/>
                </a:solidFill>
                <a:latin typeface="Meiryo UI" pitchFamily="34" charset="0"/>
                <a:ea typeface="Meiryo UI" pitchFamily="34" charset="-122"/>
                <a:cs typeface="Meiryo UI" pitchFamily="34" charset="-120"/>
              </a:rPr>
              <a:t>ハードウェア層: Secure Boot / UEFI / TPM / VBS</a:t>
            </a:r>
            <a:endParaRPr lang="en-US" sz="1300" dirty="0"/>
          </a:p>
        </p:txBody>
      </p:sp>
      <p:sp>
        <p:nvSpPr>
          <p:cNvPr id="13" name="Text 11"/>
          <p:cNvSpPr/>
          <p:nvPr/>
        </p:nvSpPr>
        <p:spPr>
          <a:xfrm>
            <a:off x="457200" y="5212080"/>
            <a:ext cx="11247120" cy="1371600"/>
          </a:xfrm>
          <a:prstGeom prst="rect">
            <a:avLst/>
          </a:prstGeom>
          <a:noFill/>
          <a:ln/>
        </p:spPr>
        <p:txBody>
          <a:bodyPr wrap="square" rtlCol="0" anchor="t"/>
          <a:lstStyle/>
          <a:p>
            <a:pPr indent="0" marL="0">
              <a:lnSpc>
                <a:spcPct val="120000"/>
              </a:lnSpc>
              <a:buNone/>
            </a:pPr>
            <a:r>
              <a:rPr lang="en-US" sz="1200" b="1" dirty="0">
                <a:solidFill>
                  <a:srgbClr val="333333"/>
                </a:solidFill>
                <a:latin typeface="Meiryo UI" pitchFamily="34" charset="0"/>
                <a:ea typeface="Meiryo UI" pitchFamily="34" charset="-122"/>
                <a:cs typeface="Meiryo UI" pitchFamily="34" charset="-120"/>
              </a:rPr>
              <a:t>主要なセキュリティ特徴:</a:t>
            </a:r>
            <a:pPr indent="0" marL="0">
              <a:lnSpc>
                <a:spcPct val="120000"/>
              </a:lnSpc>
              <a:buNone/>
            </a:pPr>
            <a:endParaRPr lang="en-US" sz="1200" dirty="0"/>
          </a:p>
          <a:p>
            <a:pPr indent="0" marL="0">
              <a:lnSpc>
                <a:spcPct val="120000"/>
              </a:lnSpc>
              <a:buNone/>
            </a:pPr>
            <a:r>
              <a:rPr lang="en-US" sz="1100" dirty="0">
                <a:solidFill>
                  <a:srgbClr val="333333"/>
                </a:solidFill>
                <a:latin typeface="Meiryo UI" pitchFamily="34" charset="0"/>
                <a:ea typeface="Meiryo UI" pitchFamily="34" charset="-122"/>
                <a:cs typeface="Meiryo UI" pitchFamily="34" charset="-120"/>
              </a:rPr>
              <a:t>• 300以上のセキュリティ設定を標準搭載し、一貫したセキュリティベースラインを提供しています</a:t>
            </a:r>
            <a:endParaRPr lang="en-US" sz="1200" dirty="0"/>
          </a:p>
          <a:p>
            <a:pPr indent="0" marL="0">
              <a:lnSpc>
                <a:spcPct val="120000"/>
              </a:lnSpc>
              <a:buNone/>
            </a:pPr>
            <a:endParaRPr lang="en-US" sz="1200" dirty="0"/>
          </a:p>
          <a:p>
            <a:pPr indent="0" marL="0">
              <a:lnSpc>
                <a:spcPct val="120000"/>
              </a:lnSpc>
              <a:buNone/>
            </a:pPr>
            <a:r>
              <a:rPr lang="en-US" sz="1100" dirty="0">
                <a:solidFill>
                  <a:srgbClr val="333333"/>
                </a:solidFill>
                <a:latin typeface="Meiryo UI" pitchFamily="34" charset="0"/>
                <a:ea typeface="Meiryo UI" pitchFamily="34" charset="-122"/>
                <a:cs typeface="Meiryo UI" pitchFamily="34" charset="-120"/>
              </a:rPr>
              <a:t>• ドリフト制御メカニズムにより設定の逸脱を防止します</a:t>
            </a:r>
            <a:endParaRPr lang="en-US" sz="1200" dirty="0"/>
          </a:p>
          <a:p>
            <a:pPr indent="0" marL="0">
              <a:lnSpc>
                <a:spcPct val="120000"/>
              </a:lnSpc>
              <a:buNone/>
            </a:pPr>
            <a:endParaRPr lang="en-US" sz="1200" dirty="0"/>
          </a:p>
          <a:p>
            <a:pPr indent="0" marL="0">
              <a:lnSpc>
                <a:spcPct val="120000"/>
              </a:lnSpc>
              <a:buNone/>
            </a:pPr>
            <a:r>
              <a:rPr lang="en-US" sz="1100" dirty="0">
                <a:solidFill>
                  <a:srgbClr val="333333"/>
                </a:solidFill>
                <a:latin typeface="Meiryo UI" pitchFamily="34" charset="0"/>
                <a:ea typeface="Meiryo UI" pitchFamily="34" charset="-122"/>
                <a:cs typeface="Meiryo UI" pitchFamily="34" charset="-120"/>
              </a:rPr>
              <a:t>• SMB 暗号化によるストレージトラフィック保護に対応しています</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料金体系と Windows Server との比較</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10</a:t>
            </a:r>
            <a:endParaRPr lang="en-US" sz="900" dirty="0"/>
          </a:p>
        </p:txBody>
      </p:sp>
      <p:sp>
        <p:nvSpPr>
          <p:cNvPr id="5" name="Text 3"/>
          <p:cNvSpPr/>
          <p:nvPr/>
        </p:nvSpPr>
        <p:spPr>
          <a:xfrm>
            <a:off x="457200" y="1188720"/>
            <a:ext cx="4572000" cy="365760"/>
          </a:xfrm>
          <a:prstGeom prst="rect">
            <a:avLst/>
          </a:prstGeom>
          <a:noFill/>
          <a:ln/>
        </p:spPr>
        <p:txBody>
          <a:bodyPr wrap="square" rtlCol="0" anchor="ctr"/>
          <a:lstStyle/>
          <a:p>
            <a:pPr indent="0" marL="0">
              <a:buNone/>
            </a:pPr>
            <a:r>
              <a:rPr lang="en-US" sz="1500" b="1" dirty="0">
                <a:solidFill>
                  <a:srgbClr val="0078D4"/>
                </a:solidFill>
                <a:latin typeface="Meiryo UI" pitchFamily="34" charset="0"/>
                <a:ea typeface="Meiryo UI" pitchFamily="34" charset="-122"/>
                <a:cs typeface="Meiryo UI" pitchFamily="34" charset="-120"/>
              </a:rPr>
              <a:t>料金体系</a:t>
            </a:r>
            <a:endParaRPr lang="en-US" sz="1500" dirty="0"/>
          </a:p>
        </p:txBody>
      </p:sp>
      <p:sp>
        <p:nvSpPr>
          <p:cNvPr id="6" name="Text 4"/>
          <p:cNvSpPr/>
          <p:nvPr/>
        </p:nvSpPr>
        <p:spPr>
          <a:xfrm>
            <a:off x="457200" y="1554480"/>
            <a:ext cx="11247120" cy="1371600"/>
          </a:xfrm>
          <a:prstGeom prst="rect">
            <a:avLst/>
          </a:prstGeom>
          <a:noFill/>
          <a:ln/>
        </p:spPr>
        <p:txBody>
          <a:bodyPr wrap="square" rtlCol="0" anchor="t"/>
          <a:lstStyle/>
          <a:p>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物理コアあたりの月額サブスクリプション課金モデルです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追加 Azure サービス利用時は従量課金が適用されます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Azure Hybrid Benefit により既存ライセンスを活用できます
</a:t>
            </a:r>
            <a:pPr indent="0" marL="0">
              <a:lnSpc>
                <a:spcPct val="130000"/>
              </a:lnSpc>
              <a:buNone/>
            </a:pPr>
            <a:r>
              <a:rPr lang="en-US" sz="1100" dirty="0">
                <a:solidFill>
                  <a:srgbClr val="333333"/>
                </a:solidFill>
                <a:latin typeface="Meiryo UI" pitchFamily="34" charset="0"/>
                <a:ea typeface="Meiryo UI" pitchFamily="34" charset="-122"/>
                <a:cs typeface="Meiryo UI" pitchFamily="34" charset="-120"/>
              </a:rPr>
              <a:t>• AKS on Azure Local は Azure Local 料金に含まれています</a:t>
            </a:r>
            <a:endParaRPr lang="en-US" sz="1100" dirty="0"/>
          </a:p>
        </p:txBody>
      </p:sp>
      <p:sp>
        <p:nvSpPr>
          <p:cNvPr id="7" name="Text 5"/>
          <p:cNvSpPr/>
          <p:nvPr/>
        </p:nvSpPr>
        <p:spPr>
          <a:xfrm>
            <a:off x="457200" y="3017520"/>
            <a:ext cx="7315200" cy="365760"/>
          </a:xfrm>
          <a:prstGeom prst="rect">
            <a:avLst/>
          </a:prstGeom>
          <a:noFill/>
          <a:ln/>
        </p:spPr>
        <p:txBody>
          <a:bodyPr wrap="square" rtlCol="0" anchor="ctr"/>
          <a:lstStyle/>
          <a:p>
            <a:pPr indent="0" marL="0">
              <a:buNone/>
            </a:pPr>
            <a:r>
              <a:rPr lang="en-US" sz="1500" b="1" dirty="0">
                <a:solidFill>
                  <a:srgbClr val="0078D4"/>
                </a:solidFill>
                <a:latin typeface="Meiryo UI" pitchFamily="34" charset="0"/>
                <a:ea typeface="Meiryo UI" pitchFamily="34" charset="-122"/>
                <a:cs typeface="Meiryo UI" pitchFamily="34" charset="-120"/>
              </a:rPr>
              <a:t>Windows Server との主な違い</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474720"/>
          <a:ext cx="11247120" cy="914400"/>
        </p:xfrm>
        <a:graphic>
          <a:graphicData uri="http://schemas.openxmlformats.org/drawingml/2006/table">
            <a:tbl>
              <a:tblPr/>
              <a:tblGrid>
                <a:gridCol w="2286000"/>
                <a:gridCol w="4572000"/>
                <a:gridCol w="4389120"/>
              </a:tblGrid>
              <a:tr h="457200">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項目</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Azure Local</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100" b="1" dirty="0">
                          <a:solidFill>
                            <a:srgbClr val="FFFFFF"/>
                          </a:solidFill>
                          <a:latin typeface="Meiryo UI" pitchFamily="34" charset="0"/>
                          <a:ea typeface="Meiryo UI" pitchFamily="34" charset="-122"/>
                          <a:cs typeface="Meiryo UI" pitchFamily="34" charset="-120"/>
                        </a:rPr>
                        <a:t>Windows Server</a:t>
                      </a:r>
                      <a:endParaRPr lang="en-US" sz="110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クラウド接続</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必須（30日に1回以上）</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オプション</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ライセンス</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Pay-as-you-go / Azure Hybrid Benefit</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従来型ライセンス</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ハードウェア</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認定カタログから選択（200以上）</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Certified for Windows Server</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ライフサイクル</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常に最新（更新適用猶予6ヶ月）</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LTSC（10年サポート）</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57200">
                <a:tc>
                  <a:txBody>
                    <a:bodyPr/>
                    <a:lstStyle/>
                    <a:p>
                      <a:pPr indent="0" marL="0">
                        <a:buNone/>
                      </a:pPr>
                      <a:r>
                        <a:rPr lang="en-US" sz="1050" b="1" dirty="0">
                          <a:solidFill>
                            <a:srgbClr val="333333"/>
                          </a:solidFill>
                          <a:latin typeface="Meiryo UI" pitchFamily="34" charset="0"/>
                          <a:ea typeface="Meiryo UI" pitchFamily="34" charset="-122"/>
                          <a:cs typeface="Meiryo UI" pitchFamily="34" charset="-120"/>
                        </a:rPr>
                        <a:t>サポート</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Azure サポートに含まれます</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50" dirty="0">
                          <a:solidFill>
                            <a:srgbClr val="333333"/>
                          </a:solidFill>
                          <a:latin typeface="Meiryo UI" pitchFamily="34" charset="0"/>
                          <a:ea typeface="Meiryo UI" pitchFamily="34" charset="-122"/>
                          <a:cs typeface="Meiryo UI" pitchFamily="34" charset="-120"/>
                        </a:rPr>
                        <a:t>別途サポート契約で対応</a:t>
                      </a:r>
                      <a:endParaRPr lang="en-US" sz="1050" dirty="0">
                        <a:latin typeface="Meiryo UI" charset="0"/>
                        <a:ea typeface="Meiryo UI" charset="0"/>
                        <a:cs typeface="Meiryo U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まとめと次のステップ</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10</a:t>
            </a:r>
            <a:endParaRPr lang="en-US" sz="900" dirty="0"/>
          </a:p>
        </p:txBody>
      </p:sp>
      <p:sp>
        <p:nvSpPr>
          <p:cNvPr id="5" name="Shape 3"/>
          <p:cNvSpPr/>
          <p:nvPr/>
        </p:nvSpPr>
        <p:spPr>
          <a:xfrm>
            <a:off x="457200" y="1188720"/>
            <a:ext cx="5486400" cy="3840480"/>
          </a:xfrm>
          <a:prstGeom prst="roundRect">
            <a:avLst>
              <a:gd name="adj" fmla="val 3571"/>
            </a:avLst>
          </a:prstGeom>
          <a:solidFill>
            <a:srgbClr val="DEECF9"/>
          </a:solidFill>
          <a:ln/>
        </p:spPr>
      </p:sp>
      <p:sp>
        <p:nvSpPr>
          <p:cNvPr id="6" name="Text 4"/>
          <p:cNvSpPr/>
          <p:nvPr/>
        </p:nvSpPr>
        <p:spPr>
          <a:xfrm>
            <a:off x="640080" y="1280160"/>
            <a:ext cx="5120640" cy="365760"/>
          </a:xfrm>
          <a:prstGeom prst="rect">
            <a:avLst/>
          </a:prstGeom>
          <a:noFill/>
          <a:ln/>
        </p:spPr>
        <p:txBody>
          <a:bodyPr wrap="square" rtlCol="0" anchor="ctr"/>
          <a:lstStyle/>
          <a:p>
            <a:pPr indent="0" marL="0">
              <a:buNone/>
            </a:pPr>
            <a:r>
              <a:rPr lang="en-US" sz="1600" b="1" dirty="0">
                <a:solidFill>
                  <a:srgbClr val="0078D4"/>
                </a:solidFill>
                <a:latin typeface="Meiryo UI" pitchFamily="34" charset="0"/>
                <a:ea typeface="Meiryo UI" pitchFamily="34" charset="-122"/>
                <a:cs typeface="Meiryo UI" pitchFamily="34" charset="-120"/>
              </a:rPr>
              <a:t>Azure Local の価値</a:t>
            </a:r>
            <a:endParaRPr lang="en-US" sz="1600" dirty="0"/>
          </a:p>
        </p:txBody>
      </p:sp>
      <p:sp>
        <p:nvSpPr>
          <p:cNvPr id="7" name="Text 5"/>
          <p:cNvSpPr/>
          <p:nvPr/>
        </p:nvSpPr>
        <p:spPr>
          <a:xfrm>
            <a:off x="640080" y="1737360"/>
            <a:ext cx="5120640" cy="3108960"/>
          </a:xfrm>
          <a:prstGeom prst="rect">
            <a:avLst/>
          </a:prstGeom>
          <a:noFill/>
          <a:ln/>
        </p:spPr>
        <p:txBody>
          <a:bodyPr wrap="square" rtlCol="0" anchor="t"/>
          <a:lstStyle/>
          <a:p>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Azure の一貫した管理体験をオンプレミスに拡張できます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AI・ミッションクリティカル・低レイテンシ・主権要件に対応しています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セキュア・バイ・デフォルトで運用負荷を軽減します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 柔軟なハードウェア選択と課金モデルを提供しています</a:t>
            </a:r>
            <a:endParaRPr lang="en-US" sz="1200" dirty="0"/>
          </a:p>
        </p:txBody>
      </p:sp>
      <p:sp>
        <p:nvSpPr>
          <p:cNvPr id="8" name="Shape 6"/>
          <p:cNvSpPr/>
          <p:nvPr/>
        </p:nvSpPr>
        <p:spPr>
          <a:xfrm>
            <a:off x="6309360" y="1188720"/>
            <a:ext cx="5486400" cy="3840480"/>
          </a:xfrm>
          <a:prstGeom prst="roundRect">
            <a:avLst>
              <a:gd name="adj" fmla="val 3571"/>
            </a:avLst>
          </a:prstGeom>
          <a:solidFill>
            <a:srgbClr val="F3F2F1"/>
          </a:solidFill>
          <a:ln/>
        </p:spPr>
      </p:sp>
      <p:sp>
        <p:nvSpPr>
          <p:cNvPr id="9" name="Text 7"/>
          <p:cNvSpPr/>
          <p:nvPr/>
        </p:nvSpPr>
        <p:spPr>
          <a:xfrm>
            <a:off x="6492240" y="1280160"/>
            <a:ext cx="5120640" cy="365760"/>
          </a:xfrm>
          <a:prstGeom prst="rect">
            <a:avLst/>
          </a:prstGeom>
          <a:noFill/>
          <a:ln/>
        </p:spPr>
        <p:txBody>
          <a:bodyPr wrap="square" rtlCol="0" anchor="ctr"/>
          <a:lstStyle/>
          <a:p>
            <a:pPr indent="0" marL="0">
              <a:buNone/>
            </a:pPr>
            <a:r>
              <a:rPr lang="en-US" sz="1600" b="1" dirty="0">
                <a:solidFill>
                  <a:srgbClr val="333333"/>
                </a:solidFill>
                <a:latin typeface="Meiryo UI" pitchFamily="34" charset="0"/>
                <a:ea typeface="Meiryo UI" pitchFamily="34" charset="-122"/>
                <a:cs typeface="Meiryo UI" pitchFamily="34" charset="-120"/>
              </a:rPr>
              <a:t>次のステップ</a:t>
            </a:r>
            <a:endParaRPr lang="en-US" sz="1600" dirty="0"/>
          </a:p>
        </p:txBody>
      </p:sp>
      <p:sp>
        <p:nvSpPr>
          <p:cNvPr id="10" name="Text 8"/>
          <p:cNvSpPr/>
          <p:nvPr/>
        </p:nvSpPr>
        <p:spPr>
          <a:xfrm>
            <a:off x="6492240" y="1737360"/>
            <a:ext cx="5120640" cy="3108960"/>
          </a:xfrm>
          <a:prstGeom prst="rect">
            <a:avLst/>
          </a:prstGeom>
          <a:noFill/>
          <a:ln/>
        </p:spPr>
        <p:txBody>
          <a:bodyPr wrap="square" rtlCol="0" anchor="t"/>
          <a:lstStyle/>
          <a:p>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➊  Azure Local Catalog でハードウェアパートナーを確認してください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➋  Azure Local サイジングツールで構成を見積もってください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➌  60日間の無料試用版をダウンロードしてお試しいただけます
</a:t>
            </a:r>
            <a:pPr indent="0" marL="0">
              <a:lnSpc>
                <a:spcPct val="110000"/>
              </a:lnSpc>
              <a:buNone/>
            </a:pPr>
            <a:r>
              <a:rPr lang="en-US" sz="1200" dirty="0">
                <a:solidFill>
                  <a:srgbClr val="333333"/>
                </a:solidFill>
                <a:latin typeface="Meiryo UI" pitchFamily="34" charset="0"/>
                <a:ea typeface="Meiryo UI" pitchFamily="34" charset="-122"/>
                <a:cs typeface="Meiryo UI" pitchFamily="34" charset="-120"/>
              </a:rPr>
              <a:t>➍  Microsoft パートナーにご相談ください</a:t>
            </a:r>
            <a:endParaRPr lang="en-US" sz="1200" dirty="0"/>
          </a:p>
        </p:txBody>
      </p:sp>
      <p:sp>
        <p:nvSpPr>
          <p:cNvPr id="11" name="Text 9"/>
          <p:cNvSpPr/>
          <p:nvPr/>
        </p:nvSpPr>
        <p:spPr>
          <a:xfrm>
            <a:off x="457200" y="5303520"/>
            <a:ext cx="4572000" cy="365760"/>
          </a:xfrm>
          <a:prstGeom prst="rect">
            <a:avLst/>
          </a:prstGeom>
          <a:noFill/>
          <a:ln/>
        </p:spPr>
        <p:txBody>
          <a:bodyPr wrap="square" rtlCol="0" anchor="ctr"/>
          <a:lstStyle/>
          <a:p>
            <a:pPr indent="0" marL="0">
              <a:buNone/>
            </a:pPr>
            <a:r>
              <a:rPr lang="en-US" sz="1400" b="1" dirty="0">
                <a:solidFill>
                  <a:srgbClr val="0078D4"/>
                </a:solidFill>
                <a:latin typeface="Meiryo UI" pitchFamily="34" charset="0"/>
                <a:ea typeface="Meiryo UI" pitchFamily="34" charset="-122"/>
                <a:cs typeface="Meiryo UI" pitchFamily="34" charset="-120"/>
              </a:rPr>
              <a:t>参考リンク</a:t>
            </a:r>
            <a:endParaRPr lang="en-US" sz="1400" dirty="0"/>
          </a:p>
        </p:txBody>
      </p:sp>
      <p:sp>
        <p:nvSpPr>
          <p:cNvPr id="12" name="Text 10"/>
          <p:cNvSpPr/>
          <p:nvPr/>
        </p:nvSpPr>
        <p:spPr>
          <a:xfrm>
            <a:off x="457200" y="5669280"/>
            <a:ext cx="11247120" cy="914400"/>
          </a:xfrm>
          <a:prstGeom prst="rect">
            <a:avLst/>
          </a:prstGeom>
          <a:noFill/>
          <a:ln/>
        </p:spPr>
        <p:txBody>
          <a:bodyPr wrap="square" rtlCol="0" anchor="t"/>
          <a:lstStyle/>
          <a:p>
            <a:pPr indent="0" marL="0">
              <a:lnSpc>
                <a:spcPct val="140000"/>
              </a:lnSpc>
              <a:buNone/>
            </a:pPr>
            <a:r>
              <a:rPr lang="en-US" sz="1000" dirty="0">
                <a:solidFill>
                  <a:srgbClr val="333333"/>
                </a:solidFill>
                <a:latin typeface="Meiryo UI" pitchFamily="34" charset="0"/>
                <a:ea typeface="Meiryo UI" pitchFamily="34" charset="-122"/>
                <a:cs typeface="Meiryo UI" pitchFamily="34" charset="-120"/>
              </a:rPr>
              <a:t>• Azure Local とは: </a:t>
            </a:r>
            <a:pPr indent="0" marL="0">
              <a:lnSpc>
                <a:spcPct val="140000"/>
              </a:lnSpc>
              <a:buNone/>
            </a:pPr>
            <a:r>
              <a:rPr lang="en-US" sz="1000" u="sng" dirty="0">
                <a:solidFill>
                  <a:srgbClr val="0078D4"/>
                </a:solidFill>
                <a:latin typeface="Meiryo UI" pitchFamily="34" charset="0"/>
                <a:ea typeface="Meiryo UI" pitchFamily="34" charset="-122"/>
                <a:cs typeface="Meiryo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https://learn.microsoft.com/azure/azure-local/overview</a:t>
            </a:r>
            <a:pPr indent="0" marL="0">
              <a:lnSpc>
                <a:spcPct val="140000"/>
              </a:lnSpc>
              <a:buNone/>
            </a:pPr>
            <a:endParaRPr lang="en-US" sz="1000" dirty="0"/>
          </a:p>
          <a:p>
            <a:pPr indent="0" marL="0">
              <a:lnSpc>
                <a:spcPct val="140000"/>
              </a:lnSpc>
              <a:buNone/>
            </a:pPr>
            <a:r>
              <a:rPr lang="en-US" sz="1000" dirty="0">
                <a:solidFill>
                  <a:srgbClr val="333333"/>
                </a:solidFill>
                <a:latin typeface="Meiryo UI" pitchFamily="34" charset="0"/>
                <a:ea typeface="Meiryo UI" pitchFamily="34" charset="-122"/>
                <a:cs typeface="Meiryo UI" pitchFamily="34" charset="-120"/>
              </a:rPr>
              <a:t>• ハイパーコンバージド展開の概要: </a:t>
            </a:r>
            <a:endParaRPr lang="en-US" sz="1000" dirty="0"/>
          </a:p>
          <a:p>
            <a:pPr indent="0" marL="0">
              <a:lnSpc>
                <a:spcPct val="140000"/>
              </a:lnSpc>
              <a:buNone/>
            </a:pPr>
            <a:r>
              <a:rPr lang="en-US" sz="1000" u="sng" dirty="0">
                <a:solidFill>
                  <a:srgbClr val="0078D4"/>
                </a:solidFill>
                <a:latin typeface="Meiryo UI" pitchFamily="34" charset="0"/>
                <a:ea typeface="Meiryo UI" pitchFamily="34" charset="-122"/>
                <a:cs typeface="Meiryo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https://learn.microsoft.com/azure/azure-local/overview/hyperconverged-overview</a:t>
            </a:r>
            <a:pPr indent="0" marL="0">
              <a:lnSpc>
                <a:spcPct val="140000"/>
              </a:lnSpc>
              <a:buNone/>
            </a:pPr>
            <a:endParaRPr lang="en-US" sz="1000" dirty="0"/>
          </a:p>
          <a:p>
            <a:pPr indent="0" marL="0">
              <a:lnSpc>
                <a:spcPct val="140000"/>
              </a:lnSpc>
              <a:buNone/>
            </a:pPr>
            <a:r>
              <a:rPr lang="en-US" sz="1000" dirty="0">
                <a:solidFill>
                  <a:srgbClr val="333333"/>
                </a:solidFill>
                <a:latin typeface="Meiryo UI" pitchFamily="34" charset="0"/>
                <a:ea typeface="Meiryo UI" pitchFamily="34" charset="-122"/>
                <a:cs typeface="Meiryo UI" pitchFamily="34" charset="-120"/>
              </a:rPr>
              <a:t>• システム要件: </a:t>
            </a:r>
            <a:endParaRPr lang="en-US" sz="1000" dirty="0"/>
          </a:p>
          <a:p>
            <a:pPr indent="0" marL="0">
              <a:lnSpc>
                <a:spcPct val="140000"/>
              </a:lnSpc>
              <a:buNone/>
            </a:pPr>
            <a:r>
              <a:rPr lang="en-US" sz="1000" u="sng" dirty="0">
                <a:solidFill>
                  <a:srgbClr val="0078D4"/>
                </a:solidFill>
                <a:latin typeface="Meiryo UI" pitchFamily="34" charset="0"/>
                <a:ea typeface="Meiryo UI" pitchFamily="34" charset="-122"/>
                <a:cs typeface="Meiryo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https://learn.microsoft.com/azure/azure-local/concepts/system-requirements-23h2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Azure Local 詳細仕様</dc:subject>
  <dc:creator>GitHub Copilot</dc:creator>
  <cp:lastModifiedBy>GitHub Copilot</cp:lastModifiedBy>
  <cp:revision>1</cp:revision>
  <dcterms:created xsi:type="dcterms:W3CDTF">2026-04-07T04:31:44Z</dcterms:created>
  <dcterms:modified xsi:type="dcterms:W3CDTF">2026-04-07T04:31:44Z</dcterms:modified>
</cp:coreProperties>
</file>