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ctr">
              <a:defRPr sz="3200" b="1">
                <a:solidFill>
                  <a:srgbClr val="FFFFFF"/>
                </a:solidFill>
                <a:latin typeface="Meiryo UI"/>
              </a:defRPr>
            </a:pPr>
            <a:r>
              <a:t>富士通から見た各社 生成AI 取り組みと</a:t>
            </a:r>
          </a:p>
          <a:p>
            <a:pPr algn="ctr">
              <a:defRPr sz="3200" b="1">
                <a:solidFill>
                  <a:srgbClr val="FFFFFF"/>
                </a:solidFill>
                <a:latin typeface="Meiryo UI"/>
              </a:defRPr>
            </a:pPr>
            <a:r>
              <a:t>攻める価値のある領域分析</a:t>
            </a:r>
          </a:p>
        </p:txBody>
      </p:sp>
      <p:sp>
        <p:nvSpPr>
          <p:cNvPr id="3" name="TextBox 2"/>
          <p:cNvSpPr txBox="1"/>
          <p:nvPr/>
        </p:nvSpPr>
        <p:spPr>
          <a:xfrm>
            <a:off x="914400" y="3657600"/>
            <a:ext cx="10332720" cy="731520"/>
          </a:xfrm>
          <a:prstGeom prst="rect">
            <a:avLst/>
          </a:prstGeom>
          <a:noFill/>
        </p:spPr>
        <p:txBody>
          <a:bodyPr wrap="square">
            <a:spAutoFit/>
          </a:bodyPr>
          <a:lstStyle/>
          <a:p>
            <a:pPr algn="ctr">
              <a:defRPr sz="1800">
                <a:solidFill>
                  <a:srgbClr val="BBDEFB"/>
                </a:solidFill>
                <a:latin typeface="Meiryo UI"/>
              </a:defRPr>
            </a:pPr>
            <a:r>
              <a:t>NEC・日立・NTT の最新動向と富士通の競争戦略</a:t>
            </a:r>
          </a:p>
        </p:txBody>
      </p:sp>
      <p:sp>
        <p:nvSpPr>
          <p:cNvPr id="4" name="TextBox 3"/>
          <p:cNvSpPr txBox="1"/>
          <p:nvPr/>
        </p:nvSpPr>
        <p:spPr>
          <a:xfrm>
            <a:off x="914400" y="5029200"/>
            <a:ext cx="10332720" cy="457200"/>
          </a:xfrm>
          <a:prstGeom prst="rect">
            <a:avLst/>
          </a:prstGeom>
          <a:noFill/>
        </p:spPr>
        <p:txBody>
          <a:bodyPr wrap="none">
            <a:spAutoFit/>
          </a:bodyPr>
          <a:lstStyle/>
          <a:p>
            <a:pPr algn="ctr">
              <a:defRPr sz="1400">
                <a:solidFill>
                  <a:srgbClr val="90CAF9"/>
                </a:solidFill>
                <a:latin typeface="Meiryo UI"/>
              </a:defRPr>
            </a:pPr>
            <a:r>
              <a:t>2026年4月</a:t>
            </a:r>
          </a:p>
        </p:txBody>
      </p:sp>
      <p:cxnSp>
        <p:nvCxnSpPr>
          <p:cNvPr id="5" name="Connector 4"/>
          <p:cNvCxnSpPr/>
          <p:nvPr/>
        </p:nvCxnSpPr>
        <p:spPr>
          <a:xfrm>
            <a:off x="3657600" y="3383280"/>
            <a:ext cx="4846320" cy="0"/>
          </a:xfrm>
          <a:prstGeom prst="line">
            <a:avLst/>
          </a:prstGeom>
          <a:ln w="19050">
            <a:solidFill>
              <a:srgbClr val="64B5F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目次</a:t>
            </a:r>
          </a:p>
        </p:txBody>
      </p:sp>
      <p:sp>
        <p:nvSpPr>
          <p:cNvPr id="3" name="Oval 2"/>
          <p:cNvSpPr/>
          <p:nvPr/>
        </p:nvSpPr>
        <p:spPr>
          <a:xfrm>
            <a:off x="731520" y="109728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a:t>
            </a:r>
          </a:p>
        </p:txBody>
      </p:sp>
      <p:sp>
        <p:nvSpPr>
          <p:cNvPr id="4" name="TextBox 3"/>
          <p:cNvSpPr txBox="1"/>
          <p:nvPr/>
        </p:nvSpPr>
        <p:spPr>
          <a:xfrm>
            <a:off x="1234440" y="1143000"/>
            <a:ext cx="4572000" cy="320040"/>
          </a:xfrm>
          <a:prstGeom prst="rect">
            <a:avLst/>
          </a:prstGeom>
          <a:noFill/>
        </p:spPr>
        <p:txBody>
          <a:bodyPr wrap="none">
            <a:spAutoFit/>
          </a:bodyPr>
          <a:lstStyle/>
          <a:p>
            <a:pPr>
              <a:defRPr sz="1300">
                <a:solidFill>
                  <a:srgbClr val="333333"/>
                </a:solidFill>
                <a:latin typeface="Meiryo UI"/>
              </a:defRPr>
            </a:pPr>
            <a:r>
              <a:t>富士通の生成AI戦略 ― 4つの柱</a:t>
            </a:r>
          </a:p>
        </p:txBody>
      </p:sp>
      <p:sp>
        <p:nvSpPr>
          <p:cNvPr id="5" name="Oval 4"/>
          <p:cNvSpPr/>
          <p:nvPr/>
        </p:nvSpPr>
        <p:spPr>
          <a:xfrm>
            <a:off x="731520" y="173736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2</a:t>
            </a:r>
          </a:p>
        </p:txBody>
      </p:sp>
      <p:sp>
        <p:nvSpPr>
          <p:cNvPr id="6" name="TextBox 5"/>
          <p:cNvSpPr txBox="1"/>
          <p:nvPr/>
        </p:nvSpPr>
        <p:spPr>
          <a:xfrm>
            <a:off x="1234440" y="1783080"/>
            <a:ext cx="4572000" cy="320040"/>
          </a:xfrm>
          <a:prstGeom prst="rect">
            <a:avLst/>
          </a:prstGeom>
          <a:noFill/>
        </p:spPr>
        <p:txBody>
          <a:bodyPr wrap="none">
            <a:spAutoFit/>
          </a:bodyPr>
          <a:lstStyle/>
          <a:p>
            <a:pPr>
              <a:defRPr sz="1300">
                <a:solidFill>
                  <a:srgbClr val="333333"/>
                </a:solidFill>
                <a:latin typeface="Meiryo UI"/>
              </a:defRPr>
            </a:pPr>
            <a:r>
              <a:t>Fujitsu Kozuchi &amp; Application Transform</a:t>
            </a:r>
          </a:p>
        </p:txBody>
      </p:sp>
      <p:sp>
        <p:nvSpPr>
          <p:cNvPr id="7" name="Oval 6"/>
          <p:cNvSpPr/>
          <p:nvPr/>
        </p:nvSpPr>
        <p:spPr>
          <a:xfrm>
            <a:off x="731520" y="237744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3</a:t>
            </a:r>
          </a:p>
        </p:txBody>
      </p:sp>
      <p:sp>
        <p:nvSpPr>
          <p:cNvPr id="8" name="TextBox 7"/>
          <p:cNvSpPr txBox="1"/>
          <p:nvPr/>
        </p:nvSpPr>
        <p:spPr>
          <a:xfrm>
            <a:off x="1234440" y="2423160"/>
            <a:ext cx="4572000" cy="320040"/>
          </a:xfrm>
          <a:prstGeom prst="rect">
            <a:avLst/>
          </a:prstGeom>
          <a:noFill/>
        </p:spPr>
        <p:txBody>
          <a:bodyPr wrap="none">
            <a:spAutoFit/>
          </a:bodyPr>
          <a:lstStyle/>
          <a:p>
            <a:pPr>
              <a:defRPr sz="1300">
                <a:solidFill>
                  <a:srgbClr val="333333"/>
                </a:solidFill>
                <a:latin typeface="Meiryo UI"/>
              </a:defRPr>
            </a:pPr>
            <a:r>
              <a:t>Physical AI 1.0 &amp; Enterprise AI Factory</a:t>
            </a:r>
          </a:p>
        </p:txBody>
      </p:sp>
      <p:sp>
        <p:nvSpPr>
          <p:cNvPr id="9" name="Oval 8"/>
          <p:cNvSpPr/>
          <p:nvPr/>
        </p:nvSpPr>
        <p:spPr>
          <a:xfrm>
            <a:off x="731520" y="3017519"/>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4</a:t>
            </a:r>
          </a:p>
        </p:txBody>
      </p:sp>
      <p:sp>
        <p:nvSpPr>
          <p:cNvPr id="10" name="TextBox 9"/>
          <p:cNvSpPr txBox="1"/>
          <p:nvPr/>
        </p:nvSpPr>
        <p:spPr>
          <a:xfrm>
            <a:off x="1234440" y="3063239"/>
            <a:ext cx="4572000" cy="320040"/>
          </a:xfrm>
          <a:prstGeom prst="rect">
            <a:avLst/>
          </a:prstGeom>
          <a:noFill/>
        </p:spPr>
        <p:txBody>
          <a:bodyPr wrap="none">
            <a:spAutoFit/>
          </a:bodyPr>
          <a:lstStyle/>
          <a:p>
            <a:pPr>
              <a:defRPr sz="1300">
                <a:solidFill>
                  <a:srgbClr val="333333"/>
                </a:solidFill>
                <a:latin typeface="Meiryo UI"/>
              </a:defRPr>
            </a:pPr>
            <a:r>
              <a:t>独自LLM「Takane」の優位性</a:t>
            </a:r>
          </a:p>
        </p:txBody>
      </p:sp>
      <p:sp>
        <p:nvSpPr>
          <p:cNvPr id="11" name="Oval 10"/>
          <p:cNvSpPr/>
          <p:nvPr/>
        </p:nvSpPr>
        <p:spPr>
          <a:xfrm>
            <a:off x="731520" y="365760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5</a:t>
            </a:r>
          </a:p>
        </p:txBody>
      </p:sp>
      <p:sp>
        <p:nvSpPr>
          <p:cNvPr id="12" name="TextBox 11"/>
          <p:cNvSpPr txBox="1"/>
          <p:nvPr/>
        </p:nvSpPr>
        <p:spPr>
          <a:xfrm>
            <a:off x="1234440" y="3703320"/>
            <a:ext cx="4572000" cy="320040"/>
          </a:xfrm>
          <a:prstGeom prst="rect">
            <a:avLst/>
          </a:prstGeom>
          <a:noFill/>
        </p:spPr>
        <p:txBody>
          <a:bodyPr wrap="none">
            <a:spAutoFit/>
          </a:bodyPr>
          <a:lstStyle/>
          <a:p>
            <a:pPr>
              <a:defRPr sz="1300">
                <a:solidFill>
                  <a:srgbClr val="333333"/>
                </a:solidFill>
                <a:latin typeface="Meiryo UI"/>
              </a:defRPr>
            </a:pPr>
            <a:r>
              <a:t>NEC の生成AI取り組み</a:t>
            </a:r>
          </a:p>
        </p:txBody>
      </p:sp>
      <p:sp>
        <p:nvSpPr>
          <p:cNvPr id="13" name="Oval 12"/>
          <p:cNvSpPr/>
          <p:nvPr/>
        </p:nvSpPr>
        <p:spPr>
          <a:xfrm>
            <a:off x="731520" y="429768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6</a:t>
            </a:r>
          </a:p>
        </p:txBody>
      </p:sp>
      <p:sp>
        <p:nvSpPr>
          <p:cNvPr id="14" name="TextBox 13"/>
          <p:cNvSpPr txBox="1"/>
          <p:nvPr/>
        </p:nvSpPr>
        <p:spPr>
          <a:xfrm>
            <a:off x="1234440" y="4343400"/>
            <a:ext cx="4572000" cy="320040"/>
          </a:xfrm>
          <a:prstGeom prst="rect">
            <a:avLst/>
          </a:prstGeom>
          <a:noFill/>
        </p:spPr>
        <p:txBody>
          <a:bodyPr wrap="none">
            <a:spAutoFit/>
          </a:bodyPr>
          <a:lstStyle/>
          <a:p>
            <a:pPr>
              <a:defRPr sz="1300">
                <a:solidFill>
                  <a:srgbClr val="333333"/>
                </a:solidFill>
                <a:latin typeface="Meiryo UI"/>
              </a:defRPr>
            </a:pPr>
            <a:r>
              <a:t>日立製作所の生成AI取り組み</a:t>
            </a:r>
          </a:p>
        </p:txBody>
      </p:sp>
      <p:sp>
        <p:nvSpPr>
          <p:cNvPr id="15" name="Oval 14"/>
          <p:cNvSpPr/>
          <p:nvPr/>
        </p:nvSpPr>
        <p:spPr>
          <a:xfrm>
            <a:off x="731520" y="4937759"/>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7</a:t>
            </a:r>
          </a:p>
        </p:txBody>
      </p:sp>
      <p:sp>
        <p:nvSpPr>
          <p:cNvPr id="16" name="TextBox 15"/>
          <p:cNvSpPr txBox="1"/>
          <p:nvPr/>
        </p:nvSpPr>
        <p:spPr>
          <a:xfrm>
            <a:off x="1234440" y="4983479"/>
            <a:ext cx="4572000" cy="320040"/>
          </a:xfrm>
          <a:prstGeom prst="rect">
            <a:avLst/>
          </a:prstGeom>
          <a:noFill/>
        </p:spPr>
        <p:txBody>
          <a:bodyPr wrap="none">
            <a:spAutoFit/>
          </a:bodyPr>
          <a:lstStyle/>
          <a:p>
            <a:pPr>
              <a:defRPr sz="1300">
                <a:solidFill>
                  <a:srgbClr val="333333"/>
                </a:solidFill>
                <a:latin typeface="Meiryo UI"/>
              </a:defRPr>
            </a:pPr>
            <a:r>
              <a:t>NTT の生成AI取り組み</a:t>
            </a:r>
          </a:p>
        </p:txBody>
      </p:sp>
      <p:sp>
        <p:nvSpPr>
          <p:cNvPr id="17" name="Oval 16"/>
          <p:cNvSpPr/>
          <p:nvPr/>
        </p:nvSpPr>
        <p:spPr>
          <a:xfrm>
            <a:off x="731520" y="5577839"/>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8</a:t>
            </a:r>
          </a:p>
        </p:txBody>
      </p:sp>
      <p:sp>
        <p:nvSpPr>
          <p:cNvPr id="18" name="TextBox 17"/>
          <p:cNvSpPr txBox="1"/>
          <p:nvPr/>
        </p:nvSpPr>
        <p:spPr>
          <a:xfrm>
            <a:off x="1234440" y="5623559"/>
            <a:ext cx="4572000" cy="320040"/>
          </a:xfrm>
          <a:prstGeom prst="rect">
            <a:avLst/>
          </a:prstGeom>
          <a:noFill/>
        </p:spPr>
        <p:txBody>
          <a:bodyPr wrap="none">
            <a:spAutoFit/>
          </a:bodyPr>
          <a:lstStyle/>
          <a:p>
            <a:pPr>
              <a:defRPr sz="1300">
                <a:solidFill>
                  <a:srgbClr val="333333"/>
                </a:solidFill>
                <a:latin typeface="Meiryo UI"/>
              </a:defRPr>
            </a:pPr>
            <a:r>
              <a:t>4社比較サマリー</a:t>
            </a:r>
          </a:p>
        </p:txBody>
      </p:sp>
      <p:sp>
        <p:nvSpPr>
          <p:cNvPr id="19" name="Oval 18"/>
          <p:cNvSpPr/>
          <p:nvPr/>
        </p:nvSpPr>
        <p:spPr>
          <a:xfrm>
            <a:off x="6217920" y="109728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9</a:t>
            </a:r>
          </a:p>
        </p:txBody>
      </p:sp>
      <p:sp>
        <p:nvSpPr>
          <p:cNvPr id="20" name="TextBox 19"/>
          <p:cNvSpPr txBox="1"/>
          <p:nvPr/>
        </p:nvSpPr>
        <p:spPr>
          <a:xfrm>
            <a:off x="6720840" y="1143000"/>
            <a:ext cx="4572000" cy="320040"/>
          </a:xfrm>
          <a:prstGeom prst="rect">
            <a:avLst/>
          </a:prstGeom>
          <a:noFill/>
        </p:spPr>
        <p:txBody>
          <a:bodyPr wrap="none">
            <a:spAutoFit/>
          </a:bodyPr>
          <a:lstStyle/>
          <a:p>
            <a:pPr>
              <a:defRPr sz="1300">
                <a:solidFill>
                  <a:srgbClr val="333333"/>
                </a:solidFill>
                <a:latin typeface="Meiryo UI"/>
              </a:defRPr>
            </a:pPr>
            <a:r>
              <a:t>攻めるべき領域 ① 金融レガシー刷新</a:t>
            </a:r>
          </a:p>
        </p:txBody>
      </p:sp>
      <p:sp>
        <p:nvSpPr>
          <p:cNvPr id="21" name="Oval 20"/>
          <p:cNvSpPr/>
          <p:nvPr/>
        </p:nvSpPr>
        <p:spPr>
          <a:xfrm>
            <a:off x="6217920" y="173736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10</a:t>
            </a:r>
          </a:p>
        </p:txBody>
      </p:sp>
      <p:sp>
        <p:nvSpPr>
          <p:cNvPr id="22" name="TextBox 21"/>
          <p:cNvSpPr txBox="1"/>
          <p:nvPr/>
        </p:nvSpPr>
        <p:spPr>
          <a:xfrm>
            <a:off x="6720840" y="1783080"/>
            <a:ext cx="4572000" cy="320040"/>
          </a:xfrm>
          <a:prstGeom prst="rect">
            <a:avLst/>
          </a:prstGeom>
          <a:noFill/>
        </p:spPr>
        <p:txBody>
          <a:bodyPr wrap="none">
            <a:spAutoFit/>
          </a:bodyPr>
          <a:lstStyle/>
          <a:p>
            <a:pPr>
              <a:defRPr sz="1300">
                <a:solidFill>
                  <a:srgbClr val="333333"/>
                </a:solidFill>
                <a:latin typeface="Meiryo UI"/>
              </a:defRPr>
            </a:pPr>
            <a:r>
              <a:t>攻めるべき領域 ② 公共・自治体AI</a:t>
            </a:r>
          </a:p>
        </p:txBody>
      </p:sp>
      <p:sp>
        <p:nvSpPr>
          <p:cNvPr id="23" name="Oval 22"/>
          <p:cNvSpPr/>
          <p:nvPr/>
        </p:nvSpPr>
        <p:spPr>
          <a:xfrm>
            <a:off x="6217920" y="237744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11</a:t>
            </a:r>
          </a:p>
        </p:txBody>
      </p:sp>
      <p:sp>
        <p:nvSpPr>
          <p:cNvPr id="24" name="TextBox 23"/>
          <p:cNvSpPr txBox="1"/>
          <p:nvPr/>
        </p:nvSpPr>
        <p:spPr>
          <a:xfrm>
            <a:off x="6720840" y="2423160"/>
            <a:ext cx="4572000" cy="320040"/>
          </a:xfrm>
          <a:prstGeom prst="rect">
            <a:avLst/>
          </a:prstGeom>
          <a:noFill/>
        </p:spPr>
        <p:txBody>
          <a:bodyPr wrap="none">
            <a:spAutoFit/>
          </a:bodyPr>
          <a:lstStyle/>
          <a:p>
            <a:pPr>
              <a:defRPr sz="1300">
                <a:solidFill>
                  <a:srgbClr val="333333"/>
                </a:solidFill>
                <a:latin typeface="Meiryo UI"/>
              </a:defRPr>
            </a:pPr>
            <a:r>
              <a:t>攻めるべき領域 ③ 製造業フィジカルAI</a:t>
            </a:r>
          </a:p>
        </p:txBody>
      </p:sp>
      <p:sp>
        <p:nvSpPr>
          <p:cNvPr id="25" name="Oval 24"/>
          <p:cNvSpPr/>
          <p:nvPr/>
        </p:nvSpPr>
        <p:spPr>
          <a:xfrm>
            <a:off x="6217920" y="3017519"/>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12</a:t>
            </a:r>
          </a:p>
        </p:txBody>
      </p:sp>
      <p:sp>
        <p:nvSpPr>
          <p:cNvPr id="26" name="TextBox 25"/>
          <p:cNvSpPr txBox="1"/>
          <p:nvPr/>
        </p:nvSpPr>
        <p:spPr>
          <a:xfrm>
            <a:off x="6720840" y="3063239"/>
            <a:ext cx="4572000" cy="320040"/>
          </a:xfrm>
          <a:prstGeom prst="rect">
            <a:avLst/>
          </a:prstGeom>
          <a:noFill/>
        </p:spPr>
        <p:txBody>
          <a:bodyPr wrap="none">
            <a:spAutoFit/>
          </a:bodyPr>
          <a:lstStyle/>
          <a:p>
            <a:pPr>
              <a:defRPr sz="1300">
                <a:solidFill>
                  <a:srgbClr val="333333"/>
                </a:solidFill>
                <a:latin typeface="Meiryo UI"/>
              </a:defRPr>
            </a:pPr>
            <a:r>
              <a:t>攻めるべき領域 ④ AIエージェント自動化</a:t>
            </a:r>
          </a:p>
        </p:txBody>
      </p:sp>
      <p:sp>
        <p:nvSpPr>
          <p:cNvPr id="27" name="Oval 26"/>
          <p:cNvSpPr/>
          <p:nvPr/>
        </p:nvSpPr>
        <p:spPr>
          <a:xfrm>
            <a:off x="6217920" y="365760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13</a:t>
            </a:r>
          </a:p>
        </p:txBody>
      </p:sp>
      <p:sp>
        <p:nvSpPr>
          <p:cNvPr id="28" name="TextBox 27"/>
          <p:cNvSpPr txBox="1"/>
          <p:nvPr/>
        </p:nvSpPr>
        <p:spPr>
          <a:xfrm>
            <a:off x="6720840" y="3703320"/>
            <a:ext cx="4572000" cy="320040"/>
          </a:xfrm>
          <a:prstGeom prst="rect">
            <a:avLst/>
          </a:prstGeom>
          <a:noFill/>
        </p:spPr>
        <p:txBody>
          <a:bodyPr wrap="none">
            <a:spAutoFit/>
          </a:bodyPr>
          <a:lstStyle/>
          <a:p>
            <a:pPr>
              <a:defRPr sz="1300">
                <a:solidFill>
                  <a:srgbClr val="333333"/>
                </a:solidFill>
                <a:latin typeface="Meiryo UI"/>
              </a:defRPr>
            </a:pPr>
            <a:r>
              <a:t>攻めるべき領域 ⑤ AIインフラ省電力化</a:t>
            </a:r>
          </a:p>
        </p:txBody>
      </p:sp>
      <p:sp>
        <p:nvSpPr>
          <p:cNvPr id="29" name="Oval 28"/>
          <p:cNvSpPr/>
          <p:nvPr/>
        </p:nvSpPr>
        <p:spPr>
          <a:xfrm>
            <a:off x="6217920" y="4297680"/>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14</a:t>
            </a:r>
          </a:p>
        </p:txBody>
      </p:sp>
      <p:sp>
        <p:nvSpPr>
          <p:cNvPr id="30" name="TextBox 29"/>
          <p:cNvSpPr txBox="1"/>
          <p:nvPr/>
        </p:nvSpPr>
        <p:spPr>
          <a:xfrm>
            <a:off x="6720840" y="4343400"/>
            <a:ext cx="4572000" cy="320040"/>
          </a:xfrm>
          <a:prstGeom prst="rect">
            <a:avLst/>
          </a:prstGeom>
          <a:noFill/>
        </p:spPr>
        <p:txBody>
          <a:bodyPr wrap="none">
            <a:spAutoFit/>
          </a:bodyPr>
          <a:lstStyle/>
          <a:p>
            <a:pPr>
              <a:defRPr sz="1300">
                <a:solidFill>
                  <a:srgbClr val="333333"/>
                </a:solidFill>
                <a:latin typeface="Meiryo UI"/>
              </a:defRPr>
            </a:pPr>
            <a:r>
              <a:t>優先順位と推奨アクション</a:t>
            </a:r>
          </a:p>
        </p:txBody>
      </p:sp>
      <p:sp>
        <p:nvSpPr>
          <p:cNvPr id="31" name="Oval 30"/>
          <p:cNvSpPr/>
          <p:nvPr/>
        </p:nvSpPr>
        <p:spPr>
          <a:xfrm>
            <a:off x="6217920" y="4937759"/>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UI"/>
              </a:defRPr>
            </a:pPr>
            <a:r>
              <a:t>15</a:t>
            </a:r>
          </a:p>
        </p:txBody>
      </p:sp>
      <p:sp>
        <p:nvSpPr>
          <p:cNvPr id="32" name="TextBox 31"/>
          <p:cNvSpPr txBox="1"/>
          <p:nvPr/>
        </p:nvSpPr>
        <p:spPr>
          <a:xfrm>
            <a:off x="6720840" y="4983479"/>
            <a:ext cx="4572000" cy="320040"/>
          </a:xfrm>
          <a:prstGeom prst="rect">
            <a:avLst/>
          </a:prstGeom>
          <a:noFill/>
        </p:spPr>
        <p:txBody>
          <a:bodyPr wrap="none">
            <a:spAutoFit/>
          </a:bodyPr>
          <a:lstStyle/>
          <a:p>
            <a:pPr>
              <a:defRPr sz="1300">
                <a:solidFill>
                  <a:srgbClr val="333333"/>
                </a:solidFill>
                <a:latin typeface="Meiryo UI"/>
              </a:defRPr>
            </a:pPr>
            <a:r>
              <a:t>まとめ・提言</a:t>
            </a:r>
          </a:p>
        </p:txBody>
      </p:sp>
      <p:cxnSp>
        <p:nvCxnSpPr>
          <p:cNvPr id="33" name="Connector 32"/>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富士通の生成AI戦略 ― 4つの柱</a:t>
            </a:r>
          </a:p>
        </p:txBody>
      </p:sp>
      <p:sp>
        <p:nvSpPr>
          <p:cNvPr id="3" name="Rounded Rectangle 2"/>
          <p:cNvSpPr/>
          <p:nvPr/>
        </p:nvSpPr>
        <p:spPr>
          <a:xfrm>
            <a:off x="274320" y="1097280"/>
            <a:ext cx="2743200" cy="41148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12344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5" name="TextBox 4"/>
          <p:cNvSpPr txBox="1"/>
          <p:nvPr/>
        </p:nvSpPr>
        <p:spPr>
          <a:xfrm>
            <a:off x="411480" y="1783080"/>
            <a:ext cx="2468880" cy="3337560"/>
          </a:xfrm>
          <a:prstGeom prst="rect">
            <a:avLst/>
          </a:prstGeom>
          <a:noFill/>
        </p:spPr>
        <p:txBody>
          <a:bodyPr wrap="square">
            <a:spAutoFit/>
          </a:bodyPr>
          <a:lstStyle/>
          <a:p>
            <a:pPr>
              <a:spcAft>
                <a:spcPts val="400"/>
              </a:spcAft>
              <a:defRPr sz="1200" b="1">
                <a:solidFill>
                  <a:srgbClr val="003366"/>
                </a:solidFill>
                <a:latin typeface="Meiryo UI"/>
              </a:defRPr>
            </a:pPr>
            <a:r>
              <a:t>Fujitsu Kozuchi</a:t>
            </a:r>
          </a:p>
          <a:p>
            <a:pPr>
              <a:spcBef>
                <a:spcPts val="200"/>
              </a:spcBef>
              <a:spcAft>
                <a:spcPts val="100"/>
              </a:spcAft>
              <a:defRPr sz="900">
                <a:solidFill>
                  <a:srgbClr val="333333"/>
                </a:solidFill>
                <a:latin typeface="Meiryo UI"/>
              </a:defRPr>
            </a:pPr>
            <a:r>
              <a:t>• 50以上のAI技術を提供する共創型AIプラットフォームです</a:t>
            </a:r>
          </a:p>
          <a:p>
            <a:pPr>
              <a:spcBef>
                <a:spcPts val="200"/>
              </a:spcBef>
              <a:spcAft>
                <a:spcPts val="100"/>
              </a:spcAft>
              <a:defRPr sz="900">
                <a:solidFill>
                  <a:srgbClr val="333333"/>
                </a:solidFill>
                <a:latin typeface="Meiryo UI"/>
              </a:defRPr>
            </a:pPr>
            <a:r>
              <a:t>• 業務特化型AIエージェント（会議支援、規約解析等）を搭載しています</a:t>
            </a:r>
          </a:p>
          <a:p>
            <a:pPr>
              <a:spcBef>
                <a:spcPts val="200"/>
              </a:spcBef>
              <a:spcAft>
                <a:spcPts val="100"/>
              </a:spcAft>
              <a:defRPr sz="900">
                <a:solidFill>
                  <a:srgbClr val="333333"/>
                </a:solidFill>
                <a:latin typeface="Meiryo UI"/>
              </a:defRPr>
            </a:pPr>
            <a:r>
              <a:t>• 顧客自ら技術検証が可能な環境を提供しています</a:t>
            </a:r>
          </a:p>
        </p:txBody>
      </p:sp>
      <p:sp>
        <p:nvSpPr>
          <p:cNvPr id="6" name="Rounded Rectangle 5"/>
          <p:cNvSpPr/>
          <p:nvPr/>
        </p:nvSpPr>
        <p:spPr>
          <a:xfrm>
            <a:off x="3200400" y="1097280"/>
            <a:ext cx="2743200" cy="41148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37560" y="1234440"/>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8" name="TextBox 7"/>
          <p:cNvSpPr txBox="1"/>
          <p:nvPr/>
        </p:nvSpPr>
        <p:spPr>
          <a:xfrm>
            <a:off x="3337560" y="1783080"/>
            <a:ext cx="2468880" cy="3337560"/>
          </a:xfrm>
          <a:prstGeom prst="rect">
            <a:avLst/>
          </a:prstGeom>
          <a:noFill/>
        </p:spPr>
        <p:txBody>
          <a:bodyPr wrap="square">
            <a:spAutoFit/>
          </a:bodyPr>
          <a:lstStyle/>
          <a:p>
            <a:pPr>
              <a:spcAft>
                <a:spcPts val="400"/>
              </a:spcAft>
              <a:defRPr sz="1200" b="1">
                <a:solidFill>
                  <a:srgbClr val="003366"/>
                </a:solidFill>
                <a:latin typeface="Meiryo UI"/>
              </a:defRPr>
            </a:pPr>
            <a:r>
              <a:t>Application Transform</a:t>
            </a:r>
          </a:p>
          <a:p>
            <a:pPr>
              <a:spcBef>
                <a:spcPts val="200"/>
              </a:spcBef>
              <a:spcAft>
                <a:spcPts val="100"/>
              </a:spcAft>
              <a:defRPr sz="900">
                <a:solidFill>
                  <a:srgbClr val="333333"/>
                </a:solidFill>
                <a:latin typeface="Meiryo UI"/>
              </a:defRPr>
            </a:pPr>
            <a:r>
              <a:t>• COBOL等レガシーシステムの設計書自動生成サービスです</a:t>
            </a:r>
          </a:p>
          <a:p>
            <a:pPr>
              <a:spcBef>
                <a:spcPts val="200"/>
              </a:spcBef>
              <a:spcAft>
                <a:spcPts val="100"/>
              </a:spcAft>
              <a:defRPr sz="900">
                <a:solidFill>
                  <a:srgbClr val="333333"/>
                </a:solidFill>
                <a:latin typeface="Meiryo UI"/>
              </a:defRPr>
            </a:pPr>
            <a:r>
              <a:t>• 作業量を約97%削減（1ヶ月→約1日）しました</a:t>
            </a:r>
          </a:p>
          <a:p>
            <a:pPr>
              <a:spcBef>
                <a:spcPts val="200"/>
              </a:spcBef>
              <a:spcAft>
                <a:spcPts val="100"/>
              </a:spcAft>
              <a:defRPr sz="900">
                <a:solidFill>
                  <a:srgbClr val="333333"/>
                </a:solidFill>
                <a:latin typeface="Meiryo UI"/>
              </a:defRPr>
            </a:pPr>
            <a:r>
              <a:t>• Knowledge Graph-Enhanced RAGで高精度を実現しています</a:t>
            </a:r>
          </a:p>
        </p:txBody>
      </p:sp>
      <p:sp>
        <p:nvSpPr>
          <p:cNvPr id="9" name="Rounded Rectangle 8"/>
          <p:cNvSpPr/>
          <p:nvPr/>
        </p:nvSpPr>
        <p:spPr>
          <a:xfrm>
            <a:off x="6126480" y="1097280"/>
            <a:ext cx="2743200" cy="4114800"/>
          </a:xfrm>
          <a:prstGeom prst="roundRect">
            <a:avLst/>
          </a:prstGeom>
          <a:solidFill>
            <a:srgbClr val="FCE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63640" y="1234440"/>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11" name="TextBox 10"/>
          <p:cNvSpPr txBox="1"/>
          <p:nvPr/>
        </p:nvSpPr>
        <p:spPr>
          <a:xfrm>
            <a:off x="6263640" y="1783080"/>
            <a:ext cx="2468880" cy="3337560"/>
          </a:xfrm>
          <a:prstGeom prst="rect">
            <a:avLst/>
          </a:prstGeom>
          <a:noFill/>
        </p:spPr>
        <p:txBody>
          <a:bodyPr wrap="square">
            <a:spAutoFit/>
          </a:bodyPr>
          <a:lstStyle/>
          <a:p>
            <a:pPr>
              <a:spcAft>
                <a:spcPts val="400"/>
              </a:spcAft>
              <a:defRPr sz="1200" b="1">
                <a:solidFill>
                  <a:srgbClr val="003366"/>
                </a:solidFill>
                <a:latin typeface="Meiryo UI"/>
              </a:defRPr>
            </a:pPr>
            <a:r>
              <a:t>Physical AI 1.0</a:t>
            </a:r>
          </a:p>
          <a:p>
            <a:pPr>
              <a:spcBef>
                <a:spcPts val="200"/>
              </a:spcBef>
              <a:spcAft>
                <a:spcPts val="100"/>
              </a:spcAft>
              <a:defRPr sz="900">
                <a:solidFill>
                  <a:srgbClr val="333333"/>
                </a:solidFill>
                <a:latin typeface="Meiryo UI"/>
              </a:defRPr>
            </a:pPr>
            <a:r>
              <a:t>• NVIDIAとの協業によるロボット×AIエージェント連携です</a:t>
            </a:r>
          </a:p>
          <a:p>
            <a:pPr>
              <a:spcBef>
                <a:spcPts val="200"/>
              </a:spcBef>
              <a:spcAft>
                <a:spcPts val="100"/>
              </a:spcAft>
              <a:defRPr sz="900">
                <a:solidFill>
                  <a:srgbClr val="333333"/>
                </a:solidFill>
                <a:latin typeface="Meiryo UI"/>
              </a:defRPr>
            </a:pPr>
            <a:r>
              <a:t>• マルチAIエージェントフレームワークを構築しています</a:t>
            </a:r>
          </a:p>
          <a:p>
            <a:pPr>
              <a:spcBef>
                <a:spcPts val="200"/>
              </a:spcBef>
              <a:spcAft>
                <a:spcPts val="100"/>
              </a:spcAft>
              <a:defRPr sz="900">
                <a:solidFill>
                  <a:srgbClr val="333333"/>
                </a:solidFill>
                <a:latin typeface="Meiryo UI"/>
              </a:defRPr>
            </a:pPr>
            <a:r>
              <a:t>• 機密性を担保しつつ業務自動化を推進しています</a:t>
            </a:r>
          </a:p>
        </p:txBody>
      </p:sp>
      <p:sp>
        <p:nvSpPr>
          <p:cNvPr id="12" name="Rounded Rectangle 11"/>
          <p:cNvSpPr/>
          <p:nvPr/>
        </p:nvSpPr>
        <p:spPr>
          <a:xfrm>
            <a:off x="9052560" y="1097280"/>
            <a:ext cx="2743200" cy="4114800"/>
          </a:xfrm>
          <a:prstGeom prst="roundRect">
            <a:avLst/>
          </a:prstGeom>
          <a:solidFill>
            <a:srgbClr val="E8D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89720" y="1234440"/>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14" name="TextBox 13"/>
          <p:cNvSpPr txBox="1"/>
          <p:nvPr/>
        </p:nvSpPr>
        <p:spPr>
          <a:xfrm>
            <a:off x="9189720" y="1783080"/>
            <a:ext cx="2468880" cy="3337560"/>
          </a:xfrm>
          <a:prstGeom prst="rect">
            <a:avLst/>
          </a:prstGeom>
          <a:noFill/>
        </p:spPr>
        <p:txBody>
          <a:bodyPr wrap="square">
            <a:spAutoFit/>
          </a:bodyPr>
          <a:lstStyle/>
          <a:p>
            <a:pPr>
              <a:spcAft>
                <a:spcPts val="400"/>
              </a:spcAft>
              <a:defRPr sz="1200" b="1">
                <a:solidFill>
                  <a:srgbClr val="003366"/>
                </a:solidFill>
                <a:latin typeface="Meiryo UI"/>
              </a:defRPr>
            </a:pPr>
            <a:r>
              <a:t>Enterprise AI Factory</a:t>
            </a:r>
          </a:p>
          <a:p>
            <a:pPr>
              <a:spcBef>
                <a:spcPts val="200"/>
              </a:spcBef>
              <a:spcAft>
                <a:spcPts val="100"/>
              </a:spcAft>
              <a:defRPr sz="900">
                <a:solidFill>
                  <a:srgbClr val="333333"/>
                </a:solidFill>
                <a:latin typeface="Meiryo UI"/>
              </a:defRPr>
            </a:pPr>
            <a:r>
              <a:t>• オンプレミス環境でのセキュアなAI運用基盤です</a:t>
            </a:r>
          </a:p>
          <a:p>
            <a:pPr>
              <a:spcBef>
                <a:spcPts val="200"/>
              </a:spcBef>
              <a:spcAft>
                <a:spcPts val="100"/>
              </a:spcAft>
              <a:defRPr sz="900">
                <a:solidFill>
                  <a:srgbClr val="333333"/>
                </a:solidFill>
                <a:latin typeface="Meiryo UI"/>
              </a:defRPr>
            </a:pPr>
            <a:r>
              <a:t>• 独自LLM「Takane」による日本語特化型AIです</a:t>
            </a:r>
          </a:p>
          <a:p>
            <a:pPr>
              <a:spcBef>
                <a:spcPts val="200"/>
              </a:spcBef>
              <a:spcAft>
                <a:spcPts val="100"/>
              </a:spcAft>
              <a:defRPr sz="900">
                <a:solidFill>
                  <a:srgbClr val="333333"/>
                </a:solidFill>
                <a:latin typeface="Meiryo UI"/>
              </a:defRPr>
            </a:pPr>
            <a:r>
              <a:t>• 脆弱性診断・ガードレール等のAIセキュリティを装備しています</a:t>
            </a:r>
          </a:p>
        </p:txBody>
      </p:sp>
      <p:sp>
        <p:nvSpPr>
          <p:cNvPr id="15" name="TextBox 14"/>
          <p:cNvSpPr txBox="1"/>
          <p:nvPr/>
        </p:nvSpPr>
        <p:spPr>
          <a:xfrm>
            <a:off x="274320" y="5486400"/>
            <a:ext cx="11612880" cy="731520"/>
          </a:xfrm>
          <a:prstGeom prst="rect">
            <a:avLst/>
          </a:prstGeom>
          <a:noFill/>
        </p:spPr>
        <p:txBody>
          <a:bodyPr wrap="square">
            <a:spAutoFit/>
          </a:bodyPr>
          <a:lstStyle/>
          <a:p>
            <a:pPr algn="l">
              <a:spcBef>
                <a:spcPts val="400"/>
              </a:spcBef>
              <a:spcAft>
                <a:spcPts val="200"/>
              </a:spcAft>
              <a:defRPr sz="1200" b="1">
                <a:solidFill>
                  <a:srgbClr val="C0392B"/>
                </a:solidFill>
                <a:latin typeface="Meiryo UI"/>
              </a:defRPr>
            </a:pPr>
            <a:r>
              <a:t>★ 富士通の差別化ポイント：「レガシー刷新力」×「Kozuchiプラットフォーム」×「セキュアなオンプレミスAI」</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Fujitsu Kozuchi &amp; Application Transform</a:t>
            </a:r>
          </a:p>
        </p:txBody>
      </p:sp>
      <p:sp>
        <p:nvSpPr>
          <p:cNvPr id="3" name="TextBox 2"/>
          <p:cNvSpPr txBox="1"/>
          <p:nvPr/>
        </p:nvSpPr>
        <p:spPr>
          <a:xfrm>
            <a:off x="274320" y="1005840"/>
            <a:ext cx="5486400" cy="365760"/>
          </a:xfrm>
          <a:prstGeom prst="rect">
            <a:avLst/>
          </a:prstGeom>
          <a:noFill/>
        </p:spPr>
        <p:txBody>
          <a:bodyPr wrap="square">
            <a:spAutoFit/>
          </a:bodyPr>
          <a:lstStyle/>
          <a:p>
            <a:pPr algn="l">
              <a:defRPr sz="1400" b="1">
                <a:solidFill>
                  <a:srgbClr val="003366"/>
                </a:solidFill>
                <a:latin typeface="Meiryo UI"/>
              </a:defRPr>
            </a:pPr>
            <a:r>
              <a:t>■ Fujitsu Kozuchi AIプラットフォーム</a:t>
            </a:r>
          </a:p>
        </p:txBody>
      </p:sp>
      <p:sp>
        <p:nvSpPr>
          <p:cNvPr id="4" name="TextBox 3"/>
          <p:cNvSpPr txBox="1"/>
          <p:nvPr/>
        </p:nvSpPr>
        <p:spPr>
          <a:xfrm>
            <a:off x="457200" y="1463040"/>
            <a:ext cx="5303520" cy="22860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50以上のAI技術をWebアプリテンプレートで提供しています</a:t>
            </a:r>
          </a:p>
          <a:p>
            <a:pPr algn="l">
              <a:spcBef>
                <a:spcPts val="400"/>
              </a:spcBef>
              <a:spcAft>
                <a:spcPts val="200"/>
              </a:spcAft>
              <a:defRPr sz="1000" b="0">
                <a:solidFill>
                  <a:srgbClr val="333333"/>
                </a:solidFill>
                <a:latin typeface="Meiryo UI"/>
              </a:defRPr>
            </a:pPr>
            <a:r>
              <a:t>• 会議支援、現場作業支援、規約解析などのAIエージェントを搭載しています</a:t>
            </a:r>
          </a:p>
          <a:p>
            <a:pPr algn="l">
              <a:spcBef>
                <a:spcPts val="400"/>
              </a:spcBef>
              <a:spcAft>
                <a:spcPts val="200"/>
              </a:spcAft>
              <a:defRPr sz="1000" b="0">
                <a:solidFill>
                  <a:srgbClr val="333333"/>
                </a:solidFill>
                <a:latin typeface="Meiryo UI"/>
              </a:defRPr>
            </a:pPr>
            <a:r>
              <a:t>• テック主導の「共創型AIプラットフォーム」として位置づけられています</a:t>
            </a:r>
          </a:p>
          <a:p>
            <a:pPr algn="l">
              <a:spcBef>
                <a:spcPts val="400"/>
              </a:spcBef>
              <a:spcAft>
                <a:spcPts val="200"/>
              </a:spcAft>
              <a:defRPr sz="1000" b="1">
                <a:solidFill>
                  <a:srgbClr val="0078D4"/>
                </a:solidFill>
                <a:latin typeface="Meiryo UI"/>
              </a:defRPr>
            </a:pPr>
            <a:r>
              <a:t>• 2026年に「Enterprise AI Factory」へ進化しました</a:t>
            </a:r>
          </a:p>
        </p:txBody>
      </p:sp>
      <p:sp>
        <p:nvSpPr>
          <p:cNvPr id="5" name="TextBox 4"/>
          <p:cNvSpPr txBox="1"/>
          <p:nvPr/>
        </p:nvSpPr>
        <p:spPr>
          <a:xfrm>
            <a:off x="274320" y="3657600"/>
            <a:ext cx="5486400" cy="365760"/>
          </a:xfrm>
          <a:prstGeom prst="rect">
            <a:avLst/>
          </a:prstGeom>
          <a:noFill/>
        </p:spPr>
        <p:txBody>
          <a:bodyPr wrap="square">
            <a:spAutoFit/>
          </a:bodyPr>
          <a:lstStyle/>
          <a:p>
            <a:pPr algn="l">
              <a:defRPr sz="1400" b="1">
                <a:solidFill>
                  <a:srgbClr val="003366"/>
                </a:solidFill>
                <a:latin typeface="Meiryo UI"/>
              </a:defRPr>
            </a:pPr>
            <a:r>
              <a:t>■ Application Transform（レガシー刷新）</a:t>
            </a:r>
          </a:p>
        </p:txBody>
      </p:sp>
      <p:sp>
        <p:nvSpPr>
          <p:cNvPr id="6" name="TextBox 5"/>
          <p:cNvSpPr txBox="1"/>
          <p:nvPr/>
        </p:nvSpPr>
        <p:spPr>
          <a:xfrm>
            <a:off x="457200" y="4114800"/>
            <a:ext cx="5303520" cy="22860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2026年春からSaaS提供を開始しました</a:t>
            </a:r>
          </a:p>
          <a:p>
            <a:pPr algn="l">
              <a:spcBef>
                <a:spcPts val="400"/>
              </a:spcBef>
              <a:spcAft>
                <a:spcPts val="200"/>
              </a:spcAft>
              <a:defRPr sz="1000" b="0">
                <a:solidFill>
                  <a:srgbClr val="333333"/>
                </a:solidFill>
                <a:latin typeface="Meiryo UI"/>
              </a:defRPr>
            </a:pPr>
            <a:r>
              <a:t>• 40年分のCOBOLコードを解析し設計書を自動生成します</a:t>
            </a:r>
          </a:p>
          <a:p>
            <a:pPr algn="l">
              <a:spcBef>
                <a:spcPts val="400"/>
              </a:spcBef>
              <a:spcAft>
                <a:spcPts val="200"/>
              </a:spcAft>
              <a:defRPr sz="1000" b="0">
                <a:solidFill>
                  <a:srgbClr val="333333"/>
                </a:solidFill>
                <a:latin typeface="Meiryo UI"/>
              </a:defRPr>
            </a:pPr>
            <a:r>
              <a:t>• SMBC日興証券との共同検証を推進しています</a:t>
            </a:r>
          </a:p>
        </p:txBody>
      </p:sp>
      <p:cxnSp>
        <p:nvCxnSpPr>
          <p:cNvPr id="7" name="Connector 6"/>
          <p:cNvCxnSpPr/>
          <p:nvPr/>
        </p:nvCxnSpPr>
        <p:spPr>
          <a:xfrm>
            <a:off x="5943600" y="1005840"/>
            <a:ext cx="0" cy="521208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0" y="1005840"/>
            <a:ext cx="5486400" cy="365760"/>
          </a:xfrm>
          <a:prstGeom prst="rect">
            <a:avLst/>
          </a:prstGeom>
          <a:noFill/>
        </p:spPr>
        <p:txBody>
          <a:bodyPr wrap="square">
            <a:spAutoFit/>
          </a:bodyPr>
          <a:lstStyle/>
          <a:p>
            <a:pPr algn="l">
              <a:defRPr sz="1400" b="1">
                <a:solidFill>
                  <a:srgbClr val="003366"/>
                </a:solidFill>
                <a:latin typeface="Meiryo UI"/>
              </a:defRPr>
            </a:pPr>
            <a:r>
              <a:t>■ Application Transform の成果指標</a:t>
            </a:r>
          </a:p>
        </p:txBody>
      </p:sp>
      <p:sp>
        <p:nvSpPr>
          <p:cNvPr id="9" name="Rounded Rectangle 8"/>
          <p:cNvSpPr/>
          <p:nvPr/>
        </p:nvSpPr>
        <p:spPr>
          <a:xfrm>
            <a:off x="6217920" y="1554480"/>
            <a:ext cx="5486400" cy="100584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2286000" cy="320040"/>
          </a:xfrm>
          <a:prstGeom prst="rect">
            <a:avLst/>
          </a:prstGeom>
          <a:noFill/>
        </p:spPr>
        <p:txBody>
          <a:bodyPr wrap="none">
            <a:spAutoFit/>
          </a:bodyPr>
          <a:lstStyle/>
          <a:p>
            <a:pPr>
              <a:defRPr sz="1000" b="1">
                <a:solidFill>
                  <a:srgbClr val="003366"/>
                </a:solidFill>
                <a:latin typeface="Meiryo UI"/>
              </a:defRPr>
            </a:pPr>
            <a:r>
              <a:t>作業量削減</a:t>
            </a:r>
          </a:p>
        </p:txBody>
      </p:sp>
      <p:sp>
        <p:nvSpPr>
          <p:cNvPr id="11" name="TextBox 10"/>
          <p:cNvSpPr txBox="1"/>
          <p:nvPr/>
        </p:nvSpPr>
        <p:spPr>
          <a:xfrm>
            <a:off x="8686800" y="1600200"/>
            <a:ext cx="2743200" cy="411480"/>
          </a:xfrm>
          <a:prstGeom prst="rect">
            <a:avLst/>
          </a:prstGeom>
          <a:noFill/>
        </p:spPr>
        <p:txBody>
          <a:bodyPr wrap="none">
            <a:spAutoFit/>
          </a:bodyPr>
          <a:lstStyle/>
          <a:p>
            <a:pPr>
              <a:defRPr sz="1600" b="1">
                <a:solidFill>
                  <a:srgbClr val="0078D4"/>
                </a:solidFill>
                <a:latin typeface="Meiryo UI"/>
              </a:defRPr>
            </a:pPr>
            <a:r>
              <a:t>約97%削減</a:t>
            </a:r>
          </a:p>
        </p:txBody>
      </p:sp>
      <p:sp>
        <p:nvSpPr>
          <p:cNvPr id="12" name="TextBox 11"/>
          <p:cNvSpPr txBox="1"/>
          <p:nvPr/>
        </p:nvSpPr>
        <p:spPr>
          <a:xfrm>
            <a:off x="6400800" y="2057400"/>
            <a:ext cx="5029200" cy="320040"/>
          </a:xfrm>
          <a:prstGeom prst="rect">
            <a:avLst/>
          </a:prstGeom>
          <a:noFill/>
        </p:spPr>
        <p:txBody>
          <a:bodyPr wrap="none">
            <a:spAutoFit/>
          </a:bodyPr>
          <a:lstStyle/>
          <a:p>
            <a:pPr>
              <a:defRPr sz="900">
                <a:solidFill>
                  <a:srgbClr val="666666"/>
                </a:solidFill>
                <a:latin typeface="Meiryo UI"/>
              </a:defRPr>
            </a:pPr>
            <a:r>
              <a:t>1ヶ月→約1日</a:t>
            </a:r>
          </a:p>
        </p:txBody>
      </p:sp>
      <p:sp>
        <p:nvSpPr>
          <p:cNvPr id="13" name="Rounded Rectangle 12"/>
          <p:cNvSpPr/>
          <p:nvPr/>
        </p:nvSpPr>
        <p:spPr>
          <a:xfrm>
            <a:off x="6217920" y="2743200"/>
            <a:ext cx="5486400" cy="100584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34640"/>
            <a:ext cx="2286000" cy="320040"/>
          </a:xfrm>
          <a:prstGeom prst="rect">
            <a:avLst/>
          </a:prstGeom>
          <a:noFill/>
        </p:spPr>
        <p:txBody>
          <a:bodyPr wrap="none">
            <a:spAutoFit/>
          </a:bodyPr>
          <a:lstStyle/>
          <a:p>
            <a:pPr>
              <a:defRPr sz="1000" b="1">
                <a:solidFill>
                  <a:srgbClr val="003366"/>
                </a:solidFill>
                <a:latin typeface="Meiryo UI"/>
              </a:defRPr>
            </a:pPr>
            <a:r>
              <a:t>解析網羅性</a:t>
            </a:r>
          </a:p>
        </p:txBody>
      </p:sp>
      <p:sp>
        <p:nvSpPr>
          <p:cNvPr id="15" name="TextBox 14"/>
          <p:cNvSpPr txBox="1"/>
          <p:nvPr/>
        </p:nvSpPr>
        <p:spPr>
          <a:xfrm>
            <a:off x="8686800" y="2788920"/>
            <a:ext cx="2743200" cy="411480"/>
          </a:xfrm>
          <a:prstGeom prst="rect">
            <a:avLst/>
          </a:prstGeom>
          <a:noFill/>
        </p:spPr>
        <p:txBody>
          <a:bodyPr wrap="none">
            <a:spAutoFit/>
          </a:bodyPr>
          <a:lstStyle/>
          <a:p>
            <a:pPr>
              <a:defRPr sz="1600" b="1">
                <a:solidFill>
                  <a:srgbClr val="0078D4"/>
                </a:solidFill>
                <a:latin typeface="Meiryo UI"/>
              </a:defRPr>
            </a:pPr>
            <a:r>
              <a:t>+95%向上</a:t>
            </a:r>
          </a:p>
        </p:txBody>
      </p:sp>
      <p:sp>
        <p:nvSpPr>
          <p:cNvPr id="16" name="TextBox 15"/>
          <p:cNvSpPr txBox="1"/>
          <p:nvPr/>
        </p:nvSpPr>
        <p:spPr>
          <a:xfrm>
            <a:off x="6400800" y="3246120"/>
            <a:ext cx="5029200" cy="320040"/>
          </a:xfrm>
          <a:prstGeom prst="rect">
            <a:avLst/>
          </a:prstGeom>
          <a:noFill/>
        </p:spPr>
        <p:txBody>
          <a:bodyPr wrap="none">
            <a:spAutoFit/>
          </a:bodyPr>
          <a:lstStyle/>
          <a:p>
            <a:pPr>
              <a:defRPr sz="900">
                <a:solidFill>
                  <a:srgbClr val="666666"/>
                </a:solidFill>
                <a:latin typeface="Meiryo UI"/>
              </a:defRPr>
            </a:pPr>
            <a:r>
              <a:t>仕様漏れを大幅削減</a:t>
            </a:r>
          </a:p>
        </p:txBody>
      </p:sp>
      <p:sp>
        <p:nvSpPr>
          <p:cNvPr id="17" name="Rounded Rectangle 16"/>
          <p:cNvSpPr/>
          <p:nvPr/>
        </p:nvSpPr>
        <p:spPr>
          <a:xfrm>
            <a:off x="6217920" y="3931920"/>
            <a:ext cx="5486400" cy="100584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23360"/>
            <a:ext cx="2286000" cy="320040"/>
          </a:xfrm>
          <a:prstGeom prst="rect">
            <a:avLst/>
          </a:prstGeom>
          <a:noFill/>
        </p:spPr>
        <p:txBody>
          <a:bodyPr wrap="none">
            <a:spAutoFit/>
          </a:bodyPr>
          <a:lstStyle/>
          <a:p>
            <a:pPr>
              <a:defRPr sz="1000" b="1">
                <a:solidFill>
                  <a:srgbClr val="003366"/>
                </a:solidFill>
                <a:latin typeface="Meiryo UI"/>
              </a:defRPr>
            </a:pPr>
            <a:r>
              <a:t>設計書可読性</a:t>
            </a:r>
          </a:p>
        </p:txBody>
      </p:sp>
      <p:sp>
        <p:nvSpPr>
          <p:cNvPr id="19" name="TextBox 18"/>
          <p:cNvSpPr txBox="1"/>
          <p:nvPr/>
        </p:nvSpPr>
        <p:spPr>
          <a:xfrm>
            <a:off x="8686800" y="3977640"/>
            <a:ext cx="2743200" cy="411480"/>
          </a:xfrm>
          <a:prstGeom prst="rect">
            <a:avLst/>
          </a:prstGeom>
          <a:noFill/>
        </p:spPr>
        <p:txBody>
          <a:bodyPr wrap="none">
            <a:spAutoFit/>
          </a:bodyPr>
          <a:lstStyle/>
          <a:p>
            <a:pPr>
              <a:defRPr sz="1600" b="1">
                <a:solidFill>
                  <a:srgbClr val="0078D4"/>
                </a:solidFill>
                <a:latin typeface="Meiryo UI"/>
              </a:defRPr>
            </a:pPr>
            <a:r>
              <a:t>+60%向上</a:t>
            </a:r>
          </a:p>
        </p:txBody>
      </p:sp>
      <p:sp>
        <p:nvSpPr>
          <p:cNvPr id="20" name="TextBox 19"/>
          <p:cNvSpPr txBox="1"/>
          <p:nvPr/>
        </p:nvSpPr>
        <p:spPr>
          <a:xfrm>
            <a:off x="6400800" y="4434840"/>
            <a:ext cx="5029200" cy="320040"/>
          </a:xfrm>
          <a:prstGeom prst="rect">
            <a:avLst/>
          </a:prstGeom>
          <a:noFill/>
        </p:spPr>
        <p:txBody>
          <a:bodyPr wrap="none">
            <a:spAutoFit/>
          </a:bodyPr>
          <a:lstStyle/>
          <a:p>
            <a:pPr>
              <a:defRPr sz="900">
                <a:solidFill>
                  <a:srgbClr val="666666"/>
                </a:solidFill>
                <a:latin typeface="Meiryo UI"/>
              </a:defRPr>
            </a:pPr>
            <a:r>
              <a:t>品質の均一化</a:t>
            </a:r>
          </a:p>
        </p:txBody>
      </p:sp>
      <p:sp>
        <p:nvSpPr>
          <p:cNvPr id="21" name="Rounded Rectangle 20"/>
          <p:cNvSpPr/>
          <p:nvPr/>
        </p:nvSpPr>
        <p:spPr>
          <a:xfrm>
            <a:off x="6217920" y="5120640"/>
            <a:ext cx="5486400" cy="100584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212080"/>
            <a:ext cx="2286000" cy="320040"/>
          </a:xfrm>
          <a:prstGeom prst="rect">
            <a:avLst/>
          </a:prstGeom>
          <a:noFill/>
        </p:spPr>
        <p:txBody>
          <a:bodyPr wrap="none">
            <a:spAutoFit/>
          </a:bodyPr>
          <a:lstStyle/>
          <a:p>
            <a:pPr>
              <a:defRPr sz="1000" b="1">
                <a:solidFill>
                  <a:srgbClr val="003366"/>
                </a:solidFill>
                <a:latin typeface="Meiryo UI"/>
              </a:defRPr>
            </a:pPr>
            <a:r>
              <a:t>GitHub Copilot</a:t>
            </a:r>
          </a:p>
        </p:txBody>
      </p:sp>
      <p:sp>
        <p:nvSpPr>
          <p:cNvPr id="23" name="TextBox 22"/>
          <p:cNvSpPr txBox="1"/>
          <p:nvPr/>
        </p:nvSpPr>
        <p:spPr>
          <a:xfrm>
            <a:off x="8686800" y="5166360"/>
            <a:ext cx="2743200" cy="411480"/>
          </a:xfrm>
          <a:prstGeom prst="rect">
            <a:avLst/>
          </a:prstGeom>
          <a:noFill/>
        </p:spPr>
        <p:txBody>
          <a:bodyPr wrap="none">
            <a:spAutoFit/>
          </a:bodyPr>
          <a:lstStyle/>
          <a:p>
            <a:pPr>
              <a:defRPr sz="1600" b="1">
                <a:solidFill>
                  <a:srgbClr val="0078D4"/>
                </a:solidFill>
                <a:latin typeface="Meiryo UI"/>
              </a:defRPr>
            </a:pPr>
            <a:r>
              <a:t>4,000人突破</a:t>
            </a:r>
          </a:p>
        </p:txBody>
      </p:sp>
      <p:sp>
        <p:nvSpPr>
          <p:cNvPr id="24" name="TextBox 23"/>
          <p:cNvSpPr txBox="1"/>
          <p:nvPr/>
        </p:nvSpPr>
        <p:spPr>
          <a:xfrm>
            <a:off x="6400800" y="5623560"/>
            <a:ext cx="5029200" cy="320040"/>
          </a:xfrm>
          <a:prstGeom prst="rect">
            <a:avLst/>
          </a:prstGeom>
          <a:noFill/>
        </p:spPr>
        <p:txBody>
          <a:bodyPr wrap="none">
            <a:spAutoFit/>
          </a:bodyPr>
          <a:lstStyle/>
          <a:p>
            <a:pPr>
              <a:defRPr sz="900">
                <a:solidFill>
                  <a:srgbClr val="666666"/>
                </a:solidFill>
                <a:latin typeface="Meiryo UI"/>
              </a:defRPr>
            </a:pPr>
            <a:r>
              <a:t>37.5万時間効率化</a:t>
            </a:r>
          </a:p>
        </p:txBody>
      </p:sp>
      <p:cxnSp>
        <p:nvCxnSpPr>
          <p:cNvPr id="25" name="Connector 24"/>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Physical AI 1.0 &amp; Enterprise AI Factory</a:t>
            </a:r>
          </a:p>
        </p:txBody>
      </p:sp>
      <p:sp>
        <p:nvSpPr>
          <p:cNvPr id="3" name="TextBox 2"/>
          <p:cNvSpPr txBox="1"/>
          <p:nvPr/>
        </p:nvSpPr>
        <p:spPr>
          <a:xfrm>
            <a:off x="274320" y="1005840"/>
            <a:ext cx="5486400" cy="365760"/>
          </a:xfrm>
          <a:prstGeom prst="rect">
            <a:avLst/>
          </a:prstGeom>
          <a:noFill/>
        </p:spPr>
        <p:txBody>
          <a:bodyPr wrap="square">
            <a:spAutoFit/>
          </a:bodyPr>
          <a:lstStyle/>
          <a:p>
            <a:pPr algn="l">
              <a:defRPr sz="1400" b="1">
                <a:solidFill>
                  <a:srgbClr val="003366"/>
                </a:solidFill>
                <a:latin typeface="Meiryo UI"/>
              </a:defRPr>
            </a:pPr>
            <a:r>
              <a:t>■ Fujitsu Kozuchi Physical AI 1.0</a:t>
            </a:r>
          </a:p>
        </p:txBody>
      </p:sp>
      <p:sp>
        <p:nvSpPr>
          <p:cNvPr id="4" name="TextBox 3"/>
          <p:cNvSpPr txBox="1"/>
          <p:nvPr/>
        </p:nvSpPr>
        <p:spPr>
          <a:xfrm>
            <a:off x="457200" y="1463040"/>
            <a:ext cx="5486400" cy="41148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NVIDIAとの協業により2025年末に発表しました</a:t>
            </a:r>
          </a:p>
          <a:p>
            <a:pPr algn="l">
              <a:spcBef>
                <a:spcPts val="400"/>
              </a:spcBef>
              <a:spcAft>
                <a:spcPts val="200"/>
              </a:spcAft>
              <a:defRPr sz="1000" b="0">
                <a:solidFill>
                  <a:srgbClr val="333333"/>
                </a:solidFill>
                <a:latin typeface="Meiryo UI"/>
              </a:defRPr>
            </a:pPr>
            <a:r>
              <a:t>• AIエージェントとロボット等の物理デバイスが協調する「マルチAIエージェントフレームワーク」を構築しています</a:t>
            </a:r>
          </a:p>
          <a:p>
            <a:pPr algn="l">
              <a:spcBef>
                <a:spcPts val="400"/>
              </a:spcBef>
              <a:spcAft>
                <a:spcPts val="200"/>
              </a:spcAft>
              <a:defRPr sz="1000" b="0">
                <a:solidFill>
                  <a:srgbClr val="333333"/>
                </a:solidFill>
                <a:latin typeface="Meiryo UI"/>
              </a:defRPr>
            </a:pPr>
            <a:r>
              <a:t>• 機密性を担保しつつ、業務自動化・協働ロボット連携を推進しています</a:t>
            </a:r>
          </a:p>
          <a:p>
            <a:pPr algn="l">
              <a:spcBef>
                <a:spcPts val="400"/>
              </a:spcBef>
              <a:spcAft>
                <a:spcPts val="200"/>
              </a:spcAft>
              <a:defRPr sz="1000" b="0">
                <a:solidFill>
                  <a:srgbClr val="333333"/>
                </a:solidFill>
                <a:latin typeface="Meiryo UI"/>
              </a:defRPr>
            </a:pPr>
            <a:r>
              <a:t>• 今後はAIエージェントとロボットの自律進化・協調にも対応予定です</a:t>
            </a:r>
          </a:p>
          <a:p>
            <a:pPr algn="l">
              <a:spcBef>
                <a:spcPts val="400"/>
              </a:spcBef>
              <a:spcAft>
                <a:spcPts val="200"/>
              </a:spcAft>
              <a:defRPr sz="600" b="0">
                <a:solidFill>
                  <a:srgbClr val="333333"/>
                </a:solidFill>
                <a:latin typeface="Meiryo UI"/>
              </a:defRPr>
            </a:pPr>
          </a:p>
          <a:p>
            <a:pPr algn="l">
              <a:spcBef>
                <a:spcPts val="400"/>
              </a:spcBef>
              <a:spcAft>
                <a:spcPts val="200"/>
              </a:spcAft>
              <a:defRPr sz="1100" b="1">
                <a:solidFill>
                  <a:srgbClr val="003366"/>
                </a:solidFill>
                <a:latin typeface="Meiryo UI"/>
              </a:defRPr>
            </a:pPr>
            <a:r>
              <a:t>【技術アーキテクチャ】</a:t>
            </a:r>
          </a:p>
          <a:p>
            <a:pPr algn="l">
              <a:spcBef>
                <a:spcPts val="400"/>
              </a:spcBef>
              <a:spcAft>
                <a:spcPts val="200"/>
              </a:spcAft>
              <a:defRPr sz="1000" b="0">
                <a:solidFill>
                  <a:srgbClr val="333333"/>
                </a:solidFill>
                <a:latin typeface="Meiryo UI"/>
              </a:defRPr>
            </a:pPr>
            <a:r>
              <a:t>• NVIDIA技術基盤上で動作するセキュアなAIエージェント群です</a:t>
            </a:r>
          </a:p>
          <a:p>
            <a:pPr algn="l">
              <a:spcBef>
                <a:spcPts val="400"/>
              </a:spcBef>
              <a:spcAft>
                <a:spcPts val="200"/>
              </a:spcAft>
              <a:defRPr sz="1000" b="0">
                <a:solidFill>
                  <a:srgbClr val="333333"/>
                </a:solidFill>
                <a:latin typeface="Meiryo UI"/>
              </a:defRPr>
            </a:pPr>
            <a:r>
              <a:t>• 複数エージェントが物理デバイスと連携し複雑な業務を自動化します</a:t>
            </a:r>
          </a:p>
          <a:p>
            <a:pPr algn="l">
              <a:spcBef>
                <a:spcPts val="400"/>
              </a:spcBef>
              <a:spcAft>
                <a:spcPts val="200"/>
              </a:spcAft>
              <a:defRPr sz="1000" b="0">
                <a:solidFill>
                  <a:srgbClr val="333333"/>
                </a:solidFill>
                <a:latin typeface="Meiryo UI"/>
              </a:defRPr>
            </a:pPr>
            <a:r>
              <a:t>• デジタルツイン技術との統合も視野に入れています</a:t>
            </a:r>
          </a:p>
        </p:txBody>
      </p:sp>
      <p:cxnSp>
        <p:nvCxnSpPr>
          <p:cNvPr id="5" name="Connector 4"/>
          <p:cNvCxnSpPr/>
          <p:nvPr/>
        </p:nvCxnSpPr>
        <p:spPr>
          <a:xfrm>
            <a:off x="5943600" y="1005840"/>
            <a:ext cx="0" cy="521208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0" y="1005840"/>
            <a:ext cx="5486400" cy="365760"/>
          </a:xfrm>
          <a:prstGeom prst="rect">
            <a:avLst/>
          </a:prstGeom>
          <a:noFill/>
        </p:spPr>
        <p:txBody>
          <a:bodyPr wrap="square">
            <a:spAutoFit/>
          </a:bodyPr>
          <a:lstStyle/>
          <a:p>
            <a:pPr algn="l">
              <a:defRPr sz="1400" b="1">
                <a:solidFill>
                  <a:srgbClr val="003366"/>
                </a:solidFill>
                <a:latin typeface="Meiryo UI"/>
              </a:defRPr>
            </a:pPr>
            <a:r>
              <a:t>■ Enterprise AI Factory</a:t>
            </a:r>
          </a:p>
        </p:txBody>
      </p:sp>
      <p:sp>
        <p:nvSpPr>
          <p:cNvPr id="7" name="TextBox 6"/>
          <p:cNvSpPr txBox="1"/>
          <p:nvPr/>
        </p:nvSpPr>
        <p:spPr>
          <a:xfrm>
            <a:off x="6400800" y="1463040"/>
            <a:ext cx="5303520" cy="41148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2026年に発表されたオンプレミスAI運用基盤です</a:t>
            </a:r>
          </a:p>
          <a:p>
            <a:pPr algn="l">
              <a:spcBef>
                <a:spcPts val="400"/>
              </a:spcBef>
              <a:spcAft>
                <a:spcPts val="200"/>
              </a:spcAft>
              <a:defRPr sz="1000" b="0">
                <a:solidFill>
                  <a:srgbClr val="333333"/>
                </a:solidFill>
                <a:latin typeface="Meiryo UI"/>
              </a:defRPr>
            </a:pPr>
            <a:r>
              <a:t>• 顧客の自社環境で機密データを安全に活用できます</a:t>
            </a:r>
          </a:p>
          <a:p>
            <a:pPr algn="l">
              <a:spcBef>
                <a:spcPts val="400"/>
              </a:spcBef>
              <a:spcAft>
                <a:spcPts val="200"/>
              </a:spcAft>
              <a:defRPr sz="1000" b="0">
                <a:solidFill>
                  <a:srgbClr val="333333"/>
                </a:solidFill>
                <a:latin typeface="Meiryo UI"/>
              </a:defRPr>
            </a:pPr>
            <a:r>
              <a:t>• 業務特化AIエージェントの自動運用・管理を実現しています</a:t>
            </a:r>
          </a:p>
          <a:p>
            <a:pPr algn="l">
              <a:spcBef>
                <a:spcPts val="400"/>
              </a:spcBef>
              <a:spcAft>
                <a:spcPts val="200"/>
              </a:spcAft>
              <a:defRPr sz="600" b="0">
                <a:solidFill>
                  <a:srgbClr val="333333"/>
                </a:solidFill>
                <a:latin typeface="Meiryo UI"/>
              </a:defRPr>
            </a:pPr>
          </a:p>
          <a:p>
            <a:pPr algn="l">
              <a:spcBef>
                <a:spcPts val="400"/>
              </a:spcBef>
              <a:spcAft>
                <a:spcPts val="200"/>
              </a:spcAft>
              <a:defRPr sz="1100" b="1">
                <a:solidFill>
                  <a:srgbClr val="003366"/>
                </a:solidFill>
                <a:latin typeface="Meiryo UI"/>
              </a:defRPr>
            </a:pPr>
            <a:r>
              <a:t>【セキュリティ機能】</a:t>
            </a:r>
          </a:p>
          <a:p>
            <a:pPr algn="l">
              <a:spcBef>
                <a:spcPts val="400"/>
              </a:spcBef>
              <a:spcAft>
                <a:spcPts val="200"/>
              </a:spcAft>
              <a:defRPr sz="1000" b="0">
                <a:solidFill>
                  <a:srgbClr val="333333"/>
                </a:solidFill>
                <a:latin typeface="Meiryo UI"/>
              </a:defRPr>
            </a:pPr>
            <a:r>
              <a:t>• 脆弱性診断機能を搭載しています</a:t>
            </a:r>
          </a:p>
          <a:p>
            <a:pPr algn="l">
              <a:spcBef>
                <a:spcPts val="400"/>
              </a:spcBef>
              <a:spcAft>
                <a:spcPts val="200"/>
              </a:spcAft>
              <a:defRPr sz="1000" b="0">
                <a:solidFill>
                  <a:srgbClr val="333333"/>
                </a:solidFill>
                <a:latin typeface="Meiryo UI"/>
              </a:defRPr>
            </a:pPr>
            <a:r>
              <a:t>• ガードレール機能で出力品質を制御しています</a:t>
            </a:r>
          </a:p>
          <a:p>
            <a:pPr algn="l">
              <a:spcBef>
                <a:spcPts val="400"/>
              </a:spcBef>
              <a:spcAft>
                <a:spcPts val="200"/>
              </a:spcAft>
              <a:defRPr sz="1000" b="0">
                <a:solidFill>
                  <a:srgbClr val="333333"/>
                </a:solidFill>
                <a:latin typeface="Meiryo UI"/>
              </a:defRPr>
            </a:pPr>
            <a:r>
              <a:t>• プロンプトインジェクション対策を実装しています</a:t>
            </a:r>
          </a:p>
          <a:p>
            <a:pPr algn="l">
              <a:spcBef>
                <a:spcPts val="400"/>
              </a:spcBef>
              <a:spcAft>
                <a:spcPts val="200"/>
              </a:spcAft>
              <a:defRPr sz="600" b="0">
                <a:solidFill>
                  <a:srgbClr val="333333"/>
                </a:solidFill>
                <a:latin typeface="Meiryo UI"/>
              </a:defRPr>
            </a:pPr>
          </a:p>
          <a:p>
            <a:pPr algn="l">
              <a:spcBef>
                <a:spcPts val="400"/>
              </a:spcBef>
              <a:spcAft>
                <a:spcPts val="200"/>
              </a:spcAft>
              <a:defRPr sz="1100" b="1">
                <a:solidFill>
                  <a:srgbClr val="003366"/>
                </a:solidFill>
                <a:latin typeface="Meiryo UI"/>
              </a:defRPr>
            </a:pPr>
            <a:r>
              <a:t>【Takane LLM統合】</a:t>
            </a:r>
          </a:p>
          <a:p>
            <a:pPr algn="l">
              <a:spcBef>
                <a:spcPts val="400"/>
              </a:spcBef>
              <a:spcAft>
                <a:spcPts val="200"/>
              </a:spcAft>
              <a:defRPr sz="1000" b="0">
                <a:solidFill>
                  <a:srgbClr val="333333"/>
                </a:solidFill>
                <a:latin typeface="Meiryo UI"/>
              </a:defRPr>
            </a:pPr>
            <a:r>
              <a:t>• 継続的にアップデートできるファインチューニング機能を提供しています</a:t>
            </a:r>
          </a:p>
          <a:p>
            <a:pPr algn="l">
              <a:spcBef>
                <a:spcPts val="400"/>
              </a:spcBef>
              <a:spcAft>
                <a:spcPts val="200"/>
              </a:spcAft>
              <a:defRPr sz="1000" b="0">
                <a:solidFill>
                  <a:srgbClr val="333333"/>
                </a:solidFill>
                <a:latin typeface="Meiryo UI"/>
              </a:defRPr>
            </a:pPr>
            <a:r>
              <a:t>• メモリ消費94%削減により効率的な運用が可能です</a:t>
            </a:r>
          </a:p>
        </p:txBody>
      </p:sp>
      <p:cxnSp>
        <p:nvCxnSpPr>
          <p:cNvPr id="8" name="Connector 7"/>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独自LLM「Takane」の優位性</a:t>
            </a:r>
          </a:p>
        </p:txBody>
      </p:sp>
      <p:graphicFrame>
        <p:nvGraphicFramePr>
          <p:cNvPr id="3" name="Table 2"/>
          <p:cNvGraphicFramePr>
            <a:graphicFrameLocks noGrp="1"/>
          </p:cNvGraphicFramePr>
          <p:nvPr/>
        </p:nvGraphicFramePr>
        <p:xfrm>
          <a:off x="457200" y="1097280"/>
          <a:ext cx="5029200" cy="3200400"/>
        </p:xfrm>
        <a:graphic>
          <a:graphicData uri="http://schemas.openxmlformats.org/drawingml/2006/table">
            <a:tbl>
              <a:tblPr firstRow="1" bandRow="1">
                <a:tableStyleId>{5C22544A-7EE6-4342-B048-85BDC9FD1C3A}</a:tableStyleId>
              </a:tblPr>
              <a:tblGrid>
                <a:gridCol w="1645920"/>
                <a:gridCol w="3383280"/>
              </a:tblGrid>
              <a:tr h="457200">
                <a:tc>
                  <a:txBody>
                    <a:bodyPr/>
                    <a:lstStyle/>
                    <a:p>
                      <a:pPr algn="ctr">
                        <a:defRPr sz="1000" b="1">
                          <a:solidFill>
                            <a:srgbClr val="FFFFFF"/>
                          </a:solidFill>
                          <a:latin typeface="Meiryo UI"/>
                        </a:defRPr>
                      </a:pPr>
                      <a:r>
                        <a:t>項目</a:t>
                      </a:r>
                    </a:p>
                  </a:txBody>
                  <a:tcPr>
                    <a:solidFill>
                      <a:srgbClr val="003366"/>
                    </a:solidFill>
                  </a:tcPr>
                </a:tc>
                <a:tc>
                  <a:txBody>
                    <a:bodyPr/>
                    <a:lstStyle/>
                    <a:p>
                      <a:pPr algn="ctr">
                        <a:defRPr sz="1000" b="1">
                          <a:solidFill>
                            <a:srgbClr val="FFFFFF"/>
                          </a:solidFill>
                          <a:latin typeface="Meiryo UI"/>
                        </a:defRPr>
                      </a:pPr>
                      <a:r>
                        <a:t>内容</a:t>
                      </a:r>
                    </a:p>
                  </a:txBody>
                  <a:tcPr>
                    <a:solidFill>
                      <a:srgbClr val="003366"/>
                    </a:solidFill>
                  </a:tcPr>
                </a:tc>
              </a:tr>
              <a:tr h="457200">
                <a:tc>
                  <a:txBody>
                    <a:bodyPr/>
                    <a:lstStyle/>
                    <a:p>
                      <a:pPr algn="l">
                        <a:defRPr sz="900">
                          <a:solidFill>
                            <a:srgbClr val="333333"/>
                          </a:solidFill>
                          <a:latin typeface="Meiryo UI"/>
                        </a:defRPr>
                      </a:pPr>
                      <a:r>
                        <a:t>ベースモデル</a:t>
                      </a:r>
                    </a:p>
                  </a:txBody>
                  <a:tcPr>
                    <a:solidFill>
                      <a:srgbClr val="F2F2F2"/>
                    </a:solidFill>
                  </a:tcPr>
                </a:tc>
                <a:tc>
                  <a:txBody>
                    <a:bodyPr/>
                    <a:lstStyle/>
                    <a:p>
                      <a:pPr algn="l">
                        <a:defRPr sz="900">
                          <a:solidFill>
                            <a:srgbClr val="333333"/>
                          </a:solidFill>
                          <a:latin typeface="Meiryo UI"/>
                        </a:defRPr>
                      </a:pPr>
                      <a:r>
                        <a:t>Cohere Command R+</a:t>
                      </a:r>
                    </a:p>
                  </a:txBody>
                  <a:tcPr>
                    <a:solidFill>
                      <a:srgbClr val="F2F2F2"/>
                    </a:solidFill>
                  </a:tcPr>
                </a:tc>
              </a:tr>
              <a:tr h="457200">
                <a:tc>
                  <a:txBody>
                    <a:bodyPr/>
                    <a:lstStyle/>
                    <a:p>
                      <a:pPr algn="l">
                        <a:defRPr sz="900">
                          <a:solidFill>
                            <a:srgbClr val="333333"/>
                          </a:solidFill>
                          <a:latin typeface="Meiryo UI"/>
                        </a:defRPr>
                      </a:pPr>
                      <a:r>
                        <a:t>最適化領域</a:t>
                      </a:r>
                    </a:p>
                  </a:txBody>
                  <a:tcPr>
                    <a:solidFill>
                      <a:srgbClr val="FFFFFF"/>
                    </a:solidFill>
                  </a:tcPr>
                </a:tc>
                <a:tc>
                  <a:txBody>
                    <a:bodyPr/>
                    <a:lstStyle/>
                    <a:p>
                      <a:pPr algn="l">
                        <a:defRPr sz="900">
                          <a:solidFill>
                            <a:srgbClr val="333333"/>
                          </a:solidFill>
                          <a:latin typeface="Meiryo UI"/>
                        </a:defRPr>
                      </a:pPr>
                      <a:r>
                        <a:t>日本語・業務用語に特化</a:t>
                      </a:r>
                    </a:p>
                  </a:txBody>
                  <a:tcPr>
                    <a:solidFill>
                      <a:srgbClr val="FFFFFF"/>
                    </a:solidFill>
                  </a:tcPr>
                </a:tc>
              </a:tr>
              <a:tr h="457200">
                <a:tc>
                  <a:txBody>
                    <a:bodyPr/>
                    <a:lstStyle/>
                    <a:p>
                      <a:pPr algn="l">
                        <a:defRPr sz="900">
                          <a:solidFill>
                            <a:srgbClr val="333333"/>
                          </a:solidFill>
                          <a:latin typeface="Meiryo UI"/>
                        </a:defRPr>
                      </a:pPr>
                      <a:r>
                        <a:t>メモリ最適化</a:t>
                      </a:r>
                    </a:p>
                  </a:txBody>
                  <a:tcPr>
                    <a:solidFill>
                      <a:srgbClr val="F2F2F2"/>
                    </a:solidFill>
                  </a:tcPr>
                </a:tc>
                <a:tc>
                  <a:txBody>
                    <a:bodyPr/>
                    <a:lstStyle/>
                    <a:p>
                      <a:pPr algn="l">
                        <a:defRPr sz="900">
                          <a:solidFill>
                            <a:srgbClr val="333333"/>
                          </a:solidFill>
                          <a:latin typeface="Meiryo UI"/>
                        </a:defRPr>
                      </a:pPr>
                      <a:r>
                        <a:t>94%削減（量子化技術）</a:t>
                      </a:r>
                    </a:p>
                  </a:txBody>
                  <a:tcPr>
                    <a:solidFill>
                      <a:srgbClr val="F2F2F2"/>
                    </a:solidFill>
                  </a:tcPr>
                </a:tc>
              </a:tr>
              <a:tr h="457200">
                <a:tc>
                  <a:txBody>
                    <a:bodyPr/>
                    <a:lstStyle/>
                    <a:p>
                      <a:pPr algn="l">
                        <a:defRPr sz="900">
                          <a:solidFill>
                            <a:srgbClr val="333333"/>
                          </a:solidFill>
                          <a:latin typeface="Meiryo UI"/>
                        </a:defRPr>
                      </a:pPr>
                      <a:r>
                        <a:t>セキュリティ</a:t>
                      </a:r>
                    </a:p>
                  </a:txBody>
                  <a:tcPr>
                    <a:solidFill>
                      <a:srgbClr val="FFFFFF"/>
                    </a:solidFill>
                  </a:tcPr>
                </a:tc>
                <a:tc>
                  <a:txBody>
                    <a:bodyPr/>
                    <a:lstStyle/>
                    <a:p>
                      <a:pPr algn="l">
                        <a:defRPr sz="900">
                          <a:solidFill>
                            <a:srgbClr val="333333"/>
                          </a:solidFill>
                          <a:latin typeface="Meiryo UI"/>
                        </a:defRPr>
                      </a:pPr>
                      <a:r>
                        <a:t>高セキュリティ設計</a:t>
                      </a:r>
                    </a:p>
                  </a:txBody>
                  <a:tcPr>
                    <a:solidFill>
                      <a:srgbClr val="FFFFFF"/>
                    </a:solidFill>
                  </a:tcPr>
                </a:tc>
              </a:tr>
              <a:tr h="457200">
                <a:tc>
                  <a:txBody>
                    <a:bodyPr/>
                    <a:lstStyle/>
                    <a:p>
                      <a:pPr algn="l">
                        <a:defRPr sz="900">
                          <a:solidFill>
                            <a:srgbClr val="333333"/>
                          </a:solidFill>
                          <a:latin typeface="Meiryo UI"/>
                        </a:defRPr>
                      </a:pPr>
                      <a:r>
                        <a:t>カスタマイズ</a:t>
                      </a:r>
                    </a:p>
                  </a:txBody>
                  <a:tcPr>
                    <a:solidFill>
                      <a:srgbClr val="F2F2F2"/>
                    </a:solidFill>
                  </a:tcPr>
                </a:tc>
                <a:tc>
                  <a:txBody>
                    <a:bodyPr/>
                    <a:lstStyle/>
                    <a:p>
                      <a:pPr algn="l">
                        <a:defRPr sz="900">
                          <a:solidFill>
                            <a:srgbClr val="333333"/>
                          </a:solidFill>
                          <a:latin typeface="Meiryo UI"/>
                        </a:defRPr>
                      </a:pPr>
                      <a:r>
                        <a:t>継続的ファインチューニング対応</a:t>
                      </a:r>
                    </a:p>
                  </a:txBody>
                  <a:tcPr>
                    <a:solidFill>
                      <a:srgbClr val="F2F2F2"/>
                    </a:solidFill>
                  </a:tcPr>
                </a:tc>
              </a:tr>
              <a:tr h="457200">
                <a:tc>
                  <a:txBody>
                    <a:bodyPr/>
                    <a:lstStyle/>
                    <a:p>
                      <a:pPr algn="l">
                        <a:defRPr sz="900">
                          <a:solidFill>
                            <a:srgbClr val="333333"/>
                          </a:solidFill>
                          <a:latin typeface="Meiryo UI"/>
                        </a:defRPr>
                      </a:pPr>
                      <a:r>
                        <a:t>差別化</a:t>
                      </a:r>
                    </a:p>
                  </a:txBody>
                  <a:tcPr>
                    <a:solidFill>
                      <a:srgbClr val="FFFFFF"/>
                    </a:solidFill>
                  </a:tcPr>
                </a:tc>
                <a:tc>
                  <a:txBody>
                    <a:bodyPr/>
                    <a:lstStyle/>
                    <a:p>
                      <a:pPr algn="l">
                        <a:defRPr sz="900">
                          <a:solidFill>
                            <a:srgbClr val="333333"/>
                          </a:solidFill>
                          <a:latin typeface="Meiryo UI"/>
                        </a:defRPr>
                      </a:pPr>
                      <a:r>
                        <a:t>日本企業の基幹システム・現場ニーズ対応</a:t>
                      </a:r>
                    </a:p>
                  </a:txBody>
                  <a:tcPr>
                    <a:solidFill>
                      <a:srgbClr val="FFFFFF"/>
                    </a:solidFill>
                  </a:tcPr>
                </a:tc>
              </a:tr>
            </a:tbl>
          </a:graphicData>
        </a:graphic>
      </p:graphicFrame>
      <p:sp>
        <p:nvSpPr>
          <p:cNvPr id="4" name="TextBox 3"/>
          <p:cNvSpPr txBox="1"/>
          <p:nvPr/>
        </p:nvSpPr>
        <p:spPr>
          <a:xfrm>
            <a:off x="6217920" y="1005840"/>
            <a:ext cx="5486400" cy="365760"/>
          </a:xfrm>
          <a:prstGeom prst="rect">
            <a:avLst/>
          </a:prstGeom>
          <a:noFill/>
        </p:spPr>
        <p:txBody>
          <a:bodyPr wrap="square">
            <a:spAutoFit/>
          </a:bodyPr>
          <a:lstStyle/>
          <a:p>
            <a:pPr algn="l">
              <a:defRPr sz="1400" b="1">
                <a:solidFill>
                  <a:srgbClr val="003366"/>
                </a:solidFill>
                <a:latin typeface="Meiryo UI"/>
              </a:defRPr>
            </a:pPr>
            <a:r>
              <a:t>■ 他社LLMとの比較</a:t>
            </a:r>
          </a:p>
        </p:txBody>
      </p:sp>
      <p:graphicFrame>
        <p:nvGraphicFramePr>
          <p:cNvPr id="5" name="Table 4"/>
          <p:cNvGraphicFramePr>
            <a:graphicFrameLocks noGrp="1"/>
          </p:cNvGraphicFramePr>
          <p:nvPr/>
        </p:nvGraphicFramePr>
        <p:xfrm>
          <a:off x="6217920" y="1554480"/>
          <a:ext cx="5486400" cy="2743200"/>
        </p:xfrm>
        <a:graphic>
          <a:graphicData uri="http://schemas.openxmlformats.org/drawingml/2006/table">
            <a:tbl>
              <a:tblPr firstRow="1" bandRow="1">
                <a:tableStyleId>{5C22544A-7EE6-4342-B048-85BDC9FD1C3A}</a:tableStyleId>
              </a:tblPr>
              <a:tblGrid>
                <a:gridCol w="1097280"/>
                <a:gridCol w="1371600"/>
                <a:gridCol w="3017520"/>
              </a:tblGrid>
              <a:tr h="548640">
                <a:tc>
                  <a:txBody>
                    <a:bodyPr/>
                    <a:lstStyle/>
                    <a:p>
                      <a:pPr algn="ctr">
                        <a:defRPr sz="1000" b="1">
                          <a:solidFill>
                            <a:srgbClr val="FFFFFF"/>
                          </a:solidFill>
                          <a:latin typeface="Meiryo UI"/>
                        </a:defRPr>
                      </a:pPr>
                      <a:r>
                        <a:t>企業</a:t>
                      </a:r>
                    </a:p>
                  </a:txBody>
                  <a:tcPr>
                    <a:solidFill>
                      <a:srgbClr val="003366"/>
                    </a:solidFill>
                  </a:tcPr>
                </a:tc>
                <a:tc>
                  <a:txBody>
                    <a:bodyPr/>
                    <a:lstStyle/>
                    <a:p>
                      <a:pPr algn="ctr">
                        <a:defRPr sz="1000" b="1">
                          <a:solidFill>
                            <a:srgbClr val="FFFFFF"/>
                          </a:solidFill>
                          <a:latin typeface="Meiryo UI"/>
                        </a:defRPr>
                      </a:pPr>
                      <a:r>
                        <a:t>LLM名</a:t>
                      </a:r>
                    </a:p>
                  </a:txBody>
                  <a:tcPr>
                    <a:solidFill>
                      <a:srgbClr val="003366"/>
                    </a:solidFill>
                  </a:tcPr>
                </a:tc>
                <a:tc>
                  <a:txBody>
                    <a:bodyPr/>
                    <a:lstStyle/>
                    <a:p>
                      <a:pPr algn="ctr">
                        <a:defRPr sz="1000" b="1">
                          <a:solidFill>
                            <a:srgbClr val="FFFFFF"/>
                          </a:solidFill>
                          <a:latin typeface="Meiryo UI"/>
                        </a:defRPr>
                      </a:pPr>
                      <a:r>
                        <a:t>特徴</a:t>
                      </a:r>
                    </a:p>
                  </a:txBody>
                  <a:tcPr>
                    <a:solidFill>
                      <a:srgbClr val="003366"/>
                    </a:solidFill>
                  </a:tcPr>
                </a:tc>
              </a:tr>
              <a:tr h="548640">
                <a:tc>
                  <a:txBody>
                    <a:bodyPr/>
                    <a:lstStyle/>
                    <a:p>
                      <a:pPr algn="l">
                        <a:defRPr sz="900">
                          <a:solidFill>
                            <a:srgbClr val="333333"/>
                          </a:solidFill>
                          <a:latin typeface="Meiryo UI"/>
                        </a:defRPr>
                      </a:pPr>
                      <a:r>
                        <a:t>富士通</a:t>
                      </a:r>
                    </a:p>
                  </a:txBody>
                  <a:tcPr>
                    <a:solidFill>
                      <a:srgbClr val="F2F2F2"/>
                    </a:solidFill>
                  </a:tcPr>
                </a:tc>
                <a:tc>
                  <a:txBody>
                    <a:bodyPr/>
                    <a:lstStyle/>
                    <a:p>
                      <a:pPr algn="l">
                        <a:defRPr sz="900">
                          <a:solidFill>
                            <a:srgbClr val="333333"/>
                          </a:solidFill>
                          <a:latin typeface="Meiryo UI"/>
                        </a:defRPr>
                      </a:pPr>
                      <a:r>
                        <a:t>Takane</a:t>
                      </a:r>
                    </a:p>
                  </a:txBody>
                  <a:tcPr>
                    <a:solidFill>
                      <a:srgbClr val="F2F2F2"/>
                    </a:solidFill>
                  </a:tcPr>
                </a:tc>
                <a:tc>
                  <a:txBody>
                    <a:bodyPr/>
                    <a:lstStyle/>
                    <a:p>
                      <a:pPr algn="l">
                        <a:defRPr sz="900">
                          <a:solidFill>
                            <a:srgbClr val="333333"/>
                          </a:solidFill>
                          <a:latin typeface="Meiryo UI"/>
                        </a:defRPr>
                      </a:pPr>
                      <a:r>
                        <a:t>日本語業務特化、メモリ94%削減</a:t>
                      </a:r>
                    </a:p>
                  </a:txBody>
                  <a:tcPr>
                    <a:solidFill>
                      <a:srgbClr val="F2F2F2"/>
                    </a:solidFill>
                  </a:tcPr>
                </a:tc>
              </a:tr>
              <a:tr h="548640">
                <a:tc>
                  <a:txBody>
                    <a:bodyPr/>
                    <a:lstStyle/>
                    <a:p>
                      <a:pPr algn="l">
                        <a:defRPr sz="900">
                          <a:solidFill>
                            <a:srgbClr val="333333"/>
                          </a:solidFill>
                          <a:latin typeface="Meiryo UI"/>
                        </a:defRPr>
                      </a:pPr>
                      <a:r>
                        <a:t>NEC</a:t>
                      </a:r>
                    </a:p>
                  </a:txBody>
                  <a:tcPr>
                    <a:solidFill>
                      <a:srgbClr val="FFFFFF"/>
                    </a:solidFill>
                  </a:tcPr>
                </a:tc>
                <a:tc>
                  <a:txBody>
                    <a:bodyPr/>
                    <a:lstStyle/>
                    <a:p>
                      <a:pPr algn="l">
                        <a:defRPr sz="900">
                          <a:solidFill>
                            <a:srgbClr val="333333"/>
                          </a:solidFill>
                          <a:latin typeface="Meiryo UI"/>
                        </a:defRPr>
                      </a:pPr>
                      <a:r>
                        <a:t>cotomi</a:t>
                      </a:r>
                    </a:p>
                  </a:txBody>
                  <a:tcPr>
                    <a:solidFill>
                      <a:srgbClr val="FFFFFF"/>
                    </a:solidFill>
                  </a:tcPr>
                </a:tc>
                <a:tc>
                  <a:txBody>
                    <a:bodyPr/>
                    <a:lstStyle/>
                    <a:p>
                      <a:pPr algn="l">
                        <a:defRPr sz="900">
                          <a:solidFill>
                            <a:srgbClr val="333333"/>
                          </a:solidFill>
                          <a:latin typeface="Meiryo UI"/>
                        </a:defRPr>
                      </a:pPr>
                      <a:r>
                        <a:t>日本語特化、暗黙知学習</a:t>
                      </a:r>
                    </a:p>
                  </a:txBody>
                  <a:tcPr>
                    <a:solidFill>
                      <a:srgbClr val="FFFFFF"/>
                    </a:solidFill>
                  </a:tcPr>
                </a:tc>
              </a:tr>
              <a:tr h="548640">
                <a:tc>
                  <a:txBody>
                    <a:bodyPr/>
                    <a:lstStyle/>
                    <a:p>
                      <a:pPr algn="l">
                        <a:defRPr sz="900">
                          <a:solidFill>
                            <a:srgbClr val="333333"/>
                          </a:solidFill>
                          <a:latin typeface="Meiryo UI"/>
                        </a:defRPr>
                      </a:pPr>
                      <a:r>
                        <a:t>日立</a:t>
                      </a:r>
                    </a:p>
                  </a:txBody>
                  <a:tcPr>
                    <a:solidFill>
                      <a:srgbClr val="F2F2F2"/>
                    </a:solidFill>
                  </a:tcPr>
                </a:tc>
                <a:tc>
                  <a:txBody>
                    <a:bodyPr/>
                    <a:lstStyle/>
                    <a:p>
                      <a:pPr algn="l">
                        <a:defRPr sz="900">
                          <a:solidFill>
                            <a:srgbClr val="333333"/>
                          </a:solidFill>
                          <a:latin typeface="Meiryo UI"/>
                        </a:defRPr>
                      </a:pPr>
                      <a:r>
                        <a:t>（他社LLM活用）</a:t>
                      </a:r>
                    </a:p>
                  </a:txBody>
                  <a:tcPr>
                    <a:solidFill>
                      <a:srgbClr val="F2F2F2"/>
                    </a:solidFill>
                  </a:tcPr>
                </a:tc>
                <a:tc>
                  <a:txBody>
                    <a:bodyPr/>
                    <a:lstStyle/>
                    <a:p>
                      <a:pPr algn="l">
                        <a:defRPr sz="900">
                          <a:solidFill>
                            <a:srgbClr val="333333"/>
                          </a:solidFill>
                          <a:latin typeface="Meiryo UI"/>
                        </a:defRPr>
                      </a:pPr>
                      <a:r>
                        <a:t>OpenAI/Google連携</a:t>
                      </a:r>
                    </a:p>
                  </a:txBody>
                  <a:tcPr>
                    <a:solidFill>
                      <a:srgbClr val="F2F2F2"/>
                    </a:solidFill>
                  </a:tcPr>
                </a:tc>
              </a:tr>
              <a:tr h="548640">
                <a:tc>
                  <a:txBody>
                    <a:bodyPr/>
                    <a:lstStyle/>
                    <a:p>
                      <a:pPr algn="l">
                        <a:defRPr sz="900">
                          <a:solidFill>
                            <a:srgbClr val="333333"/>
                          </a:solidFill>
                          <a:latin typeface="Meiryo UI"/>
                        </a:defRPr>
                      </a:pPr>
                      <a:r>
                        <a:t>NTT</a:t>
                      </a:r>
                    </a:p>
                  </a:txBody>
                  <a:tcPr>
                    <a:solidFill>
                      <a:srgbClr val="FFFFFF"/>
                    </a:solidFill>
                  </a:tcPr>
                </a:tc>
                <a:tc>
                  <a:txBody>
                    <a:bodyPr/>
                    <a:lstStyle/>
                    <a:p>
                      <a:pPr algn="l">
                        <a:defRPr sz="900">
                          <a:solidFill>
                            <a:srgbClr val="333333"/>
                          </a:solidFill>
                          <a:latin typeface="Meiryo UI"/>
                        </a:defRPr>
                      </a:pPr>
                      <a:r>
                        <a:t>tsuzumi 2</a:t>
                      </a:r>
                    </a:p>
                  </a:txBody>
                  <a:tcPr>
                    <a:solidFill>
                      <a:srgbClr val="FFFFFF"/>
                    </a:solidFill>
                  </a:tcPr>
                </a:tc>
                <a:tc>
                  <a:txBody>
                    <a:bodyPr/>
                    <a:lstStyle/>
                    <a:p>
                      <a:pPr algn="l">
                        <a:defRPr sz="900">
                          <a:solidFill>
                            <a:srgbClr val="333333"/>
                          </a:solidFill>
                          <a:latin typeface="Meiryo UI"/>
                        </a:defRPr>
                      </a:pPr>
                      <a:r>
                        <a:t>1GPU推論、省エネ設計</a:t>
                      </a:r>
                    </a:p>
                  </a:txBody>
                  <a:tcPr>
                    <a:solidFill>
                      <a:srgbClr val="FFFFFF"/>
                    </a:solidFill>
                  </a:tcPr>
                </a:tc>
              </a:tr>
            </a:tbl>
          </a:graphicData>
        </a:graphic>
      </p:graphicFrame>
      <p:sp>
        <p:nvSpPr>
          <p:cNvPr id="6" name="TextBox 5"/>
          <p:cNvSpPr txBox="1"/>
          <p:nvPr/>
        </p:nvSpPr>
        <p:spPr>
          <a:xfrm>
            <a:off x="457200" y="4754880"/>
            <a:ext cx="11430000" cy="1371600"/>
          </a:xfrm>
          <a:prstGeom prst="rect">
            <a:avLst/>
          </a:prstGeom>
          <a:noFill/>
        </p:spPr>
        <p:txBody>
          <a:bodyPr wrap="square">
            <a:spAutoFit/>
          </a:bodyPr>
          <a:lstStyle/>
          <a:p>
            <a:pPr algn="l">
              <a:spcBef>
                <a:spcPts val="400"/>
              </a:spcBef>
              <a:spcAft>
                <a:spcPts val="200"/>
              </a:spcAft>
              <a:defRPr sz="1200" b="1">
                <a:solidFill>
                  <a:srgbClr val="C0392B"/>
                </a:solidFill>
                <a:latin typeface="Meiryo UI"/>
              </a:defRPr>
            </a:pPr>
            <a:r>
              <a:t>★ 富士通 Takane の強み：Cohere Command R+ベースの高い基礎性能 ＋ 日本語・業務用語最適化 ＋ 94%メモリ削減による低コスト運用</a:t>
            </a:r>
          </a:p>
          <a:p>
            <a:pPr algn="l">
              <a:spcBef>
                <a:spcPts val="400"/>
              </a:spcBef>
              <a:spcAft>
                <a:spcPts val="200"/>
              </a:spcAft>
              <a:defRPr sz="1000" b="0">
                <a:solidFill>
                  <a:srgbClr val="0078D4"/>
                </a:solidFill>
                <a:latin typeface="Meiryo UI"/>
              </a:defRPr>
            </a:pPr>
            <a:r>
              <a:t>→ OpenAI / Google 等のクラウドLLMと比較し、「日本企業の基幹システム・レガシー刷新・現場ニーズ」に合わせたカスタム性が最大の差別化要素です</a:t>
            </a:r>
          </a:p>
        </p:txBody>
      </p:sp>
      <p:cxnSp>
        <p:nvCxnSpPr>
          <p:cNvPr id="7" name="Connector 6"/>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NEC の生成AI取り組み</a:t>
            </a:r>
          </a:p>
        </p:txBody>
      </p:sp>
      <p:sp>
        <p:nvSpPr>
          <p:cNvPr id="3" name="Rounded Rectangle 2"/>
          <p:cNvSpPr/>
          <p:nvPr/>
        </p:nvSpPr>
        <p:spPr>
          <a:xfrm>
            <a:off x="274320" y="1097280"/>
            <a:ext cx="3657600" cy="27432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12344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5" name="TextBox 4"/>
          <p:cNvSpPr txBox="1"/>
          <p:nvPr/>
        </p:nvSpPr>
        <p:spPr>
          <a:xfrm>
            <a:off x="41148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cotomi（LLM）</a:t>
            </a:r>
          </a:p>
          <a:p>
            <a:pPr>
              <a:spcBef>
                <a:spcPts val="200"/>
              </a:spcBef>
              <a:spcAft>
                <a:spcPts val="100"/>
              </a:spcAft>
              <a:defRPr sz="900">
                <a:solidFill>
                  <a:srgbClr val="333333"/>
                </a:solidFill>
                <a:latin typeface="Meiryo UI"/>
              </a:defRPr>
            </a:pPr>
            <a:r>
              <a:t>• 高精度な日本語処理能力を持つ国産LLMです</a:t>
            </a:r>
          </a:p>
          <a:p>
            <a:pPr>
              <a:spcBef>
                <a:spcPts val="200"/>
              </a:spcBef>
              <a:spcAft>
                <a:spcPts val="100"/>
              </a:spcAft>
              <a:defRPr sz="900">
                <a:solidFill>
                  <a:srgbClr val="333333"/>
                </a:solidFill>
                <a:latin typeface="Meiryo UI"/>
              </a:defRPr>
            </a:pPr>
            <a:r>
              <a:t>• RAG・ファインチューニングで業務特化が可能です</a:t>
            </a:r>
          </a:p>
          <a:p>
            <a:pPr>
              <a:spcBef>
                <a:spcPts val="200"/>
              </a:spcBef>
              <a:spcAft>
                <a:spcPts val="100"/>
              </a:spcAft>
              <a:defRPr sz="900">
                <a:solidFill>
                  <a:srgbClr val="333333"/>
                </a:solidFill>
                <a:latin typeface="Meiryo UI"/>
              </a:defRPr>
            </a:pPr>
            <a:r>
              <a:t>• セキュアなクローズド環境での運用に対応しています</a:t>
            </a:r>
          </a:p>
        </p:txBody>
      </p:sp>
      <p:sp>
        <p:nvSpPr>
          <p:cNvPr id="6" name="Rounded Rectangle 5"/>
          <p:cNvSpPr/>
          <p:nvPr/>
        </p:nvSpPr>
        <p:spPr>
          <a:xfrm>
            <a:off x="4206240" y="1097280"/>
            <a:ext cx="3657600" cy="27432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43400" y="1234440"/>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8" name="TextBox 7"/>
          <p:cNvSpPr txBox="1"/>
          <p:nvPr/>
        </p:nvSpPr>
        <p:spPr>
          <a:xfrm>
            <a:off x="434340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cotomi Act（エージェント）</a:t>
            </a:r>
          </a:p>
          <a:p>
            <a:pPr>
              <a:spcBef>
                <a:spcPts val="200"/>
              </a:spcBef>
              <a:spcAft>
                <a:spcPts val="100"/>
              </a:spcAft>
              <a:defRPr sz="900">
                <a:solidFill>
                  <a:srgbClr val="333333"/>
                </a:solidFill>
                <a:latin typeface="Meiryo UI"/>
              </a:defRPr>
            </a:pPr>
            <a:r>
              <a:t>• Webブラウザ操作の暗黙知を学習・自動化します</a:t>
            </a:r>
          </a:p>
          <a:p>
            <a:pPr>
              <a:spcBef>
                <a:spcPts val="200"/>
              </a:spcBef>
              <a:spcAft>
                <a:spcPts val="100"/>
              </a:spcAft>
              <a:defRPr sz="900">
                <a:solidFill>
                  <a:srgbClr val="333333"/>
                </a:solidFill>
                <a:latin typeface="Meiryo UI"/>
              </a:defRPr>
            </a:pPr>
            <a:r>
              <a:t>• WebArena ベンチマークで80.4%を達成しました</a:t>
            </a:r>
          </a:p>
          <a:p>
            <a:pPr>
              <a:spcBef>
                <a:spcPts val="200"/>
              </a:spcBef>
              <a:spcAft>
                <a:spcPts val="100"/>
              </a:spcAft>
              <a:defRPr sz="900">
                <a:solidFill>
                  <a:srgbClr val="333333"/>
                </a:solidFill>
                <a:latin typeface="Meiryo UI"/>
              </a:defRPr>
            </a:pPr>
            <a:r>
              <a:t>• 2026年度中にサービス提供を予定しています</a:t>
            </a:r>
          </a:p>
        </p:txBody>
      </p:sp>
      <p:sp>
        <p:nvSpPr>
          <p:cNvPr id="9" name="Rounded Rectangle 8"/>
          <p:cNvSpPr/>
          <p:nvPr/>
        </p:nvSpPr>
        <p:spPr>
          <a:xfrm>
            <a:off x="8138160" y="1097280"/>
            <a:ext cx="3657600" cy="2743200"/>
          </a:xfrm>
          <a:prstGeom prst="roundRect">
            <a:avLst/>
          </a:prstGeom>
          <a:solidFill>
            <a:srgbClr val="FCE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75320" y="1234440"/>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11" name="TextBox 10"/>
          <p:cNvSpPr txBox="1"/>
          <p:nvPr/>
        </p:nvSpPr>
        <p:spPr>
          <a:xfrm>
            <a:off x="827532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AIガバナンス</a:t>
            </a:r>
          </a:p>
          <a:p>
            <a:pPr>
              <a:spcBef>
                <a:spcPts val="200"/>
              </a:spcBef>
              <a:spcAft>
                <a:spcPts val="100"/>
              </a:spcAft>
              <a:defRPr sz="900">
                <a:solidFill>
                  <a:srgbClr val="333333"/>
                </a:solidFill>
                <a:latin typeface="Meiryo UI"/>
              </a:defRPr>
            </a:pPr>
            <a:r>
              <a:t>• ハルシネーション対策技術を開発しています</a:t>
            </a:r>
          </a:p>
          <a:p>
            <a:pPr>
              <a:spcBef>
                <a:spcPts val="200"/>
              </a:spcBef>
              <a:spcAft>
                <a:spcPts val="100"/>
              </a:spcAft>
              <a:defRPr sz="900">
                <a:solidFill>
                  <a:srgbClr val="333333"/>
                </a:solidFill>
                <a:latin typeface="Meiryo UI"/>
              </a:defRPr>
            </a:pPr>
            <a:r>
              <a:t>• Google Cloud・Cisco との協業を展開しています</a:t>
            </a:r>
          </a:p>
          <a:p>
            <a:pPr>
              <a:spcBef>
                <a:spcPts val="200"/>
              </a:spcBef>
              <a:spcAft>
                <a:spcPts val="100"/>
              </a:spcAft>
              <a:defRPr sz="900">
                <a:solidFill>
                  <a:srgbClr val="333333"/>
                </a:solidFill>
                <a:latin typeface="Meiryo UI"/>
              </a:defRPr>
            </a:pPr>
            <a:r>
              <a:t>• 情報漏洩対策・権限管理を提供しています</a:t>
            </a:r>
          </a:p>
        </p:txBody>
      </p:sp>
      <p:sp>
        <p:nvSpPr>
          <p:cNvPr id="12" name="TextBox 11"/>
          <p:cNvSpPr txBox="1"/>
          <p:nvPr/>
        </p:nvSpPr>
        <p:spPr>
          <a:xfrm>
            <a:off x="274320" y="4206240"/>
            <a:ext cx="5486400" cy="365760"/>
          </a:xfrm>
          <a:prstGeom prst="rect">
            <a:avLst/>
          </a:prstGeom>
          <a:noFill/>
        </p:spPr>
        <p:txBody>
          <a:bodyPr wrap="square">
            <a:spAutoFit/>
          </a:bodyPr>
          <a:lstStyle/>
          <a:p>
            <a:pPr algn="l">
              <a:defRPr sz="1400" b="1">
                <a:solidFill>
                  <a:srgbClr val="003366"/>
                </a:solidFill>
                <a:latin typeface="Meiryo UI"/>
              </a:defRPr>
            </a:pPr>
            <a:r>
              <a:t>■ 主な導入事例</a:t>
            </a:r>
          </a:p>
        </p:txBody>
      </p:sp>
      <p:graphicFrame>
        <p:nvGraphicFramePr>
          <p:cNvPr id="13" name="Table 12"/>
          <p:cNvGraphicFramePr>
            <a:graphicFrameLocks noGrp="1"/>
          </p:cNvGraphicFramePr>
          <p:nvPr/>
        </p:nvGraphicFramePr>
        <p:xfrm>
          <a:off x="274320" y="4663440"/>
          <a:ext cx="5486400" cy="1463040"/>
        </p:xfrm>
        <a:graphic>
          <a:graphicData uri="http://schemas.openxmlformats.org/drawingml/2006/table">
            <a:tbl>
              <a:tblPr firstRow="1" bandRow="1">
                <a:tableStyleId>{5C22544A-7EE6-4342-B048-85BDC9FD1C3A}</a:tableStyleId>
              </a:tblPr>
              <a:tblGrid>
                <a:gridCol w="914400"/>
                <a:gridCol w="1828800"/>
                <a:gridCol w="2743200"/>
              </a:tblGrid>
              <a:tr h="365760">
                <a:tc>
                  <a:txBody>
                    <a:bodyPr/>
                    <a:lstStyle/>
                    <a:p>
                      <a:pPr algn="ctr">
                        <a:defRPr sz="1000" b="1">
                          <a:solidFill>
                            <a:srgbClr val="FFFFFF"/>
                          </a:solidFill>
                          <a:latin typeface="Meiryo UI"/>
                        </a:defRPr>
                      </a:pPr>
                      <a:r>
                        <a:t>分野</a:t>
                      </a:r>
                    </a:p>
                  </a:txBody>
                  <a:tcPr>
                    <a:solidFill>
                      <a:srgbClr val="003366"/>
                    </a:solidFill>
                  </a:tcPr>
                </a:tc>
                <a:tc>
                  <a:txBody>
                    <a:bodyPr/>
                    <a:lstStyle/>
                    <a:p>
                      <a:pPr algn="ctr">
                        <a:defRPr sz="1000" b="1">
                          <a:solidFill>
                            <a:srgbClr val="FFFFFF"/>
                          </a:solidFill>
                          <a:latin typeface="Meiryo UI"/>
                        </a:defRPr>
                      </a:pPr>
                      <a:r>
                        <a:t>導入先</a:t>
                      </a:r>
                    </a:p>
                  </a:txBody>
                  <a:tcPr>
                    <a:solidFill>
                      <a:srgbClr val="003366"/>
                    </a:solidFill>
                  </a:tcPr>
                </a:tc>
                <a:tc>
                  <a:txBody>
                    <a:bodyPr/>
                    <a:lstStyle/>
                    <a:p>
                      <a:pPr algn="ctr">
                        <a:defRPr sz="1000" b="1">
                          <a:solidFill>
                            <a:srgbClr val="FFFFFF"/>
                          </a:solidFill>
                          <a:latin typeface="Meiryo UI"/>
                        </a:defRPr>
                      </a:pPr>
                      <a:r>
                        <a:t>活用内容</a:t>
                      </a:r>
                    </a:p>
                  </a:txBody>
                  <a:tcPr>
                    <a:solidFill>
                      <a:srgbClr val="003366"/>
                    </a:solidFill>
                  </a:tcPr>
                </a:tc>
              </a:tr>
              <a:tr h="365760">
                <a:tc>
                  <a:txBody>
                    <a:bodyPr/>
                    <a:lstStyle/>
                    <a:p>
                      <a:pPr algn="l">
                        <a:defRPr sz="900">
                          <a:solidFill>
                            <a:srgbClr val="333333"/>
                          </a:solidFill>
                          <a:latin typeface="Meiryo UI"/>
                        </a:defRPr>
                      </a:pPr>
                      <a:r>
                        <a:t>行政</a:t>
                      </a:r>
                    </a:p>
                  </a:txBody>
                  <a:tcPr>
                    <a:solidFill>
                      <a:srgbClr val="F2F2F2"/>
                    </a:solidFill>
                  </a:tcPr>
                </a:tc>
                <a:tc>
                  <a:txBody>
                    <a:bodyPr/>
                    <a:lstStyle/>
                    <a:p>
                      <a:pPr algn="l">
                        <a:defRPr sz="900">
                          <a:solidFill>
                            <a:srgbClr val="333333"/>
                          </a:solidFill>
                          <a:latin typeface="Meiryo UI"/>
                        </a:defRPr>
                      </a:pPr>
                      <a:r>
                        <a:t>北九州市</a:t>
                      </a:r>
                    </a:p>
                  </a:txBody>
                  <a:tcPr>
                    <a:solidFill>
                      <a:srgbClr val="F2F2F2"/>
                    </a:solidFill>
                  </a:tcPr>
                </a:tc>
                <a:tc>
                  <a:txBody>
                    <a:bodyPr/>
                    <a:lstStyle/>
                    <a:p>
                      <a:pPr algn="l">
                        <a:defRPr sz="900">
                          <a:solidFill>
                            <a:srgbClr val="333333"/>
                          </a:solidFill>
                          <a:latin typeface="Meiryo UI"/>
                        </a:defRPr>
                      </a:pPr>
                      <a:r>
                        <a:t>AI会計室による問い合わせ自動化</a:t>
                      </a:r>
                    </a:p>
                  </a:txBody>
                  <a:tcPr>
                    <a:solidFill>
                      <a:srgbClr val="F2F2F2"/>
                    </a:solidFill>
                  </a:tcPr>
                </a:tc>
              </a:tr>
              <a:tr h="365760">
                <a:tc>
                  <a:txBody>
                    <a:bodyPr/>
                    <a:lstStyle/>
                    <a:p>
                      <a:pPr algn="l">
                        <a:defRPr sz="900">
                          <a:solidFill>
                            <a:srgbClr val="333333"/>
                          </a:solidFill>
                          <a:latin typeface="Meiryo UI"/>
                        </a:defRPr>
                      </a:pPr>
                      <a:r>
                        <a:t>行政</a:t>
                      </a:r>
                    </a:p>
                  </a:txBody>
                  <a:tcPr>
                    <a:solidFill>
                      <a:srgbClr val="FFFFFF"/>
                    </a:solidFill>
                  </a:tcPr>
                </a:tc>
                <a:tc>
                  <a:txBody>
                    <a:bodyPr/>
                    <a:lstStyle/>
                    <a:p>
                      <a:pPr algn="l">
                        <a:defRPr sz="900">
                          <a:solidFill>
                            <a:srgbClr val="333333"/>
                          </a:solidFill>
                          <a:latin typeface="Meiryo UI"/>
                        </a:defRPr>
                      </a:pPr>
                      <a:r>
                        <a:t>相模原市・盛岡市</a:t>
                      </a:r>
                    </a:p>
                  </a:txBody>
                  <a:tcPr>
                    <a:solidFill>
                      <a:srgbClr val="FFFFFF"/>
                    </a:solidFill>
                  </a:tcPr>
                </a:tc>
                <a:tc>
                  <a:txBody>
                    <a:bodyPr/>
                    <a:lstStyle/>
                    <a:p>
                      <a:pPr algn="l">
                        <a:defRPr sz="900">
                          <a:solidFill>
                            <a:srgbClr val="333333"/>
                          </a:solidFill>
                          <a:latin typeface="Meiryo UI"/>
                        </a:defRPr>
                      </a:pPr>
                      <a:r>
                        <a:t>議会答弁資料作成支援</a:t>
                      </a:r>
                    </a:p>
                  </a:txBody>
                  <a:tcPr>
                    <a:solidFill>
                      <a:srgbClr val="FFFFFF"/>
                    </a:solidFill>
                  </a:tcPr>
                </a:tc>
              </a:tr>
              <a:tr h="365760">
                <a:tc>
                  <a:txBody>
                    <a:bodyPr/>
                    <a:lstStyle/>
                    <a:p>
                      <a:pPr algn="l">
                        <a:defRPr sz="900">
                          <a:solidFill>
                            <a:srgbClr val="333333"/>
                          </a:solidFill>
                          <a:latin typeface="Meiryo UI"/>
                        </a:defRPr>
                      </a:pPr>
                      <a:r>
                        <a:t>医療</a:t>
                      </a:r>
                    </a:p>
                  </a:txBody>
                  <a:tcPr>
                    <a:solidFill>
                      <a:srgbClr val="F2F2F2"/>
                    </a:solidFill>
                  </a:tcPr>
                </a:tc>
                <a:tc>
                  <a:txBody>
                    <a:bodyPr/>
                    <a:lstStyle/>
                    <a:p>
                      <a:pPr algn="l">
                        <a:defRPr sz="900">
                          <a:solidFill>
                            <a:srgbClr val="333333"/>
                          </a:solidFill>
                          <a:latin typeface="Meiryo UI"/>
                        </a:defRPr>
                      </a:pPr>
                      <a:r>
                        <a:t>病院</a:t>
                      </a:r>
                    </a:p>
                  </a:txBody>
                  <a:tcPr>
                    <a:solidFill>
                      <a:srgbClr val="F2F2F2"/>
                    </a:solidFill>
                  </a:tcPr>
                </a:tc>
                <a:tc>
                  <a:txBody>
                    <a:bodyPr/>
                    <a:lstStyle/>
                    <a:p>
                      <a:pPr algn="l">
                        <a:defRPr sz="900">
                          <a:solidFill>
                            <a:srgbClr val="333333"/>
                          </a:solidFill>
                          <a:latin typeface="Meiryo UI"/>
                        </a:defRPr>
                      </a:pPr>
                      <a:r>
                        <a:t>退院サマリー自動生成</a:t>
                      </a:r>
                    </a:p>
                  </a:txBody>
                  <a:tcPr>
                    <a:solidFill>
                      <a:srgbClr val="F2F2F2"/>
                    </a:solidFill>
                  </a:tcPr>
                </a:tc>
              </a:tr>
            </a:tbl>
          </a:graphicData>
        </a:graphic>
      </p:graphicFrame>
      <p:sp>
        <p:nvSpPr>
          <p:cNvPr id="14" name="TextBox 13"/>
          <p:cNvSpPr txBox="1"/>
          <p:nvPr/>
        </p:nvSpPr>
        <p:spPr>
          <a:xfrm>
            <a:off x="6217920" y="4206240"/>
            <a:ext cx="5486400" cy="365760"/>
          </a:xfrm>
          <a:prstGeom prst="rect">
            <a:avLst/>
          </a:prstGeom>
          <a:noFill/>
        </p:spPr>
        <p:txBody>
          <a:bodyPr wrap="square">
            <a:spAutoFit/>
          </a:bodyPr>
          <a:lstStyle/>
          <a:p>
            <a:pPr algn="l">
              <a:defRPr sz="1400" b="1">
                <a:solidFill>
                  <a:srgbClr val="003366"/>
                </a:solidFill>
                <a:latin typeface="Meiryo UI"/>
              </a:defRPr>
            </a:pPr>
            <a:r>
              <a:t>■ 注目ポイント</a:t>
            </a:r>
          </a:p>
        </p:txBody>
      </p:sp>
      <p:sp>
        <p:nvSpPr>
          <p:cNvPr id="15" name="TextBox 14"/>
          <p:cNvSpPr txBox="1"/>
          <p:nvPr/>
        </p:nvSpPr>
        <p:spPr>
          <a:xfrm>
            <a:off x="6400800" y="4663440"/>
            <a:ext cx="5303520" cy="164592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PLM「Obbligato AI」で製造・設計分野にも展開しています</a:t>
            </a:r>
          </a:p>
          <a:p>
            <a:pPr algn="l">
              <a:spcBef>
                <a:spcPts val="400"/>
              </a:spcBef>
              <a:spcAft>
                <a:spcPts val="200"/>
              </a:spcAft>
              <a:defRPr sz="1000" b="0">
                <a:solidFill>
                  <a:srgbClr val="333333"/>
                </a:solidFill>
                <a:latin typeface="Meiryo UI"/>
              </a:defRPr>
            </a:pPr>
            <a:r>
              <a:t>• 「クライアントゼロ」戦略で自社DXを先行実践しています</a:t>
            </a:r>
          </a:p>
          <a:p>
            <a:pPr algn="l">
              <a:spcBef>
                <a:spcPts val="400"/>
              </a:spcBef>
              <a:spcAft>
                <a:spcPts val="200"/>
              </a:spcAft>
              <a:defRPr sz="1000" b="0">
                <a:solidFill>
                  <a:srgbClr val="333333"/>
                </a:solidFill>
                <a:latin typeface="Meiryo UI"/>
              </a:defRPr>
            </a:pPr>
            <a:r>
              <a:t>• GENIACプロジェクトで国産AI開発力強化に貢献しています</a:t>
            </a:r>
          </a:p>
          <a:p>
            <a:pPr algn="l">
              <a:spcBef>
                <a:spcPts val="400"/>
              </a:spcBef>
              <a:spcAft>
                <a:spcPts val="200"/>
              </a:spcAft>
              <a:defRPr sz="1000" b="1">
                <a:solidFill>
                  <a:srgbClr val="C0392B"/>
                </a:solidFill>
                <a:latin typeface="Meiryo UI"/>
              </a:defRPr>
            </a:pPr>
            <a:r>
              <a:t>★ 公共・医療分野での導入実績が豊富です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日立製作所の生成AI取り組み</a:t>
            </a:r>
          </a:p>
        </p:txBody>
      </p:sp>
      <p:sp>
        <p:nvSpPr>
          <p:cNvPr id="3" name="Rounded Rectangle 2"/>
          <p:cNvSpPr/>
          <p:nvPr/>
        </p:nvSpPr>
        <p:spPr>
          <a:xfrm>
            <a:off x="274320" y="1097280"/>
            <a:ext cx="3657600" cy="27432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12344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5" name="TextBox 4"/>
          <p:cNvSpPr txBox="1"/>
          <p:nvPr/>
        </p:nvSpPr>
        <p:spPr>
          <a:xfrm>
            <a:off x="41148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Lumada 3.0</a:t>
            </a:r>
          </a:p>
          <a:p>
            <a:pPr>
              <a:spcBef>
                <a:spcPts val="200"/>
              </a:spcBef>
              <a:spcAft>
                <a:spcPts val="100"/>
              </a:spcAft>
              <a:defRPr sz="900">
                <a:solidFill>
                  <a:srgbClr val="333333"/>
                </a:solidFill>
                <a:latin typeface="Meiryo UI"/>
              </a:defRPr>
            </a:pPr>
            <a:r>
              <a:t>• AI主導で社会インフラ変革を目指しています</a:t>
            </a:r>
          </a:p>
          <a:p>
            <a:pPr>
              <a:spcBef>
                <a:spcPts val="200"/>
              </a:spcBef>
              <a:spcAft>
                <a:spcPts val="100"/>
              </a:spcAft>
              <a:defRPr sz="900">
                <a:solidFill>
                  <a:srgbClr val="333333"/>
                </a:solidFill>
                <a:latin typeface="Meiryo UI"/>
              </a:defRPr>
            </a:pPr>
            <a:r>
              <a:t>• 2025年度売上4兆円突破見込みです</a:t>
            </a:r>
          </a:p>
          <a:p>
            <a:pPr>
              <a:spcBef>
                <a:spcPts val="200"/>
              </a:spcBef>
              <a:spcAft>
                <a:spcPts val="100"/>
              </a:spcAft>
              <a:defRPr sz="900">
                <a:solidFill>
                  <a:srgbClr val="333333"/>
                </a:solidFill>
                <a:latin typeface="Meiryo UI"/>
              </a:defRPr>
            </a:pPr>
            <a:r>
              <a:t>• 3年間で1.3兆円規模の投資を計画しています</a:t>
            </a:r>
          </a:p>
        </p:txBody>
      </p:sp>
      <p:sp>
        <p:nvSpPr>
          <p:cNvPr id="6" name="Rounded Rectangle 5"/>
          <p:cNvSpPr/>
          <p:nvPr/>
        </p:nvSpPr>
        <p:spPr>
          <a:xfrm>
            <a:off x="4206240" y="1097280"/>
            <a:ext cx="3657600" cy="27432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43400" y="1234440"/>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8" name="TextBox 7"/>
          <p:cNvSpPr txBox="1"/>
          <p:nvPr/>
        </p:nvSpPr>
        <p:spPr>
          <a:xfrm>
            <a:off x="434340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フィジカルAI + HMAX</a:t>
            </a:r>
          </a:p>
          <a:p>
            <a:pPr>
              <a:spcBef>
                <a:spcPts val="200"/>
              </a:spcBef>
              <a:spcAft>
                <a:spcPts val="100"/>
              </a:spcAft>
              <a:defRPr sz="900">
                <a:solidFill>
                  <a:srgbClr val="333333"/>
                </a:solidFill>
                <a:latin typeface="Meiryo UI"/>
              </a:defRPr>
            </a:pPr>
            <a:r>
              <a:t>• NVIDIAと戦略提携し「HMAX」を共同開発しています</a:t>
            </a:r>
          </a:p>
          <a:p>
            <a:pPr>
              <a:spcBef>
                <a:spcPts val="200"/>
              </a:spcBef>
              <a:spcAft>
                <a:spcPts val="100"/>
              </a:spcAft>
              <a:defRPr sz="900">
                <a:solidFill>
                  <a:srgbClr val="333333"/>
                </a:solidFill>
                <a:latin typeface="Meiryo UI"/>
              </a:defRPr>
            </a:pPr>
            <a:r>
              <a:t>• 鉄道・エネルギー・製造分野の現場自動化を推進中です</a:t>
            </a:r>
          </a:p>
          <a:p>
            <a:pPr>
              <a:spcBef>
                <a:spcPts val="200"/>
              </a:spcBef>
              <a:spcAft>
                <a:spcPts val="100"/>
              </a:spcAft>
              <a:defRPr sz="900">
                <a:solidFill>
                  <a:srgbClr val="333333"/>
                </a:solidFill>
                <a:latin typeface="Meiryo UI"/>
              </a:defRPr>
            </a:pPr>
            <a:r>
              <a:t>• 2026年4月にフィジカルAI体験スタジオを開設しました</a:t>
            </a:r>
          </a:p>
        </p:txBody>
      </p:sp>
      <p:sp>
        <p:nvSpPr>
          <p:cNvPr id="9" name="Rounded Rectangle 8"/>
          <p:cNvSpPr/>
          <p:nvPr/>
        </p:nvSpPr>
        <p:spPr>
          <a:xfrm>
            <a:off x="8138160" y="1097280"/>
            <a:ext cx="3657600" cy="2743200"/>
          </a:xfrm>
          <a:prstGeom prst="roundRect">
            <a:avLst/>
          </a:prstGeom>
          <a:solidFill>
            <a:srgbClr val="FCE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75320" y="1234440"/>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11" name="TextBox 10"/>
          <p:cNvSpPr txBox="1"/>
          <p:nvPr/>
        </p:nvSpPr>
        <p:spPr>
          <a:xfrm>
            <a:off x="827532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全社AI活用</a:t>
            </a:r>
          </a:p>
          <a:p>
            <a:pPr>
              <a:spcBef>
                <a:spcPts val="200"/>
              </a:spcBef>
              <a:spcAft>
                <a:spcPts val="100"/>
              </a:spcAft>
              <a:defRPr sz="900">
                <a:solidFill>
                  <a:srgbClr val="333333"/>
                </a:solidFill>
                <a:latin typeface="Meiryo UI"/>
              </a:defRPr>
            </a:pPr>
            <a:r>
              <a:t>• グループ28万人が生成AIを利用しています</a:t>
            </a:r>
          </a:p>
          <a:p>
            <a:pPr>
              <a:spcBef>
                <a:spcPts val="200"/>
              </a:spcBef>
              <a:spcAft>
                <a:spcPts val="100"/>
              </a:spcAft>
              <a:defRPr sz="900">
                <a:solidFill>
                  <a:srgbClr val="333333"/>
                </a:solidFill>
                <a:latin typeface="Meiryo UI"/>
              </a:defRPr>
            </a:pPr>
            <a:r>
              <a:t>• システム開発効率は3割向上しました</a:t>
            </a:r>
          </a:p>
          <a:p>
            <a:pPr>
              <a:spcBef>
                <a:spcPts val="200"/>
              </a:spcBef>
              <a:spcAft>
                <a:spcPts val="100"/>
              </a:spcAft>
              <a:defRPr sz="900">
                <a:solidFill>
                  <a:srgbClr val="333333"/>
                </a:solidFill>
                <a:latin typeface="Meiryo UI"/>
              </a:defRPr>
            </a:pPr>
            <a:r>
              <a:t>• AIアンバサダー制度で組織横断推進しています</a:t>
            </a:r>
          </a:p>
        </p:txBody>
      </p:sp>
      <p:sp>
        <p:nvSpPr>
          <p:cNvPr id="12" name="TextBox 11"/>
          <p:cNvSpPr txBox="1"/>
          <p:nvPr/>
        </p:nvSpPr>
        <p:spPr>
          <a:xfrm>
            <a:off x="274320" y="4206240"/>
            <a:ext cx="5486400" cy="365760"/>
          </a:xfrm>
          <a:prstGeom prst="rect">
            <a:avLst/>
          </a:prstGeom>
          <a:noFill/>
        </p:spPr>
        <p:txBody>
          <a:bodyPr wrap="square">
            <a:spAutoFit/>
          </a:bodyPr>
          <a:lstStyle/>
          <a:p>
            <a:pPr algn="l">
              <a:defRPr sz="1400" b="1">
                <a:solidFill>
                  <a:srgbClr val="003366"/>
                </a:solidFill>
                <a:latin typeface="Meiryo UI"/>
              </a:defRPr>
            </a:pPr>
            <a:r>
              <a:t>■ 技術的特徴</a:t>
            </a:r>
          </a:p>
        </p:txBody>
      </p:sp>
      <p:sp>
        <p:nvSpPr>
          <p:cNvPr id="13" name="TextBox 12"/>
          <p:cNvSpPr txBox="1"/>
          <p:nvPr/>
        </p:nvSpPr>
        <p:spPr>
          <a:xfrm>
            <a:off x="457200" y="4663440"/>
            <a:ext cx="5303520" cy="164592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IT × OT × AI の融合が最大の差別化要素です</a:t>
            </a:r>
          </a:p>
          <a:p>
            <a:pPr algn="l">
              <a:spcBef>
                <a:spcPts val="400"/>
              </a:spcBef>
              <a:spcAft>
                <a:spcPts val="200"/>
              </a:spcAft>
              <a:defRPr sz="1000" b="0">
                <a:solidFill>
                  <a:srgbClr val="333333"/>
                </a:solidFill>
                <a:latin typeface="Meiryo UI"/>
              </a:defRPr>
            </a:pPr>
            <a:r>
              <a:t>• 熟練技術者の暗黙知をAIに取り込み技術継承を実現しています</a:t>
            </a:r>
          </a:p>
          <a:p>
            <a:pPr algn="l">
              <a:spcBef>
                <a:spcPts val="400"/>
              </a:spcBef>
              <a:spcAft>
                <a:spcPts val="200"/>
              </a:spcAft>
              <a:defRPr sz="1000" b="0">
                <a:solidFill>
                  <a:srgbClr val="333333"/>
                </a:solidFill>
                <a:latin typeface="Meiryo UI"/>
              </a:defRPr>
            </a:pPr>
            <a:r>
              <a:t>• 保守AIの回答精度は9割まで向上しています</a:t>
            </a:r>
          </a:p>
          <a:p>
            <a:pPr algn="l">
              <a:spcBef>
                <a:spcPts val="400"/>
              </a:spcBef>
              <a:spcAft>
                <a:spcPts val="200"/>
              </a:spcAft>
              <a:defRPr sz="1000" b="0">
                <a:solidFill>
                  <a:srgbClr val="333333"/>
                </a:solidFill>
                <a:latin typeface="Meiryo UI"/>
              </a:defRPr>
            </a:pPr>
            <a:r>
              <a:t>• 将来は「創造AI（第4世代AI）」への進化も展望しています</a:t>
            </a:r>
          </a:p>
        </p:txBody>
      </p:sp>
      <p:sp>
        <p:nvSpPr>
          <p:cNvPr id="14" name="TextBox 13"/>
          <p:cNvSpPr txBox="1"/>
          <p:nvPr/>
        </p:nvSpPr>
        <p:spPr>
          <a:xfrm>
            <a:off x="6217920" y="4206240"/>
            <a:ext cx="5486400" cy="365760"/>
          </a:xfrm>
          <a:prstGeom prst="rect">
            <a:avLst/>
          </a:prstGeom>
          <a:noFill/>
        </p:spPr>
        <p:txBody>
          <a:bodyPr wrap="square">
            <a:spAutoFit/>
          </a:bodyPr>
          <a:lstStyle/>
          <a:p>
            <a:pPr algn="l">
              <a:defRPr sz="1400" b="1">
                <a:solidFill>
                  <a:srgbClr val="003366"/>
                </a:solidFill>
                <a:latin typeface="Meiryo UI"/>
              </a:defRPr>
            </a:pPr>
            <a:r>
              <a:t>■ 注目ポイント</a:t>
            </a:r>
          </a:p>
        </p:txBody>
      </p:sp>
      <p:sp>
        <p:nvSpPr>
          <p:cNvPr id="15" name="TextBox 14"/>
          <p:cNvSpPr txBox="1"/>
          <p:nvPr/>
        </p:nvSpPr>
        <p:spPr>
          <a:xfrm>
            <a:off x="6400800" y="4663440"/>
            <a:ext cx="5303520" cy="164592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百五銀行、塩野義製薬、三菱ケミカル等と業種別協創しています</a:t>
            </a:r>
          </a:p>
          <a:p>
            <a:pPr algn="l">
              <a:spcBef>
                <a:spcPts val="400"/>
              </a:spcBef>
              <a:spcAft>
                <a:spcPts val="200"/>
              </a:spcAft>
              <a:defRPr sz="1000" b="0">
                <a:solidFill>
                  <a:srgbClr val="333333"/>
                </a:solidFill>
                <a:latin typeface="Meiryo UI"/>
              </a:defRPr>
            </a:pPr>
            <a:r>
              <a:t>• Google Cloud、Microsoftとの協業も拡大中です</a:t>
            </a:r>
          </a:p>
          <a:p>
            <a:pPr algn="l">
              <a:spcBef>
                <a:spcPts val="400"/>
              </a:spcBef>
              <a:spcAft>
                <a:spcPts val="200"/>
              </a:spcAft>
              <a:defRPr sz="1000" b="1">
                <a:solidFill>
                  <a:srgbClr val="C0392B"/>
                </a:solidFill>
                <a:latin typeface="Meiryo UI"/>
              </a:defRPr>
            </a:pPr>
            <a:r>
              <a:t>★ 製造・鉄道・エネルギーの現場密着型AI活用が圧倒的に強いです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NTT の生成AI取り組み</a:t>
            </a:r>
          </a:p>
        </p:txBody>
      </p:sp>
      <p:sp>
        <p:nvSpPr>
          <p:cNvPr id="3" name="Rounded Rectangle 2"/>
          <p:cNvSpPr/>
          <p:nvPr/>
        </p:nvSpPr>
        <p:spPr>
          <a:xfrm>
            <a:off x="274320" y="1097280"/>
            <a:ext cx="3657600" cy="27432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12344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5" name="TextBox 4"/>
          <p:cNvSpPr txBox="1"/>
          <p:nvPr/>
        </p:nvSpPr>
        <p:spPr>
          <a:xfrm>
            <a:off x="41148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tsuzumi 2（LLM）</a:t>
            </a:r>
          </a:p>
          <a:p>
            <a:pPr>
              <a:spcBef>
                <a:spcPts val="200"/>
              </a:spcBef>
              <a:spcAft>
                <a:spcPts val="100"/>
              </a:spcAft>
              <a:defRPr sz="900">
                <a:solidFill>
                  <a:srgbClr val="333333"/>
                </a:solidFill>
                <a:latin typeface="Meiryo UI"/>
              </a:defRPr>
            </a:pPr>
            <a:r>
              <a:t>• 2025年10月から提供を開始しています</a:t>
            </a:r>
          </a:p>
          <a:p>
            <a:pPr>
              <a:spcBef>
                <a:spcPts val="200"/>
              </a:spcBef>
              <a:spcAft>
                <a:spcPts val="100"/>
              </a:spcAft>
              <a:defRPr sz="900">
                <a:solidFill>
                  <a:srgbClr val="333333"/>
                </a:solidFill>
                <a:latin typeface="Meiryo UI"/>
              </a:defRPr>
            </a:pPr>
            <a:r>
              <a:t>• 1GPUで推論可能な省エネ・低コスト設計です</a:t>
            </a:r>
          </a:p>
          <a:p>
            <a:pPr>
              <a:spcBef>
                <a:spcPts val="200"/>
              </a:spcBef>
              <a:spcAft>
                <a:spcPts val="100"/>
              </a:spcAft>
              <a:defRPr sz="900">
                <a:solidFill>
                  <a:srgbClr val="333333"/>
                </a:solidFill>
                <a:latin typeface="Meiryo UI"/>
              </a:defRPr>
            </a:pPr>
            <a:r>
              <a:t>• 金融・医療・公共の専門知識を強化しています</a:t>
            </a:r>
          </a:p>
        </p:txBody>
      </p:sp>
      <p:sp>
        <p:nvSpPr>
          <p:cNvPr id="6" name="Rounded Rectangle 5"/>
          <p:cNvSpPr/>
          <p:nvPr/>
        </p:nvSpPr>
        <p:spPr>
          <a:xfrm>
            <a:off x="4206240" y="1097280"/>
            <a:ext cx="3657600" cy="27432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43400" y="1234440"/>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8" name="TextBox 7"/>
          <p:cNvSpPr txBox="1"/>
          <p:nvPr/>
        </p:nvSpPr>
        <p:spPr>
          <a:xfrm>
            <a:off x="434340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IOWN光電融合</a:t>
            </a:r>
          </a:p>
          <a:p>
            <a:pPr>
              <a:spcBef>
                <a:spcPts val="200"/>
              </a:spcBef>
              <a:spcAft>
                <a:spcPts val="100"/>
              </a:spcAft>
              <a:defRPr sz="900">
                <a:solidFill>
                  <a:srgbClr val="333333"/>
                </a:solidFill>
                <a:latin typeface="Meiryo UI"/>
              </a:defRPr>
            </a:pPr>
            <a:r>
              <a:t>• 2026年にPEC-2を商用化予定です</a:t>
            </a:r>
          </a:p>
          <a:p>
            <a:pPr>
              <a:spcBef>
                <a:spcPts val="200"/>
              </a:spcBef>
              <a:spcAft>
                <a:spcPts val="100"/>
              </a:spcAft>
              <a:defRPr sz="900">
                <a:solidFill>
                  <a:srgbClr val="333333"/>
                </a:solidFill>
                <a:latin typeface="Meiryo UI"/>
              </a:defRPr>
            </a:pPr>
            <a:r>
              <a:t>• AIデータセンターの消費電力を最大1/8に削減します</a:t>
            </a:r>
          </a:p>
          <a:p>
            <a:pPr>
              <a:spcBef>
                <a:spcPts val="200"/>
              </a:spcBef>
              <a:spcAft>
                <a:spcPts val="100"/>
              </a:spcAft>
              <a:defRPr sz="900">
                <a:solidFill>
                  <a:srgbClr val="333333"/>
                </a:solidFill>
                <a:latin typeface="Meiryo UI"/>
              </a:defRPr>
            </a:pPr>
            <a:r>
              <a:t>• 2032年にエネルギー効率100倍超を目指しています</a:t>
            </a:r>
          </a:p>
        </p:txBody>
      </p:sp>
      <p:sp>
        <p:nvSpPr>
          <p:cNvPr id="9" name="Rounded Rectangle 8"/>
          <p:cNvSpPr/>
          <p:nvPr/>
        </p:nvSpPr>
        <p:spPr>
          <a:xfrm>
            <a:off x="8138160" y="1097280"/>
            <a:ext cx="3657600" cy="2743200"/>
          </a:xfrm>
          <a:prstGeom prst="roundRect">
            <a:avLst/>
          </a:prstGeom>
          <a:solidFill>
            <a:srgbClr val="FCE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75320" y="1234440"/>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a:solidFill>
                  <a:srgbClr val="FFFFFF"/>
                </a:solidFill>
                <a:latin typeface="Meiryo UI"/>
              </a:defRPr>
            </a:pPr>
            <a:r>
              <a:t>📊</a:t>
            </a:r>
          </a:p>
        </p:txBody>
      </p:sp>
      <p:sp>
        <p:nvSpPr>
          <p:cNvPr id="11" name="TextBox 10"/>
          <p:cNvSpPr txBox="1"/>
          <p:nvPr/>
        </p:nvSpPr>
        <p:spPr>
          <a:xfrm>
            <a:off x="8275320" y="1783080"/>
            <a:ext cx="3383280" cy="1965960"/>
          </a:xfrm>
          <a:prstGeom prst="rect">
            <a:avLst/>
          </a:prstGeom>
          <a:noFill/>
        </p:spPr>
        <p:txBody>
          <a:bodyPr wrap="square">
            <a:spAutoFit/>
          </a:bodyPr>
          <a:lstStyle/>
          <a:p>
            <a:pPr>
              <a:spcAft>
                <a:spcPts val="400"/>
              </a:spcAft>
              <a:defRPr sz="1200" b="1">
                <a:solidFill>
                  <a:srgbClr val="003366"/>
                </a:solidFill>
                <a:latin typeface="Meiryo UI"/>
              </a:defRPr>
            </a:pPr>
            <a:r>
              <a:t>ビジネス成果</a:t>
            </a:r>
          </a:p>
          <a:p>
            <a:pPr>
              <a:spcBef>
                <a:spcPts val="200"/>
              </a:spcBef>
              <a:spcAft>
                <a:spcPts val="100"/>
              </a:spcAft>
              <a:defRPr sz="900">
                <a:solidFill>
                  <a:srgbClr val="333333"/>
                </a:solidFill>
                <a:latin typeface="Meiryo UI"/>
              </a:defRPr>
            </a:pPr>
            <a:r>
              <a:t>• 2025年Q1で相談案件1,800件に到達しました</a:t>
            </a:r>
          </a:p>
          <a:p>
            <a:pPr>
              <a:spcBef>
                <a:spcPts val="200"/>
              </a:spcBef>
              <a:spcAft>
                <a:spcPts val="100"/>
              </a:spcAft>
              <a:defRPr sz="900">
                <a:solidFill>
                  <a:srgbClr val="333333"/>
                </a:solidFill>
                <a:latin typeface="Meiryo UI"/>
              </a:defRPr>
            </a:pPr>
            <a:r>
              <a:t>• 受注総額670億円に拡大しています</a:t>
            </a:r>
          </a:p>
          <a:p>
            <a:pPr>
              <a:spcBef>
                <a:spcPts val="200"/>
              </a:spcBef>
              <a:spcAft>
                <a:spcPts val="100"/>
              </a:spcAft>
              <a:defRPr sz="900">
                <a:solidFill>
                  <a:srgbClr val="333333"/>
                </a:solidFill>
                <a:latin typeface="Meiryo UI"/>
              </a:defRPr>
            </a:pPr>
            <a:r>
              <a:t>• 2027年に年間5,000億円規模を見込んでいます</a:t>
            </a:r>
          </a:p>
        </p:txBody>
      </p:sp>
      <p:sp>
        <p:nvSpPr>
          <p:cNvPr id="12" name="TextBox 11"/>
          <p:cNvSpPr txBox="1"/>
          <p:nvPr/>
        </p:nvSpPr>
        <p:spPr>
          <a:xfrm>
            <a:off x="274320" y="4206240"/>
            <a:ext cx="5486400" cy="365760"/>
          </a:xfrm>
          <a:prstGeom prst="rect">
            <a:avLst/>
          </a:prstGeom>
          <a:noFill/>
        </p:spPr>
        <p:txBody>
          <a:bodyPr wrap="square">
            <a:spAutoFit/>
          </a:bodyPr>
          <a:lstStyle/>
          <a:p>
            <a:pPr algn="l">
              <a:defRPr sz="1400" b="1">
                <a:solidFill>
                  <a:srgbClr val="003366"/>
                </a:solidFill>
                <a:latin typeface="Meiryo UI"/>
              </a:defRPr>
            </a:pPr>
            <a:r>
              <a:t>■ AI For Quality Growth 戦略</a:t>
            </a:r>
          </a:p>
        </p:txBody>
      </p:sp>
      <p:sp>
        <p:nvSpPr>
          <p:cNvPr id="13" name="TextBox 12"/>
          <p:cNvSpPr txBox="1"/>
          <p:nvPr/>
        </p:nvSpPr>
        <p:spPr>
          <a:xfrm>
            <a:off x="457200" y="4663440"/>
            <a:ext cx="5303520" cy="164592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コンサル～実装～インフラ運用まで一気通貫で支援しています</a:t>
            </a:r>
          </a:p>
          <a:p>
            <a:pPr algn="l">
              <a:spcBef>
                <a:spcPts val="400"/>
              </a:spcBef>
              <a:spcAft>
                <a:spcPts val="200"/>
              </a:spcAft>
              <a:defRPr sz="1000" b="0">
                <a:solidFill>
                  <a:srgbClr val="333333"/>
                </a:solidFill>
                <a:latin typeface="Meiryo UI"/>
              </a:defRPr>
            </a:pPr>
            <a:r>
              <a:t>• NVIDIA DGX B200を採用した省電力AI基盤を整備しています</a:t>
            </a:r>
          </a:p>
          <a:p>
            <a:pPr algn="l">
              <a:spcBef>
                <a:spcPts val="400"/>
              </a:spcBef>
              <a:spcAft>
                <a:spcPts val="200"/>
              </a:spcAft>
              <a:defRPr sz="1000" b="0">
                <a:solidFill>
                  <a:srgbClr val="333333"/>
                </a:solidFill>
                <a:latin typeface="Meiryo UI"/>
              </a:defRPr>
            </a:pPr>
            <a:r>
              <a:t>• サイバーセキュリティ分野でのAI活用も強化中です</a:t>
            </a:r>
          </a:p>
          <a:p>
            <a:pPr algn="l">
              <a:spcBef>
                <a:spcPts val="400"/>
              </a:spcBef>
              <a:spcAft>
                <a:spcPts val="200"/>
              </a:spcAft>
              <a:defRPr sz="1000" b="0">
                <a:solidFill>
                  <a:srgbClr val="333333"/>
                </a:solidFill>
                <a:latin typeface="Meiryo UI"/>
              </a:defRPr>
            </a:pPr>
            <a:r>
              <a:t>• AIコンステレーション（自律分散型AI連携）にも注力しています</a:t>
            </a:r>
          </a:p>
        </p:txBody>
      </p:sp>
      <p:sp>
        <p:nvSpPr>
          <p:cNvPr id="14" name="TextBox 13"/>
          <p:cNvSpPr txBox="1"/>
          <p:nvPr/>
        </p:nvSpPr>
        <p:spPr>
          <a:xfrm>
            <a:off x="6217920" y="4206240"/>
            <a:ext cx="5486400" cy="365760"/>
          </a:xfrm>
          <a:prstGeom prst="rect">
            <a:avLst/>
          </a:prstGeom>
          <a:noFill/>
        </p:spPr>
        <p:txBody>
          <a:bodyPr wrap="square">
            <a:spAutoFit/>
          </a:bodyPr>
          <a:lstStyle/>
          <a:p>
            <a:pPr algn="l">
              <a:defRPr sz="1400" b="1">
                <a:solidFill>
                  <a:srgbClr val="003366"/>
                </a:solidFill>
                <a:latin typeface="Meiryo UI"/>
              </a:defRPr>
            </a:pPr>
            <a:r>
              <a:t>■ 注目ポイント</a:t>
            </a:r>
          </a:p>
        </p:txBody>
      </p:sp>
      <p:sp>
        <p:nvSpPr>
          <p:cNvPr id="15" name="TextBox 14"/>
          <p:cNvSpPr txBox="1"/>
          <p:nvPr/>
        </p:nvSpPr>
        <p:spPr>
          <a:xfrm>
            <a:off x="6400800" y="4663440"/>
            <a:ext cx="5303520" cy="164592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東京通信大学、富士フイルムBI等への導入実績があります</a:t>
            </a:r>
          </a:p>
          <a:p>
            <a:pPr algn="l">
              <a:spcBef>
                <a:spcPts val="400"/>
              </a:spcBef>
              <a:spcAft>
                <a:spcPts val="200"/>
              </a:spcAft>
              <a:defRPr sz="1000" b="0">
                <a:solidFill>
                  <a:srgbClr val="333333"/>
                </a:solidFill>
                <a:latin typeface="Meiryo UI"/>
              </a:defRPr>
            </a:pPr>
            <a:r>
              <a:t>• Broadcom、Accton等との量産体制を確立しています</a:t>
            </a:r>
          </a:p>
          <a:p>
            <a:pPr algn="l">
              <a:spcBef>
                <a:spcPts val="400"/>
              </a:spcBef>
              <a:spcAft>
                <a:spcPts val="200"/>
              </a:spcAft>
              <a:defRPr sz="1000" b="1">
                <a:solidFill>
                  <a:srgbClr val="C0392B"/>
                </a:solidFill>
                <a:latin typeface="Meiryo UI"/>
              </a:defRPr>
            </a:pPr>
            <a:r>
              <a:t>★ 通信インフラ×AIの光電融合技術は他社にない独自優位性です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4社 生成AI取り組み比較サマリー</a:t>
            </a:r>
          </a:p>
        </p:txBody>
      </p:sp>
      <p:graphicFrame>
        <p:nvGraphicFramePr>
          <p:cNvPr id="3" name="Table 2"/>
          <p:cNvGraphicFramePr>
            <a:graphicFrameLocks noGrp="1"/>
          </p:cNvGraphicFramePr>
          <p:nvPr/>
        </p:nvGraphicFramePr>
        <p:xfrm>
          <a:off x="274320" y="1097280"/>
          <a:ext cx="11612880" cy="4572000"/>
        </p:xfrm>
        <a:graphic>
          <a:graphicData uri="http://schemas.openxmlformats.org/drawingml/2006/table">
            <a:tbl>
              <a:tblPr firstRow="1" bandRow="1">
                <a:tableStyleId>{5C22544A-7EE6-4342-B048-85BDC9FD1C3A}</a:tableStyleId>
              </a:tblPr>
              <a:tblGrid>
                <a:gridCol w="1371600"/>
                <a:gridCol w="2560320"/>
                <a:gridCol w="2560320"/>
                <a:gridCol w="2560320"/>
                <a:gridCol w="2560320"/>
              </a:tblGrid>
              <a:tr h="571500">
                <a:tc>
                  <a:txBody>
                    <a:bodyPr/>
                    <a:lstStyle/>
                    <a:p>
                      <a:pPr algn="ctr">
                        <a:defRPr sz="1000" b="1">
                          <a:solidFill>
                            <a:srgbClr val="FFFFFF"/>
                          </a:solidFill>
                          <a:latin typeface="Meiryo UI"/>
                        </a:defRPr>
                      </a:pPr>
                      <a:r>
                        <a:t>領域</a:t>
                      </a:r>
                    </a:p>
                  </a:txBody>
                  <a:tcPr>
                    <a:solidFill>
                      <a:srgbClr val="003366"/>
                    </a:solidFill>
                  </a:tcPr>
                </a:tc>
                <a:tc>
                  <a:txBody>
                    <a:bodyPr/>
                    <a:lstStyle/>
                    <a:p>
                      <a:pPr algn="ctr">
                        <a:defRPr sz="1000" b="1">
                          <a:solidFill>
                            <a:srgbClr val="FFFFFF"/>
                          </a:solidFill>
                          <a:latin typeface="Meiryo UI"/>
                        </a:defRPr>
                      </a:pPr>
                      <a:r>
                        <a:t>富士通</a:t>
                      </a:r>
                    </a:p>
                  </a:txBody>
                  <a:tcPr>
                    <a:solidFill>
                      <a:srgbClr val="003366"/>
                    </a:solidFill>
                  </a:tcPr>
                </a:tc>
                <a:tc>
                  <a:txBody>
                    <a:bodyPr/>
                    <a:lstStyle/>
                    <a:p>
                      <a:pPr algn="ctr">
                        <a:defRPr sz="1000" b="1">
                          <a:solidFill>
                            <a:srgbClr val="FFFFFF"/>
                          </a:solidFill>
                          <a:latin typeface="Meiryo UI"/>
                        </a:defRPr>
                      </a:pPr>
                      <a:r>
                        <a:t>NEC</a:t>
                      </a:r>
                    </a:p>
                  </a:txBody>
                  <a:tcPr>
                    <a:solidFill>
                      <a:srgbClr val="003366"/>
                    </a:solidFill>
                  </a:tcPr>
                </a:tc>
                <a:tc>
                  <a:txBody>
                    <a:bodyPr/>
                    <a:lstStyle/>
                    <a:p>
                      <a:pPr algn="ctr">
                        <a:defRPr sz="1000" b="1">
                          <a:solidFill>
                            <a:srgbClr val="FFFFFF"/>
                          </a:solidFill>
                          <a:latin typeface="Meiryo UI"/>
                        </a:defRPr>
                      </a:pPr>
                      <a:r>
                        <a:t>日立</a:t>
                      </a:r>
                    </a:p>
                  </a:txBody>
                  <a:tcPr>
                    <a:solidFill>
                      <a:srgbClr val="003366"/>
                    </a:solidFill>
                  </a:tcPr>
                </a:tc>
                <a:tc>
                  <a:txBody>
                    <a:bodyPr/>
                    <a:lstStyle/>
                    <a:p>
                      <a:pPr algn="ctr">
                        <a:defRPr sz="1000" b="1">
                          <a:solidFill>
                            <a:srgbClr val="FFFFFF"/>
                          </a:solidFill>
                          <a:latin typeface="Meiryo UI"/>
                        </a:defRPr>
                      </a:pPr>
                      <a:r>
                        <a:t>NTT</a:t>
                      </a:r>
                    </a:p>
                  </a:txBody>
                  <a:tcPr>
                    <a:solidFill>
                      <a:srgbClr val="003366"/>
                    </a:solidFill>
                  </a:tcPr>
                </a:tc>
              </a:tr>
              <a:tr h="571500">
                <a:tc>
                  <a:txBody>
                    <a:bodyPr/>
                    <a:lstStyle/>
                    <a:p>
                      <a:pPr algn="l">
                        <a:defRPr sz="900">
                          <a:solidFill>
                            <a:srgbClr val="333333"/>
                          </a:solidFill>
                          <a:latin typeface="Meiryo UI"/>
                        </a:defRPr>
                      </a:pPr>
                      <a:r>
                        <a:t>独自LLM</a:t>
                      </a:r>
                    </a:p>
                  </a:txBody>
                  <a:tcPr>
                    <a:solidFill>
                      <a:srgbClr val="F2F2F2"/>
                    </a:solidFill>
                  </a:tcPr>
                </a:tc>
                <a:tc>
                  <a:txBody>
                    <a:bodyPr/>
                    <a:lstStyle/>
                    <a:p>
                      <a:pPr algn="l">
                        <a:defRPr sz="900">
                          <a:solidFill>
                            <a:srgbClr val="333333"/>
                          </a:solidFill>
                          <a:latin typeface="Meiryo UI"/>
                        </a:defRPr>
                      </a:pPr>
                      <a:r>
                        <a:t>Takane</a:t>
                      </a:r>
                    </a:p>
                    <a:p>
                      <a:pPr algn="l">
                        <a:defRPr sz="900">
                          <a:solidFill>
                            <a:srgbClr val="333333"/>
                          </a:solidFill>
                          <a:latin typeface="Meiryo UI"/>
                        </a:defRPr>
                      </a:pPr>
                      <a:r>
                        <a:t>(Cohere R+ベース)</a:t>
                      </a:r>
                    </a:p>
                  </a:txBody>
                  <a:tcPr>
                    <a:solidFill>
                      <a:srgbClr val="F2F2F2"/>
                    </a:solidFill>
                  </a:tcPr>
                </a:tc>
                <a:tc>
                  <a:txBody>
                    <a:bodyPr/>
                    <a:lstStyle/>
                    <a:p>
                      <a:pPr algn="l">
                        <a:defRPr sz="900">
                          <a:solidFill>
                            <a:srgbClr val="333333"/>
                          </a:solidFill>
                          <a:latin typeface="Meiryo UI"/>
                        </a:defRPr>
                      </a:pPr>
                      <a:r>
                        <a:t>cotomi</a:t>
                      </a:r>
                    </a:p>
                  </a:txBody>
                  <a:tcPr>
                    <a:solidFill>
                      <a:srgbClr val="F2F2F2"/>
                    </a:solidFill>
                  </a:tcPr>
                </a:tc>
                <a:tc>
                  <a:txBody>
                    <a:bodyPr/>
                    <a:lstStyle/>
                    <a:p>
                      <a:pPr algn="l">
                        <a:defRPr sz="900">
                          <a:solidFill>
                            <a:srgbClr val="333333"/>
                          </a:solidFill>
                          <a:latin typeface="Meiryo UI"/>
                        </a:defRPr>
                      </a:pPr>
                      <a:r>
                        <a:t>なし</a:t>
                      </a:r>
                    </a:p>
                    <a:p>
                      <a:pPr algn="l">
                        <a:defRPr sz="900">
                          <a:solidFill>
                            <a:srgbClr val="333333"/>
                          </a:solidFill>
                          <a:latin typeface="Meiryo UI"/>
                        </a:defRPr>
                      </a:pPr>
                      <a:r>
                        <a:t>(他社LLM活用)</a:t>
                      </a:r>
                    </a:p>
                  </a:txBody>
                  <a:tcPr>
                    <a:solidFill>
                      <a:srgbClr val="F2F2F2"/>
                    </a:solidFill>
                  </a:tcPr>
                </a:tc>
                <a:tc>
                  <a:txBody>
                    <a:bodyPr/>
                    <a:lstStyle/>
                    <a:p>
                      <a:pPr algn="l">
                        <a:defRPr sz="900">
                          <a:solidFill>
                            <a:srgbClr val="333333"/>
                          </a:solidFill>
                          <a:latin typeface="Meiryo UI"/>
                        </a:defRPr>
                      </a:pPr>
                      <a:r>
                        <a:t>tsuzumi 2</a:t>
                      </a:r>
                    </a:p>
                  </a:txBody>
                  <a:tcPr>
                    <a:solidFill>
                      <a:srgbClr val="F2F2F2"/>
                    </a:solidFill>
                  </a:tcPr>
                </a:tc>
              </a:tr>
              <a:tr h="571500">
                <a:tc>
                  <a:txBody>
                    <a:bodyPr/>
                    <a:lstStyle/>
                    <a:p>
                      <a:pPr algn="l">
                        <a:defRPr sz="900">
                          <a:solidFill>
                            <a:srgbClr val="333333"/>
                          </a:solidFill>
                          <a:latin typeface="Meiryo UI"/>
                        </a:defRPr>
                      </a:pPr>
                      <a:r>
                        <a:t>AIエージェント</a:t>
                      </a:r>
                    </a:p>
                  </a:txBody>
                  <a:tcPr>
                    <a:solidFill>
                      <a:srgbClr val="FFFFFF"/>
                    </a:solidFill>
                  </a:tcPr>
                </a:tc>
                <a:tc>
                  <a:txBody>
                    <a:bodyPr/>
                    <a:lstStyle/>
                    <a:p>
                      <a:pPr algn="l">
                        <a:defRPr sz="900">
                          <a:solidFill>
                            <a:srgbClr val="333333"/>
                          </a:solidFill>
                          <a:latin typeface="Meiryo UI"/>
                        </a:defRPr>
                      </a:pPr>
                      <a:r>
                        <a:t>Kozuchi</a:t>
                      </a:r>
                    </a:p>
                    <a:p>
                      <a:pPr algn="l">
                        <a:defRPr sz="900">
                          <a:solidFill>
                            <a:srgbClr val="333333"/>
                          </a:solidFill>
                          <a:latin typeface="Meiryo UI"/>
                        </a:defRPr>
                      </a:pPr>
                      <a:r>
                        <a:t>AIエージェント</a:t>
                      </a:r>
                    </a:p>
                  </a:txBody>
                  <a:tcPr>
                    <a:solidFill>
                      <a:srgbClr val="FFFFFF"/>
                    </a:solidFill>
                  </a:tcPr>
                </a:tc>
                <a:tc>
                  <a:txBody>
                    <a:bodyPr/>
                    <a:lstStyle/>
                    <a:p>
                      <a:pPr algn="l">
                        <a:defRPr sz="900">
                          <a:solidFill>
                            <a:srgbClr val="333333"/>
                          </a:solidFill>
                          <a:latin typeface="Meiryo UI"/>
                        </a:defRPr>
                      </a:pPr>
                      <a:r>
                        <a:t>cotomi Act</a:t>
                      </a:r>
                    </a:p>
                    <a:p>
                      <a:pPr algn="l">
                        <a:defRPr sz="900">
                          <a:solidFill>
                            <a:srgbClr val="333333"/>
                          </a:solidFill>
                          <a:latin typeface="Meiryo UI"/>
                        </a:defRPr>
                      </a:pPr>
                      <a:r>
                        <a:t>(WebArena 80.4%)</a:t>
                      </a:r>
                    </a:p>
                  </a:txBody>
                  <a:tcPr>
                    <a:solidFill>
                      <a:srgbClr val="FFFFFF"/>
                    </a:solidFill>
                  </a:tcPr>
                </a:tc>
                <a:tc>
                  <a:txBody>
                    <a:bodyPr/>
                    <a:lstStyle/>
                    <a:p>
                      <a:pPr algn="l">
                        <a:defRPr sz="900">
                          <a:solidFill>
                            <a:srgbClr val="333333"/>
                          </a:solidFill>
                          <a:latin typeface="Meiryo UI"/>
                        </a:defRPr>
                      </a:pPr>
                      <a:r>
                        <a:t>マルチAI</a:t>
                      </a:r>
                    </a:p>
                    <a:p>
                      <a:pPr algn="l">
                        <a:defRPr sz="900">
                          <a:solidFill>
                            <a:srgbClr val="333333"/>
                          </a:solidFill>
                          <a:latin typeface="Meiryo UI"/>
                        </a:defRPr>
                      </a:pPr>
                      <a:r>
                        <a:t>エージェント</a:t>
                      </a:r>
                    </a:p>
                  </a:txBody>
                  <a:tcPr>
                    <a:solidFill>
                      <a:srgbClr val="FFFFFF"/>
                    </a:solidFill>
                  </a:tcPr>
                </a:tc>
                <a:tc>
                  <a:txBody>
                    <a:bodyPr/>
                    <a:lstStyle/>
                    <a:p>
                      <a:pPr algn="l">
                        <a:defRPr sz="900">
                          <a:solidFill>
                            <a:srgbClr val="333333"/>
                          </a:solidFill>
                          <a:latin typeface="Meiryo UI"/>
                        </a:defRPr>
                      </a:pPr>
                      <a:r>
                        <a:t>AI Advisor</a:t>
                      </a:r>
                    </a:p>
                  </a:txBody>
                  <a:tcPr>
                    <a:solidFill>
                      <a:srgbClr val="FFFFFF"/>
                    </a:solidFill>
                  </a:tcPr>
                </a:tc>
              </a:tr>
              <a:tr h="571500">
                <a:tc>
                  <a:txBody>
                    <a:bodyPr/>
                    <a:lstStyle/>
                    <a:p>
                      <a:pPr algn="l">
                        <a:defRPr sz="900">
                          <a:solidFill>
                            <a:srgbClr val="333333"/>
                          </a:solidFill>
                          <a:latin typeface="Meiryo UI"/>
                        </a:defRPr>
                      </a:pPr>
                      <a:r>
                        <a:t>フィジカルAI</a:t>
                      </a:r>
                    </a:p>
                  </a:txBody>
                  <a:tcPr>
                    <a:solidFill>
                      <a:srgbClr val="F2F2F2"/>
                    </a:solidFill>
                  </a:tcPr>
                </a:tc>
                <a:tc>
                  <a:txBody>
                    <a:bodyPr/>
                    <a:lstStyle/>
                    <a:p>
                      <a:pPr algn="l">
                        <a:defRPr sz="900">
                          <a:solidFill>
                            <a:srgbClr val="333333"/>
                          </a:solidFill>
                          <a:latin typeface="Meiryo UI"/>
                        </a:defRPr>
                      </a:pPr>
                      <a:r>
                        <a:t>◎ Kozuchi</a:t>
                      </a:r>
                    </a:p>
                    <a:p>
                      <a:pPr algn="l">
                        <a:defRPr sz="900">
                          <a:solidFill>
                            <a:srgbClr val="333333"/>
                          </a:solidFill>
                          <a:latin typeface="Meiryo UI"/>
                        </a:defRPr>
                      </a:pPr>
                      <a:r>
                        <a:t>Physical AI 1.0</a:t>
                      </a:r>
                    </a:p>
                  </a:txBody>
                  <a:tcPr>
                    <a:solidFill>
                      <a:srgbClr val="F2F2F2"/>
                    </a:solidFill>
                  </a:tcPr>
                </a:tc>
                <a:tc>
                  <a:txBody>
                    <a:bodyPr/>
                    <a:lstStyle/>
                    <a:p>
                      <a:pPr algn="l">
                        <a:defRPr sz="900">
                          <a:solidFill>
                            <a:srgbClr val="333333"/>
                          </a:solidFill>
                          <a:latin typeface="Meiryo UI"/>
                        </a:defRPr>
                      </a:pPr>
                      <a:r>
                        <a:t>△ 限定的</a:t>
                      </a:r>
                    </a:p>
                  </a:txBody>
                  <a:tcPr>
                    <a:solidFill>
                      <a:srgbClr val="F2F2F2"/>
                    </a:solidFill>
                  </a:tcPr>
                </a:tc>
                <a:tc>
                  <a:txBody>
                    <a:bodyPr/>
                    <a:lstStyle/>
                    <a:p>
                      <a:pPr algn="l">
                        <a:defRPr sz="900">
                          <a:solidFill>
                            <a:srgbClr val="333333"/>
                          </a:solidFill>
                          <a:latin typeface="Meiryo UI"/>
                        </a:defRPr>
                      </a:pPr>
                      <a:r>
                        <a:t>◎ HMAX</a:t>
                      </a:r>
                    </a:p>
                    <a:p>
                      <a:pPr algn="l">
                        <a:defRPr sz="900">
                          <a:solidFill>
                            <a:srgbClr val="333333"/>
                          </a:solidFill>
                          <a:latin typeface="Meiryo UI"/>
                        </a:defRPr>
                      </a:pPr>
                      <a:r>
                        <a:t>(NVIDIA連携)</a:t>
                      </a:r>
                    </a:p>
                  </a:txBody>
                  <a:tcPr>
                    <a:solidFill>
                      <a:srgbClr val="F2F2F2"/>
                    </a:solidFill>
                  </a:tcPr>
                </a:tc>
                <a:tc>
                  <a:txBody>
                    <a:bodyPr/>
                    <a:lstStyle/>
                    <a:p>
                      <a:pPr algn="l">
                        <a:defRPr sz="900">
                          <a:solidFill>
                            <a:srgbClr val="333333"/>
                          </a:solidFill>
                          <a:latin typeface="Meiryo UI"/>
                        </a:defRPr>
                      </a:pPr>
                      <a:r>
                        <a:t>△ 限定的</a:t>
                      </a:r>
                    </a:p>
                  </a:txBody>
                  <a:tcPr>
                    <a:solidFill>
                      <a:srgbClr val="F2F2F2"/>
                    </a:solidFill>
                  </a:tcPr>
                </a:tc>
              </a:tr>
              <a:tr h="571500">
                <a:tc>
                  <a:txBody>
                    <a:bodyPr/>
                    <a:lstStyle/>
                    <a:p>
                      <a:pPr algn="l">
                        <a:defRPr sz="900">
                          <a:solidFill>
                            <a:srgbClr val="333333"/>
                          </a:solidFill>
                          <a:latin typeface="Meiryo UI"/>
                        </a:defRPr>
                      </a:pPr>
                      <a:r>
                        <a:t>レガシー刷新</a:t>
                      </a:r>
                    </a:p>
                  </a:txBody>
                  <a:tcPr>
                    <a:solidFill>
                      <a:srgbClr val="FFFFFF"/>
                    </a:solidFill>
                  </a:tcPr>
                </a:tc>
                <a:tc>
                  <a:txBody>
                    <a:bodyPr/>
                    <a:lstStyle/>
                    <a:p>
                      <a:pPr algn="l">
                        <a:defRPr sz="900">
                          <a:solidFill>
                            <a:srgbClr val="333333"/>
                          </a:solidFill>
                          <a:latin typeface="Meiryo UI"/>
                        </a:defRPr>
                      </a:pPr>
                      <a:r>
                        <a:t>◎ Application</a:t>
                      </a:r>
                    </a:p>
                    <a:p>
                      <a:pPr algn="l">
                        <a:defRPr sz="900">
                          <a:solidFill>
                            <a:srgbClr val="333333"/>
                          </a:solidFill>
                          <a:latin typeface="Meiryo UI"/>
                        </a:defRPr>
                      </a:pPr>
                      <a:r>
                        <a:t>Transform (97%削減)</a:t>
                      </a:r>
                    </a:p>
                  </a:txBody>
                  <a:tcPr>
                    <a:solidFill>
                      <a:srgbClr val="FFFFFF"/>
                    </a:solidFill>
                  </a:tcPr>
                </a:tc>
                <a:tc>
                  <a:txBody>
                    <a:bodyPr/>
                    <a:lstStyle/>
                    <a:p>
                      <a:pPr algn="l">
                        <a:defRPr sz="900">
                          <a:solidFill>
                            <a:srgbClr val="333333"/>
                          </a:solidFill>
                          <a:latin typeface="Meiryo UI"/>
                        </a:defRPr>
                      </a:pPr>
                      <a:r>
                        <a:t>△</a:t>
                      </a:r>
                    </a:p>
                  </a:txBody>
                  <a:tcPr>
                    <a:solidFill>
                      <a:srgbClr val="FFFFFF"/>
                    </a:solidFill>
                  </a:tcPr>
                </a:tc>
                <a:tc>
                  <a:txBody>
                    <a:bodyPr/>
                    <a:lstStyle/>
                    <a:p>
                      <a:pPr algn="l">
                        <a:defRPr sz="900">
                          <a:solidFill>
                            <a:srgbClr val="333333"/>
                          </a:solidFill>
                          <a:latin typeface="Meiryo UI"/>
                        </a:defRPr>
                      </a:pPr>
                      <a:r>
                        <a:t>△</a:t>
                      </a:r>
                    </a:p>
                  </a:txBody>
                  <a:tcPr>
                    <a:solidFill>
                      <a:srgbClr val="FFFFFF"/>
                    </a:solidFill>
                  </a:tcPr>
                </a:tc>
                <a:tc>
                  <a:txBody>
                    <a:bodyPr/>
                    <a:lstStyle/>
                    <a:p>
                      <a:pPr algn="l">
                        <a:defRPr sz="900">
                          <a:solidFill>
                            <a:srgbClr val="333333"/>
                          </a:solidFill>
                          <a:latin typeface="Meiryo UI"/>
                        </a:defRPr>
                      </a:pPr>
                      <a:r>
                        <a:t>△</a:t>
                      </a:r>
                    </a:p>
                  </a:txBody>
                  <a:tcPr>
                    <a:solidFill>
                      <a:srgbClr val="FFFFFF"/>
                    </a:solidFill>
                  </a:tcPr>
                </a:tc>
              </a:tr>
              <a:tr h="571500">
                <a:tc>
                  <a:txBody>
                    <a:bodyPr/>
                    <a:lstStyle/>
                    <a:p>
                      <a:pPr algn="l">
                        <a:defRPr sz="900">
                          <a:solidFill>
                            <a:srgbClr val="333333"/>
                          </a:solidFill>
                          <a:latin typeface="Meiryo UI"/>
                        </a:defRPr>
                      </a:pPr>
                      <a:r>
                        <a:t>AIインフラ</a:t>
                      </a:r>
                    </a:p>
                  </a:txBody>
                  <a:tcPr>
                    <a:solidFill>
                      <a:srgbClr val="F2F2F2"/>
                    </a:solidFill>
                  </a:tcPr>
                </a:tc>
                <a:tc>
                  <a:txBody>
                    <a:bodyPr/>
                    <a:lstStyle/>
                    <a:p>
                      <a:pPr algn="l">
                        <a:defRPr sz="900">
                          <a:solidFill>
                            <a:srgbClr val="333333"/>
                          </a:solidFill>
                          <a:latin typeface="Meiryo UI"/>
                        </a:defRPr>
                      </a:pPr>
                      <a:r>
                        <a:t>△</a:t>
                      </a:r>
                    </a:p>
                  </a:txBody>
                  <a:tcPr>
                    <a:solidFill>
                      <a:srgbClr val="F2F2F2"/>
                    </a:solidFill>
                  </a:tcPr>
                </a:tc>
                <a:tc>
                  <a:txBody>
                    <a:bodyPr/>
                    <a:lstStyle/>
                    <a:p>
                      <a:pPr algn="l">
                        <a:defRPr sz="900">
                          <a:solidFill>
                            <a:srgbClr val="333333"/>
                          </a:solidFill>
                          <a:latin typeface="Meiryo UI"/>
                        </a:defRPr>
                      </a:pPr>
                      <a:r>
                        <a:t>△</a:t>
                      </a:r>
                    </a:p>
                  </a:txBody>
                  <a:tcPr>
                    <a:solidFill>
                      <a:srgbClr val="F2F2F2"/>
                    </a:solidFill>
                  </a:tcPr>
                </a:tc>
                <a:tc>
                  <a:txBody>
                    <a:bodyPr/>
                    <a:lstStyle/>
                    <a:p>
                      <a:pPr algn="l">
                        <a:defRPr sz="900">
                          <a:solidFill>
                            <a:srgbClr val="333333"/>
                          </a:solidFill>
                          <a:latin typeface="Meiryo UI"/>
                        </a:defRPr>
                      </a:pPr>
                      <a:r>
                        <a:t>○ Lumada 3.0</a:t>
                      </a:r>
                    </a:p>
                    <a:p>
                      <a:pPr algn="l">
                        <a:defRPr sz="900">
                          <a:solidFill>
                            <a:srgbClr val="333333"/>
                          </a:solidFill>
                          <a:latin typeface="Meiryo UI"/>
                        </a:defRPr>
                      </a:pPr>
                      <a:r>
                        <a:t>(4兆円規模)</a:t>
                      </a:r>
                    </a:p>
                  </a:txBody>
                  <a:tcPr>
                    <a:solidFill>
                      <a:srgbClr val="F2F2F2"/>
                    </a:solidFill>
                  </a:tcPr>
                </a:tc>
                <a:tc>
                  <a:txBody>
                    <a:bodyPr/>
                    <a:lstStyle/>
                    <a:p>
                      <a:pPr algn="l">
                        <a:defRPr sz="900">
                          <a:solidFill>
                            <a:srgbClr val="333333"/>
                          </a:solidFill>
                          <a:latin typeface="Meiryo UI"/>
                        </a:defRPr>
                      </a:pPr>
                      <a:r>
                        <a:t>◎ IOWN光電融合</a:t>
                      </a:r>
                    </a:p>
                    <a:p>
                      <a:pPr algn="l">
                        <a:defRPr sz="900">
                          <a:solidFill>
                            <a:srgbClr val="333333"/>
                          </a:solidFill>
                          <a:latin typeface="Meiryo UI"/>
                        </a:defRPr>
                      </a:pPr>
                      <a:r>
                        <a:t>(消費電力1/8)</a:t>
                      </a:r>
                    </a:p>
                  </a:txBody>
                  <a:tcPr>
                    <a:solidFill>
                      <a:srgbClr val="F2F2F2"/>
                    </a:solidFill>
                  </a:tcPr>
                </a:tc>
              </a:tr>
              <a:tr h="571500">
                <a:tc>
                  <a:txBody>
                    <a:bodyPr/>
                    <a:lstStyle/>
                    <a:p>
                      <a:pPr algn="l">
                        <a:defRPr sz="900">
                          <a:solidFill>
                            <a:srgbClr val="333333"/>
                          </a:solidFill>
                          <a:latin typeface="Meiryo UI"/>
                        </a:defRPr>
                      </a:pPr>
                      <a:r>
                        <a:t>製造・OT</a:t>
                      </a:r>
                    </a:p>
                  </a:txBody>
                  <a:tcPr>
                    <a:solidFill>
                      <a:srgbClr val="FFFFFF"/>
                    </a:solidFill>
                  </a:tcPr>
                </a:tc>
                <a:tc>
                  <a:txBody>
                    <a:bodyPr/>
                    <a:lstStyle/>
                    <a:p>
                      <a:pPr algn="l">
                        <a:defRPr sz="900">
                          <a:solidFill>
                            <a:srgbClr val="333333"/>
                          </a:solidFill>
                          <a:latin typeface="Meiryo UI"/>
                        </a:defRPr>
                      </a:pPr>
                      <a:r>
                        <a:t>○</a:t>
                      </a:r>
                    </a:p>
                  </a:txBody>
                  <a:tcPr>
                    <a:solidFill>
                      <a:srgbClr val="FFFFFF"/>
                    </a:solidFill>
                  </a:tcPr>
                </a:tc>
                <a:tc>
                  <a:txBody>
                    <a:bodyPr/>
                    <a:lstStyle/>
                    <a:p>
                      <a:pPr algn="l">
                        <a:defRPr sz="900">
                          <a:solidFill>
                            <a:srgbClr val="333333"/>
                          </a:solidFill>
                          <a:latin typeface="Meiryo UI"/>
                        </a:defRPr>
                      </a:pPr>
                      <a:r>
                        <a:t>○ Obbligato AI</a:t>
                      </a:r>
                    </a:p>
                  </a:txBody>
                  <a:tcPr>
                    <a:solidFill>
                      <a:srgbClr val="FFFFFF"/>
                    </a:solidFill>
                  </a:tcPr>
                </a:tc>
                <a:tc>
                  <a:txBody>
                    <a:bodyPr/>
                    <a:lstStyle/>
                    <a:p>
                      <a:pPr algn="l">
                        <a:defRPr sz="900">
                          <a:solidFill>
                            <a:srgbClr val="333333"/>
                          </a:solidFill>
                          <a:latin typeface="Meiryo UI"/>
                        </a:defRPr>
                      </a:pPr>
                      <a:r>
                        <a:t>◎ IT×OT融合</a:t>
                      </a:r>
                    </a:p>
                  </a:txBody>
                  <a:tcPr>
                    <a:solidFill>
                      <a:srgbClr val="FFFFFF"/>
                    </a:solidFill>
                  </a:tcPr>
                </a:tc>
                <a:tc>
                  <a:txBody>
                    <a:bodyPr/>
                    <a:lstStyle/>
                    <a:p>
                      <a:pPr algn="l">
                        <a:defRPr sz="900">
                          <a:solidFill>
                            <a:srgbClr val="333333"/>
                          </a:solidFill>
                          <a:latin typeface="Meiryo UI"/>
                        </a:defRPr>
                      </a:pPr>
                      <a:r>
                        <a:t>△</a:t>
                      </a:r>
                    </a:p>
                  </a:txBody>
                  <a:tcPr>
                    <a:solidFill>
                      <a:srgbClr val="FFFFFF"/>
                    </a:solidFill>
                  </a:tcPr>
                </a:tc>
              </a:tr>
              <a:tr h="571500">
                <a:tc>
                  <a:txBody>
                    <a:bodyPr/>
                    <a:lstStyle/>
                    <a:p>
                      <a:pPr algn="l">
                        <a:defRPr sz="900">
                          <a:solidFill>
                            <a:srgbClr val="333333"/>
                          </a:solidFill>
                          <a:latin typeface="Meiryo UI"/>
                        </a:defRPr>
                      </a:pPr>
                      <a:r>
                        <a:t>AIガバナンス</a:t>
                      </a:r>
                    </a:p>
                  </a:txBody>
                  <a:tcPr>
                    <a:solidFill>
                      <a:srgbClr val="F2F2F2"/>
                    </a:solidFill>
                  </a:tcPr>
                </a:tc>
                <a:tc>
                  <a:txBody>
                    <a:bodyPr/>
                    <a:lstStyle/>
                    <a:p>
                      <a:pPr algn="l">
                        <a:defRPr sz="900">
                          <a:solidFill>
                            <a:srgbClr val="333333"/>
                          </a:solidFill>
                          <a:latin typeface="Meiryo UI"/>
                        </a:defRPr>
                      </a:pPr>
                      <a:r>
                        <a:t>○ ガードレール</a:t>
                      </a:r>
                    </a:p>
                  </a:txBody>
                  <a:tcPr>
                    <a:solidFill>
                      <a:srgbClr val="F2F2F2"/>
                    </a:solidFill>
                  </a:tcPr>
                </a:tc>
                <a:tc>
                  <a:txBody>
                    <a:bodyPr/>
                    <a:lstStyle/>
                    <a:p>
                      <a:pPr algn="l">
                        <a:defRPr sz="900">
                          <a:solidFill>
                            <a:srgbClr val="333333"/>
                          </a:solidFill>
                          <a:latin typeface="Meiryo UI"/>
                        </a:defRPr>
                      </a:pPr>
                      <a:r>
                        <a:t>◎ Google/Cisco</a:t>
                      </a:r>
                    </a:p>
                    <a:p>
                      <a:pPr algn="l">
                        <a:defRPr sz="900">
                          <a:solidFill>
                            <a:srgbClr val="333333"/>
                          </a:solidFill>
                          <a:latin typeface="Meiryo UI"/>
                        </a:defRPr>
                      </a:pPr>
                      <a:r>
                        <a:t>連携</a:t>
                      </a:r>
                    </a:p>
                  </a:txBody>
                  <a:tcPr>
                    <a:solidFill>
                      <a:srgbClr val="F2F2F2"/>
                    </a:solidFill>
                  </a:tcPr>
                </a:tc>
                <a:tc>
                  <a:txBody>
                    <a:bodyPr/>
                    <a:lstStyle/>
                    <a:p>
                      <a:pPr algn="l">
                        <a:defRPr sz="900">
                          <a:solidFill>
                            <a:srgbClr val="333333"/>
                          </a:solidFill>
                          <a:latin typeface="Meiryo UI"/>
                        </a:defRPr>
                      </a:pPr>
                      <a:r>
                        <a:t>○ AIアンバサダー</a:t>
                      </a:r>
                    </a:p>
                  </a:txBody>
                  <a:tcPr>
                    <a:solidFill>
                      <a:srgbClr val="F2F2F2"/>
                    </a:solidFill>
                  </a:tcPr>
                </a:tc>
                <a:tc>
                  <a:txBody>
                    <a:bodyPr/>
                    <a:lstStyle/>
                    <a:p>
                      <a:pPr algn="l">
                        <a:defRPr sz="900">
                          <a:solidFill>
                            <a:srgbClr val="333333"/>
                          </a:solidFill>
                          <a:latin typeface="Meiryo UI"/>
                        </a:defRPr>
                      </a:pPr>
                      <a:r>
                        <a:t>○</a:t>
                      </a:r>
                    </a:p>
                  </a:txBody>
                  <a:tcPr>
                    <a:solidFill>
                      <a:srgbClr val="F2F2F2"/>
                    </a:solidFill>
                  </a:tcPr>
                </a:tc>
              </a:tr>
            </a:tbl>
          </a:graphicData>
        </a:graphic>
      </p:graphicFrame>
      <p:sp>
        <p:nvSpPr>
          <p:cNvPr id="4" name="TextBox 3"/>
          <p:cNvSpPr txBox="1"/>
          <p:nvPr/>
        </p:nvSpPr>
        <p:spPr>
          <a:xfrm>
            <a:off x="274320" y="5852160"/>
            <a:ext cx="11612880" cy="457200"/>
          </a:xfrm>
          <a:prstGeom prst="rect">
            <a:avLst/>
          </a:prstGeom>
          <a:noFill/>
        </p:spPr>
        <p:txBody>
          <a:bodyPr wrap="square">
            <a:spAutoFit/>
          </a:bodyPr>
          <a:lstStyle/>
          <a:p>
            <a:pPr algn="l">
              <a:spcBef>
                <a:spcPts val="400"/>
              </a:spcBef>
              <a:spcAft>
                <a:spcPts val="200"/>
              </a:spcAft>
              <a:defRPr sz="900" b="0">
                <a:solidFill>
                  <a:srgbClr val="666666"/>
                </a:solidFill>
                <a:latin typeface="Meiryo UI"/>
              </a:defRPr>
            </a:pPr>
            <a:r>
              <a:t>◎=業界トップ級  ○=一定の実績  △=限定的・未注力</a:t>
            </a:r>
          </a:p>
        </p:txBody>
      </p:sp>
      <p:cxnSp>
        <p:nvCxnSpPr>
          <p:cNvPr id="5" name="Connector 4"/>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 ① 金融業界向けレガシー刷新 × AI開発生産性革命</a:t>
            </a:r>
          </a:p>
        </p:txBody>
      </p:sp>
      <p:sp>
        <p:nvSpPr>
          <p:cNvPr id="3" name="Rounded Rectangle 2"/>
          <p:cNvSpPr/>
          <p:nvPr/>
        </p:nvSpPr>
        <p:spPr>
          <a:xfrm>
            <a:off x="274320" y="1005840"/>
            <a:ext cx="182880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UI"/>
              </a:defRPr>
            </a:pPr>
            <a:r>
              <a:t>優先度 ★★★</a:t>
            </a:r>
          </a:p>
        </p:txBody>
      </p:sp>
      <p:sp>
        <p:nvSpPr>
          <p:cNvPr id="4" name="TextBox 3"/>
          <p:cNvSpPr txBox="1"/>
          <p:nvPr/>
        </p:nvSpPr>
        <p:spPr>
          <a:xfrm>
            <a:off x="274320" y="1737360"/>
            <a:ext cx="5486400" cy="365760"/>
          </a:xfrm>
          <a:prstGeom prst="rect">
            <a:avLst/>
          </a:prstGeom>
          <a:noFill/>
        </p:spPr>
        <p:txBody>
          <a:bodyPr wrap="square">
            <a:spAutoFit/>
          </a:bodyPr>
          <a:lstStyle/>
          <a:p>
            <a:pPr algn="l">
              <a:defRPr sz="1400" b="1">
                <a:solidFill>
                  <a:srgbClr val="003366"/>
                </a:solidFill>
                <a:latin typeface="Meiryo UI"/>
              </a:defRPr>
            </a:pPr>
            <a:r>
              <a:t>■ 競合状況</a:t>
            </a:r>
          </a:p>
        </p:txBody>
      </p:sp>
      <p:sp>
        <p:nvSpPr>
          <p:cNvPr id="5" name="TextBox 4"/>
          <p:cNvSpPr txBox="1"/>
          <p:nvPr/>
        </p:nvSpPr>
        <p:spPr>
          <a:xfrm>
            <a:off x="457200" y="2194560"/>
            <a:ext cx="5486400" cy="13716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各社とも金融業界への展開を進めていますが、「ソフトウェア開発の生産性100倍」を打ち出しているのは富士通だけです</a:t>
            </a:r>
          </a:p>
          <a:p>
            <a:pPr algn="l">
              <a:spcBef>
                <a:spcPts val="400"/>
              </a:spcBef>
              <a:spcAft>
                <a:spcPts val="200"/>
              </a:spcAft>
              <a:defRPr sz="1000" b="0">
                <a:solidFill>
                  <a:srgbClr val="333333"/>
                </a:solidFill>
                <a:latin typeface="Meiryo UI"/>
              </a:defRPr>
            </a:pPr>
            <a:r>
              <a:t>• 金融機関はシステム更新の規模が大きく、レガシーCOBOL資産も膨大です</a:t>
            </a:r>
          </a:p>
          <a:p>
            <a:pPr algn="l">
              <a:spcBef>
                <a:spcPts val="400"/>
              </a:spcBef>
              <a:spcAft>
                <a:spcPts val="200"/>
              </a:spcAft>
              <a:defRPr sz="1000" b="0">
                <a:solidFill>
                  <a:srgbClr val="333333"/>
                </a:solidFill>
                <a:latin typeface="Meiryo UI"/>
              </a:defRPr>
            </a:pPr>
            <a:r>
              <a:t>• Application Transform の最適ターゲットとなる市場です</a:t>
            </a:r>
          </a:p>
        </p:txBody>
      </p:sp>
      <p:sp>
        <p:nvSpPr>
          <p:cNvPr id="6" name="TextBox 5"/>
          <p:cNvSpPr txBox="1"/>
          <p:nvPr/>
        </p:nvSpPr>
        <p:spPr>
          <a:xfrm>
            <a:off x="274320" y="3474720"/>
            <a:ext cx="5486400" cy="365760"/>
          </a:xfrm>
          <a:prstGeom prst="rect">
            <a:avLst/>
          </a:prstGeom>
          <a:noFill/>
        </p:spPr>
        <p:txBody>
          <a:bodyPr wrap="square">
            <a:spAutoFit/>
          </a:bodyPr>
          <a:lstStyle/>
          <a:p>
            <a:pPr algn="l">
              <a:defRPr sz="1400" b="1">
                <a:solidFill>
                  <a:srgbClr val="003366"/>
                </a:solidFill>
                <a:latin typeface="Meiryo UI"/>
              </a:defRPr>
            </a:pPr>
            <a:r>
              <a:t>■ 攻めるべき理由</a:t>
            </a:r>
          </a:p>
        </p:txBody>
      </p:sp>
      <p:sp>
        <p:nvSpPr>
          <p:cNvPr id="7" name="TextBox 6"/>
          <p:cNvSpPr txBox="1"/>
          <p:nvPr/>
        </p:nvSpPr>
        <p:spPr>
          <a:xfrm>
            <a:off x="457200" y="3931920"/>
            <a:ext cx="5486400" cy="1828800"/>
          </a:xfrm>
          <a:prstGeom prst="rect">
            <a:avLst/>
          </a:prstGeom>
          <a:noFill/>
        </p:spPr>
        <p:txBody>
          <a:bodyPr wrap="square">
            <a:spAutoFit/>
          </a:bodyPr>
          <a:lstStyle/>
          <a:p>
            <a:pPr algn="l">
              <a:spcBef>
                <a:spcPts val="400"/>
              </a:spcBef>
              <a:spcAft>
                <a:spcPts val="200"/>
              </a:spcAft>
              <a:defRPr sz="1000" b="1">
                <a:solidFill>
                  <a:srgbClr val="0078D4"/>
                </a:solidFill>
                <a:latin typeface="Meiryo UI"/>
              </a:defRPr>
            </a:pPr>
            <a:r>
              <a:t>• 富士通のApplication Transformは COBOL設計書生成で97%の効率化を実現済みです</a:t>
            </a:r>
          </a:p>
          <a:p>
            <a:pPr algn="l">
              <a:spcBef>
                <a:spcPts val="400"/>
              </a:spcBef>
              <a:spcAft>
                <a:spcPts val="200"/>
              </a:spcAft>
              <a:defRPr sz="1000" b="0">
                <a:solidFill>
                  <a:srgbClr val="333333"/>
                </a:solidFill>
                <a:latin typeface="Meiryo UI"/>
              </a:defRPr>
            </a:pPr>
            <a:r>
              <a:t>• Knowledge Graph-Enhanced RAGで高い解析精度を確保しています</a:t>
            </a:r>
          </a:p>
          <a:p>
            <a:pPr algn="l">
              <a:spcBef>
                <a:spcPts val="400"/>
              </a:spcBef>
              <a:spcAft>
                <a:spcPts val="200"/>
              </a:spcAft>
              <a:defRPr sz="1000" b="0">
                <a:solidFill>
                  <a:srgbClr val="333333"/>
                </a:solidFill>
                <a:latin typeface="Meiryo UI"/>
              </a:defRPr>
            </a:pPr>
            <a:r>
              <a:t>• SMBC日興証券との共同検証で金融分野の実績があります</a:t>
            </a:r>
          </a:p>
          <a:p>
            <a:pPr algn="l">
              <a:spcBef>
                <a:spcPts val="400"/>
              </a:spcBef>
              <a:spcAft>
                <a:spcPts val="200"/>
              </a:spcAft>
              <a:defRPr sz="1000" b="0">
                <a:solidFill>
                  <a:srgbClr val="333333"/>
                </a:solidFill>
                <a:latin typeface="Meiryo UI"/>
              </a:defRPr>
            </a:pPr>
            <a:r>
              <a:t>• 「2025年の崖」対策として最も実践的なソリューションです</a:t>
            </a:r>
          </a:p>
        </p:txBody>
      </p:sp>
      <p:cxnSp>
        <p:nvCxnSpPr>
          <p:cNvPr id="8" name="Connector 7"/>
          <p:cNvCxnSpPr/>
          <p:nvPr/>
        </p:nvCxnSpPr>
        <p:spPr>
          <a:xfrm>
            <a:off x="5943600" y="1371600"/>
            <a:ext cx="0" cy="484632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737360"/>
            <a:ext cx="5486400" cy="365760"/>
          </a:xfrm>
          <a:prstGeom prst="rect">
            <a:avLst/>
          </a:prstGeom>
          <a:noFill/>
        </p:spPr>
        <p:txBody>
          <a:bodyPr wrap="square">
            <a:spAutoFit/>
          </a:bodyPr>
          <a:lstStyle/>
          <a:p>
            <a:pPr algn="l">
              <a:defRPr sz="1400" b="1">
                <a:solidFill>
                  <a:srgbClr val="003366"/>
                </a:solidFill>
                <a:latin typeface="Meiryo UI"/>
              </a:defRPr>
            </a:pPr>
            <a:r>
              <a:t>■ 推奨アクション</a:t>
            </a:r>
          </a:p>
        </p:txBody>
      </p:sp>
      <p:sp>
        <p:nvSpPr>
          <p:cNvPr id="10" name="Rounded Rectangle 9"/>
          <p:cNvSpPr/>
          <p:nvPr/>
        </p:nvSpPr>
        <p:spPr>
          <a:xfrm>
            <a:off x="6217920" y="228600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77440"/>
            <a:ext cx="5120640" cy="640080"/>
          </a:xfrm>
          <a:prstGeom prst="rect">
            <a:avLst/>
          </a:prstGeom>
          <a:noFill/>
        </p:spPr>
        <p:txBody>
          <a:bodyPr wrap="square">
            <a:spAutoFit/>
          </a:bodyPr>
          <a:lstStyle/>
          <a:p>
            <a:pPr>
              <a:defRPr sz="1000" b="1">
                <a:solidFill>
                  <a:srgbClr val="333333"/>
                </a:solidFill>
                <a:latin typeface="Meiryo UI"/>
              </a:defRPr>
            </a:pPr>
            <a:r>
              <a:t>Action 1: SMBC日興証券との検証成果を横展開し、メガバンク・地銀へアプローチします</a:t>
            </a:r>
          </a:p>
        </p:txBody>
      </p:sp>
      <p:sp>
        <p:nvSpPr>
          <p:cNvPr id="12" name="Rounded Rectangle 11"/>
          <p:cNvSpPr/>
          <p:nvPr/>
        </p:nvSpPr>
        <p:spPr>
          <a:xfrm>
            <a:off x="6217920" y="329184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120640" cy="640080"/>
          </a:xfrm>
          <a:prstGeom prst="rect">
            <a:avLst/>
          </a:prstGeom>
          <a:noFill/>
        </p:spPr>
        <p:txBody>
          <a:bodyPr wrap="square">
            <a:spAutoFit/>
          </a:bodyPr>
          <a:lstStyle/>
          <a:p>
            <a:pPr>
              <a:defRPr sz="1000" b="0">
                <a:solidFill>
                  <a:srgbClr val="333333"/>
                </a:solidFill>
                <a:latin typeface="Meiryo UI"/>
              </a:defRPr>
            </a:pPr>
            <a:r>
              <a:t>Action 2: 「レガシー刷新 × 開発生産性100倍」のメッセージを金融業界全体に訴求します</a:t>
            </a:r>
          </a:p>
        </p:txBody>
      </p:sp>
      <p:sp>
        <p:nvSpPr>
          <p:cNvPr id="14" name="Rounded Rectangle 13"/>
          <p:cNvSpPr/>
          <p:nvPr/>
        </p:nvSpPr>
        <p:spPr>
          <a:xfrm>
            <a:off x="6217920" y="429768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89120"/>
            <a:ext cx="5120640" cy="640080"/>
          </a:xfrm>
          <a:prstGeom prst="rect">
            <a:avLst/>
          </a:prstGeom>
          <a:noFill/>
        </p:spPr>
        <p:txBody>
          <a:bodyPr wrap="square">
            <a:spAutoFit/>
          </a:bodyPr>
          <a:lstStyle/>
          <a:p>
            <a:pPr>
              <a:defRPr sz="1000" b="0">
                <a:solidFill>
                  <a:srgbClr val="333333"/>
                </a:solidFill>
                <a:latin typeface="Meiryo UI"/>
              </a:defRPr>
            </a:pPr>
            <a:r>
              <a:t>Action 3: Application Transform ＋ Kozuchiの統合ソリューションとして提案を強化します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 ② 公共・自治体向けAI業務改革</a:t>
            </a:r>
          </a:p>
        </p:txBody>
      </p:sp>
      <p:sp>
        <p:nvSpPr>
          <p:cNvPr id="3" name="Rounded Rectangle 2"/>
          <p:cNvSpPr/>
          <p:nvPr/>
        </p:nvSpPr>
        <p:spPr>
          <a:xfrm>
            <a:off x="274320" y="1005840"/>
            <a:ext cx="182880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UI"/>
              </a:defRPr>
            </a:pPr>
            <a:r>
              <a:t>優先度 ★★★</a:t>
            </a:r>
          </a:p>
        </p:txBody>
      </p:sp>
      <p:sp>
        <p:nvSpPr>
          <p:cNvPr id="4" name="TextBox 3"/>
          <p:cNvSpPr txBox="1"/>
          <p:nvPr/>
        </p:nvSpPr>
        <p:spPr>
          <a:xfrm>
            <a:off x="274320" y="1737360"/>
            <a:ext cx="5486400" cy="365760"/>
          </a:xfrm>
          <a:prstGeom prst="rect">
            <a:avLst/>
          </a:prstGeom>
          <a:noFill/>
        </p:spPr>
        <p:txBody>
          <a:bodyPr wrap="square">
            <a:spAutoFit/>
          </a:bodyPr>
          <a:lstStyle/>
          <a:p>
            <a:pPr algn="l">
              <a:defRPr sz="1400" b="1">
                <a:solidFill>
                  <a:srgbClr val="003366"/>
                </a:solidFill>
                <a:latin typeface="Meiryo UI"/>
              </a:defRPr>
            </a:pPr>
            <a:r>
              <a:t>■ 競合状況</a:t>
            </a:r>
          </a:p>
        </p:txBody>
      </p:sp>
      <p:sp>
        <p:nvSpPr>
          <p:cNvPr id="5" name="TextBox 4"/>
          <p:cNvSpPr txBox="1"/>
          <p:nvPr/>
        </p:nvSpPr>
        <p:spPr>
          <a:xfrm>
            <a:off x="457200" y="2194560"/>
            <a:ext cx="5486400" cy="13716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NECが北九州市、相模原市、盛岡市など自治体導入で先行しています</a:t>
            </a:r>
          </a:p>
          <a:p>
            <a:pPr algn="l">
              <a:spcBef>
                <a:spcPts val="400"/>
              </a:spcBef>
              <a:spcAft>
                <a:spcPts val="200"/>
              </a:spcAft>
              <a:defRPr sz="1000" b="0">
                <a:solidFill>
                  <a:srgbClr val="333333"/>
                </a:solidFill>
                <a:latin typeface="Meiryo UI"/>
              </a:defRPr>
            </a:pPr>
            <a:r>
              <a:t>• NTTも自治体向けクローズドAI（tsuzumi 2）で強みを持っています</a:t>
            </a:r>
          </a:p>
          <a:p>
            <a:pPr algn="l">
              <a:spcBef>
                <a:spcPts val="400"/>
              </a:spcBef>
              <a:spcAft>
                <a:spcPts val="200"/>
              </a:spcAft>
              <a:defRPr sz="1000" b="0">
                <a:solidFill>
                  <a:srgbClr val="333333"/>
                </a:solidFill>
                <a:latin typeface="Meiryo UI"/>
              </a:defRPr>
            </a:pPr>
            <a:r>
              <a:t>• 自治体はレガシーシステムの刷新ニーズが極めて高い市場です</a:t>
            </a:r>
          </a:p>
        </p:txBody>
      </p:sp>
      <p:sp>
        <p:nvSpPr>
          <p:cNvPr id="6" name="TextBox 5"/>
          <p:cNvSpPr txBox="1"/>
          <p:nvPr/>
        </p:nvSpPr>
        <p:spPr>
          <a:xfrm>
            <a:off x="274320" y="3474720"/>
            <a:ext cx="5486400" cy="365760"/>
          </a:xfrm>
          <a:prstGeom prst="rect">
            <a:avLst/>
          </a:prstGeom>
          <a:noFill/>
        </p:spPr>
        <p:txBody>
          <a:bodyPr wrap="square">
            <a:spAutoFit/>
          </a:bodyPr>
          <a:lstStyle/>
          <a:p>
            <a:pPr algn="l">
              <a:defRPr sz="1400" b="1">
                <a:solidFill>
                  <a:srgbClr val="003366"/>
                </a:solidFill>
                <a:latin typeface="Meiryo UI"/>
              </a:defRPr>
            </a:pPr>
            <a:r>
              <a:t>■ 攻めるべき理由</a:t>
            </a:r>
          </a:p>
        </p:txBody>
      </p:sp>
      <p:sp>
        <p:nvSpPr>
          <p:cNvPr id="7" name="TextBox 6"/>
          <p:cNvSpPr txBox="1"/>
          <p:nvPr/>
        </p:nvSpPr>
        <p:spPr>
          <a:xfrm>
            <a:off x="457200" y="3931920"/>
            <a:ext cx="5486400" cy="1828800"/>
          </a:xfrm>
          <a:prstGeom prst="rect">
            <a:avLst/>
          </a:prstGeom>
          <a:noFill/>
        </p:spPr>
        <p:txBody>
          <a:bodyPr wrap="square">
            <a:spAutoFit/>
          </a:bodyPr>
          <a:lstStyle/>
          <a:p>
            <a:pPr algn="l">
              <a:spcBef>
                <a:spcPts val="400"/>
              </a:spcBef>
              <a:spcAft>
                <a:spcPts val="200"/>
              </a:spcAft>
              <a:defRPr sz="1000" b="1">
                <a:solidFill>
                  <a:srgbClr val="0078D4"/>
                </a:solidFill>
                <a:latin typeface="Meiryo UI"/>
              </a:defRPr>
            </a:pPr>
            <a:r>
              <a:t>• 自治体のレガシーシステムは COBOL資産が多く、Application Transformとの親和性が高いです</a:t>
            </a:r>
          </a:p>
          <a:p>
            <a:pPr algn="l">
              <a:spcBef>
                <a:spcPts val="400"/>
              </a:spcBef>
              <a:spcAft>
                <a:spcPts val="200"/>
              </a:spcAft>
              <a:defRPr sz="1000" b="0">
                <a:solidFill>
                  <a:srgbClr val="333333"/>
                </a:solidFill>
                <a:latin typeface="Meiryo UI"/>
              </a:defRPr>
            </a:pPr>
            <a:r>
              <a:t>• Enterprise AI Factory によるオンプレミスAI運用は自治体の情報セキュリティ要件に適合します</a:t>
            </a:r>
          </a:p>
          <a:p>
            <a:pPr algn="l">
              <a:spcBef>
                <a:spcPts val="400"/>
              </a:spcBef>
              <a:spcAft>
                <a:spcPts val="200"/>
              </a:spcAft>
              <a:defRPr sz="1000" b="0">
                <a:solidFill>
                  <a:srgbClr val="333333"/>
                </a:solidFill>
                <a:latin typeface="Meiryo UI"/>
              </a:defRPr>
            </a:pPr>
            <a:r>
              <a:t>• レガシー刷新 ＋ 業務AIの組み合わせはNEC・NTTにない独自提案が可能です</a:t>
            </a:r>
          </a:p>
        </p:txBody>
      </p:sp>
      <p:cxnSp>
        <p:nvCxnSpPr>
          <p:cNvPr id="8" name="Connector 7"/>
          <p:cNvCxnSpPr/>
          <p:nvPr/>
        </p:nvCxnSpPr>
        <p:spPr>
          <a:xfrm>
            <a:off x="5943600" y="1371600"/>
            <a:ext cx="0" cy="484632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737360"/>
            <a:ext cx="5486400" cy="365760"/>
          </a:xfrm>
          <a:prstGeom prst="rect">
            <a:avLst/>
          </a:prstGeom>
          <a:noFill/>
        </p:spPr>
        <p:txBody>
          <a:bodyPr wrap="square">
            <a:spAutoFit/>
          </a:bodyPr>
          <a:lstStyle/>
          <a:p>
            <a:pPr algn="l">
              <a:defRPr sz="1400" b="1">
                <a:solidFill>
                  <a:srgbClr val="003366"/>
                </a:solidFill>
                <a:latin typeface="Meiryo UI"/>
              </a:defRPr>
            </a:pPr>
            <a:r>
              <a:t>■ 推奨アクション</a:t>
            </a:r>
          </a:p>
        </p:txBody>
      </p:sp>
      <p:sp>
        <p:nvSpPr>
          <p:cNvPr id="10" name="Rounded Rectangle 9"/>
          <p:cNvSpPr/>
          <p:nvPr/>
        </p:nvSpPr>
        <p:spPr>
          <a:xfrm>
            <a:off x="6217920" y="228600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77440"/>
            <a:ext cx="5120640" cy="640080"/>
          </a:xfrm>
          <a:prstGeom prst="rect">
            <a:avLst/>
          </a:prstGeom>
          <a:noFill/>
        </p:spPr>
        <p:txBody>
          <a:bodyPr wrap="square">
            <a:spAutoFit/>
          </a:bodyPr>
          <a:lstStyle/>
          <a:p>
            <a:pPr>
              <a:defRPr sz="1000">
                <a:solidFill>
                  <a:srgbClr val="333333"/>
                </a:solidFill>
                <a:latin typeface="Meiryo UI"/>
              </a:defRPr>
            </a:pPr>
            <a:r>
              <a:t>Action 1: レガシー刷新＋業務AIの組み合わせで自治体DXパッケージを構成します</a:t>
            </a:r>
          </a:p>
        </p:txBody>
      </p:sp>
      <p:sp>
        <p:nvSpPr>
          <p:cNvPr id="12" name="Rounded Rectangle 11"/>
          <p:cNvSpPr/>
          <p:nvPr/>
        </p:nvSpPr>
        <p:spPr>
          <a:xfrm>
            <a:off x="6217920" y="329184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120640" cy="640080"/>
          </a:xfrm>
          <a:prstGeom prst="rect">
            <a:avLst/>
          </a:prstGeom>
          <a:noFill/>
        </p:spPr>
        <p:txBody>
          <a:bodyPr wrap="square">
            <a:spAutoFit/>
          </a:bodyPr>
          <a:lstStyle/>
          <a:p>
            <a:pPr>
              <a:defRPr sz="1000">
                <a:solidFill>
                  <a:srgbClr val="333333"/>
                </a:solidFill>
                <a:latin typeface="Meiryo UI"/>
              </a:defRPr>
            </a:pPr>
            <a:r>
              <a:t>Action 2: 自治体のCOBOL資産調査から入り、Application Transform導入を提案します</a:t>
            </a:r>
          </a:p>
        </p:txBody>
      </p:sp>
      <p:sp>
        <p:nvSpPr>
          <p:cNvPr id="14" name="Rounded Rectangle 13"/>
          <p:cNvSpPr/>
          <p:nvPr/>
        </p:nvSpPr>
        <p:spPr>
          <a:xfrm>
            <a:off x="6217920" y="4297680"/>
            <a:ext cx="548640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89120"/>
            <a:ext cx="5120640" cy="640080"/>
          </a:xfrm>
          <a:prstGeom prst="rect">
            <a:avLst/>
          </a:prstGeom>
          <a:noFill/>
        </p:spPr>
        <p:txBody>
          <a:bodyPr wrap="square">
            <a:spAutoFit/>
          </a:bodyPr>
          <a:lstStyle/>
          <a:p>
            <a:pPr>
              <a:defRPr sz="1000">
                <a:solidFill>
                  <a:srgbClr val="333333"/>
                </a:solidFill>
                <a:latin typeface="Meiryo UI"/>
              </a:defRPr>
            </a:pPr>
            <a:r>
              <a:t>Action 3: Enterprise AI Factory のオンプレミス特性で情報セキュリティ要件をクリアします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 ③ 製造業向けフィジカルAIの拡大</a:t>
            </a:r>
          </a:p>
        </p:txBody>
      </p:sp>
      <p:sp>
        <p:nvSpPr>
          <p:cNvPr id="3" name="Rounded Rectangle 2"/>
          <p:cNvSpPr/>
          <p:nvPr/>
        </p:nvSpPr>
        <p:spPr>
          <a:xfrm>
            <a:off x="274320" y="1005840"/>
            <a:ext cx="182880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UI"/>
              </a:defRPr>
            </a:pPr>
            <a:r>
              <a:t>優先度 ★★☆</a:t>
            </a:r>
          </a:p>
        </p:txBody>
      </p:sp>
      <p:sp>
        <p:nvSpPr>
          <p:cNvPr id="4" name="TextBox 3"/>
          <p:cNvSpPr txBox="1"/>
          <p:nvPr/>
        </p:nvSpPr>
        <p:spPr>
          <a:xfrm>
            <a:off x="274320" y="1737360"/>
            <a:ext cx="5486400" cy="365760"/>
          </a:xfrm>
          <a:prstGeom prst="rect">
            <a:avLst/>
          </a:prstGeom>
          <a:noFill/>
        </p:spPr>
        <p:txBody>
          <a:bodyPr wrap="square">
            <a:spAutoFit/>
          </a:bodyPr>
          <a:lstStyle/>
          <a:p>
            <a:pPr algn="l">
              <a:defRPr sz="1400" b="1">
                <a:solidFill>
                  <a:srgbClr val="003366"/>
                </a:solidFill>
                <a:latin typeface="Meiryo UI"/>
              </a:defRPr>
            </a:pPr>
            <a:r>
              <a:t>■ 競合状況</a:t>
            </a:r>
          </a:p>
        </p:txBody>
      </p:sp>
      <p:sp>
        <p:nvSpPr>
          <p:cNvPr id="5" name="TextBox 4"/>
          <p:cNvSpPr txBox="1"/>
          <p:nvPr/>
        </p:nvSpPr>
        <p:spPr>
          <a:xfrm>
            <a:off x="457200" y="2194560"/>
            <a:ext cx="5486400" cy="13716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日立がLumada 3.0 + HMAX で製造・鉄道・エネルギー分野を席巻しています</a:t>
            </a:r>
          </a:p>
          <a:p>
            <a:pPr algn="l">
              <a:spcBef>
                <a:spcPts val="400"/>
              </a:spcBef>
              <a:spcAft>
                <a:spcPts val="200"/>
              </a:spcAft>
              <a:defRPr sz="1000" b="0">
                <a:solidFill>
                  <a:srgbClr val="333333"/>
                </a:solidFill>
                <a:latin typeface="Meiryo UI"/>
              </a:defRPr>
            </a:pPr>
            <a:r>
              <a:t>• 3年で1.3兆円規模の投資を計画、フィジカルAI体験スタジオも開設しました</a:t>
            </a:r>
          </a:p>
          <a:p>
            <a:pPr algn="l">
              <a:spcBef>
                <a:spcPts val="400"/>
              </a:spcBef>
              <a:spcAft>
                <a:spcPts val="200"/>
              </a:spcAft>
              <a:defRPr sz="1000" b="0">
                <a:solidFill>
                  <a:srgbClr val="333333"/>
                </a:solidFill>
                <a:latin typeface="Meiryo UI"/>
              </a:defRPr>
            </a:pPr>
            <a:r>
              <a:t>• 日立のIT × OT融合力と現場知見は大きなアドバンテージです</a:t>
            </a:r>
          </a:p>
        </p:txBody>
      </p:sp>
      <p:sp>
        <p:nvSpPr>
          <p:cNvPr id="6" name="TextBox 5"/>
          <p:cNvSpPr txBox="1"/>
          <p:nvPr/>
        </p:nvSpPr>
        <p:spPr>
          <a:xfrm>
            <a:off x="274320" y="3474720"/>
            <a:ext cx="5486400" cy="365760"/>
          </a:xfrm>
          <a:prstGeom prst="rect">
            <a:avLst/>
          </a:prstGeom>
          <a:noFill/>
        </p:spPr>
        <p:txBody>
          <a:bodyPr wrap="square">
            <a:spAutoFit/>
          </a:bodyPr>
          <a:lstStyle/>
          <a:p>
            <a:pPr algn="l">
              <a:defRPr sz="1400" b="1">
                <a:solidFill>
                  <a:srgbClr val="003366"/>
                </a:solidFill>
                <a:latin typeface="Meiryo UI"/>
              </a:defRPr>
            </a:pPr>
            <a:r>
              <a:t>■ 攻めるべき理由</a:t>
            </a:r>
          </a:p>
        </p:txBody>
      </p:sp>
      <p:sp>
        <p:nvSpPr>
          <p:cNvPr id="7" name="TextBox 6"/>
          <p:cNvSpPr txBox="1"/>
          <p:nvPr/>
        </p:nvSpPr>
        <p:spPr>
          <a:xfrm>
            <a:off x="457200" y="3931920"/>
            <a:ext cx="5486400" cy="18288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Kozuchi Physical AI 1.0 は発表済みだが、実績面では日立に差があります</a:t>
            </a:r>
          </a:p>
          <a:p>
            <a:pPr algn="l">
              <a:spcBef>
                <a:spcPts val="400"/>
              </a:spcBef>
              <a:spcAft>
                <a:spcPts val="200"/>
              </a:spcAft>
              <a:defRPr sz="1000" b="1">
                <a:solidFill>
                  <a:srgbClr val="0078D4"/>
                </a:solidFill>
                <a:latin typeface="Meiryo UI"/>
              </a:defRPr>
            </a:pPr>
            <a:r>
              <a:t>• 製造業DXの巨大市場は成長余地が大きく、複数プレイヤーが共存可能です</a:t>
            </a:r>
          </a:p>
          <a:p>
            <a:pPr algn="l">
              <a:spcBef>
                <a:spcPts val="400"/>
              </a:spcBef>
              <a:spcAft>
                <a:spcPts val="200"/>
              </a:spcAft>
              <a:defRPr sz="1000" b="0">
                <a:solidFill>
                  <a:srgbClr val="333333"/>
                </a:solidFill>
                <a:latin typeface="Meiryo UI"/>
              </a:defRPr>
            </a:pPr>
            <a:r>
              <a:t>• レガシー刷新（Application Transform）と組み合わせた End-to-End提案で差別化できます</a:t>
            </a:r>
          </a:p>
        </p:txBody>
      </p:sp>
      <p:cxnSp>
        <p:nvCxnSpPr>
          <p:cNvPr id="8" name="Connector 7"/>
          <p:cNvCxnSpPr/>
          <p:nvPr/>
        </p:nvCxnSpPr>
        <p:spPr>
          <a:xfrm>
            <a:off x="5943600" y="1371600"/>
            <a:ext cx="0" cy="484632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737360"/>
            <a:ext cx="5486400" cy="365760"/>
          </a:xfrm>
          <a:prstGeom prst="rect">
            <a:avLst/>
          </a:prstGeom>
          <a:noFill/>
        </p:spPr>
        <p:txBody>
          <a:bodyPr wrap="square">
            <a:spAutoFit/>
          </a:bodyPr>
          <a:lstStyle/>
          <a:p>
            <a:pPr algn="l">
              <a:defRPr sz="1400" b="1">
                <a:solidFill>
                  <a:srgbClr val="003366"/>
                </a:solidFill>
                <a:latin typeface="Meiryo UI"/>
              </a:defRPr>
            </a:pPr>
            <a:r>
              <a:t>■ 推奨アクション</a:t>
            </a:r>
          </a:p>
        </p:txBody>
      </p:sp>
      <p:sp>
        <p:nvSpPr>
          <p:cNvPr id="10" name="Rounded Rectangle 9"/>
          <p:cNvSpPr/>
          <p:nvPr/>
        </p:nvSpPr>
        <p:spPr>
          <a:xfrm>
            <a:off x="6217920" y="2286000"/>
            <a:ext cx="5486400" cy="822960"/>
          </a:xfrm>
          <a:prstGeom prst="roundRect">
            <a:avLst/>
          </a:prstGeom>
          <a:solidFill>
            <a:srgbClr val="FC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77440"/>
            <a:ext cx="5120640" cy="640080"/>
          </a:xfrm>
          <a:prstGeom prst="rect">
            <a:avLst/>
          </a:prstGeom>
          <a:noFill/>
        </p:spPr>
        <p:txBody>
          <a:bodyPr wrap="square">
            <a:spAutoFit/>
          </a:bodyPr>
          <a:lstStyle/>
          <a:p>
            <a:pPr>
              <a:defRPr sz="1000">
                <a:solidFill>
                  <a:srgbClr val="333333"/>
                </a:solidFill>
                <a:latin typeface="Meiryo UI"/>
              </a:defRPr>
            </a:pPr>
            <a:r>
              <a:t>Action 1: NVIDIA連携をさらに深化し、自動車・半導体等の日立が手薄な製造分野に集中投資します</a:t>
            </a:r>
          </a:p>
        </p:txBody>
      </p:sp>
      <p:sp>
        <p:nvSpPr>
          <p:cNvPr id="12" name="Rounded Rectangle 11"/>
          <p:cNvSpPr/>
          <p:nvPr/>
        </p:nvSpPr>
        <p:spPr>
          <a:xfrm>
            <a:off x="6217920" y="3291840"/>
            <a:ext cx="5486400" cy="822960"/>
          </a:xfrm>
          <a:prstGeom prst="roundRect">
            <a:avLst/>
          </a:prstGeom>
          <a:solidFill>
            <a:srgbClr val="FC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120640" cy="640080"/>
          </a:xfrm>
          <a:prstGeom prst="rect">
            <a:avLst/>
          </a:prstGeom>
          <a:noFill/>
        </p:spPr>
        <p:txBody>
          <a:bodyPr wrap="square">
            <a:spAutoFit/>
          </a:bodyPr>
          <a:lstStyle/>
          <a:p>
            <a:pPr>
              <a:defRPr sz="1000">
                <a:solidFill>
                  <a:srgbClr val="333333"/>
                </a:solidFill>
                <a:latin typeface="Meiryo UI"/>
              </a:defRPr>
            </a:pPr>
            <a:r>
              <a:t>Action 2: Application Transform ＋ Physical AI の End-to-End 提案を構成します</a:t>
            </a:r>
          </a:p>
        </p:txBody>
      </p:sp>
      <p:sp>
        <p:nvSpPr>
          <p:cNvPr id="14" name="Rounded Rectangle 13"/>
          <p:cNvSpPr/>
          <p:nvPr/>
        </p:nvSpPr>
        <p:spPr>
          <a:xfrm>
            <a:off x="6217920" y="4297680"/>
            <a:ext cx="5486400" cy="822960"/>
          </a:xfrm>
          <a:prstGeom prst="roundRect">
            <a:avLst/>
          </a:prstGeom>
          <a:solidFill>
            <a:srgbClr val="FC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89120"/>
            <a:ext cx="5120640" cy="640080"/>
          </a:xfrm>
          <a:prstGeom prst="rect">
            <a:avLst/>
          </a:prstGeom>
          <a:noFill/>
        </p:spPr>
        <p:txBody>
          <a:bodyPr wrap="square">
            <a:spAutoFit/>
          </a:bodyPr>
          <a:lstStyle/>
          <a:p>
            <a:pPr>
              <a:defRPr sz="1000">
                <a:solidFill>
                  <a:srgbClr val="333333"/>
                </a:solidFill>
                <a:latin typeface="Meiryo UI"/>
              </a:defRPr>
            </a:pPr>
            <a:r>
              <a:t>Action 3: 先行する日立の「鉄道・エネルギー」を避け、ニッチ製造分野から実績を積みます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 ④ AIエージェントによるWebブラウザ業務自動化</a:t>
            </a:r>
          </a:p>
        </p:txBody>
      </p:sp>
      <p:sp>
        <p:nvSpPr>
          <p:cNvPr id="3" name="Rounded Rectangle 2"/>
          <p:cNvSpPr/>
          <p:nvPr/>
        </p:nvSpPr>
        <p:spPr>
          <a:xfrm>
            <a:off x="274320" y="1005840"/>
            <a:ext cx="182880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UI"/>
              </a:defRPr>
            </a:pPr>
            <a:r>
              <a:t>優先度 ★★☆</a:t>
            </a:r>
          </a:p>
        </p:txBody>
      </p:sp>
      <p:sp>
        <p:nvSpPr>
          <p:cNvPr id="4" name="TextBox 3"/>
          <p:cNvSpPr txBox="1"/>
          <p:nvPr/>
        </p:nvSpPr>
        <p:spPr>
          <a:xfrm>
            <a:off x="274320" y="1737360"/>
            <a:ext cx="5486400" cy="365760"/>
          </a:xfrm>
          <a:prstGeom prst="rect">
            <a:avLst/>
          </a:prstGeom>
          <a:noFill/>
        </p:spPr>
        <p:txBody>
          <a:bodyPr wrap="square">
            <a:spAutoFit/>
          </a:bodyPr>
          <a:lstStyle/>
          <a:p>
            <a:pPr algn="l">
              <a:defRPr sz="1400" b="1">
                <a:solidFill>
                  <a:srgbClr val="003366"/>
                </a:solidFill>
                <a:latin typeface="Meiryo UI"/>
              </a:defRPr>
            </a:pPr>
            <a:r>
              <a:t>■ 競合状況</a:t>
            </a:r>
          </a:p>
        </p:txBody>
      </p:sp>
      <p:sp>
        <p:nvSpPr>
          <p:cNvPr id="5" name="TextBox 4"/>
          <p:cNvSpPr txBox="1"/>
          <p:nvPr/>
        </p:nvSpPr>
        <p:spPr>
          <a:xfrm>
            <a:off x="457200" y="2194560"/>
            <a:ext cx="5486400" cy="13716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NECのcotomi ActがWebArena 80.4%（人間超え）で先行しています</a:t>
            </a:r>
          </a:p>
          <a:p>
            <a:pPr algn="l">
              <a:spcBef>
                <a:spcPts val="400"/>
              </a:spcBef>
              <a:spcAft>
                <a:spcPts val="200"/>
              </a:spcAft>
              <a:defRPr sz="1000" b="0">
                <a:solidFill>
                  <a:srgbClr val="333333"/>
                </a:solidFill>
                <a:latin typeface="Meiryo UI"/>
              </a:defRPr>
            </a:pPr>
            <a:r>
              <a:t>• 暗黙知のデータ化とWebブラウザ自動操作を組み合わせた独自技術です</a:t>
            </a:r>
          </a:p>
          <a:p>
            <a:pPr algn="l">
              <a:spcBef>
                <a:spcPts val="400"/>
              </a:spcBef>
              <a:spcAft>
                <a:spcPts val="200"/>
              </a:spcAft>
              <a:defRPr sz="1000" b="0">
                <a:solidFill>
                  <a:srgbClr val="333333"/>
                </a:solidFill>
                <a:latin typeface="Meiryo UI"/>
              </a:defRPr>
            </a:pPr>
            <a:r>
              <a:t>• 2026年度中にWebブラウザ拡張としてサービス提供予定です</a:t>
            </a:r>
          </a:p>
        </p:txBody>
      </p:sp>
      <p:sp>
        <p:nvSpPr>
          <p:cNvPr id="6" name="TextBox 5"/>
          <p:cNvSpPr txBox="1"/>
          <p:nvPr/>
        </p:nvSpPr>
        <p:spPr>
          <a:xfrm>
            <a:off x="274320" y="3474720"/>
            <a:ext cx="5486400" cy="365760"/>
          </a:xfrm>
          <a:prstGeom prst="rect">
            <a:avLst/>
          </a:prstGeom>
          <a:noFill/>
        </p:spPr>
        <p:txBody>
          <a:bodyPr wrap="square">
            <a:spAutoFit/>
          </a:bodyPr>
          <a:lstStyle/>
          <a:p>
            <a:pPr algn="l">
              <a:defRPr sz="1400" b="1">
                <a:solidFill>
                  <a:srgbClr val="003366"/>
                </a:solidFill>
                <a:latin typeface="Meiryo UI"/>
              </a:defRPr>
            </a:pPr>
            <a:r>
              <a:t>■ 攻めるべき理由</a:t>
            </a:r>
          </a:p>
        </p:txBody>
      </p:sp>
      <p:sp>
        <p:nvSpPr>
          <p:cNvPr id="7" name="TextBox 6"/>
          <p:cNvSpPr txBox="1"/>
          <p:nvPr/>
        </p:nvSpPr>
        <p:spPr>
          <a:xfrm>
            <a:off x="457200" y="3931920"/>
            <a:ext cx="5486400" cy="1828800"/>
          </a:xfrm>
          <a:prstGeom prst="rect">
            <a:avLst/>
          </a:prstGeom>
          <a:noFill/>
        </p:spPr>
        <p:txBody>
          <a:bodyPr wrap="square">
            <a:spAutoFit/>
          </a:bodyPr>
          <a:lstStyle/>
          <a:p>
            <a:pPr algn="l">
              <a:spcBef>
                <a:spcPts val="400"/>
              </a:spcBef>
              <a:spcAft>
                <a:spcPts val="200"/>
              </a:spcAft>
              <a:defRPr sz="1000" b="1">
                <a:solidFill>
                  <a:srgbClr val="0078D4"/>
                </a:solidFill>
                <a:latin typeface="Meiryo UI"/>
              </a:defRPr>
            </a:pPr>
            <a:r>
              <a:t>• KozuchiプラットフォームにWeb業務自動化機能を統合すれば、エンタープライズ全体の自動化を包括提供可能です</a:t>
            </a:r>
          </a:p>
          <a:p>
            <a:pPr algn="l">
              <a:spcBef>
                <a:spcPts val="400"/>
              </a:spcBef>
              <a:spcAft>
                <a:spcPts val="200"/>
              </a:spcAft>
              <a:defRPr sz="1000" b="0">
                <a:solidFill>
                  <a:srgbClr val="333333"/>
                </a:solidFill>
                <a:latin typeface="Meiryo UI"/>
              </a:defRPr>
            </a:pPr>
            <a:r>
              <a:t>• Enterprise AI Factory との統合でオンプレミス環境でのセキュアな業務自動化が実現できます</a:t>
            </a:r>
          </a:p>
          <a:p>
            <a:pPr algn="l">
              <a:spcBef>
                <a:spcPts val="400"/>
              </a:spcBef>
              <a:spcAft>
                <a:spcPts val="200"/>
              </a:spcAft>
              <a:defRPr sz="1000" b="0">
                <a:solidFill>
                  <a:srgbClr val="333333"/>
                </a:solidFill>
                <a:latin typeface="Meiryo UI"/>
              </a:defRPr>
            </a:pPr>
            <a:r>
              <a:t>• AIエージェント市場は急成長中で、先行投資の価値が高いです</a:t>
            </a:r>
          </a:p>
        </p:txBody>
      </p:sp>
      <p:cxnSp>
        <p:nvCxnSpPr>
          <p:cNvPr id="8" name="Connector 7"/>
          <p:cNvCxnSpPr/>
          <p:nvPr/>
        </p:nvCxnSpPr>
        <p:spPr>
          <a:xfrm>
            <a:off x="5943600" y="1371600"/>
            <a:ext cx="0" cy="484632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737360"/>
            <a:ext cx="5486400" cy="365760"/>
          </a:xfrm>
          <a:prstGeom prst="rect">
            <a:avLst/>
          </a:prstGeom>
          <a:noFill/>
        </p:spPr>
        <p:txBody>
          <a:bodyPr wrap="square">
            <a:spAutoFit/>
          </a:bodyPr>
          <a:lstStyle/>
          <a:p>
            <a:pPr algn="l">
              <a:defRPr sz="1400" b="1">
                <a:solidFill>
                  <a:srgbClr val="003366"/>
                </a:solidFill>
                <a:latin typeface="Meiryo UI"/>
              </a:defRPr>
            </a:pPr>
            <a:r>
              <a:t>■ 推奨アクション</a:t>
            </a:r>
          </a:p>
        </p:txBody>
      </p:sp>
      <p:sp>
        <p:nvSpPr>
          <p:cNvPr id="10" name="Rounded Rectangle 9"/>
          <p:cNvSpPr/>
          <p:nvPr/>
        </p:nvSpPr>
        <p:spPr>
          <a:xfrm>
            <a:off x="6217920" y="2286000"/>
            <a:ext cx="5486400" cy="82296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77440"/>
            <a:ext cx="5120640" cy="640080"/>
          </a:xfrm>
          <a:prstGeom prst="rect">
            <a:avLst/>
          </a:prstGeom>
          <a:noFill/>
        </p:spPr>
        <p:txBody>
          <a:bodyPr wrap="square">
            <a:spAutoFit/>
          </a:bodyPr>
          <a:lstStyle/>
          <a:p>
            <a:pPr>
              <a:defRPr sz="1000">
                <a:solidFill>
                  <a:srgbClr val="333333"/>
                </a:solidFill>
                <a:latin typeface="Meiryo UI"/>
              </a:defRPr>
            </a:pPr>
            <a:r>
              <a:t>Action 1: KozuchiエージェントにWebブラウザ業務自動化機能を追加開発します</a:t>
            </a:r>
          </a:p>
        </p:txBody>
      </p:sp>
      <p:sp>
        <p:nvSpPr>
          <p:cNvPr id="12" name="Rounded Rectangle 11"/>
          <p:cNvSpPr/>
          <p:nvPr/>
        </p:nvSpPr>
        <p:spPr>
          <a:xfrm>
            <a:off x="6217920" y="3291840"/>
            <a:ext cx="5486400" cy="82296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120640" cy="640080"/>
          </a:xfrm>
          <a:prstGeom prst="rect">
            <a:avLst/>
          </a:prstGeom>
          <a:noFill/>
        </p:spPr>
        <p:txBody>
          <a:bodyPr wrap="square">
            <a:spAutoFit/>
          </a:bodyPr>
          <a:lstStyle/>
          <a:p>
            <a:pPr>
              <a:defRPr sz="1000">
                <a:solidFill>
                  <a:srgbClr val="333333"/>
                </a:solidFill>
                <a:latin typeface="Meiryo UI"/>
              </a:defRPr>
            </a:pPr>
            <a:r>
              <a:t>Action 2: Enterprise AI Factory との統合でオンプレミスでのセキュアな自動化を差別化します</a:t>
            </a:r>
          </a:p>
        </p:txBody>
      </p:sp>
      <p:sp>
        <p:nvSpPr>
          <p:cNvPr id="14" name="Rounded Rectangle 13"/>
          <p:cNvSpPr/>
          <p:nvPr/>
        </p:nvSpPr>
        <p:spPr>
          <a:xfrm>
            <a:off x="6217920" y="4297680"/>
            <a:ext cx="5486400" cy="82296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89120"/>
            <a:ext cx="5120640" cy="640080"/>
          </a:xfrm>
          <a:prstGeom prst="rect">
            <a:avLst/>
          </a:prstGeom>
          <a:noFill/>
        </p:spPr>
        <p:txBody>
          <a:bodyPr wrap="square">
            <a:spAutoFit/>
          </a:bodyPr>
          <a:lstStyle/>
          <a:p>
            <a:pPr>
              <a:defRPr sz="1000">
                <a:solidFill>
                  <a:srgbClr val="333333"/>
                </a:solidFill>
                <a:latin typeface="Meiryo UI"/>
              </a:defRPr>
            </a:pPr>
            <a:r>
              <a:t>Action 3: MCP（Model Context Protocol）対応で外部ITサービスとの連携を強化します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 ⑤ AIインフラ省電力化</a:t>
            </a:r>
          </a:p>
        </p:txBody>
      </p:sp>
      <p:sp>
        <p:nvSpPr>
          <p:cNvPr id="3" name="Rounded Rectangle 2"/>
          <p:cNvSpPr/>
          <p:nvPr/>
        </p:nvSpPr>
        <p:spPr>
          <a:xfrm>
            <a:off x="274320" y="1005840"/>
            <a:ext cx="1828800" cy="45720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UI"/>
              </a:defRPr>
            </a:pPr>
            <a:r>
              <a:t>優先度 ★☆☆</a:t>
            </a:r>
          </a:p>
        </p:txBody>
      </p:sp>
      <p:sp>
        <p:nvSpPr>
          <p:cNvPr id="4" name="TextBox 3"/>
          <p:cNvSpPr txBox="1"/>
          <p:nvPr/>
        </p:nvSpPr>
        <p:spPr>
          <a:xfrm>
            <a:off x="274320" y="1737360"/>
            <a:ext cx="5486400" cy="365760"/>
          </a:xfrm>
          <a:prstGeom prst="rect">
            <a:avLst/>
          </a:prstGeom>
          <a:noFill/>
        </p:spPr>
        <p:txBody>
          <a:bodyPr wrap="square">
            <a:spAutoFit/>
          </a:bodyPr>
          <a:lstStyle/>
          <a:p>
            <a:pPr algn="l">
              <a:defRPr sz="1400" b="1">
                <a:solidFill>
                  <a:srgbClr val="003366"/>
                </a:solidFill>
                <a:latin typeface="Meiryo UI"/>
              </a:defRPr>
            </a:pPr>
            <a:r>
              <a:t>■ 競合状況</a:t>
            </a:r>
          </a:p>
        </p:txBody>
      </p:sp>
      <p:sp>
        <p:nvSpPr>
          <p:cNvPr id="5" name="TextBox 4"/>
          <p:cNvSpPr txBox="1"/>
          <p:nvPr/>
        </p:nvSpPr>
        <p:spPr>
          <a:xfrm>
            <a:off x="457200" y="2194560"/>
            <a:ext cx="5486400" cy="13716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NTTがIOWN光電融合技術で圧倒的な技術優位性を持っています</a:t>
            </a:r>
          </a:p>
          <a:p>
            <a:pPr algn="l">
              <a:spcBef>
                <a:spcPts val="400"/>
              </a:spcBef>
              <a:spcAft>
                <a:spcPts val="200"/>
              </a:spcAft>
              <a:defRPr sz="1000" b="0">
                <a:solidFill>
                  <a:srgbClr val="333333"/>
                </a:solidFill>
                <a:latin typeface="Meiryo UI"/>
              </a:defRPr>
            </a:pPr>
            <a:r>
              <a:t>• 2026年にPEC-2を商用化し、消費電力を最大1/8に削減します</a:t>
            </a:r>
          </a:p>
          <a:p>
            <a:pPr algn="l">
              <a:spcBef>
                <a:spcPts val="400"/>
              </a:spcBef>
              <a:spcAft>
                <a:spcPts val="200"/>
              </a:spcAft>
              <a:defRPr sz="1000" b="0">
                <a:solidFill>
                  <a:srgbClr val="333333"/>
                </a:solidFill>
                <a:latin typeface="Meiryo UI"/>
              </a:defRPr>
            </a:pPr>
            <a:r>
              <a:t>• Broadcom、Accton等との量産体制も確立済みです</a:t>
            </a:r>
          </a:p>
        </p:txBody>
      </p:sp>
      <p:sp>
        <p:nvSpPr>
          <p:cNvPr id="6" name="TextBox 5"/>
          <p:cNvSpPr txBox="1"/>
          <p:nvPr/>
        </p:nvSpPr>
        <p:spPr>
          <a:xfrm>
            <a:off x="274320" y="3474720"/>
            <a:ext cx="5486400" cy="365760"/>
          </a:xfrm>
          <a:prstGeom prst="rect">
            <a:avLst/>
          </a:prstGeom>
          <a:noFill/>
        </p:spPr>
        <p:txBody>
          <a:bodyPr wrap="square">
            <a:spAutoFit/>
          </a:bodyPr>
          <a:lstStyle/>
          <a:p>
            <a:pPr algn="l">
              <a:defRPr sz="1400" b="1">
                <a:solidFill>
                  <a:srgbClr val="003366"/>
                </a:solidFill>
                <a:latin typeface="Meiryo UI"/>
              </a:defRPr>
            </a:pPr>
            <a:r>
              <a:t>■ 攻めるべき理由</a:t>
            </a:r>
          </a:p>
        </p:txBody>
      </p:sp>
      <p:sp>
        <p:nvSpPr>
          <p:cNvPr id="7" name="TextBox 6"/>
          <p:cNvSpPr txBox="1"/>
          <p:nvPr/>
        </p:nvSpPr>
        <p:spPr>
          <a:xfrm>
            <a:off x="457200" y="3931920"/>
            <a:ext cx="5486400" cy="1828800"/>
          </a:xfrm>
          <a:prstGeom prst="rect">
            <a:avLst/>
          </a:prstGeom>
          <a:noFill/>
        </p:spPr>
        <p:txBody>
          <a:bodyPr wrap="square">
            <a:spAutoFit/>
          </a:bodyPr>
          <a:lstStyle/>
          <a:p>
            <a:pPr algn="l">
              <a:spcBef>
                <a:spcPts val="400"/>
              </a:spcBef>
              <a:spcAft>
                <a:spcPts val="200"/>
              </a:spcAft>
              <a:defRPr sz="1000" b="0">
                <a:solidFill>
                  <a:srgbClr val="333333"/>
                </a:solidFill>
                <a:latin typeface="Meiryo UI"/>
              </a:defRPr>
            </a:pPr>
            <a:r>
              <a:t>• AI利用コスト・消費電力が企業のAI導入障壁であり、解決の意義は大きいです</a:t>
            </a:r>
          </a:p>
          <a:p>
            <a:pPr algn="l">
              <a:spcBef>
                <a:spcPts val="400"/>
              </a:spcBef>
              <a:spcAft>
                <a:spcPts val="200"/>
              </a:spcAft>
              <a:defRPr sz="1000" b="0">
                <a:solidFill>
                  <a:srgbClr val="C0392B"/>
                </a:solidFill>
                <a:latin typeface="Meiryo UI"/>
              </a:defRPr>
            </a:pPr>
            <a:r>
              <a:t>• ただしNTTの技術優位性は極めて高く、正面から競合するのは非効率です</a:t>
            </a:r>
          </a:p>
          <a:p>
            <a:pPr algn="l">
              <a:spcBef>
                <a:spcPts val="400"/>
              </a:spcBef>
              <a:spcAft>
                <a:spcPts val="200"/>
              </a:spcAft>
              <a:defRPr sz="1000" b="0">
                <a:solidFill>
                  <a:srgbClr val="333333"/>
                </a:solidFill>
                <a:latin typeface="Meiryo UI"/>
              </a:defRPr>
            </a:pPr>
            <a:r>
              <a:t>• 提携戦略がより現実的で、自社の強み（Takaneメモリ94%削減等）で補完可能です</a:t>
            </a:r>
          </a:p>
        </p:txBody>
      </p:sp>
      <p:cxnSp>
        <p:nvCxnSpPr>
          <p:cNvPr id="8" name="Connector 7"/>
          <p:cNvCxnSpPr/>
          <p:nvPr/>
        </p:nvCxnSpPr>
        <p:spPr>
          <a:xfrm>
            <a:off x="5943600" y="1371600"/>
            <a:ext cx="0" cy="484632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1737360"/>
            <a:ext cx="5486400" cy="365760"/>
          </a:xfrm>
          <a:prstGeom prst="rect">
            <a:avLst/>
          </a:prstGeom>
          <a:noFill/>
        </p:spPr>
        <p:txBody>
          <a:bodyPr wrap="square">
            <a:spAutoFit/>
          </a:bodyPr>
          <a:lstStyle/>
          <a:p>
            <a:pPr algn="l">
              <a:defRPr sz="1400" b="1">
                <a:solidFill>
                  <a:srgbClr val="003366"/>
                </a:solidFill>
                <a:latin typeface="Meiryo UI"/>
              </a:defRPr>
            </a:pPr>
            <a:r>
              <a:t>■ 推奨アクション</a:t>
            </a:r>
          </a:p>
        </p:txBody>
      </p:sp>
      <p:sp>
        <p:nvSpPr>
          <p:cNvPr id="10" name="Rounded Rectangle 9"/>
          <p:cNvSpPr/>
          <p:nvPr/>
        </p:nvSpPr>
        <p:spPr>
          <a:xfrm>
            <a:off x="6217920" y="2286000"/>
            <a:ext cx="5486400" cy="8229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77440"/>
            <a:ext cx="5120640" cy="640080"/>
          </a:xfrm>
          <a:prstGeom prst="rect">
            <a:avLst/>
          </a:prstGeom>
          <a:noFill/>
        </p:spPr>
        <p:txBody>
          <a:bodyPr wrap="square">
            <a:spAutoFit/>
          </a:bodyPr>
          <a:lstStyle/>
          <a:p>
            <a:pPr>
              <a:defRPr sz="1000">
                <a:solidFill>
                  <a:srgbClr val="333333"/>
                </a:solidFill>
                <a:latin typeface="Meiryo UI"/>
              </a:defRPr>
            </a:pPr>
            <a:r>
              <a:t>Action 1: NTTのIOWN技術との戦略提携を検討し、Kozuchiの基盤として取り込みます</a:t>
            </a:r>
          </a:p>
        </p:txBody>
      </p:sp>
      <p:sp>
        <p:nvSpPr>
          <p:cNvPr id="12" name="Rounded Rectangle 11"/>
          <p:cNvSpPr/>
          <p:nvPr/>
        </p:nvSpPr>
        <p:spPr>
          <a:xfrm>
            <a:off x="6217920" y="3291840"/>
            <a:ext cx="5486400" cy="8229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120640" cy="640080"/>
          </a:xfrm>
          <a:prstGeom prst="rect">
            <a:avLst/>
          </a:prstGeom>
          <a:noFill/>
        </p:spPr>
        <p:txBody>
          <a:bodyPr wrap="square">
            <a:spAutoFit/>
          </a:bodyPr>
          <a:lstStyle/>
          <a:p>
            <a:pPr>
              <a:defRPr sz="1000">
                <a:solidFill>
                  <a:srgbClr val="333333"/>
                </a:solidFill>
                <a:latin typeface="Meiryo UI"/>
              </a:defRPr>
            </a:pPr>
            <a:r>
              <a:t>Action 2: Takaneのメモリ94%削減技術をさらに発展させ、推論コスト削減で差別化します</a:t>
            </a:r>
          </a:p>
        </p:txBody>
      </p:sp>
      <p:sp>
        <p:nvSpPr>
          <p:cNvPr id="14" name="Rounded Rectangle 13"/>
          <p:cNvSpPr/>
          <p:nvPr/>
        </p:nvSpPr>
        <p:spPr>
          <a:xfrm>
            <a:off x="6217920" y="4297680"/>
            <a:ext cx="5486400" cy="8229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89120"/>
            <a:ext cx="5120640" cy="640080"/>
          </a:xfrm>
          <a:prstGeom prst="rect">
            <a:avLst/>
          </a:prstGeom>
          <a:noFill/>
        </p:spPr>
        <p:txBody>
          <a:bodyPr wrap="square">
            <a:spAutoFit/>
          </a:bodyPr>
          <a:lstStyle/>
          <a:p>
            <a:pPr>
              <a:defRPr sz="1000">
                <a:solidFill>
                  <a:srgbClr val="333333"/>
                </a:solidFill>
                <a:latin typeface="Meiryo UI"/>
              </a:defRPr>
            </a:pPr>
            <a:r>
              <a:t>Action 3: 「AIモデル効率化」の領域でソフトウェア面からインフラ最適化に貢献します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攻めるべき領域の優先順位と推奨アクション</a:t>
            </a:r>
          </a:p>
        </p:txBody>
      </p:sp>
      <p:graphicFrame>
        <p:nvGraphicFramePr>
          <p:cNvPr id="3" name="Table 2"/>
          <p:cNvGraphicFramePr>
            <a:graphicFrameLocks noGrp="1"/>
          </p:cNvGraphicFramePr>
          <p:nvPr/>
        </p:nvGraphicFramePr>
        <p:xfrm>
          <a:off x="274320" y="1097280"/>
          <a:ext cx="11612880" cy="3200400"/>
        </p:xfrm>
        <a:graphic>
          <a:graphicData uri="http://schemas.openxmlformats.org/drawingml/2006/table">
            <a:tbl>
              <a:tblPr firstRow="1" bandRow="1">
                <a:tableStyleId>{5C22544A-7EE6-4342-B048-85BDC9FD1C3A}</a:tableStyleId>
              </a:tblPr>
              <a:tblGrid>
                <a:gridCol w="914400"/>
                <a:gridCol w="2194560"/>
                <a:gridCol w="1828800"/>
                <a:gridCol w="2560320"/>
                <a:gridCol w="4114800"/>
              </a:tblGrid>
              <a:tr h="533400">
                <a:tc>
                  <a:txBody>
                    <a:bodyPr/>
                    <a:lstStyle/>
                    <a:p>
                      <a:pPr algn="ctr">
                        <a:defRPr sz="1000" b="1">
                          <a:solidFill>
                            <a:srgbClr val="FFFFFF"/>
                          </a:solidFill>
                          <a:latin typeface="Meiryo UI"/>
                        </a:defRPr>
                      </a:pPr>
                      <a:r>
                        <a:t>優先度</a:t>
                      </a:r>
                    </a:p>
                  </a:txBody>
                  <a:tcPr>
                    <a:solidFill>
                      <a:srgbClr val="003366"/>
                    </a:solidFill>
                  </a:tcPr>
                </a:tc>
                <a:tc>
                  <a:txBody>
                    <a:bodyPr/>
                    <a:lstStyle/>
                    <a:p>
                      <a:pPr algn="ctr">
                        <a:defRPr sz="1000" b="1">
                          <a:solidFill>
                            <a:srgbClr val="FFFFFF"/>
                          </a:solidFill>
                          <a:latin typeface="Meiryo UI"/>
                        </a:defRPr>
                      </a:pPr>
                      <a:r>
                        <a:t>領域</a:t>
                      </a:r>
                    </a:p>
                  </a:txBody>
                  <a:tcPr>
                    <a:solidFill>
                      <a:srgbClr val="003366"/>
                    </a:solidFill>
                  </a:tcPr>
                </a:tc>
                <a:tc>
                  <a:txBody>
                    <a:bodyPr/>
                    <a:lstStyle/>
                    <a:p>
                      <a:pPr algn="ctr">
                        <a:defRPr sz="1000" b="1">
                          <a:solidFill>
                            <a:srgbClr val="FFFFFF"/>
                          </a:solidFill>
                          <a:latin typeface="Meiryo UI"/>
                        </a:defRPr>
                      </a:pPr>
                      <a:r>
                        <a:t>主な競合</a:t>
                      </a:r>
                    </a:p>
                  </a:txBody>
                  <a:tcPr>
                    <a:solidFill>
                      <a:srgbClr val="003366"/>
                    </a:solidFill>
                  </a:tcPr>
                </a:tc>
                <a:tc>
                  <a:txBody>
                    <a:bodyPr/>
                    <a:lstStyle/>
                    <a:p>
                      <a:pPr algn="ctr">
                        <a:defRPr sz="1000" b="1">
                          <a:solidFill>
                            <a:srgbClr val="FFFFFF"/>
                          </a:solidFill>
                          <a:latin typeface="Meiryo UI"/>
                        </a:defRPr>
                      </a:pPr>
                      <a:r>
                        <a:t>富士通の強み</a:t>
                      </a:r>
                    </a:p>
                  </a:txBody>
                  <a:tcPr>
                    <a:solidFill>
                      <a:srgbClr val="003366"/>
                    </a:solidFill>
                  </a:tcPr>
                </a:tc>
                <a:tc>
                  <a:txBody>
                    <a:bodyPr/>
                    <a:lstStyle/>
                    <a:p>
                      <a:pPr algn="ctr">
                        <a:defRPr sz="1000" b="1">
                          <a:solidFill>
                            <a:srgbClr val="FFFFFF"/>
                          </a:solidFill>
                          <a:latin typeface="Meiryo UI"/>
                        </a:defRPr>
                      </a:pPr>
                      <a:r>
                        <a:t>推奨アクション</a:t>
                      </a:r>
                    </a:p>
                  </a:txBody>
                  <a:tcPr>
                    <a:solidFill>
                      <a:srgbClr val="003366"/>
                    </a:solidFill>
                  </a:tcPr>
                </a:tc>
              </a:tr>
              <a:tr h="533400">
                <a:tc>
                  <a:txBody>
                    <a:bodyPr/>
                    <a:lstStyle/>
                    <a:p>
                      <a:pPr algn="l">
                        <a:defRPr sz="900">
                          <a:solidFill>
                            <a:srgbClr val="333333"/>
                          </a:solidFill>
                          <a:latin typeface="Meiryo UI"/>
                        </a:defRPr>
                      </a:pPr>
                      <a:r>
                        <a:t>★★★</a:t>
                      </a:r>
                    </a:p>
                  </a:txBody>
                  <a:tcPr>
                    <a:solidFill>
                      <a:srgbClr val="F2F2F2"/>
                    </a:solidFill>
                  </a:tcPr>
                </a:tc>
                <a:tc>
                  <a:txBody>
                    <a:bodyPr/>
                    <a:lstStyle/>
                    <a:p>
                      <a:pPr algn="l">
                        <a:defRPr sz="900">
                          <a:solidFill>
                            <a:srgbClr val="333333"/>
                          </a:solidFill>
                          <a:latin typeface="Meiryo UI"/>
                        </a:defRPr>
                      </a:pPr>
                      <a:r>
                        <a:t>金融レガシー刷新</a:t>
                      </a:r>
                    </a:p>
                    <a:p>
                      <a:pPr algn="l">
                        <a:defRPr sz="900">
                          <a:solidFill>
                            <a:srgbClr val="333333"/>
                          </a:solidFill>
                          <a:latin typeface="Meiryo UI"/>
                        </a:defRPr>
                      </a:pPr>
                      <a:r>
                        <a:t>＋AI開発生産性革命</a:t>
                      </a:r>
                    </a:p>
                  </a:txBody>
                  <a:tcPr>
                    <a:solidFill>
                      <a:srgbClr val="F2F2F2"/>
                    </a:solidFill>
                  </a:tcPr>
                </a:tc>
                <a:tc>
                  <a:txBody>
                    <a:bodyPr/>
                    <a:lstStyle/>
                    <a:p>
                      <a:pPr algn="l">
                        <a:defRPr sz="900">
                          <a:solidFill>
                            <a:srgbClr val="333333"/>
                          </a:solidFill>
                          <a:latin typeface="Meiryo UI"/>
                        </a:defRPr>
                      </a:pPr>
                      <a:r>
                        <a:t>各社（富士通</a:t>
                      </a:r>
                    </a:p>
                    <a:p>
                      <a:pPr algn="l">
                        <a:defRPr sz="900">
                          <a:solidFill>
                            <a:srgbClr val="333333"/>
                          </a:solidFill>
                          <a:latin typeface="Meiryo UI"/>
                        </a:defRPr>
                      </a:pPr>
                      <a:r>
                        <a:t>独自の強み）</a:t>
                      </a:r>
                    </a:p>
                  </a:txBody>
                  <a:tcPr>
                    <a:solidFill>
                      <a:srgbClr val="F2F2F2"/>
                    </a:solidFill>
                  </a:tcPr>
                </a:tc>
                <a:tc>
                  <a:txBody>
                    <a:bodyPr/>
                    <a:lstStyle/>
                    <a:p>
                      <a:pPr algn="l">
                        <a:defRPr sz="900">
                          <a:solidFill>
                            <a:srgbClr val="333333"/>
                          </a:solidFill>
                          <a:latin typeface="Meiryo UI"/>
                        </a:defRPr>
                      </a:pPr>
                      <a:r>
                        <a:t>Application Transform</a:t>
                      </a:r>
                    </a:p>
                    <a:p>
                      <a:pPr algn="l">
                        <a:defRPr sz="900">
                          <a:solidFill>
                            <a:srgbClr val="333333"/>
                          </a:solidFill>
                          <a:latin typeface="Meiryo UI"/>
                        </a:defRPr>
                      </a:pPr>
                      <a:r>
                        <a:t>(97%削減)</a:t>
                      </a:r>
                    </a:p>
                  </a:txBody>
                  <a:tcPr>
                    <a:solidFill>
                      <a:srgbClr val="F2F2F2"/>
                    </a:solidFill>
                  </a:tcPr>
                </a:tc>
                <a:tc>
                  <a:txBody>
                    <a:bodyPr/>
                    <a:lstStyle/>
                    <a:p>
                      <a:pPr algn="l">
                        <a:defRPr sz="900">
                          <a:solidFill>
                            <a:srgbClr val="333333"/>
                          </a:solidFill>
                          <a:latin typeface="Meiryo UI"/>
                        </a:defRPr>
                      </a:pPr>
                      <a:r>
                        <a:t>SMBC日興検証成果の横展開</a:t>
                      </a:r>
                    </a:p>
                    <a:p>
                      <a:pPr algn="l">
                        <a:defRPr sz="900">
                          <a:solidFill>
                            <a:srgbClr val="333333"/>
                          </a:solidFill>
                          <a:latin typeface="Meiryo UI"/>
                        </a:defRPr>
                      </a:pPr>
                      <a:r>
                        <a:t>メガバンク・地銀へアプローチ</a:t>
                      </a:r>
                    </a:p>
                  </a:txBody>
                  <a:tcPr>
                    <a:solidFill>
                      <a:srgbClr val="F2F2F2"/>
                    </a:solidFill>
                  </a:tcPr>
                </a:tc>
              </a:tr>
              <a:tr h="533400">
                <a:tc>
                  <a:txBody>
                    <a:bodyPr/>
                    <a:lstStyle/>
                    <a:p>
                      <a:pPr algn="l">
                        <a:defRPr sz="900">
                          <a:solidFill>
                            <a:srgbClr val="333333"/>
                          </a:solidFill>
                          <a:latin typeface="Meiryo UI"/>
                        </a:defRPr>
                      </a:pPr>
                      <a:r>
                        <a:t>★★★</a:t>
                      </a:r>
                    </a:p>
                  </a:txBody>
                  <a:tcPr>
                    <a:solidFill>
                      <a:srgbClr val="FFFFFF"/>
                    </a:solidFill>
                  </a:tcPr>
                </a:tc>
                <a:tc>
                  <a:txBody>
                    <a:bodyPr/>
                    <a:lstStyle/>
                    <a:p>
                      <a:pPr algn="l">
                        <a:defRPr sz="900">
                          <a:solidFill>
                            <a:srgbClr val="333333"/>
                          </a:solidFill>
                          <a:latin typeface="Meiryo UI"/>
                        </a:defRPr>
                      </a:pPr>
                      <a:r>
                        <a:t>公共・自治体向け</a:t>
                      </a:r>
                    </a:p>
                    <a:p>
                      <a:pPr algn="l">
                        <a:defRPr sz="900">
                          <a:solidFill>
                            <a:srgbClr val="333333"/>
                          </a:solidFill>
                          <a:latin typeface="Meiryo UI"/>
                        </a:defRPr>
                      </a:pPr>
                      <a:r>
                        <a:t>AI業務改革</a:t>
                      </a:r>
                    </a:p>
                  </a:txBody>
                  <a:tcPr>
                    <a:solidFill>
                      <a:srgbClr val="FFFFFF"/>
                    </a:solidFill>
                  </a:tcPr>
                </a:tc>
                <a:tc>
                  <a:txBody>
                    <a:bodyPr/>
                    <a:lstStyle/>
                    <a:p>
                      <a:pPr algn="l">
                        <a:defRPr sz="900">
                          <a:solidFill>
                            <a:srgbClr val="333333"/>
                          </a:solidFill>
                          <a:latin typeface="Meiryo UI"/>
                        </a:defRPr>
                      </a:pPr>
                      <a:r>
                        <a:t>NEC、NTT</a:t>
                      </a:r>
                    </a:p>
                  </a:txBody>
                  <a:tcPr>
                    <a:solidFill>
                      <a:srgbClr val="FFFFFF"/>
                    </a:solidFill>
                  </a:tcPr>
                </a:tc>
                <a:tc>
                  <a:txBody>
                    <a:bodyPr/>
                    <a:lstStyle/>
                    <a:p>
                      <a:pPr algn="l">
                        <a:defRPr sz="900">
                          <a:solidFill>
                            <a:srgbClr val="333333"/>
                          </a:solidFill>
                          <a:latin typeface="Meiryo UI"/>
                        </a:defRPr>
                      </a:pPr>
                      <a:r>
                        <a:t>レガシー刷新＋</a:t>
                      </a:r>
                    </a:p>
                    <a:p>
                      <a:pPr algn="l">
                        <a:defRPr sz="900">
                          <a:solidFill>
                            <a:srgbClr val="333333"/>
                          </a:solidFill>
                          <a:latin typeface="Meiryo UI"/>
                        </a:defRPr>
                      </a:pPr>
                      <a:r>
                        <a:t>業務AI統合提案</a:t>
                      </a:r>
                    </a:p>
                  </a:txBody>
                  <a:tcPr>
                    <a:solidFill>
                      <a:srgbClr val="FFFFFF"/>
                    </a:solidFill>
                  </a:tcPr>
                </a:tc>
                <a:tc>
                  <a:txBody>
                    <a:bodyPr/>
                    <a:lstStyle/>
                    <a:p>
                      <a:pPr algn="l">
                        <a:defRPr sz="900">
                          <a:solidFill>
                            <a:srgbClr val="333333"/>
                          </a:solidFill>
                          <a:latin typeface="Meiryo UI"/>
                        </a:defRPr>
                      </a:pPr>
                      <a:r>
                        <a:t>自治体DXパッケージの構成</a:t>
                      </a:r>
                    </a:p>
                    <a:p>
                      <a:pPr algn="l">
                        <a:defRPr sz="900">
                          <a:solidFill>
                            <a:srgbClr val="333333"/>
                          </a:solidFill>
                          <a:latin typeface="Meiryo UI"/>
                        </a:defRPr>
                      </a:pPr>
                      <a:r>
                        <a:t>COBOL資産調査から入る</a:t>
                      </a:r>
                    </a:p>
                  </a:txBody>
                  <a:tcPr>
                    <a:solidFill>
                      <a:srgbClr val="FFFFFF"/>
                    </a:solidFill>
                  </a:tcPr>
                </a:tc>
              </a:tr>
              <a:tr h="533400">
                <a:tc>
                  <a:txBody>
                    <a:bodyPr/>
                    <a:lstStyle/>
                    <a:p>
                      <a:pPr algn="l">
                        <a:defRPr sz="900">
                          <a:solidFill>
                            <a:srgbClr val="333333"/>
                          </a:solidFill>
                          <a:latin typeface="Meiryo UI"/>
                        </a:defRPr>
                      </a:pPr>
                      <a:r>
                        <a:t>★★☆</a:t>
                      </a:r>
                    </a:p>
                  </a:txBody>
                  <a:tcPr>
                    <a:solidFill>
                      <a:srgbClr val="F2F2F2"/>
                    </a:solidFill>
                  </a:tcPr>
                </a:tc>
                <a:tc>
                  <a:txBody>
                    <a:bodyPr/>
                    <a:lstStyle/>
                    <a:p>
                      <a:pPr algn="l">
                        <a:defRPr sz="900">
                          <a:solidFill>
                            <a:srgbClr val="333333"/>
                          </a:solidFill>
                          <a:latin typeface="Meiryo UI"/>
                        </a:defRPr>
                      </a:pPr>
                      <a:r>
                        <a:t>製造業向け</a:t>
                      </a:r>
                    </a:p>
                    <a:p>
                      <a:pPr algn="l">
                        <a:defRPr sz="900">
                          <a:solidFill>
                            <a:srgbClr val="333333"/>
                          </a:solidFill>
                          <a:latin typeface="Meiryo UI"/>
                        </a:defRPr>
                      </a:pPr>
                      <a:r>
                        <a:t>フィジカルAI拡大</a:t>
                      </a:r>
                    </a:p>
                  </a:txBody>
                  <a:tcPr>
                    <a:solidFill>
                      <a:srgbClr val="F2F2F2"/>
                    </a:solidFill>
                  </a:tcPr>
                </a:tc>
                <a:tc>
                  <a:txBody>
                    <a:bodyPr/>
                    <a:lstStyle/>
                    <a:p>
                      <a:pPr algn="l">
                        <a:defRPr sz="900">
                          <a:solidFill>
                            <a:srgbClr val="333333"/>
                          </a:solidFill>
                          <a:latin typeface="Meiryo UI"/>
                        </a:defRPr>
                      </a:pPr>
                      <a:r>
                        <a:t>日立</a:t>
                      </a:r>
                    </a:p>
                  </a:txBody>
                  <a:tcPr>
                    <a:solidFill>
                      <a:srgbClr val="F2F2F2"/>
                    </a:solidFill>
                  </a:tcPr>
                </a:tc>
                <a:tc>
                  <a:txBody>
                    <a:bodyPr/>
                    <a:lstStyle/>
                    <a:p>
                      <a:pPr algn="l">
                        <a:defRPr sz="900">
                          <a:solidFill>
                            <a:srgbClr val="333333"/>
                          </a:solidFill>
                          <a:latin typeface="Meiryo UI"/>
                        </a:defRPr>
                      </a:pPr>
                      <a:r>
                        <a:t>Physical AI 1.0</a:t>
                      </a:r>
                    </a:p>
                    <a:p>
                      <a:pPr algn="l">
                        <a:defRPr sz="900">
                          <a:solidFill>
                            <a:srgbClr val="333333"/>
                          </a:solidFill>
                          <a:latin typeface="Meiryo UI"/>
                        </a:defRPr>
                      </a:pPr>
                      <a:r>
                        <a:t>＋NVIDIA連携</a:t>
                      </a:r>
                    </a:p>
                  </a:txBody>
                  <a:tcPr>
                    <a:solidFill>
                      <a:srgbClr val="F2F2F2"/>
                    </a:solidFill>
                  </a:tcPr>
                </a:tc>
                <a:tc>
                  <a:txBody>
                    <a:bodyPr/>
                    <a:lstStyle/>
                    <a:p>
                      <a:pPr algn="l">
                        <a:defRPr sz="900">
                          <a:solidFill>
                            <a:srgbClr val="333333"/>
                          </a:solidFill>
                          <a:latin typeface="Meiryo UI"/>
                        </a:defRPr>
                      </a:pPr>
                      <a:r>
                        <a:t>自動車・半導体等に集中投資</a:t>
                      </a:r>
                    </a:p>
                    <a:p>
                      <a:pPr algn="l">
                        <a:defRPr sz="900">
                          <a:solidFill>
                            <a:srgbClr val="333333"/>
                          </a:solidFill>
                          <a:latin typeface="Meiryo UI"/>
                        </a:defRPr>
                      </a:pPr>
                      <a:r>
                        <a:t>End-to-End提案で差別化</a:t>
                      </a:r>
                    </a:p>
                  </a:txBody>
                  <a:tcPr>
                    <a:solidFill>
                      <a:srgbClr val="F2F2F2"/>
                    </a:solidFill>
                  </a:tcPr>
                </a:tc>
              </a:tr>
              <a:tr h="533400">
                <a:tc>
                  <a:txBody>
                    <a:bodyPr/>
                    <a:lstStyle/>
                    <a:p>
                      <a:pPr algn="l">
                        <a:defRPr sz="900">
                          <a:solidFill>
                            <a:srgbClr val="333333"/>
                          </a:solidFill>
                          <a:latin typeface="Meiryo UI"/>
                        </a:defRPr>
                      </a:pPr>
                      <a:r>
                        <a:t>★★☆</a:t>
                      </a:r>
                    </a:p>
                  </a:txBody>
                  <a:tcPr>
                    <a:solidFill>
                      <a:srgbClr val="FFFFFF"/>
                    </a:solidFill>
                  </a:tcPr>
                </a:tc>
                <a:tc>
                  <a:txBody>
                    <a:bodyPr/>
                    <a:lstStyle/>
                    <a:p>
                      <a:pPr algn="l">
                        <a:defRPr sz="900">
                          <a:solidFill>
                            <a:srgbClr val="333333"/>
                          </a:solidFill>
                          <a:latin typeface="Meiryo UI"/>
                        </a:defRPr>
                      </a:pPr>
                      <a:r>
                        <a:t>AIエージェント</a:t>
                      </a:r>
                    </a:p>
                    <a:p>
                      <a:pPr algn="l">
                        <a:defRPr sz="900">
                          <a:solidFill>
                            <a:srgbClr val="333333"/>
                          </a:solidFill>
                          <a:latin typeface="Meiryo UI"/>
                        </a:defRPr>
                      </a:pPr>
                      <a:r>
                        <a:t>Web自動化</a:t>
                      </a:r>
                    </a:p>
                  </a:txBody>
                  <a:tcPr>
                    <a:solidFill>
                      <a:srgbClr val="FFFFFF"/>
                    </a:solidFill>
                  </a:tcPr>
                </a:tc>
                <a:tc>
                  <a:txBody>
                    <a:bodyPr/>
                    <a:lstStyle/>
                    <a:p>
                      <a:pPr algn="l">
                        <a:defRPr sz="900">
                          <a:solidFill>
                            <a:srgbClr val="333333"/>
                          </a:solidFill>
                          <a:latin typeface="Meiryo UI"/>
                        </a:defRPr>
                      </a:pPr>
                      <a:r>
                        <a:t>NEC</a:t>
                      </a:r>
                    </a:p>
                  </a:txBody>
                  <a:tcPr>
                    <a:solidFill>
                      <a:srgbClr val="FFFFFF"/>
                    </a:solidFill>
                  </a:tcPr>
                </a:tc>
                <a:tc>
                  <a:txBody>
                    <a:bodyPr/>
                    <a:lstStyle/>
                    <a:p>
                      <a:pPr algn="l">
                        <a:defRPr sz="900">
                          <a:solidFill>
                            <a:srgbClr val="333333"/>
                          </a:solidFill>
                          <a:latin typeface="Meiryo UI"/>
                        </a:defRPr>
                      </a:pPr>
                      <a:r>
                        <a:t>Kozuchiプラットフォーム</a:t>
                      </a:r>
                    </a:p>
                    <a:p>
                      <a:pPr algn="l">
                        <a:defRPr sz="900">
                          <a:solidFill>
                            <a:srgbClr val="333333"/>
                          </a:solidFill>
                          <a:latin typeface="Meiryo UI"/>
                        </a:defRPr>
                      </a:pPr>
                      <a:r>
                        <a:t>統合力</a:t>
                      </a:r>
                    </a:p>
                  </a:txBody>
                  <a:tcPr>
                    <a:solidFill>
                      <a:srgbClr val="FFFFFF"/>
                    </a:solidFill>
                  </a:tcPr>
                </a:tc>
                <a:tc>
                  <a:txBody>
                    <a:bodyPr/>
                    <a:lstStyle/>
                    <a:p>
                      <a:pPr algn="l">
                        <a:defRPr sz="900">
                          <a:solidFill>
                            <a:srgbClr val="333333"/>
                          </a:solidFill>
                          <a:latin typeface="Meiryo UI"/>
                        </a:defRPr>
                      </a:pPr>
                      <a:r>
                        <a:t>Web業務自動化機能の追加</a:t>
                      </a:r>
                    </a:p>
                    <a:p>
                      <a:pPr algn="l">
                        <a:defRPr sz="900">
                          <a:solidFill>
                            <a:srgbClr val="333333"/>
                          </a:solidFill>
                          <a:latin typeface="Meiryo UI"/>
                        </a:defRPr>
                      </a:pPr>
                      <a:r>
                        <a:t>MCP対応強化</a:t>
                      </a:r>
                    </a:p>
                  </a:txBody>
                  <a:tcPr>
                    <a:solidFill>
                      <a:srgbClr val="FFFFFF"/>
                    </a:solidFill>
                  </a:tcPr>
                </a:tc>
              </a:tr>
              <a:tr h="533400">
                <a:tc>
                  <a:txBody>
                    <a:bodyPr/>
                    <a:lstStyle/>
                    <a:p>
                      <a:pPr algn="l">
                        <a:defRPr sz="900">
                          <a:solidFill>
                            <a:srgbClr val="333333"/>
                          </a:solidFill>
                          <a:latin typeface="Meiryo UI"/>
                        </a:defRPr>
                      </a:pPr>
                      <a:r>
                        <a:t>★☆☆</a:t>
                      </a:r>
                    </a:p>
                  </a:txBody>
                  <a:tcPr>
                    <a:solidFill>
                      <a:srgbClr val="F2F2F2"/>
                    </a:solidFill>
                  </a:tcPr>
                </a:tc>
                <a:tc>
                  <a:txBody>
                    <a:bodyPr/>
                    <a:lstStyle/>
                    <a:p>
                      <a:pPr algn="l">
                        <a:defRPr sz="900">
                          <a:solidFill>
                            <a:srgbClr val="333333"/>
                          </a:solidFill>
                          <a:latin typeface="Meiryo UI"/>
                        </a:defRPr>
                      </a:pPr>
                      <a:r>
                        <a:t>AIインフラ</a:t>
                      </a:r>
                    </a:p>
                    <a:p>
                      <a:pPr algn="l">
                        <a:defRPr sz="900">
                          <a:solidFill>
                            <a:srgbClr val="333333"/>
                          </a:solidFill>
                          <a:latin typeface="Meiryo UI"/>
                        </a:defRPr>
                      </a:pPr>
                      <a:r>
                        <a:t>省電力化</a:t>
                      </a:r>
                    </a:p>
                  </a:txBody>
                  <a:tcPr>
                    <a:solidFill>
                      <a:srgbClr val="F2F2F2"/>
                    </a:solidFill>
                  </a:tcPr>
                </a:tc>
                <a:tc>
                  <a:txBody>
                    <a:bodyPr/>
                    <a:lstStyle/>
                    <a:p>
                      <a:pPr algn="l">
                        <a:defRPr sz="900">
                          <a:solidFill>
                            <a:srgbClr val="333333"/>
                          </a:solidFill>
                          <a:latin typeface="Meiryo UI"/>
                        </a:defRPr>
                      </a:pPr>
                      <a:r>
                        <a:t>NTT</a:t>
                      </a:r>
                    </a:p>
                  </a:txBody>
                  <a:tcPr>
                    <a:solidFill>
                      <a:srgbClr val="F2F2F2"/>
                    </a:solidFill>
                  </a:tcPr>
                </a:tc>
                <a:tc>
                  <a:txBody>
                    <a:bodyPr/>
                    <a:lstStyle/>
                    <a:p>
                      <a:pPr algn="l">
                        <a:defRPr sz="900">
                          <a:solidFill>
                            <a:srgbClr val="333333"/>
                          </a:solidFill>
                          <a:latin typeface="Meiryo UI"/>
                        </a:defRPr>
                      </a:pPr>
                      <a:r>
                        <a:t>Takaneメモリ</a:t>
                      </a:r>
                    </a:p>
                    <a:p>
                      <a:pPr algn="l">
                        <a:defRPr sz="900">
                          <a:solidFill>
                            <a:srgbClr val="333333"/>
                          </a:solidFill>
                          <a:latin typeface="Meiryo UI"/>
                        </a:defRPr>
                      </a:pPr>
                      <a:r>
                        <a:t>94%削減</a:t>
                      </a:r>
                    </a:p>
                  </a:txBody>
                  <a:tcPr>
                    <a:solidFill>
                      <a:srgbClr val="F2F2F2"/>
                    </a:solidFill>
                  </a:tcPr>
                </a:tc>
                <a:tc>
                  <a:txBody>
                    <a:bodyPr/>
                    <a:lstStyle/>
                    <a:p>
                      <a:pPr algn="l">
                        <a:defRPr sz="900">
                          <a:solidFill>
                            <a:srgbClr val="333333"/>
                          </a:solidFill>
                          <a:latin typeface="Meiryo UI"/>
                        </a:defRPr>
                      </a:pPr>
                      <a:r>
                        <a:t>IOWN提携の検討</a:t>
                      </a:r>
                    </a:p>
                    <a:p>
                      <a:pPr algn="l">
                        <a:defRPr sz="900">
                          <a:solidFill>
                            <a:srgbClr val="333333"/>
                          </a:solidFill>
                          <a:latin typeface="Meiryo UI"/>
                        </a:defRPr>
                      </a:pPr>
                      <a:r>
                        <a:t>ソフトウェア面のインフラ最適化</a:t>
                      </a:r>
                    </a:p>
                  </a:txBody>
                  <a:tcPr>
                    <a:solidFill>
                      <a:srgbClr val="F2F2F2"/>
                    </a:solidFill>
                  </a:tcPr>
                </a:tc>
              </a:tr>
            </a:tbl>
          </a:graphicData>
        </a:graphic>
      </p:graphicFrame>
      <p:sp>
        <p:nvSpPr>
          <p:cNvPr id="4" name="TextBox 3"/>
          <p:cNvSpPr txBox="1"/>
          <p:nvPr/>
        </p:nvSpPr>
        <p:spPr>
          <a:xfrm>
            <a:off x="274320" y="4572000"/>
            <a:ext cx="11612880" cy="1645920"/>
          </a:xfrm>
          <a:prstGeom prst="rect">
            <a:avLst/>
          </a:prstGeom>
          <a:noFill/>
        </p:spPr>
        <p:txBody>
          <a:bodyPr wrap="square">
            <a:spAutoFit/>
          </a:bodyPr>
          <a:lstStyle/>
          <a:p>
            <a:pPr algn="l">
              <a:spcBef>
                <a:spcPts val="400"/>
              </a:spcBef>
              <a:spcAft>
                <a:spcPts val="200"/>
              </a:spcAft>
              <a:defRPr sz="1300" b="1">
                <a:solidFill>
                  <a:srgbClr val="003366"/>
                </a:solidFill>
                <a:latin typeface="Meiryo UI"/>
              </a:defRPr>
            </a:pPr>
            <a:r>
              <a:t>【戦略の方向性】</a:t>
            </a:r>
          </a:p>
          <a:p>
            <a:pPr algn="l">
              <a:spcBef>
                <a:spcPts val="400"/>
              </a:spcBef>
              <a:spcAft>
                <a:spcPts val="200"/>
              </a:spcAft>
              <a:defRPr sz="1100" b="1">
                <a:solidFill>
                  <a:srgbClr val="C0392B"/>
                </a:solidFill>
                <a:latin typeface="Meiryo UI"/>
              </a:defRPr>
            </a:pPr>
            <a:r>
              <a:t>• 最優先: 金融・公共分野での「レガシー刷新 × AI業務改革」を富士通独自の武器として攻めます</a:t>
            </a:r>
          </a:p>
          <a:p>
            <a:pPr algn="l">
              <a:spcBef>
                <a:spcPts val="400"/>
              </a:spcBef>
              <a:spcAft>
                <a:spcPts val="200"/>
              </a:spcAft>
              <a:defRPr sz="1100" b="0">
                <a:solidFill>
                  <a:srgbClr val="333333"/>
                </a:solidFill>
                <a:latin typeface="Meiryo UI"/>
              </a:defRPr>
            </a:pPr>
            <a:r>
              <a:t>• 並行推進: 日立のフィジカルAI・NECのAIエージェントに対抗する機能強化を進めます</a:t>
            </a:r>
          </a:p>
          <a:p>
            <a:pPr algn="l">
              <a:spcBef>
                <a:spcPts val="400"/>
              </a:spcBef>
              <a:spcAft>
                <a:spcPts val="200"/>
              </a:spcAft>
              <a:defRPr sz="1100" b="0">
                <a:solidFill>
                  <a:srgbClr val="333333"/>
                </a:solidFill>
                <a:latin typeface="Meiryo UI"/>
              </a:defRPr>
            </a:pPr>
            <a:r>
              <a:t>• 補完戦略: NTTのAIインフラ技術とは提携による補完関係を構築します</a:t>
            </a:r>
          </a:p>
        </p:txBody>
      </p:sp>
      <p:cxnSp>
        <p:nvCxnSpPr>
          <p:cNvPr id="5" name="Connector 4"/>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200" b="1">
                <a:solidFill>
                  <a:srgbClr val="FFFFFF"/>
                </a:solidFill>
                <a:latin typeface="Meiryo UI"/>
              </a:defRPr>
            </a:pPr>
            <a:r>
              <a:t>まとめ・提言</a:t>
            </a:r>
          </a:p>
        </p:txBody>
      </p:sp>
      <p:sp>
        <p:nvSpPr>
          <p:cNvPr id="3" name="TextBox 2"/>
          <p:cNvSpPr txBox="1"/>
          <p:nvPr/>
        </p:nvSpPr>
        <p:spPr>
          <a:xfrm>
            <a:off x="274320" y="1097280"/>
            <a:ext cx="11612880" cy="365760"/>
          </a:xfrm>
          <a:prstGeom prst="rect">
            <a:avLst/>
          </a:prstGeom>
          <a:noFill/>
        </p:spPr>
        <p:txBody>
          <a:bodyPr wrap="square">
            <a:spAutoFit/>
          </a:bodyPr>
          <a:lstStyle/>
          <a:p>
            <a:pPr algn="l">
              <a:defRPr sz="1400" b="1">
                <a:solidFill>
                  <a:srgbClr val="003366"/>
                </a:solidFill>
                <a:latin typeface="Meiryo UI"/>
              </a:defRPr>
            </a:pPr>
            <a:r>
              <a:t>■ 富士通の最大の差別化ポイント</a:t>
            </a:r>
          </a:p>
        </p:txBody>
      </p:sp>
      <p:sp>
        <p:nvSpPr>
          <p:cNvPr id="4" name="Rounded Rectangle 3"/>
          <p:cNvSpPr/>
          <p:nvPr/>
        </p:nvSpPr>
        <p:spPr>
          <a:xfrm>
            <a:off x="274320" y="1645920"/>
            <a:ext cx="11612880" cy="91440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1247120" cy="320040"/>
          </a:xfrm>
          <a:prstGeom prst="rect">
            <a:avLst/>
          </a:prstGeom>
          <a:noFill/>
        </p:spPr>
        <p:txBody>
          <a:bodyPr wrap="none">
            <a:spAutoFit/>
          </a:bodyPr>
          <a:lstStyle/>
          <a:p>
            <a:pPr>
              <a:defRPr sz="1300" b="1">
                <a:solidFill>
                  <a:srgbClr val="003366"/>
                </a:solidFill>
                <a:latin typeface="Meiryo UI"/>
              </a:defRPr>
            </a:pPr>
            <a:r>
              <a:t>✓ レガシーシステム刷新</a:t>
            </a:r>
          </a:p>
        </p:txBody>
      </p:sp>
      <p:sp>
        <p:nvSpPr>
          <p:cNvPr id="6" name="TextBox 5"/>
          <p:cNvSpPr txBox="1"/>
          <p:nvPr/>
        </p:nvSpPr>
        <p:spPr>
          <a:xfrm>
            <a:off x="731520" y="2103120"/>
            <a:ext cx="10972800" cy="365760"/>
          </a:xfrm>
          <a:prstGeom prst="rect">
            <a:avLst/>
          </a:prstGeom>
          <a:noFill/>
        </p:spPr>
        <p:txBody>
          <a:bodyPr wrap="square">
            <a:spAutoFit/>
          </a:bodyPr>
          <a:lstStyle/>
          <a:p>
            <a:pPr>
              <a:defRPr sz="1000">
                <a:solidFill>
                  <a:srgbClr val="333333"/>
                </a:solidFill>
                <a:latin typeface="Meiryo UI"/>
              </a:defRPr>
            </a:pPr>
            <a:r>
              <a:t>Application Transform による COBOL 設計書自動生成（97%効率化）は各社に対して独自の優位性があります</a:t>
            </a:r>
          </a:p>
        </p:txBody>
      </p:sp>
      <p:sp>
        <p:nvSpPr>
          <p:cNvPr id="7" name="Rounded Rectangle 6"/>
          <p:cNvSpPr/>
          <p:nvPr/>
        </p:nvSpPr>
        <p:spPr>
          <a:xfrm>
            <a:off x="274320" y="2743200"/>
            <a:ext cx="11612880" cy="91440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834640"/>
            <a:ext cx="11247120" cy="320040"/>
          </a:xfrm>
          <a:prstGeom prst="rect">
            <a:avLst/>
          </a:prstGeom>
          <a:noFill/>
        </p:spPr>
        <p:txBody>
          <a:bodyPr wrap="none">
            <a:spAutoFit/>
          </a:bodyPr>
          <a:lstStyle/>
          <a:p>
            <a:pPr>
              <a:defRPr sz="1300" b="1">
                <a:solidFill>
                  <a:srgbClr val="003366"/>
                </a:solidFill>
                <a:latin typeface="Meiryo UI"/>
              </a:defRPr>
            </a:pPr>
            <a:r>
              <a:t>✓ Kozuchi 統合プラットフォーム</a:t>
            </a:r>
          </a:p>
        </p:txBody>
      </p:sp>
      <p:sp>
        <p:nvSpPr>
          <p:cNvPr id="9" name="TextBox 8"/>
          <p:cNvSpPr txBox="1"/>
          <p:nvPr/>
        </p:nvSpPr>
        <p:spPr>
          <a:xfrm>
            <a:off x="731520" y="3200400"/>
            <a:ext cx="10972800" cy="365760"/>
          </a:xfrm>
          <a:prstGeom prst="rect">
            <a:avLst/>
          </a:prstGeom>
          <a:noFill/>
        </p:spPr>
        <p:txBody>
          <a:bodyPr wrap="square">
            <a:spAutoFit/>
          </a:bodyPr>
          <a:lstStyle/>
          <a:p>
            <a:pPr>
              <a:defRPr sz="1000">
                <a:solidFill>
                  <a:srgbClr val="333333"/>
                </a:solidFill>
                <a:latin typeface="Meiryo UI"/>
              </a:defRPr>
            </a:pPr>
            <a:r>
              <a:t>50以上のAI技術 ＋ エージェント ＋ Physical AI を一気通貫で提供できる包括力があります</a:t>
            </a:r>
          </a:p>
        </p:txBody>
      </p:sp>
      <p:sp>
        <p:nvSpPr>
          <p:cNvPr id="10" name="Rounded Rectangle 9"/>
          <p:cNvSpPr/>
          <p:nvPr/>
        </p:nvSpPr>
        <p:spPr>
          <a:xfrm>
            <a:off x="274320" y="3840480"/>
            <a:ext cx="11612880" cy="914400"/>
          </a:xfrm>
          <a:prstGeom prst="round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931920"/>
            <a:ext cx="11247120" cy="320040"/>
          </a:xfrm>
          <a:prstGeom prst="rect">
            <a:avLst/>
          </a:prstGeom>
          <a:noFill/>
        </p:spPr>
        <p:txBody>
          <a:bodyPr wrap="none">
            <a:spAutoFit/>
          </a:bodyPr>
          <a:lstStyle/>
          <a:p>
            <a:pPr>
              <a:defRPr sz="1300" b="1">
                <a:solidFill>
                  <a:srgbClr val="003366"/>
                </a:solidFill>
                <a:latin typeface="Meiryo UI"/>
              </a:defRPr>
            </a:pPr>
            <a:r>
              <a:t>✓ セキュアなオンプレミスAI</a:t>
            </a:r>
          </a:p>
        </p:txBody>
      </p:sp>
      <p:sp>
        <p:nvSpPr>
          <p:cNvPr id="12" name="TextBox 11"/>
          <p:cNvSpPr txBox="1"/>
          <p:nvPr/>
        </p:nvSpPr>
        <p:spPr>
          <a:xfrm>
            <a:off x="731520" y="4297680"/>
            <a:ext cx="10972800" cy="365760"/>
          </a:xfrm>
          <a:prstGeom prst="rect">
            <a:avLst/>
          </a:prstGeom>
          <a:noFill/>
        </p:spPr>
        <p:txBody>
          <a:bodyPr wrap="square">
            <a:spAutoFit/>
          </a:bodyPr>
          <a:lstStyle/>
          <a:p>
            <a:pPr>
              <a:defRPr sz="1000">
                <a:solidFill>
                  <a:srgbClr val="333333"/>
                </a:solidFill>
                <a:latin typeface="Meiryo UI"/>
              </a:defRPr>
            </a:pPr>
            <a:r>
              <a:t>Enterprise AI Factory による自社環境での安全なAI運用は、機密性の高い業界に最適です</a:t>
            </a:r>
          </a:p>
        </p:txBody>
      </p:sp>
      <p:sp>
        <p:nvSpPr>
          <p:cNvPr id="13" name="TextBox 12"/>
          <p:cNvSpPr txBox="1"/>
          <p:nvPr/>
        </p:nvSpPr>
        <p:spPr>
          <a:xfrm>
            <a:off x="274320" y="5029200"/>
            <a:ext cx="11612880" cy="365760"/>
          </a:xfrm>
          <a:prstGeom prst="rect">
            <a:avLst/>
          </a:prstGeom>
          <a:noFill/>
        </p:spPr>
        <p:txBody>
          <a:bodyPr wrap="square">
            <a:spAutoFit/>
          </a:bodyPr>
          <a:lstStyle/>
          <a:p>
            <a:pPr algn="l">
              <a:defRPr sz="1400" b="1">
                <a:solidFill>
                  <a:srgbClr val="003366"/>
                </a:solidFill>
                <a:latin typeface="Meiryo UI"/>
              </a:defRPr>
            </a:pPr>
            <a:r>
              <a:t>■ 推奨する戦略的方向性</a:t>
            </a:r>
          </a:p>
        </p:txBody>
      </p:sp>
      <p:sp>
        <p:nvSpPr>
          <p:cNvPr id="14" name="Rounded Rectangle 13"/>
          <p:cNvSpPr/>
          <p:nvPr/>
        </p:nvSpPr>
        <p:spPr>
          <a:xfrm>
            <a:off x="274320" y="5486400"/>
            <a:ext cx="11612880" cy="731520"/>
          </a:xfrm>
          <a:prstGeom prst="roundRect">
            <a:avLst/>
          </a:prstGeom>
          <a:solidFill>
            <a:srgbClr val="FC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532120"/>
            <a:ext cx="11247120" cy="640080"/>
          </a:xfrm>
          <a:prstGeom prst="rect">
            <a:avLst/>
          </a:prstGeom>
          <a:noFill/>
        </p:spPr>
        <p:txBody>
          <a:bodyPr wrap="square">
            <a:spAutoFit/>
          </a:bodyPr>
          <a:lstStyle/>
          <a:p>
            <a:pPr>
              <a:defRPr sz="1200" b="1">
                <a:solidFill>
                  <a:srgbClr val="C0392B"/>
                </a:solidFill>
                <a:latin typeface="Meiryo UI"/>
              </a:defRPr>
            </a:pPr>
            <a:r>
              <a:t>金融・公共分野でのレガシー刷新 × AI業務改革を最優先で攻め、日立のフィジカルAI・NECのAIエージェントには機能強化で対抗し、NTTのAIインフラ技術とは提携で補完する三層戦略を推奨します</a:t>
            </a:r>
          </a:p>
        </p:txBody>
      </p:sp>
      <p:cxnSp>
        <p:nvCxnSpPr>
          <p:cNvPr id="16" name="Connector 15"/>
          <p:cNvCxnSpPr/>
          <p:nvPr/>
        </p:nvCxnSpPr>
        <p:spPr>
          <a:xfrm>
            <a:off x="274320" y="6400800"/>
            <a:ext cx="11612880" cy="0"/>
          </a:xfrm>
          <a:prstGeom prst="line">
            <a:avLst/>
          </a:prstGeom>
          <a:ln w="9525">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47120" y="6492240"/>
            <a:ext cx="822960" cy="274320"/>
          </a:xfrm>
          <a:prstGeom prst="rect">
            <a:avLst/>
          </a:prstGeom>
          <a:noFill/>
        </p:spPr>
        <p:txBody>
          <a:bodyPr wrap="none">
            <a:spAutoFit/>
          </a:bodyPr>
          <a:lstStyle/>
          <a:p>
            <a:pPr algn="r">
              <a:defRPr sz="800">
                <a:solidFill>
                  <a:srgbClr val="666666"/>
                </a:solidFill>
                <a:latin typeface="Meiryo UI"/>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