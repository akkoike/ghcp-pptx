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1631" r:id="rId2"/>
    <p:sldId id="1632" r:id="rId8"/>
    <p:sldId id="1633" r:id="rId9"/>
    <p:sldId id="1634" r:id="rId10"/>
    <p:sldId id="1635" r:id="rId11"/>
    <p:sldId id="1636" r:id="rId12"/>
    <p:sldId id="1637" r:id="rId13"/>
  </p:sldIdLst>
  <p:sldSz cx="12191695"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60"/>
  </p:normalViewPr>
  <p:slideViewPr>
    <p:cSldViewPr snapToGrid="0">
      <p:cViewPr varScale="1">
        <p:scale>
          <a:sx n="45" d="100"/>
          <a:sy n="45" d="100"/>
        </p:scale>
        <p:origin x="31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1BA762-84CE-4F53-8E60-26065AF87875}" type="datetimeFigureOut">
              <a:rPr kumimoji="1" lang="ja-JP" altLang="en-US" smtClean="0"/>
              <a:t>2026/3/27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DFF419-6077-47DD-A5DE-F4CBD2CB562F}" type="slidenum">
              <a:rPr kumimoji="1" lang="ja-JP" altLang="en-US" smtClean="0"/>
              <a:t>‹#›</a:t>
            </a:fld>
            <a:endParaRPr kumimoji="1" lang="ja-JP" altLang="en-US"/>
          </a:p>
        </p:txBody>
      </p:sp>
    </p:spTree>
    <p:extLst>
      <p:ext uri="{BB962C8B-B14F-4D97-AF65-F5344CB8AC3E}">
        <p14:creationId xmlns:p14="http://schemas.microsoft.com/office/powerpoint/2010/main" val="32666783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777554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D86A7A-9864-A2C9-BB91-CDB272FF58B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194FC2E-1A68-CF0F-F0DF-338CAE121F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0285EA0-9454-0B93-F32A-2F25FB77F208}"/>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67C5CBB5-6567-5F50-2A16-02ED47D583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BD8687-E082-42D7-222C-329168CD4A14}"/>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954617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751148-113A-9699-171A-1860B262921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DB956E1-02B7-4F83-C11F-17DD11647E8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2E00FF1-0301-FF3B-1713-AA5A51917A45}"/>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3AD77C81-72FA-B1BB-8CF1-F61EF2686F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8574FF5-A3C0-C577-1DC2-299C7A6244BA}"/>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567805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423724-0819-0195-2F32-4D6128AA905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FA9AC08-40AB-5AC0-819D-3F0984BBEC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7E45FF1-B253-B6E7-87C5-0F5223F38F51}"/>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8E65E4A9-9A66-C339-5EBD-FA254B38E08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45D7A7A-277A-4BD1-846A-A499A0031ED4}"/>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485627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CE5D74-62E4-B23E-2EE8-CDE1CDF3100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A577BF7-C7FE-45BA-A705-3FD82B44114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F1BFF64-79C9-31D5-2355-69A9068F9CF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4A87A3E-4A6D-0E02-680A-EE40DAA42EFA}"/>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6" name="フッター プレースホルダー 5">
            <a:extLst>
              <a:ext uri="{FF2B5EF4-FFF2-40B4-BE49-F238E27FC236}">
                <a16:creationId xmlns:a16="http://schemas.microsoft.com/office/drawing/2014/main" id="{FFC62478-2A7C-3578-7477-B69D897C526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C40B1C4-C095-E474-0940-9127779E8815}"/>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136534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7B5F74-EEBA-59D2-5AEF-76C7C181C2B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1410586-7DD6-A757-F280-B2186819F5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4118E91-6A28-4ADA-5750-9FA2DDAC529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3C456E8-54F2-1B55-3258-12D77DF556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882FC2D-14F8-57FB-26DD-EAD043AF218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DB90E8F-FC67-C75A-D5C8-3C645FD3157C}"/>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8" name="フッター プレースホルダー 7">
            <a:extLst>
              <a:ext uri="{FF2B5EF4-FFF2-40B4-BE49-F238E27FC236}">
                <a16:creationId xmlns:a16="http://schemas.microsoft.com/office/drawing/2014/main" id="{3EE0370F-F5E5-A358-4434-7515C1480D3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9F68596-4893-159C-4C2A-3E7B829B97D9}"/>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685263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DD11B7-6F1B-7866-62BB-9758A9D20F5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20E8490-99BD-FA9B-2C9C-DE574D326A81}"/>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4" name="フッター プレースホルダー 3">
            <a:extLst>
              <a:ext uri="{FF2B5EF4-FFF2-40B4-BE49-F238E27FC236}">
                <a16:creationId xmlns:a16="http://schemas.microsoft.com/office/drawing/2014/main" id="{4FCA5493-846F-678A-275B-E5E6336680B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461346F-8B80-B556-6F37-B399C00C281D}"/>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1788227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AFCEA22-08C2-7A41-986C-45A459EB60C4}"/>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3" name="フッター プレースホルダー 2">
            <a:extLst>
              <a:ext uri="{FF2B5EF4-FFF2-40B4-BE49-F238E27FC236}">
                <a16:creationId xmlns:a16="http://schemas.microsoft.com/office/drawing/2014/main" id="{0DCEDDF2-E80A-1D04-F03E-3FBDBCD215D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60C4A85-1A77-EE01-D351-5B7CFF71C48B}"/>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3307337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FA729D-9B80-C64C-F8D9-2E00FDAEA2B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C6C049E-212F-7B7E-19A3-720335B899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7B7320E-DB16-CD19-3A99-2EB5AA625F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8CB56C5-945E-4860-6962-52AB09A771F2}"/>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6" name="フッター プレースホルダー 5">
            <a:extLst>
              <a:ext uri="{FF2B5EF4-FFF2-40B4-BE49-F238E27FC236}">
                <a16:creationId xmlns:a16="http://schemas.microsoft.com/office/drawing/2014/main" id="{1834E892-635E-ACBE-6CC1-E7CC9CC37EA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68FAFEC-C489-BEA0-48B5-013BD2511283}"/>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406743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860A2A-4827-9764-0A9F-5FECD333ED7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3E0FD7E-1EC8-AF77-F907-59A5372E16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EA551E6-F0BC-81E3-F7E9-755A6AC88D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7372CFF-ABEF-4F1F-C588-DBAB083ECA19}"/>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6" name="フッター プレースホルダー 5">
            <a:extLst>
              <a:ext uri="{FF2B5EF4-FFF2-40B4-BE49-F238E27FC236}">
                <a16:creationId xmlns:a16="http://schemas.microsoft.com/office/drawing/2014/main" id="{2CFD42AC-3BFD-C7E2-79E2-54940DBB257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EC18B67-9605-4E17-A283-15AB9B31B70B}"/>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3593655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C64655-BCE2-12C6-5F0A-AFECA6DA5D8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20D1D92-A46C-021B-052B-592AAF84A66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A4BB17F-99C0-941D-A4E7-7EA1E248DF09}"/>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C966FFF1-AFB4-F7DC-CE20-9EA9C38E2A0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E55B1F3-8301-045D-D742-679FFCD48A5D}"/>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412291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51C7BDF-514F-37A6-137E-82F989C4F43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77BFC6E-E74D-D451-DF66-294BF2CBEBFE}"/>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DD5D36B-2EA0-7753-381A-043DA6879575}"/>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277AE700-8374-FCA9-EE94-0564CDF01AF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E269848-6CD0-B12D-F3E3-9779A5DC6356}"/>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1725082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498CFD-6F0F-1548-B3CF-58EC8479BA8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218210" y="0"/>
            <a:ext cx="5973790" cy="6858000"/>
          </a:xfrm>
          <a:prstGeom prst="rect">
            <a:avLst/>
          </a:prstGeom>
        </p:spPr>
      </p:pic>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366413677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00508FD-2C25-9551-BA42-623F9346A8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A18D9AB-3577-CECD-743A-08057620ED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C34A028-73C1-76CC-20BB-74B66BC097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EB346127-E541-5455-7048-C1FD1756D0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B89979A-1F4F-6B34-7F3D-82487A49B4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936396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6C5E9C-3C1A-E248-B670-BD999514AA02}"/>
              </a:ext>
            </a:extLst>
          </p:cNvPr>
          <p:cNvSpPr>
            <a:spLocks noGrp="1"/>
          </p:cNvSpPr>
          <p:nvPr>
            <p:ph type="title"/>
          </p:nvPr>
        </p:nvSpPr>
        <p:spPr/>
        <p:txBody>
          <a:bodyPr/>
          <a:lstStyle/>
          <a:p>
            <a:r>
              <a:rPr lang="en-US" dirty="0">
                <a:latin typeface="Meiryo UI"/>
              </a:rPr>
              <a:t>SIパートナーにおける FDE × AI支援の最新動向</a:t>
            </a:r>
          </a:p>
        </p:txBody>
      </p:sp>
      <p:sp>
        <p:nvSpPr>
          <p:cNvPr id="4" name="Text Placeholder 3">
            <a:extLst>
              <a:ext uri="{FF2B5EF4-FFF2-40B4-BE49-F238E27FC236}">
                <a16:creationId xmlns:a16="http://schemas.microsoft.com/office/drawing/2014/main" id="{F87B223C-04E8-1B45-B254-34B68081F7E6}"/>
              </a:ext>
            </a:extLst>
          </p:cNvPr>
          <p:cNvSpPr>
            <a:spLocks noGrp="1"/>
          </p:cNvSpPr>
          <p:nvPr>
            <p:ph type="body" sz="quarter" idx="15"/>
          </p:nvPr>
        </p:nvSpPr>
        <p:spPr/>
        <p:txBody>
          <a:bodyPr/>
          <a:lstStyle/>
          <a:p>
            <a:pPr marL="0" indent="0">
              <a:buNone/>
            </a:pPr>
            <a:r>
              <a:rPr lang="en-US" dirty="0"/>
              <a:t>Customer Success Unit</a:t>
            </a:r>
          </a:p>
        </p:txBody>
      </p:sp>
    </p:spTree>
    <p:extLst>
      <p:ext uri="{BB962C8B-B14F-4D97-AF65-F5344CB8AC3E}">
        <p14:creationId xmlns:p14="http://schemas.microsoft.com/office/powerpoint/2010/main" val="110825601"/>
      </p:ext>
    </p:extLst>
  </p:cSld>
  <p:clrMapOvr>
    <a:masterClrMapping/>
  </p:clrMapOvr>
  <p:transition>
    <p:fade/>
  </p:transition>
</p:sld>
</file>

<file path=ppt/slides/slide2.xml><?xml version="1.0" encoding="utf-8"?>
<p:sld xmlns:a="http://schemas.openxmlformats.org/drawingml/2006/main" xmlns:p="http://schemas.openxmlformats.org/presentationml/2006/main" xmlns:r="http://schemas.openxmlformats.org/officeDocument/2006/relationships">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400" b="1" dirty="0">
                <a:solidFill>
                  <a:srgbClr val="FFFFFF"/>
                </a:solidFill>
                <a:latin typeface="Meiryo UI" pitchFamily="34" charset="0"/>
                <a:ea typeface="Meiryo UI" pitchFamily="34" charset="-122"/>
                <a:cs typeface="Meiryo UI" pitchFamily="34" charset="-120"/>
              </a:rPr>
              <a:t>FDE（Forward Deployed Engineer）とは</a:t>
            </a:r>
            <a:endParaRPr lang="en-US" sz="24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2 / 7</a:t>
            </a:r>
            <a:endParaRPr lang="en-US" sz="900" dirty="0"/>
          </a:p>
        </p:txBody>
      </p:sp>
      <p:sp>
        <p:nvSpPr>
          <p:cNvPr id="5" name="Shape 3"/>
          <p:cNvSpPr/>
          <p:nvPr/>
        </p:nvSpPr>
        <p:spPr>
          <a:xfrm>
            <a:off x="457200" y="1188720"/>
            <a:ext cx="11274552" cy="1188720"/>
          </a:xfrm>
          <a:prstGeom prst="roundRect">
            <a:avLst>
              <a:gd name="adj" fmla="val 7692"/>
            </a:avLst>
          </a:prstGeom>
          <a:solidFill>
            <a:srgbClr val="DEECF9"/>
          </a:solidFill>
          <a:ln w="19050">
            <a:solidFill>
              <a:srgbClr val="0078D4"/>
            </a:solidFill>
            <a:prstDash val="solid"/>
          </a:ln>
        </p:spPr>
      </p:sp>
      <p:sp>
        <p:nvSpPr>
          <p:cNvPr id="6" name="Text 4"/>
          <p:cNvSpPr/>
          <p:nvPr/>
        </p:nvSpPr>
        <p:spPr>
          <a:xfrm>
            <a:off x="640080" y="1234440"/>
            <a:ext cx="3657600" cy="32004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  FDE の定義</a:t>
            </a:r>
            <a:endParaRPr lang="en-US" sz="1300" dirty="0"/>
          </a:p>
        </p:txBody>
      </p:sp>
      <p:sp>
        <p:nvSpPr>
          <p:cNvPr id="7" name="Text 5"/>
          <p:cNvSpPr/>
          <p:nvPr/>
        </p:nvSpPr>
        <p:spPr>
          <a:xfrm>
            <a:off x="731520" y="1554480"/>
            <a:ext cx="10725912" cy="73152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AIやデータ分析に精通したエンジニアが顧客企業に直接常駐・伴走し、AI導入から実装・運用定着までを一貫して支援するエンジニアリングモデルです。従来の「受託開発→納品」型SIとは異なり、課題発見からソリューション実装、定着化までを共に推進します。</a:t>
            </a:r>
            <a:endParaRPr lang="en-US" sz="1100" dirty="0"/>
          </a:p>
        </p:txBody>
      </p:sp>
      <p:sp>
        <p:nvSpPr>
          <p:cNvPr id="8" name="Shape 6"/>
          <p:cNvSpPr/>
          <p:nvPr/>
        </p:nvSpPr>
        <p:spPr>
          <a:xfrm>
            <a:off x="4754880" y="2788920"/>
            <a:ext cx="2011680" cy="1005840"/>
          </a:xfrm>
          <a:prstGeom prst="ellipse">
            <a:avLst/>
          </a:prstGeom>
          <a:solidFill>
            <a:srgbClr val="F3F2F1"/>
          </a:solidFill>
          <a:ln w="25400">
            <a:solidFill>
              <a:srgbClr val="0078D4"/>
            </a:solidFill>
            <a:prstDash val="solid"/>
          </a:ln>
        </p:spPr>
      </p:sp>
      <p:sp>
        <p:nvSpPr>
          <p:cNvPr id="9" name="Text 7"/>
          <p:cNvSpPr/>
          <p:nvPr/>
        </p:nvSpPr>
        <p:spPr>
          <a:xfrm>
            <a:off x="4754880" y="2788920"/>
            <a:ext cx="2011680" cy="100584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顧客企業</a:t>
            </a:r>
            <a:endParaRPr lang="en-US" sz="1200" dirty="0"/>
          </a:p>
        </p:txBody>
      </p:sp>
      <p:sp>
        <p:nvSpPr>
          <p:cNvPr id="10" name="Text 8"/>
          <p:cNvSpPr/>
          <p:nvPr/>
        </p:nvSpPr>
        <p:spPr>
          <a:xfrm>
            <a:off x="3200400" y="4526280"/>
            <a:ext cx="5120640" cy="320040"/>
          </a:xfrm>
          <a:prstGeom prst="rect">
            <a:avLst/>
          </a:prstGeom>
          <a:noFill/>
          <a:ln/>
        </p:spPr>
        <p:txBody>
          <a:bodyPr wrap="square" rtlCol="0" anchor="ctr"/>
          <a:lstStyle/>
          <a:p>
            <a:pPr algn="ctr" indent="0" marL="0">
              <a:buNone/>
            </a:pPr>
            <a:r>
              <a:rPr lang="en-US" sz="1000" b="1" dirty="0">
                <a:solidFill>
                  <a:srgbClr val="0078D4"/>
                </a:solidFill>
                <a:latin typeface="Meiryo UI" pitchFamily="34" charset="0"/>
                <a:ea typeface="Meiryo UI" pitchFamily="34" charset="-122"/>
                <a:cs typeface="Meiryo UI" pitchFamily="34" charset="-120"/>
              </a:rPr>
              <a:t>FDE エンジニアが全フェーズに伴走</a:t>
            </a:r>
            <a:endParaRPr lang="en-US" sz="1000" dirty="0"/>
          </a:p>
        </p:txBody>
      </p:sp>
      <p:sp>
        <p:nvSpPr>
          <p:cNvPr id="11" name="Shape 9"/>
          <p:cNvSpPr/>
          <p:nvPr/>
        </p:nvSpPr>
        <p:spPr>
          <a:xfrm>
            <a:off x="3474720" y="2423160"/>
            <a:ext cx="1828800" cy="822960"/>
          </a:xfrm>
          <a:prstGeom prst="roundRect">
            <a:avLst>
              <a:gd name="adj" fmla="val 11111"/>
            </a:avLst>
          </a:prstGeom>
          <a:solidFill>
            <a:srgbClr val="FFFFFF"/>
          </a:solidFill>
          <a:ln w="25400">
            <a:solidFill>
              <a:srgbClr val="0078D4"/>
            </a:solidFill>
            <a:prstDash val="solid"/>
          </a:ln>
        </p:spPr>
      </p:sp>
      <p:sp>
        <p:nvSpPr>
          <p:cNvPr id="12" name="Text 10"/>
          <p:cNvSpPr/>
          <p:nvPr/>
        </p:nvSpPr>
        <p:spPr>
          <a:xfrm>
            <a:off x="3474720" y="2423160"/>
            <a:ext cx="1828800" cy="822960"/>
          </a:xfrm>
          <a:prstGeom prst="rect">
            <a:avLst/>
          </a:prstGeom>
          <a:noFill/>
          <a:ln/>
        </p:spPr>
        <p:txBody>
          <a:bodyPr wrap="square" rtlCol="0" anchor="ctr"/>
          <a:lstStyle/>
          <a:p>
            <a:pPr algn="ctr" indent="0" marL="0">
              <a:buNone/>
            </a:pPr>
            <a:r>
              <a:rPr lang="en-US" sz="1100" b="1" dirty="0">
                <a:solidFill>
                  <a:srgbClr val="0078D4"/>
                </a:solidFill>
                <a:latin typeface="Meiryo UI" pitchFamily="34" charset="0"/>
                <a:ea typeface="Meiryo UI" pitchFamily="34" charset="-122"/>
                <a:cs typeface="Meiryo UI" pitchFamily="34" charset="-120"/>
              </a:rPr>
              <a:t>🎯  AI戦略策定</a:t>
            </a:r>
            <a:endParaRPr lang="en-US" sz="1100" dirty="0"/>
          </a:p>
        </p:txBody>
      </p:sp>
      <p:sp>
        <p:nvSpPr>
          <p:cNvPr id="13" name="Shape 11"/>
          <p:cNvSpPr/>
          <p:nvPr/>
        </p:nvSpPr>
        <p:spPr>
          <a:xfrm>
            <a:off x="6583680" y="2423160"/>
            <a:ext cx="1828800" cy="822960"/>
          </a:xfrm>
          <a:prstGeom prst="roundRect">
            <a:avLst>
              <a:gd name="adj" fmla="val 11111"/>
            </a:avLst>
          </a:prstGeom>
          <a:solidFill>
            <a:srgbClr val="FFFFFF"/>
          </a:solidFill>
          <a:ln w="25400">
            <a:solidFill>
              <a:srgbClr val="107C10"/>
            </a:solidFill>
            <a:prstDash val="solid"/>
          </a:ln>
        </p:spPr>
      </p:sp>
      <p:sp>
        <p:nvSpPr>
          <p:cNvPr id="14" name="Text 12"/>
          <p:cNvSpPr/>
          <p:nvPr/>
        </p:nvSpPr>
        <p:spPr>
          <a:xfrm>
            <a:off x="6583680" y="2423160"/>
            <a:ext cx="1828800" cy="822960"/>
          </a:xfrm>
          <a:prstGeom prst="rect">
            <a:avLst/>
          </a:prstGeom>
          <a:noFill/>
          <a:ln/>
        </p:spPr>
        <p:txBody>
          <a:bodyPr wrap="square" rtlCol="0" anchor="ctr"/>
          <a:lstStyle/>
          <a:p>
            <a:pPr algn="ctr" indent="0" marL="0">
              <a:buNone/>
            </a:pPr>
            <a:r>
              <a:rPr lang="en-US" sz="1100" b="1" dirty="0">
                <a:solidFill>
                  <a:srgbClr val="107C10"/>
                </a:solidFill>
                <a:latin typeface="Meiryo UI" pitchFamily="34" charset="0"/>
                <a:ea typeface="Meiryo UI" pitchFamily="34" charset="-122"/>
                <a:cs typeface="Meiryo UI" pitchFamily="34" charset="-120"/>
              </a:rPr>
              <a:t>🔬  PoC・開発</a:t>
            </a:r>
            <a:endParaRPr lang="en-US" sz="1100" dirty="0"/>
          </a:p>
        </p:txBody>
      </p:sp>
      <p:sp>
        <p:nvSpPr>
          <p:cNvPr id="15" name="Shape 13"/>
          <p:cNvSpPr/>
          <p:nvPr/>
        </p:nvSpPr>
        <p:spPr>
          <a:xfrm>
            <a:off x="6583680" y="3520440"/>
            <a:ext cx="1828800" cy="822960"/>
          </a:xfrm>
          <a:prstGeom prst="roundRect">
            <a:avLst>
              <a:gd name="adj" fmla="val 11111"/>
            </a:avLst>
          </a:prstGeom>
          <a:solidFill>
            <a:srgbClr val="FFFFFF"/>
          </a:solidFill>
          <a:ln w="25400">
            <a:solidFill>
              <a:srgbClr val="FF8C00"/>
            </a:solidFill>
            <a:prstDash val="solid"/>
          </a:ln>
        </p:spPr>
      </p:sp>
      <p:sp>
        <p:nvSpPr>
          <p:cNvPr id="16" name="Text 14"/>
          <p:cNvSpPr/>
          <p:nvPr/>
        </p:nvSpPr>
        <p:spPr>
          <a:xfrm>
            <a:off x="6583680" y="3520440"/>
            <a:ext cx="1828800" cy="822960"/>
          </a:xfrm>
          <a:prstGeom prst="rect">
            <a:avLst/>
          </a:prstGeom>
          <a:noFill/>
          <a:ln/>
        </p:spPr>
        <p:txBody>
          <a:bodyPr wrap="square" rtlCol="0" anchor="ctr"/>
          <a:lstStyle/>
          <a:p>
            <a:pPr algn="ctr" indent="0" marL="0">
              <a:buNone/>
            </a:pPr>
            <a:r>
              <a:rPr lang="en-US" sz="1100" b="1" dirty="0">
                <a:solidFill>
                  <a:srgbClr val="FF8C00"/>
                </a:solidFill>
                <a:latin typeface="Meiryo UI" pitchFamily="34" charset="0"/>
                <a:ea typeface="Meiryo UI" pitchFamily="34" charset="-122"/>
                <a:cs typeface="Meiryo UI" pitchFamily="34" charset="-120"/>
              </a:rPr>
              <a:t>🚀  本番実装</a:t>
            </a:r>
            <a:endParaRPr lang="en-US" sz="1100" dirty="0"/>
          </a:p>
        </p:txBody>
      </p:sp>
      <p:sp>
        <p:nvSpPr>
          <p:cNvPr id="17" name="Shape 15"/>
          <p:cNvSpPr/>
          <p:nvPr/>
        </p:nvSpPr>
        <p:spPr>
          <a:xfrm>
            <a:off x="3474720" y="3520440"/>
            <a:ext cx="1828800" cy="822960"/>
          </a:xfrm>
          <a:prstGeom prst="roundRect">
            <a:avLst>
              <a:gd name="adj" fmla="val 11111"/>
            </a:avLst>
          </a:prstGeom>
          <a:solidFill>
            <a:srgbClr val="FFFFFF"/>
          </a:solidFill>
          <a:ln w="25400">
            <a:solidFill>
              <a:srgbClr val="5C2D91"/>
            </a:solidFill>
            <a:prstDash val="solid"/>
          </a:ln>
        </p:spPr>
      </p:sp>
      <p:sp>
        <p:nvSpPr>
          <p:cNvPr id="18" name="Text 16"/>
          <p:cNvSpPr/>
          <p:nvPr/>
        </p:nvSpPr>
        <p:spPr>
          <a:xfrm>
            <a:off x="3474720" y="3520440"/>
            <a:ext cx="1828800" cy="822960"/>
          </a:xfrm>
          <a:prstGeom prst="rect">
            <a:avLst/>
          </a:prstGeom>
          <a:noFill/>
          <a:ln/>
        </p:spPr>
        <p:txBody>
          <a:bodyPr wrap="square" rtlCol="0" anchor="ctr"/>
          <a:lstStyle/>
          <a:p>
            <a:pPr algn="ctr" indent="0" marL="0">
              <a:buNone/>
            </a:pPr>
            <a:r>
              <a:rPr lang="en-US" sz="1100" b="1" dirty="0">
                <a:solidFill>
                  <a:srgbClr val="5C2D91"/>
                </a:solidFill>
                <a:latin typeface="Meiryo UI" pitchFamily="34" charset="0"/>
                <a:ea typeface="Meiryo UI" pitchFamily="34" charset="-122"/>
                <a:cs typeface="Meiryo UI" pitchFamily="34" charset="-120"/>
              </a:rPr>
              <a:t>🔄  運用定着</a:t>
            </a:r>
            <a:endParaRPr lang="en-US" sz="1100" dirty="0"/>
          </a:p>
        </p:txBody>
      </p:sp>
      <p:sp>
        <p:nvSpPr>
          <p:cNvPr id="19" name="Text 17"/>
          <p:cNvSpPr/>
          <p:nvPr/>
        </p:nvSpPr>
        <p:spPr>
          <a:xfrm>
            <a:off x="5303520" y="2514600"/>
            <a:ext cx="914400" cy="457200"/>
          </a:xfrm>
          <a:prstGeom prst="rect">
            <a:avLst/>
          </a:prstGeom>
          <a:noFill/>
          <a:ln/>
        </p:spPr>
        <p:txBody>
          <a:bodyPr wrap="square" rtlCol="0" anchor="ctr"/>
          <a:lstStyle/>
          <a:p>
            <a:pPr algn="ctr" indent="0" marL="0">
              <a:buNone/>
            </a:pPr>
            <a:r>
              <a:rPr lang="en-US" sz="1800" dirty="0">
                <a:solidFill>
                  <a:srgbClr val="999999"/>
                </a:solidFill>
                <a:latin typeface="Meiryo UI" pitchFamily="34" charset="0"/>
                <a:ea typeface="Meiryo UI" pitchFamily="34" charset="-122"/>
                <a:cs typeface="Meiryo UI" pitchFamily="34" charset="-120"/>
              </a:rPr>
              <a:t>→</a:t>
            </a:r>
            <a:endParaRPr lang="en-US" sz="1800" dirty="0"/>
          </a:p>
        </p:txBody>
      </p:sp>
      <p:sp>
        <p:nvSpPr>
          <p:cNvPr id="20" name="Text 18"/>
          <p:cNvSpPr/>
          <p:nvPr/>
        </p:nvSpPr>
        <p:spPr>
          <a:xfrm>
            <a:off x="7680960" y="3108960"/>
            <a:ext cx="731520" cy="457200"/>
          </a:xfrm>
          <a:prstGeom prst="rect">
            <a:avLst/>
          </a:prstGeom>
          <a:noFill/>
          <a:ln/>
        </p:spPr>
        <p:txBody>
          <a:bodyPr wrap="square" rtlCol="0" anchor="ctr"/>
          <a:lstStyle/>
          <a:p>
            <a:pPr algn="ctr" indent="0" marL="0">
              <a:buNone/>
            </a:pPr>
            <a:r>
              <a:rPr lang="en-US" sz="1800" dirty="0">
                <a:solidFill>
                  <a:srgbClr val="999999"/>
                </a:solidFill>
                <a:latin typeface="Meiryo UI" pitchFamily="34" charset="0"/>
                <a:ea typeface="Meiryo UI" pitchFamily="34" charset="-122"/>
                <a:cs typeface="Meiryo UI" pitchFamily="34" charset="-120"/>
              </a:rPr>
              <a:t>↓</a:t>
            </a:r>
            <a:endParaRPr lang="en-US" sz="1800" dirty="0"/>
          </a:p>
        </p:txBody>
      </p:sp>
      <p:sp>
        <p:nvSpPr>
          <p:cNvPr id="21" name="Text 19"/>
          <p:cNvSpPr/>
          <p:nvPr/>
        </p:nvSpPr>
        <p:spPr>
          <a:xfrm>
            <a:off x="5303520" y="3611880"/>
            <a:ext cx="914400" cy="457200"/>
          </a:xfrm>
          <a:prstGeom prst="rect">
            <a:avLst/>
          </a:prstGeom>
          <a:noFill/>
          <a:ln/>
        </p:spPr>
        <p:txBody>
          <a:bodyPr wrap="square" rtlCol="0" anchor="ctr"/>
          <a:lstStyle/>
          <a:p>
            <a:pPr algn="ctr" indent="0" marL="0">
              <a:buNone/>
            </a:pPr>
            <a:r>
              <a:rPr lang="en-US" sz="1800" dirty="0">
                <a:solidFill>
                  <a:srgbClr val="999999"/>
                </a:solidFill>
                <a:latin typeface="Meiryo UI" pitchFamily="34" charset="0"/>
                <a:ea typeface="Meiryo UI" pitchFamily="34" charset="-122"/>
                <a:cs typeface="Meiryo UI" pitchFamily="34" charset="-120"/>
              </a:rPr>
              <a:t>←</a:t>
            </a:r>
            <a:endParaRPr lang="en-US" sz="1800" dirty="0"/>
          </a:p>
        </p:txBody>
      </p:sp>
      <p:sp>
        <p:nvSpPr>
          <p:cNvPr id="22" name="Text 20"/>
          <p:cNvSpPr/>
          <p:nvPr/>
        </p:nvSpPr>
        <p:spPr>
          <a:xfrm>
            <a:off x="3200400" y="3108960"/>
            <a:ext cx="731520" cy="457200"/>
          </a:xfrm>
          <a:prstGeom prst="rect">
            <a:avLst/>
          </a:prstGeom>
          <a:noFill/>
          <a:ln/>
        </p:spPr>
        <p:txBody>
          <a:bodyPr wrap="square" rtlCol="0" anchor="ctr"/>
          <a:lstStyle/>
          <a:p>
            <a:pPr algn="ctr" indent="0" marL="0">
              <a:buNone/>
            </a:pPr>
            <a:r>
              <a:rPr lang="en-US" sz="1800" dirty="0">
                <a:solidFill>
                  <a:srgbClr val="999999"/>
                </a:solidFill>
                <a:latin typeface="Meiryo UI" pitchFamily="34" charset="0"/>
                <a:ea typeface="Meiryo UI" pitchFamily="34" charset="-122"/>
                <a:cs typeface="Meiryo UI" pitchFamily="34" charset="-120"/>
              </a:rPr>
              <a:t>↑</a:t>
            </a:r>
            <a:endParaRPr lang="en-US" sz="1800" dirty="0"/>
          </a:p>
        </p:txBody>
      </p:sp>
      <p:sp>
        <p:nvSpPr>
          <p:cNvPr id="23" name="Text 21"/>
          <p:cNvSpPr/>
          <p:nvPr/>
        </p:nvSpPr>
        <p:spPr>
          <a:xfrm>
            <a:off x="457200" y="4892040"/>
            <a:ext cx="3657600" cy="32004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  主要プレイヤーの構図</a:t>
            </a:r>
            <a:endParaRPr lang="en-US" sz="13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5257800"/>
          <a:ext cx="11274552" cy="914400"/>
        </p:xfrm>
        <a:graphic>
          <a:graphicData uri="http://schemas.openxmlformats.org/drawingml/2006/table">
            <a:tbl>
              <a:tblPr/>
              <a:tblGrid>
                <a:gridCol w="2743200"/>
                <a:gridCol w="4114800"/>
                <a:gridCol w="4416552"/>
              </a:tblGrid>
              <a:tr h="320040">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企業</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自社LLM / AI基盤</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FDE関連ブランド</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27432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日立製作所</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Lumada / HMAX</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GenAI Professional / AI Ambassador</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7432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NTTデータ</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tsuzumi（NTT開発）</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LITRON</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NEC</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cotomi</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BluStellar AI</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7432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アクセンチュア×MS</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Microsoft AI Platform</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FDE（共同体制）</a:t>
                      </a:r>
                      <a:endParaRPr lang="en-US" sz="1000" dirty="0">
                        <a:latin typeface="Meiryo UI" charset="0"/>
                        <a:ea typeface="Meiryo UI" charset="0"/>
                        <a:cs typeface="Meiryo UI" charset="0"/>
                      </a:endParaRPr>
                    </a:p>
                  </a:txBody>
                  <a:tcPr marL="63500" marR="635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400" b="1" dirty="0">
                <a:solidFill>
                  <a:srgbClr val="FFFFFF"/>
                </a:solidFill>
                <a:latin typeface="Meiryo UI" pitchFamily="34" charset="0"/>
                <a:ea typeface="Meiryo UI" pitchFamily="34" charset="-122"/>
                <a:cs typeface="Meiryo UI" pitchFamily="34" charset="-120"/>
              </a:rPr>
              <a:t>日立製作所 ― Lumada / HMAX による AI支援 FDE</a:t>
            </a:r>
            <a:endParaRPr lang="en-US" sz="24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3 / 7</a:t>
            </a:r>
            <a:endParaRPr lang="en-US" sz="900" dirty="0"/>
          </a:p>
        </p:txBody>
      </p:sp>
      <p:sp>
        <p:nvSpPr>
          <p:cNvPr id="5" name="Shape 3"/>
          <p:cNvSpPr/>
          <p:nvPr/>
        </p:nvSpPr>
        <p:spPr>
          <a:xfrm>
            <a:off x="274320" y="1188720"/>
            <a:ext cx="3200400" cy="2011680"/>
          </a:xfrm>
          <a:prstGeom prst="roundRect">
            <a:avLst>
              <a:gd name="adj" fmla="val 5455"/>
            </a:avLst>
          </a:prstGeom>
          <a:solidFill>
            <a:srgbClr val="DEECF9"/>
          </a:solidFill>
          <a:ln w="25400">
            <a:solidFill>
              <a:srgbClr val="0078D4"/>
            </a:solidFill>
            <a:prstDash val="solid"/>
          </a:ln>
        </p:spPr>
      </p:sp>
      <p:sp>
        <p:nvSpPr>
          <p:cNvPr id="6" name="Text 4"/>
          <p:cNvSpPr/>
          <p:nvPr/>
        </p:nvSpPr>
        <p:spPr>
          <a:xfrm>
            <a:off x="365760" y="1280160"/>
            <a:ext cx="3017520" cy="365760"/>
          </a:xfrm>
          <a:prstGeom prst="rect">
            <a:avLst/>
          </a:prstGeom>
          <a:noFill/>
          <a:ln/>
        </p:spPr>
        <p:txBody>
          <a:bodyPr wrap="square" rtlCol="0" anchor="ctr"/>
          <a:lstStyle/>
          <a:p>
            <a:pPr algn="ctr" indent="0" marL="0">
              <a:buNone/>
            </a:pPr>
            <a:r>
              <a:rPr lang="en-US" sz="1400" b="1" dirty="0">
                <a:solidFill>
                  <a:srgbClr val="0078D4"/>
                </a:solidFill>
                <a:latin typeface="Meiryo UI" pitchFamily="34" charset="0"/>
                <a:ea typeface="Meiryo UI" pitchFamily="34" charset="-122"/>
                <a:cs typeface="Meiryo UI" pitchFamily="34" charset="-120"/>
              </a:rPr>
              <a:t>💡 Lumada / HMAX</a:t>
            </a:r>
            <a:endParaRPr lang="en-US" sz="1400" dirty="0"/>
          </a:p>
        </p:txBody>
      </p:sp>
      <p:sp>
        <p:nvSpPr>
          <p:cNvPr id="7" name="Text 5"/>
          <p:cNvSpPr/>
          <p:nvPr/>
        </p:nvSpPr>
        <p:spPr>
          <a:xfrm>
            <a:off x="457200" y="1737360"/>
            <a:ext cx="2834640" cy="914400"/>
          </a:xfrm>
          <a:prstGeom prst="rect">
            <a:avLst/>
          </a:prstGeom>
          <a:noFill/>
          <a:ln/>
        </p:spPr>
        <p:txBody>
          <a:bodyPr wrap="square" rtlCol="0" anchor="ctr"/>
          <a:lstStyle/>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データ × テクノロジー ×</a:t>
            </a:r>
            <a:endParaRPr lang="en-US" sz="1000" dirty="0"/>
          </a:p>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OTドメインナレッジ</a:t>
            </a:r>
            <a:endParaRPr lang="en-US" sz="1000" dirty="0"/>
          </a:p>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で価値を協創</a:t>
            </a:r>
            <a:endParaRPr lang="en-US" sz="1000" dirty="0"/>
          </a:p>
        </p:txBody>
      </p:sp>
      <p:sp>
        <p:nvSpPr>
          <p:cNvPr id="8" name="Text 6"/>
          <p:cNvSpPr/>
          <p:nvPr/>
        </p:nvSpPr>
        <p:spPr>
          <a:xfrm>
            <a:off x="3474720" y="1737360"/>
            <a:ext cx="731520" cy="548640"/>
          </a:xfrm>
          <a:prstGeom prst="rect">
            <a:avLst/>
          </a:prstGeom>
          <a:noFill/>
          <a:ln/>
        </p:spPr>
        <p:txBody>
          <a:bodyPr wrap="square" rtlCol="0" anchor="ctr"/>
          <a:lstStyle/>
          <a:p>
            <a:pPr algn="ctr" indent="0" marL="0">
              <a:buNone/>
            </a:pPr>
            <a:r>
              <a:rPr lang="en-US" sz="2400" dirty="0">
                <a:solidFill>
                  <a:srgbClr val="0078D4"/>
                </a:solidFill>
                <a:latin typeface="Meiryo UI" pitchFamily="34" charset="0"/>
                <a:ea typeface="Meiryo UI" pitchFamily="34" charset="-122"/>
                <a:cs typeface="Meiryo UI" pitchFamily="34" charset="-120"/>
              </a:rPr>
              <a:t>⇒</a:t>
            </a:r>
            <a:endParaRPr lang="en-US" sz="2400" dirty="0"/>
          </a:p>
        </p:txBody>
      </p:sp>
      <p:sp>
        <p:nvSpPr>
          <p:cNvPr id="9" name="Shape 7"/>
          <p:cNvSpPr/>
          <p:nvPr/>
        </p:nvSpPr>
        <p:spPr>
          <a:xfrm>
            <a:off x="4206240" y="1188720"/>
            <a:ext cx="3840480" cy="2011680"/>
          </a:xfrm>
          <a:prstGeom prst="roundRect">
            <a:avLst>
              <a:gd name="adj" fmla="val 5455"/>
            </a:avLst>
          </a:prstGeom>
          <a:solidFill>
            <a:srgbClr val="FFFFFF"/>
          </a:solidFill>
          <a:ln w="25400">
            <a:solidFill>
              <a:srgbClr val="107C10"/>
            </a:solidFill>
            <a:prstDash val="solid"/>
          </a:ln>
        </p:spPr>
      </p:sp>
      <p:sp>
        <p:nvSpPr>
          <p:cNvPr id="10" name="Text 8"/>
          <p:cNvSpPr/>
          <p:nvPr/>
        </p:nvSpPr>
        <p:spPr>
          <a:xfrm>
            <a:off x="4297680" y="1280160"/>
            <a:ext cx="3657600" cy="320040"/>
          </a:xfrm>
          <a:prstGeom prst="rect">
            <a:avLst/>
          </a:prstGeom>
          <a:noFill/>
          <a:ln/>
        </p:spPr>
        <p:txBody>
          <a:bodyPr wrap="square" rtlCol="0" anchor="ctr"/>
          <a:lstStyle/>
          <a:p>
            <a:pPr algn="ctr" indent="0" marL="0">
              <a:buNone/>
            </a:pPr>
            <a:r>
              <a:rPr lang="en-US" sz="1300" b="1" dirty="0">
                <a:solidFill>
                  <a:srgbClr val="107C10"/>
                </a:solidFill>
                <a:latin typeface="Meiryo UI" pitchFamily="34" charset="0"/>
                <a:ea typeface="Meiryo UI" pitchFamily="34" charset="-122"/>
                <a:cs typeface="Meiryo UI" pitchFamily="34" charset="-120"/>
              </a:rPr>
              <a:t>👨‍💼 GenAI Professional</a:t>
            </a:r>
            <a:endParaRPr lang="en-US" sz="1300" dirty="0"/>
          </a:p>
        </p:txBody>
      </p:sp>
      <p:sp>
        <p:nvSpPr>
          <p:cNvPr id="11" name="Text 9"/>
          <p:cNvSpPr/>
          <p:nvPr/>
        </p:nvSpPr>
        <p:spPr>
          <a:xfrm>
            <a:off x="4297680" y="1600200"/>
            <a:ext cx="3657600" cy="274320"/>
          </a:xfrm>
          <a:prstGeom prst="rect">
            <a:avLst/>
          </a:prstGeom>
          <a:noFill/>
          <a:ln/>
        </p:spPr>
        <p:txBody>
          <a:bodyPr wrap="square" rtlCol="0" anchor="ctr"/>
          <a:lstStyle/>
          <a:p>
            <a:pPr algn="ctr" indent="0" marL="0">
              <a:buNone/>
            </a:pPr>
            <a:r>
              <a:rPr lang="en-US" sz="1100" dirty="0">
                <a:solidFill>
                  <a:srgbClr val="107C10"/>
                </a:solidFill>
                <a:latin typeface="Meiryo UI" pitchFamily="34" charset="0"/>
                <a:ea typeface="Meiryo UI" pitchFamily="34" charset="-122"/>
                <a:cs typeface="Meiryo UI" pitchFamily="34" charset="-120"/>
              </a:rPr>
              <a:t>AIアンバサダー / HARC for AI</a:t>
            </a:r>
            <a:endParaRPr lang="en-US" sz="1100" dirty="0"/>
          </a:p>
        </p:txBody>
      </p:sp>
      <p:sp>
        <p:nvSpPr>
          <p:cNvPr id="12" name="Text 10"/>
          <p:cNvSpPr/>
          <p:nvPr/>
        </p:nvSpPr>
        <p:spPr>
          <a:xfrm>
            <a:off x="4389120" y="1965960"/>
            <a:ext cx="3474720" cy="914400"/>
          </a:xfrm>
          <a:prstGeom prst="rect">
            <a:avLst/>
          </a:prstGeom>
          <a:noFill/>
          <a:ln/>
        </p:spPr>
        <p:txBody>
          <a:bodyPr wrap="square" rtlCol="0" anchor="ctr"/>
          <a:lstStyle/>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伴走型の生成AI活用支援</a:t>
            </a:r>
            <a:endParaRPr lang="en-US" sz="1000" dirty="0"/>
          </a:p>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IT/OT両分野のエキスパート16名</a:t>
            </a:r>
            <a:endParaRPr lang="en-US" sz="1000" dirty="0"/>
          </a:p>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AIエージェント運用支援も展開</a:t>
            </a:r>
            <a:endParaRPr lang="en-US" sz="1000" dirty="0"/>
          </a:p>
        </p:txBody>
      </p:sp>
      <p:sp>
        <p:nvSpPr>
          <p:cNvPr id="13" name="Text 11"/>
          <p:cNvSpPr/>
          <p:nvPr/>
        </p:nvSpPr>
        <p:spPr>
          <a:xfrm>
            <a:off x="8046720" y="1737360"/>
            <a:ext cx="731520" cy="548640"/>
          </a:xfrm>
          <a:prstGeom prst="rect">
            <a:avLst/>
          </a:prstGeom>
          <a:noFill/>
          <a:ln/>
        </p:spPr>
        <p:txBody>
          <a:bodyPr wrap="square" rtlCol="0" anchor="ctr"/>
          <a:lstStyle/>
          <a:p>
            <a:pPr algn="ctr" indent="0" marL="0">
              <a:buNone/>
            </a:pPr>
            <a:r>
              <a:rPr lang="en-US" sz="2400" dirty="0">
                <a:solidFill>
                  <a:srgbClr val="0078D4"/>
                </a:solidFill>
                <a:latin typeface="Meiryo UI" pitchFamily="34" charset="0"/>
                <a:ea typeface="Meiryo UI" pitchFamily="34" charset="-122"/>
                <a:cs typeface="Meiryo UI" pitchFamily="34" charset="-120"/>
              </a:rPr>
              <a:t>⇒</a:t>
            </a:r>
            <a:endParaRPr lang="en-US" sz="2400" dirty="0"/>
          </a:p>
        </p:txBody>
      </p:sp>
      <p:sp>
        <p:nvSpPr>
          <p:cNvPr id="14" name="Shape 12"/>
          <p:cNvSpPr/>
          <p:nvPr/>
        </p:nvSpPr>
        <p:spPr>
          <a:xfrm>
            <a:off x="8778240" y="1188720"/>
            <a:ext cx="2926080" cy="2011680"/>
          </a:xfrm>
          <a:prstGeom prst="roundRect">
            <a:avLst>
              <a:gd name="adj" fmla="val 5455"/>
            </a:avLst>
          </a:prstGeom>
          <a:solidFill>
            <a:srgbClr val="F3F2F1"/>
          </a:solidFill>
          <a:ln w="25400">
            <a:solidFill>
              <a:srgbClr val="FF8C00"/>
            </a:solidFill>
            <a:prstDash val="solid"/>
          </a:ln>
        </p:spPr>
      </p:sp>
      <p:sp>
        <p:nvSpPr>
          <p:cNvPr id="15" name="Text 13"/>
          <p:cNvSpPr/>
          <p:nvPr/>
        </p:nvSpPr>
        <p:spPr>
          <a:xfrm>
            <a:off x="8869680" y="1280160"/>
            <a:ext cx="2743200" cy="365760"/>
          </a:xfrm>
          <a:prstGeom prst="rect">
            <a:avLst/>
          </a:prstGeom>
          <a:noFill/>
          <a:ln/>
        </p:spPr>
        <p:txBody>
          <a:bodyPr wrap="square" rtlCol="0" anchor="ctr"/>
          <a:lstStyle/>
          <a:p>
            <a:pPr algn="ctr" indent="0" marL="0">
              <a:buNone/>
            </a:pPr>
            <a:r>
              <a:rPr lang="en-US" sz="1400" b="1" dirty="0">
                <a:solidFill>
                  <a:srgbClr val="FF8C00"/>
                </a:solidFill>
                <a:latin typeface="Meiryo UI" pitchFamily="34" charset="0"/>
                <a:ea typeface="Meiryo UI" pitchFamily="34" charset="-122"/>
                <a:cs typeface="Meiryo UI" pitchFamily="34" charset="-120"/>
              </a:rPr>
              <a:t>🏢 顧客企業</a:t>
            </a:r>
            <a:endParaRPr lang="en-US" sz="1400" dirty="0"/>
          </a:p>
        </p:txBody>
      </p:sp>
      <p:sp>
        <p:nvSpPr>
          <p:cNvPr id="16" name="Text 14"/>
          <p:cNvSpPr/>
          <p:nvPr/>
        </p:nvSpPr>
        <p:spPr>
          <a:xfrm>
            <a:off x="8961120" y="1783080"/>
            <a:ext cx="2560320" cy="914400"/>
          </a:xfrm>
          <a:prstGeom prst="rect">
            <a:avLst/>
          </a:prstGeom>
          <a:noFill/>
          <a:ln/>
        </p:spPr>
        <p:txBody>
          <a:bodyPr wrap="square" rtlCol="0" anchor="ctr"/>
          <a:lstStyle/>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AI導入 → 実装 → 定着</a:t>
            </a:r>
            <a:endParaRPr lang="en-US" sz="1000" dirty="0"/>
          </a:p>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1,000件以上の</a:t>
            </a:r>
            <a:endParaRPr lang="en-US" sz="1000" dirty="0"/>
          </a:p>
          <a:p>
            <a:pPr algn="ctr" indent="0" marL="0">
              <a:lnSpc>
                <a:spcPct val="130000"/>
              </a:lnSpc>
              <a:buNone/>
            </a:pPr>
            <a:r>
              <a:rPr lang="en-US" sz="1000" dirty="0">
                <a:solidFill>
                  <a:srgbClr val="000000"/>
                </a:solidFill>
                <a:latin typeface="Meiryo UI" pitchFamily="34" charset="0"/>
                <a:ea typeface="Meiryo UI" pitchFamily="34" charset="-122"/>
                <a:cs typeface="Meiryo UI" pitchFamily="34" charset="-120"/>
              </a:rPr>
              <a:t>ユースケース知見を活用</a:t>
            </a:r>
            <a:endParaRPr lang="en-US" sz="1000" dirty="0"/>
          </a:p>
        </p:txBody>
      </p:sp>
      <p:sp>
        <p:nvSpPr>
          <p:cNvPr id="17" name="Text 15"/>
          <p:cNvSpPr/>
          <p:nvPr/>
        </p:nvSpPr>
        <p:spPr>
          <a:xfrm>
            <a:off x="4206240" y="3017520"/>
            <a:ext cx="3840480" cy="320040"/>
          </a:xfrm>
          <a:prstGeom prst="rect">
            <a:avLst/>
          </a:prstGeom>
          <a:noFill/>
          <a:ln/>
        </p:spPr>
        <p:txBody>
          <a:bodyPr wrap="square" rtlCol="0" anchor="ctr"/>
          <a:lstStyle/>
          <a:p>
            <a:pPr algn="ctr" indent="0" marL="0">
              <a:buNone/>
            </a:pPr>
            <a:r>
              <a:rPr lang="en-US" sz="1100" b="1" dirty="0">
                <a:solidFill>
                  <a:srgbClr val="0078D4"/>
                </a:solidFill>
                <a:latin typeface="Meiryo UI" pitchFamily="34" charset="0"/>
                <a:ea typeface="Meiryo UI" pitchFamily="34" charset="-122"/>
                <a:cs typeface="Meiryo UI" pitchFamily="34" charset="-120"/>
              </a:rPr>
              <a:t>協  創</a:t>
            </a:r>
            <a:endParaRPr lang="en-US" sz="1100" dirty="0"/>
          </a:p>
        </p:txBody>
      </p:sp>
      <p:sp>
        <p:nvSpPr>
          <p:cNvPr id="18" name="Text 16"/>
          <p:cNvSpPr/>
          <p:nvPr/>
        </p:nvSpPr>
        <p:spPr>
          <a:xfrm>
            <a:off x="457200" y="3520440"/>
            <a:ext cx="11274552" cy="3017520"/>
          </a:xfrm>
          <a:prstGeom prst="rect">
            <a:avLst/>
          </a:prstGeom>
          <a:noFill/>
          <a:ln/>
        </p:spPr>
        <p:txBody>
          <a:bodyPr wrap="square" rtlCol="0" anchor="t"/>
          <a:lstStyle/>
          <a:p>
            <a:pPr marL="342900" indent="-342900">
              <a:lnSpc>
                <a:spcPct val="125000"/>
              </a:lnSpc>
              <a:buSzPct val="100000"/>
              <a:buChar char="•"/>
            </a:pPr>
            <a:r>
              <a:rPr lang="en-US" sz="1100" dirty="0">
                <a:solidFill>
                  <a:srgbClr val="000000"/>
                </a:solidFill>
                <a:latin typeface="Meiryo UI" pitchFamily="34" charset="0"/>
                <a:ea typeface="Meiryo UI" pitchFamily="34" charset="-122"/>
                <a:cs typeface="Meiryo UI" pitchFamily="34" charset="-120"/>
              </a:rPr>
              <a:t>Lumada は「Illuminate + Data」の造語で、日立のデジタルソリューション群の総称です。データ・テクノロジー・ドメインナレッジを掛け合わせ、顧客との協創で価値を創出します</a:t>
            </a:r>
            <a:endParaRPr lang="en-US" sz="1100" dirty="0"/>
          </a:p>
          <a:p>
            <a:pPr marL="342900" indent="-342900">
              <a:lnSpc>
                <a:spcPct val="125000"/>
              </a:lnSpc>
              <a:buSzPct val="100000"/>
              <a:buChar char="•"/>
            </a:pPr>
            <a:r>
              <a:rPr lang="en-US" sz="1100" dirty="0">
                <a:solidFill>
                  <a:srgbClr val="000000"/>
                </a:solidFill>
                <a:latin typeface="Meiryo UI" pitchFamily="34" charset="0"/>
                <a:ea typeface="Meiryo UI" pitchFamily="34" charset="-122"/>
                <a:cs typeface="Meiryo UI" pitchFamily="34" charset="-120"/>
              </a:rPr>
              <a:t>HMAX は、AIとデータに日立のOT（制御・運用技術）ドメインナレッジを掛け合わせた次世代ソリューション群で、社会インフラの複雑な課題に対応します</a:t>
            </a:r>
            <a:endParaRPr lang="en-US" sz="1100" dirty="0"/>
          </a:p>
          <a:p>
            <a:pPr marL="342900" indent="-342900">
              <a:lnSpc>
                <a:spcPct val="125000"/>
              </a:lnSpc>
              <a:buSzPct val="100000"/>
              <a:buChar char="•"/>
            </a:pPr>
            <a:r>
              <a:rPr lang="en-US" sz="1100" dirty="0">
                <a:solidFill>
                  <a:srgbClr val="000000"/>
                </a:solidFill>
                <a:latin typeface="Meiryo UI" pitchFamily="34" charset="0"/>
                <a:ea typeface="Meiryo UI" pitchFamily="34" charset="-122"/>
                <a:cs typeface="Meiryo UI" pitchFamily="34" charset="-120"/>
              </a:rPr>
              <a:t>GenAI Professional: 生成AI活用ナレッジを持つ専門人材が、顧客企業に伴走型で支援する「生成AI活用プロフェッショナルサービス powered by Lumada」を提供しています</a:t>
            </a:r>
            <a:endParaRPr lang="en-US" sz="1100" dirty="0"/>
          </a:p>
          <a:p>
            <a:pPr marL="342900" indent="-342900">
              <a:lnSpc>
                <a:spcPct val="125000"/>
              </a:lnSpc>
              <a:buSzPct val="100000"/>
              <a:buChar char="•"/>
            </a:pPr>
            <a:r>
              <a:rPr lang="en-US" sz="1100" dirty="0">
                <a:solidFill>
                  <a:srgbClr val="000000"/>
                </a:solidFill>
                <a:latin typeface="Meiryo UI" pitchFamily="34" charset="0"/>
                <a:ea typeface="Meiryo UI" pitchFamily="34" charset="-122"/>
                <a:cs typeface="Meiryo UI" pitchFamily="34" charset="-120"/>
              </a:rPr>
              <a:t>AIアンバサダー / HARC for AI: IT/OT両分野のエキスパート16名が顧客との懸け橋として活動し、AIエージェントの運用支援サービスも展開しています</a:t>
            </a:r>
            <a:endParaRPr lang="en-US" sz="1100" dirty="0"/>
          </a:p>
          <a:p>
            <a:pPr marL="342900" indent="-342900">
              <a:lnSpc>
                <a:spcPct val="125000"/>
              </a:lnSpc>
              <a:buSzPct val="100000"/>
              <a:buChar char="•"/>
            </a:pPr>
            <a:r>
              <a:rPr lang="en-US" sz="1100" dirty="0">
                <a:solidFill>
                  <a:srgbClr val="000000"/>
                </a:solidFill>
                <a:latin typeface="Meiryo UI" pitchFamily="34" charset="0"/>
                <a:ea typeface="Meiryo UI" pitchFamily="34" charset="-122"/>
                <a:cs typeface="Meiryo UI" pitchFamily="34" charset="-120"/>
              </a:rPr>
              <a:t>1,000件以上の生成AIユースケースの知見を顧客支援に活用しています</a:t>
            </a:r>
            <a:endParaRPr lang="en-US" sz="1100" dirty="0"/>
          </a:p>
          <a:p>
            <a:pPr marL="342900" indent="-342900">
              <a:lnSpc>
                <a:spcPct val="125000"/>
              </a:lnSpc>
              <a:buSzPct val="100000"/>
              <a:buChar char="•"/>
            </a:pPr>
            <a:r>
              <a:rPr lang="en-US" sz="1100" dirty="0">
                <a:solidFill>
                  <a:srgbClr val="000000"/>
                </a:solidFill>
                <a:latin typeface="Meiryo UI" pitchFamily="34" charset="0"/>
                <a:ea typeface="Meiryo UI" pitchFamily="34" charset="-122"/>
                <a:cs typeface="Meiryo UI" pitchFamily="34" charset="-120"/>
              </a:rPr>
              <a:t>パートナーシップ: マイクロソフト、NVIDIA、Google Cloudとの戦略的アライアンスを推進しています</a:t>
            </a:r>
            <a:endParaRPr lang="en-US" sz="11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400" b="1" dirty="0">
                <a:solidFill>
                  <a:srgbClr val="FFFFFF"/>
                </a:solidFill>
                <a:latin typeface="Meiryo UI" pitchFamily="34" charset="0"/>
                <a:ea typeface="Meiryo UI" pitchFamily="34" charset="-122"/>
                <a:cs typeface="Meiryo UI" pitchFamily="34" charset="-120"/>
              </a:rPr>
              <a:t>NTTデータ ― tsuzumi × LITRON による AI支援 FDE</a:t>
            </a:r>
            <a:endParaRPr lang="en-US" sz="24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4 / 7</a:t>
            </a:r>
            <a:endParaRPr lang="en-US" sz="900" dirty="0"/>
          </a:p>
        </p:txBody>
      </p:sp>
      <p:sp>
        <p:nvSpPr>
          <p:cNvPr id="5" name="Shape 3"/>
          <p:cNvSpPr/>
          <p:nvPr/>
        </p:nvSpPr>
        <p:spPr>
          <a:xfrm>
            <a:off x="1828800" y="1188720"/>
            <a:ext cx="8503920" cy="1005840"/>
          </a:xfrm>
          <a:prstGeom prst="roundRect">
            <a:avLst>
              <a:gd name="adj" fmla="val 10909"/>
            </a:avLst>
          </a:prstGeom>
          <a:solidFill>
            <a:srgbClr val="DEECF9"/>
          </a:solidFill>
          <a:ln w="25400">
            <a:solidFill>
              <a:srgbClr val="0078D4"/>
            </a:solidFill>
            <a:prstDash val="solid"/>
          </a:ln>
        </p:spPr>
      </p:sp>
      <p:sp>
        <p:nvSpPr>
          <p:cNvPr id="6" name="Text 4"/>
          <p:cNvSpPr/>
          <p:nvPr/>
        </p:nvSpPr>
        <p:spPr>
          <a:xfrm>
            <a:off x="1920240" y="1234440"/>
            <a:ext cx="8321040" cy="365760"/>
          </a:xfrm>
          <a:prstGeom prst="rect">
            <a:avLst/>
          </a:prstGeom>
          <a:noFill/>
          <a:ln/>
        </p:spPr>
        <p:txBody>
          <a:bodyPr wrap="square" rtlCol="0" anchor="ctr"/>
          <a:lstStyle/>
          <a:p>
            <a:pPr algn="ctr" indent="0" marL="0">
              <a:buNone/>
            </a:pPr>
            <a:r>
              <a:rPr lang="en-US" sz="1400" b="1" dirty="0">
                <a:solidFill>
                  <a:srgbClr val="0078D4"/>
                </a:solidFill>
                <a:latin typeface="Meiryo UI" pitchFamily="34" charset="0"/>
                <a:ea typeface="Meiryo UI" pitchFamily="34" charset="-122"/>
                <a:cs typeface="Meiryo UI" pitchFamily="34" charset="-120"/>
              </a:rPr>
              <a:t>🧠 tsuzumi（NTT開発 日本語LLM）</a:t>
            </a:r>
            <a:endParaRPr lang="en-US" sz="1400" dirty="0"/>
          </a:p>
        </p:txBody>
      </p:sp>
      <p:sp>
        <p:nvSpPr>
          <p:cNvPr id="7" name="Text 5"/>
          <p:cNvSpPr/>
          <p:nvPr/>
        </p:nvSpPr>
        <p:spPr>
          <a:xfrm>
            <a:off x="2011680" y="1645920"/>
            <a:ext cx="8138160" cy="36576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超軽量（0.6B）/ 軽量（7B） — GPT-3比 最大300分の1 ｜ 2024年3月〜商用提供</a:t>
            </a:r>
            <a:endParaRPr lang="en-US" sz="1000" dirty="0"/>
          </a:p>
        </p:txBody>
      </p:sp>
      <p:sp>
        <p:nvSpPr>
          <p:cNvPr id="8" name="Text 6"/>
          <p:cNvSpPr/>
          <p:nvPr/>
        </p:nvSpPr>
        <p:spPr>
          <a:xfrm>
            <a:off x="5486400" y="2194560"/>
            <a:ext cx="1188720" cy="320040"/>
          </a:xfrm>
          <a:prstGeom prst="rect">
            <a:avLst/>
          </a:prstGeom>
          <a:noFill/>
          <a:ln/>
        </p:spPr>
        <p:txBody>
          <a:bodyPr wrap="square" rtlCol="0" anchor="ctr"/>
          <a:lstStyle/>
          <a:p>
            <a:pPr algn="ctr" indent="0" marL="0">
              <a:buNone/>
            </a:pPr>
            <a:r>
              <a:rPr lang="en-US" sz="1600" dirty="0">
                <a:solidFill>
                  <a:srgbClr val="0078D4"/>
                </a:solidFill>
                <a:latin typeface="Meiryo UI" pitchFamily="34" charset="0"/>
                <a:ea typeface="Meiryo UI" pitchFamily="34" charset="-122"/>
                <a:cs typeface="Meiryo UI" pitchFamily="34" charset="-120"/>
              </a:rPr>
              <a:t>▼</a:t>
            </a:r>
            <a:endParaRPr lang="en-US" sz="1600" dirty="0"/>
          </a:p>
        </p:txBody>
      </p:sp>
      <p:sp>
        <p:nvSpPr>
          <p:cNvPr id="9" name="Shape 7"/>
          <p:cNvSpPr/>
          <p:nvPr/>
        </p:nvSpPr>
        <p:spPr>
          <a:xfrm>
            <a:off x="1828800" y="2514600"/>
            <a:ext cx="2011680" cy="822960"/>
          </a:xfrm>
          <a:prstGeom prst="roundRect">
            <a:avLst>
              <a:gd name="adj" fmla="val 11111"/>
            </a:avLst>
          </a:prstGeom>
          <a:solidFill>
            <a:srgbClr val="FFFFFF"/>
          </a:solidFill>
          <a:ln w="19050">
            <a:solidFill>
              <a:srgbClr val="107C10"/>
            </a:solidFill>
            <a:prstDash val="solid"/>
          </a:ln>
        </p:spPr>
      </p:sp>
      <p:sp>
        <p:nvSpPr>
          <p:cNvPr id="10" name="Text 8"/>
          <p:cNvSpPr/>
          <p:nvPr/>
        </p:nvSpPr>
        <p:spPr>
          <a:xfrm>
            <a:off x="1828800" y="2514600"/>
            <a:ext cx="2011680" cy="822960"/>
          </a:xfrm>
          <a:prstGeom prst="rect">
            <a:avLst/>
          </a:prstGeom>
          <a:noFill/>
          <a:ln/>
        </p:spPr>
        <p:txBody>
          <a:bodyPr wrap="square" rtlCol="0" anchor="ctr"/>
          <a:lstStyle/>
          <a:p>
            <a:pPr algn="ctr" indent="0" marL="0">
              <a:buNone/>
            </a:pPr>
            <a:r>
              <a:rPr lang="en-US" sz="1000" b="1" dirty="0">
                <a:solidFill>
                  <a:srgbClr val="107C10"/>
                </a:solidFill>
                <a:latin typeface="Meiryo UI" pitchFamily="34" charset="0"/>
                <a:ea typeface="Meiryo UI" pitchFamily="34" charset="-122"/>
                <a:cs typeface="Meiryo UI" pitchFamily="34" charset="-120"/>
              </a:rPr>
              <a:t>🤖 パーソナル</a:t>
            </a:r>
            <a:endParaRPr lang="en-US" sz="1000" dirty="0"/>
          </a:p>
          <a:p>
            <a:pPr algn="ctr" indent="0" marL="0">
              <a:buNone/>
            </a:pPr>
            <a:r>
              <a:rPr lang="en-US" sz="1000" b="1" dirty="0">
                <a:solidFill>
                  <a:srgbClr val="107C10"/>
                </a:solidFill>
                <a:latin typeface="Meiryo UI" pitchFamily="34" charset="0"/>
                <a:ea typeface="Meiryo UI" pitchFamily="34" charset="-122"/>
                <a:cs typeface="Meiryo UI" pitchFamily="34" charset="-120"/>
              </a:rPr>
              <a:t>Agent</a:t>
            </a:r>
            <a:endParaRPr lang="en-US" sz="1000" dirty="0"/>
          </a:p>
        </p:txBody>
      </p:sp>
      <p:sp>
        <p:nvSpPr>
          <p:cNvPr id="11" name="Shape 9"/>
          <p:cNvSpPr/>
          <p:nvPr/>
        </p:nvSpPr>
        <p:spPr>
          <a:xfrm>
            <a:off x="4023360" y="2514600"/>
            <a:ext cx="2011680" cy="822960"/>
          </a:xfrm>
          <a:prstGeom prst="roundRect">
            <a:avLst>
              <a:gd name="adj" fmla="val 11111"/>
            </a:avLst>
          </a:prstGeom>
          <a:solidFill>
            <a:srgbClr val="FFFFFF"/>
          </a:solidFill>
          <a:ln w="19050">
            <a:solidFill>
              <a:srgbClr val="FF8C00"/>
            </a:solidFill>
            <a:prstDash val="solid"/>
          </a:ln>
        </p:spPr>
      </p:sp>
      <p:sp>
        <p:nvSpPr>
          <p:cNvPr id="12" name="Text 10"/>
          <p:cNvSpPr/>
          <p:nvPr/>
        </p:nvSpPr>
        <p:spPr>
          <a:xfrm>
            <a:off x="4023360" y="2514600"/>
            <a:ext cx="2011680" cy="822960"/>
          </a:xfrm>
          <a:prstGeom prst="rect">
            <a:avLst/>
          </a:prstGeom>
          <a:noFill/>
          <a:ln/>
        </p:spPr>
        <p:txBody>
          <a:bodyPr wrap="square" rtlCol="0" anchor="ctr"/>
          <a:lstStyle/>
          <a:p>
            <a:pPr algn="ctr" indent="0" marL="0">
              <a:buNone/>
            </a:pPr>
            <a:r>
              <a:rPr lang="en-US" sz="1000" b="1" dirty="0">
                <a:solidFill>
                  <a:srgbClr val="FF8C00"/>
                </a:solidFill>
                <a:latin typeface="Meiryo UI" pitchFamily="34" charset="0"/>
                <a:ea typeface="Meiryo UI" pitchFamily="34" charset="-122"/>
                <a:cs typeface="Meiryo UI" pitchFamily="34" charset="-120"/>
              </a:rPr>
              <a:t>🤖 特化</a:t>
            </a:r>
            <a:endParaRPr lang="en-US" sz="1000" dirty="0"/>
          </a:p>
          <a:p>
            <a:pPr algn="ctr" indent="0" marL="0">
              <a:buNone/>
            </a:pPr>
            <a:r>
              <a:rPr lang="en-US" sz="1000" b="1" dirty="0">
                <a:solidFill>
                  <a:srgbClr val="FF8C00"/>
                </a:solidFill>
                <a:latin typeface="Meiryo UI" pitchFamily="34" charset="0"/>
                <a:ea typeface="Meiryo UI" pitchFamily="34" charset="-122"/>
                <a:cs typeface="Meiryo UI" pitchFamily="34" charset="-120"/>
              </a:rPr>
              <a:t>Agent</a:t>
            </a:r>
            <a:endParaRPr lang="en-US" sz="1000" dirty="0"/>
          </a:p>
        </p:txBody>
      </p:sp>
      <p:sp>
        <p:nvSpPr>
          <p:cNvPr id="13" name="Shape 11"/>
          <p:cNvSpPr/>
          <p:nvPr/>
        </p:nvSpPr>
        <p:spPr>
          <a:xfrm>
            <a:off x="6217920" y="2514600"/>
            <a:ext cx="2011680" cy="822960"/>
          </a:xfrm>
          <a:prstGeom prst="roundRect">
            <a:avLst>
              <a:gd name="adj" fmla="val 11111"/>
            </a:avLst>
          </a:prstGeom>
          <a:solidFill>
            <a:srgbClr val="FFFFFF"/>
          </a:solidFill>
          <a:ln w="19050">
            <a:solidFill>
              <a:srgbClr val="5C2D91"/>
            </a:solidFill>
            <a:prstDash val="solid"/>
          </a:ln>
        </p:spPr>
      </p:sp>
      <p:sp>
        <p:nvSpPr>
          <p:cNvPr id="14" name="Text 12"/>
          <p:cNvSpPr/>
          <p:nvPr/>
        </p:nvSpPr>
        <p:spPr>
          <a:xfrm>
            <a:off x="6217920" y="2514600"/>
            <a:ext cx="2011680" cy="822960"/>
          </a:xfrm>
          <a:prstGeom prst="rect">
            <a:avLst/>
          </a:prstGeom>
          <a:noFill/>
          <a:ln/>
        </p:spPr>
        <p:txBody>
          <a:bodyPr wrap="square" rtlCol="0" anchor="ctr"/>
          <a:lstStyle/>
          <a:p>
            <a:pPr algn="ctr" indent="0" marL="0">
              <a:buNone/>
            </a:pPr>
            <a:r>
              <a:rPr lang="en-US" sz="1000" b="1" dirty="0">
                <a:solidFill>
                  <a:srgbClr val="5C2D91"/>
                </a:solidFill>
                <a:latin typeface="Meiryo UI" pitchFamily="34" charset="0"/>
                <a:ea typeface="Meiryo UI" pitchFamily="34" charset="-122"/>
                <a:cs typeface="Meiryo UI" pitchFamily="34" charset="-120"/>
              </a:rPr>
              <a:t>🤖 デジタルワーカー</a:t>
            </a:r>
            <a:endParaRPr lang="en-US" sz="1000" dirty="0"/>
          </a:p>
          <a:p>
            <a:pPr algn="ctr" indent="0" marL="0">
              <a:buNone/>
            </a:pPr>
            <a:r>
              <a:rPr lang="en-US" sz="1000" b="1" dirty="0">
                <a:solidFill>
                  <a:srgbClr val="5C2D91"/>
                </a:solidFill>
                <a:latin typeface="Meiryo UI" pitchFamily="34" charset="0"/>
                <a:ea typeface="Meiryo UI" pitchFamily="34" charset="-122"/>
                <a:cs typeface="Meiryo UI" pitchFamily="34" charset="-120"/>
              </a:rPr>
              <a:t>Agent</a:t>
            </a:r>
            <a:endParaRPr lang="en-US" sz="1000" dirty="0"/>
          </a:p>
        </p:txBody>
      </p:sp>
      <p:sp>
        <p:nvSpPr>
          <p:cNvPr id="15" name="Shape 13"/>
          <p:cNvSpPr/>
          <p:nvPr/>
        </p:nvSpPr>
        <p:spPr>
          <a:xfrm>
            <a:off x="8412480" y="2514600"/>
            <a:ext cx="2011680" cy="822960"/>
          </a:xfrm>
          <a:prstGeom prst="roundRect">
            <a:avLst>
              <a:gd name="adj" fmla="val 11111"/>
            </a:avLst>
          </a:prstGeom>
          <a:solidFill>
            <a:srgbClr val="FFFFFF"/>
          </a:solidFill>
          <a:ln w="19050">
            <a:solidFill>
              <a:srgbClr val="008272"/>
            </a:solidFill>
            <a:prstDash val="solid"/>
          </a:ln>
        </p:spPr>
      </p:sp>
      <p:sp>
        <p:nvSpPr>
          <p:cNvPr id="16" name="Text 14"/>
          <p:cNvSpPr/>
          <p:nvPr/>
        </p:nvSpPr>
        <p:spPr>
          <a:xfrm>
            <a:off x="8412480" y="2514600"/>
            <a:ext cx="2011680" cy="822960"/>
          </a:xfrm>
          <a:prstGeom prst="rect">
            <a:avLst/>
          </a:prstGeom>
          <a:noFill/>
          <a:ln/>
        </p:spPr>
        <p:txBody>
          <a:bodyPr wrap="square" rtlCol="0" anchor="ctr"/>
          <a:lstStyle/>
          <a:p>
            <a:pPr algn="ctr" indent="0" marL="0">
              <a:buNone/>
            </a:pPr>
            <a:r>
              <a:rPr lang="en-US" sz="1000" b="1" dirty="0">
                <a:solidFill>
                  <a:srgbClr val="008272"/>
                </a:solidFill>
                <a:latin typeface="Meiryo UI" pitchFamily="34" charset="0"/>
                <a:ea typeface="Meiryo UI" pitchFamily="34" charset="-122"/>
                <a:cs typeface="Meiryo UI" pitchFamily="34" charset="-120"/>
              </a:rPr>
              <a:t>🤖 マルチ</a:t>
            </a:r>
            <a:endParaRPr lang="en-US" sz="1000" dirty="0"/>
          </a:p>
          <a:p>
            <a:pPr algn="ctr" indent="0" marL="0">
              <a:buNone/>
            </a:pPr>
            <a:r>
              <a:rPr lang="en-US" sz="1000" b="1" dirty="0">
                <a:solidFill>
                  <a:srgbClr val="008272"/>
                </a:solidFill>
                <a:latin typeface="Meiryo UI" pitchFamily="34" charset="0"/>
                <a:ea typeface="Meiryo UI" pitchFamily="34" charset="-122"/>
                <a:cs typeface="Meiryo UI" pitchFamily="34" charset="-120"/>
              </a:rPr>
              <a:t>Agent</a:t>
            </a:r>
            <a:endParaRPr lang="en-US" sz="1000" dirty="0"/>
          </a:p>
        </p:txBody>
      </p:sp>
      <p:sp>
        <p:nvSpPr>
          <p:cNvPr id="17" name="Text 15"/>
          <p:cNvSpPr/>
          <p:nvPr/>
        </p:nvSpPr>
        <p:spPr>
          <a:xfrm>
            <a:off x="1828800" y="3383280"/>
            <a:ext cx="8503920" cy="274320"/>
          </a:xfrm>
          <a:prstGeom prst="rect">
            <a:avLst/>
          </a:prstGeom>
          <a:noFill/>
          <a:ln/>
        </p:spPr>
        <p:txBody>
          <a:bodyPr wrap="square" rtlCol="0" anchor="ctr"/>
          <a:lstStyle/>
          <a:p>
            <a:pPr algn="ctr" indent="0" marL="0">
              <a:buNone/>
            </a:pPr>
            <a:r>
              <a:rPr lang="en-US" sz="1000" b="1" dirty="0">
                <a:solidFill>
                  <a:srgbClr val="0078D4"/>
                </a:solidFill>
                <a:latin typeface="Meiryo UI" pitchFamily="34" charset="0"/>
                <a:ea typeface="Meiryo UI" pitchFamily="34" charset="-122"/>
                <a:cs typeface="Meiryo UI" pitchFamily="34" charset="-120"/>
              </a:rPr>
              <a:t>Smart AI Agent™ — 4つのエージェント</a:t>
            </a:r>
            <a:endParaRPr lang="en-US" sz="1000" dirty="0"/>
          </a:p>
        </p:txBody>
      </p:sp>
      <p:sp>
        <p:nvSpPr>
          <p:cNvPr id="18" name="Text 16"/>
          <p:cNvSpPr/>
          <p:nvPr/>
        </p:nvSpPr>
        <p:spPr>
          <a:xfrm>
            <a:off x="5486400" y="3611880"/>
            <a:ext cx="1188720" cy="320040"/>
          </a:xfrm>
          <a:prstGeom prst="rect">
            <a:avLst/>
          </a:prstGeom>
          <a:noFill/>
          <a:ln/>
        </p:spPr>
        <p:txBody>
          <a:bodyPr wrap="square" rtlCol="0" anchor="ctr"/>
          <a:lstStyle/>
          <a:p>
            <a:pPr algn="ctr" indent="0" marL="0">
              <a:buNone/>
            </a:pPr>
            <a:r>
              <a:rPr lang="en-US" sz="1600" dirty="0">
                <a:solidFill>
                  <a:srgbClr val="0078D4"/>
                </a:solidFill>
                <a:latin typeface="Meiryo UI" pitchFamily="34" charset="0"/>
                <a:ea typeface="Meiryo UI" pitchFamily="34" charset="-122"/>
                <a:cs typeface="Meiryo UI" pitchFamily="34" charset="-120"/>
              </a:rPr>
              <a:t>▼</a:t>
            </a:r>
            <a:endParaRPr lang="en-US" sz="1600" dirty="0"/>
          </a:p>
        </p:txBody>
      </p:sp>
      <p:sp>
        <p:nvSpPr>
          <p:cNvPr id="19" name="Shape 17"/>
          <p:cNvSpPr/>
          <p:nvPr/>
        </p:nvSpPr>
        <p:spPr>
          <a:xfrm>
            <a:off x="1828800" y="3977640"/>
            <a:ext cx="1600200" cy="731520"/>
          </a:xfrm>
          <a:prstGeom prst="roundRect">
            <a:avLst>
              <a:gd name="adj" fmla="val 10000"/>
            </a:avLst>
          </a:prstGeom>
          <a:solidFill>
            <a:srgbClr val="F3F2F1"/>
          </a:solidFill>
          <a:ln w="19050">
            <a:solidFill>
              <a:srgbClr val="0078D4"/>
            </a:solidFill>
            <a:prstDash val="solid"/>
          </a:ln>
        </p:spPr>
      </p:sp>
      <p:sp>
        <p:nvSpPr>
          <p:cNvPr id="20" name="Text 18"/>
          <p:cNvSpPr/>
          <p:nvPr/>
        </p:nvSpPr>
        <p:spPr>
          <a:xfrm>
            <a:off x="1828800" y="3977640"/>
            <a:ext cx="1600200" cy="731520"/>
          </a:xfrm>
          <a:prstGeom prst="rect">
            <a:avLst/>
          </a:prstGeom>
          <a:noFill/>
          <a:ln/>
        </p:spPr>
        <p:txBody>
          <a:bodyPr wrap="square" rtlCol="0" anchor="ctr"/>
          <a:lstStyle/>
          <a:p>
            <a:pPr algn="ctr" indent="0" marL="0">
              <a:buNone/>
            </a:pPr>
            <a:r>
              <a:rPr lang="en-US" sz="1000" b="1" dirty="0">
                <a:solidFill>
                  <a:srgbClr val="0078D4"/>
                </a:solidFill>
                <a:latin typeface="Meiryo UI" pitchFamily="34" charset="0"/>
                <a:ea typeface="Meiryo UI" pitchFamily="34" charset="-122"/>
                <a:cs typeface="Meiryo UI" pitchFamily="34" charset="-120"/>
              </a:rPr>
              <a:t>LITRON</a:t>
            </a:r>
            <a:endParaRPr lang="en-US" sz="1000" dirty="0"/>
          </a:p>
          <a:p>
            <a:pPr algn="ctr" indent="0" marL="0">
              <a:buNone/>
            </a:pPr>
            <a:r>
              <a:rPr lang="en-US" sz="1000" b="1" dirty="0">
                <a:solidFill>
                  <a:srgbClr val="0078D4"/>
                </a:solidFill>
                <a:latin typeface="Meiryo UI" pitchFamily="34" charset="0"/>
                <a:ea typeface="Meiryo UI" pitchFamily="34" charset="-122"/>
                <a:cs typeface="Meiryo UI" pitchFamily="34" charset="-120"/>
              </a:rPr>
              <a:t>Sales</a:t>
            </a:r>
            <a:endParaRPr lang="en-US" sz="1000" dirty="0"/>
          </a:p>
        </p:txBody>
      </p:sp>
      <p:sp>
        <p:nvSpPr>
          <p:cNvPr id="21" name="Shape 19"/>
          <p:cNvSpPr/>
          <p:nvPr/>
        </p:nvSpPr>
        <p:spPr>
          <a:xfrm>
            <a:off x="3566160" y="3977640"/>
            <a:ext cx="1600200" cy="731520"/>
          </a:xfrm>
          <a:prstGeom prst="roundRect">
            <a:avLst>
              <a:gd name="adj" fmla="val 10000"/>
            </a:avLst>
          </a:prstGeom>
          <a:solidFill>
            <a:srgbClr val="F3F2F1"/>
          </a:solidFill>
          <a:ln w="19050">
            <a:solidFill>
              <a:srgbClr val="107C10"/>
            </a:solidFill>
            <a:prstDash val="solid"/>
          </a:ln>
        </p:spPr>
      </p:sp>
      <p:sp>
        <p:nvSpPr>
          <p:cNvPr id="22" name="Text 20"/>
          <p:cNvSpPr/>
          <p:nvPr/>
        </p:nvSpPr>
        <p:spPr>
          <a:xfrm>
            <a:off x="3566160" y="3977640"/>
            <a:ext cx="1600200" cy="731520"/>
          </a:xfrm>
          <a:prstGeom prst="rect">
            <a:avLst/>
          </a:prstGeom>
          <a:noFill/>
          <a:ln/>
        </p:spPr>
        <p:txBody>
          <a:bodyPr wrap="square" rtlCol="0" anchor="ctr"/>
          <a:lstStyle/>
          <a:p>
            <a:pPr algn="ctr" indent="0" marL="0">
              <a:buNone/>
            </a:pPr>
            <a:r>
              <a:rPr lang="en-US" sz="1000" b="1" dirty="0">
                <a:solidFill>
                  <a:srgbClr val="107C10"/>
                </a:solidFill>
                <a:latin typeface="Meiryo UI" pitchFamily="34" charset="0"/>
                <a:ea typeface="Meiryo UI" pitchFamily="34" charset="-122"/>
                <a:cs typeface="Meiryo UI" pitchFamily="34" charset="-120"/>
              </a:rPr>
              <a:t>LITRON</a:t>
            </a:r>
            <a:endParaRPr lang="en-US" sz="1000" dirty="0"/>
          </a:p>
          <a:p>
            <a:pPr algn="ctr" indent="0" marL="0">
              <a:buNone/>
            </a:pPr>
            <a:r>
              <a:rPr lang="en-US" sz="1000" b="1" dirty="0">
                <a:solidFill>
                  <a:srgbClr val="107C10"/>
                </a:solidFill>
                <a:latin typeface="Meiryo UI" pitchFamily="34" charset="0"/>
                <a:ea typeface="Meiryo UI" pitchFamily="34" charset="-122"/>
                <a:cs typeface="Meiryo UI" pitchFamily="34" charset="-120"/>
              </a:rPr>
              <a:t>Marketing</a:t>
            </a:r>
            <a:endParaRPr lang="en-US" sz="1000" dirty="0"/>
          </a:p>
        </p:txBody>
      </p:sp>
      <p:sp>
        <p:nvSpPr>
          <p:cNvPr id="23" name="Shape 21"/>
          <p:cNvSpPr/>
          <p:nvPr/>
        </p:nvSpPr>
        <p:spPr>
          <a:xfrm>
            <a:off x="5303520" y="3977640"/>
            <a:ext cx="1600200" cy="731520"/>
          </a:xfrm>
          <a:prstGeom prst="roundRect">
            <a:avLst>
              <a:gd name="adj" fmla="val 10000"/>
            </a:avLst>
          </a:prstGeom>
          <a:solidFill>
            <a:srgbClr val="F3F2F1"/>
          </a:solidFill>
          <a:ln w="19050">
            <a:solidFill>
              <a:srgbClr val="FF8C00"/>
            </a:solidFill>
            <a:prstDash val="solid"/>
          </a:ln>
        </p:spPr>
      </p:sp>
      <p:sp>
        <p:nvSpPr>
          <p:cNvPr id="24" name="Text 22"/>
          <p:cNvSpPr/>
          <p:nvPr/>
        </p:nvSpPr>
        <p:spPr>
          <a:xfrm>
            <a:off x="5303520" y="3977640"/>
            <a:ext cx="1600200" cy="731520"/>
          </a:xfrm>
          <a:prstGeom prst="rect">
            <a:avLst/>
          </a:prstGeom>
          <a:noFill/>
          <a:ln/>
        </p:spPr>
        <p:txBody>
          <a:bodyPr wrap="square" rtlCol="0" anchor="ctr"/>
          <a:lstStyle/>
          <a:p>
            <a:pPr algn="ctr" indent="0" marL="0">
              <a:buNone/>
            </a:pPr>
            <a:r>
              <a:rPr lang="en-US" sz="1000" b="1" dirty="0">
                <a:solidFill>
                  <a:srgbClr val="FF8C00"/>
                </a:solidFill>
                <a:latin typeface="Meiryo UI" pitchFamily="34" charset="0"/>
                <a:ea typeface="Meiryo UI" pitchFamily="34" charset="-122"/>
                <a:cs typeface="Meiryo UI" pitchFamily="34" charset="-120"/>
              </a:rPr>
              <a:t>LITRON</a:t>
            </a:r>
            <a:endParaRPr lang="en-US" sz="1000" dirty="0"/>
          </a:p>
          <a:p>
            <a:pPr algn="ctr" indent="0" marL="0">
              <a:buNone/>
            </a:pPr>
            <a:r>
              <a:rPr lang="en-US" sz="1000" b="1" dirty="0">
                <a:solidFill>
                  <a:srgbClr val="FF8C00"/>
                </a:solidFill>
                <a:latin typeface="Meiryo UI" pitchFamily="34" charset="0"/>
                <a:ea typeface="Meiryo UI" pitchFamily="34" charset="-122"/>
                <a:cs typeface="Meiryo UI" pitchFamily="34" charset="-120"/>
              </a:rPr>
              <a:t>Finance</a:t>
            </a:r>
            <a:endParaRPr lang="en-US" sz="1000" dirty="0"/>
          </a:p>
        </p:txBody>
      </p:sp>
      <p:sp>
        <p:nvSpPr>
          <p:cNvPr id="25" name="Shape 23"/>
          <p:cNvSpPr/>
          <p:nvPr/>
        </p:nvSpPr>
        <p:spPr>
          <a:xfrm>
            <a:off x="7040880" y="3977640"/>
            <a:ext cx="1600200" cy="731520"/>
          </a:xfrm>
          <a:prstGeom prst="roundRect">
            <a:avLst>
              <a:gd name="adj" fmla="val 10000"/>
            </a:avLst>
          </a:prstGeom>
          <a:solidFill>
            <a:srgbClr val="F3F2F1"/>
          </a:solidFill>
          <a:ln w="19050">
            <a:solidFill>
              <a:srgbClr val="5C2D91"/>
            </a:solidFill>
            <a:prstDash val="solid"/>
          </a:ln>
        </p:spPr>
      </p:sp>
      <p:sp>
        <p:nvSpPr>
          <p:cNvPr id="26" name="Text 24"/>
          <p:cNvSpPr/>
          <p:nvPr/>
        </p:nvSpPr>
        <p:spPr>
          <a:xfrm>
            <a:off x="7040880" y="3977640"/>
            <a:ext cx="1600200" cy="731520"/>
          </a:xfrm>
          <a:prstGeom prst="rect">
            <a:avLst/>
          </a:prstGeom>
          <a:noFill/>
          <a:ln/>
        </p:spPr>
        <p:txBody>
          <a:bodyPr wrap="square" rtlCol="0" anchor="ctr"/>
          <a:lstStyle/>
          <a:p>
            <a:pPr algn="ctr" indent="0" marL="0">
              <a:buNone/>
            </a:pPr>
            <a:r>
              <a:rPr lang="en-US" sz="1000" b="1" dirty="0">
                <a:solidFill>
                  <a:srgbClr val="5C2D91"/>
                </a:solidFill>
                <a:latin typeface="Meiryo UI" pitchFamily="34" charset="0"/>
                <a:ea typeface="Meiryo UI" pitchFamily="34" charset="-122"/>
                <a:cs typeface="Meiryo UI" pitchFamily="34" charset="-120"/>
              </a:rPr>
              <a:t>LITRON</a:t>
            </a:r>
            <a:endParaRPr lang="en-US" sz="1000" dirty="0"/>
          </a:p>
          <a:p>
            <a:pPr algn="ctr" indent="0" marL="0">
              <a:buNone/>
            </a:pPr>
            <a:r>
              <a:rPr lang="en-US" sz="1000" b="1" dirty="0">
                <a:solidFill>
                  <a:srgbClr val="5C2D91"/>
                </a:solidFill>
                <a:latin typeface="Meiryo UI" pitchFamily="34" charset="0"/>
                <a:ea typeface="Meiryo UI" pitchFamily="34" charset="-122"/>
                <a:cs typeface="Meiryo UI" pitchFamily="34" charset="-120"/>
              </a:rPr>
              <a:t>Legal</a:t>
            </a:r>
            <a:endParaRPr lang="en-US" sz="1000" dirty="0"/>
          </a:p>
        </p:txBody>
      </p:sp>
      <p:sp>
        <p:nvSpPr>
          <p:cNvPr id="27" name="Shape 25"/>
          <p:cNvSpPr/>
          <p:nvPr/>
        </p:nvSpPr>
        <p:spPr>
          <a:xfrm>
            <a:off x="8778240" y="3977640"/>
            <a:ext cx="1600200" cy="731520"/>
          </a:xfrm>
          <a:prstGeom prst="roundRect">
            <a:avLst>
              <a:gd name="adj" fmla="val 10000"/>
            </a:avLst>
          </a:prstGeom>
          <a:solidFill>
            <a:srgbClr val="F3F2F1"/>
          </a:solidFill>
          <a:ln w="19050">
            <a:solidFill>
              <a:srgbClr val="D13438"/>
            </a:solidFill>
            <a:prstDash val="solid"/>
          </a:ln>
        </p:spPr>
      </p:sp>
      <p:sp>
        <p:nvSpPr>
          <p:cNvPr id="28" name="Text 26"/>
          <p:cNvSpPr/>
          <p:nvPr/>
        </p:nvSpPr>
        <p:spPr>
          <a:xfrm>
            <a:off x="8778240" y="3977640"/>
            <a:ext cx="1600200" cy="731520"/>
          </a:xfrm>
          <a:prstGeom prst="rect">
            <a:avLst/>
          </a:prstGeom>
          <a:noFill/>
          <a:ln/>
        </p:spPr>
        <p:txBody>
          <a:bodyPr wrap="square" rtlCol="0" anchor="ctr"/>
          <a:lstStyle/>
          <a:p>
            <a:pPr algn="ctr" indent="0" marL="0">
              <a:buNone/>
            </a:pPr>
            <a:r>
              <a:rPr lang="en-US" sz="1000" b="1" dirty="0">
                <a:solidFill>
                  <a:srgbClr val="D13438"/>
                </a:solidFill>
                <a:latin typeface="Meiryo UI" pitchFamily="34" charset="0"/>
                <a:ea typeface="Meiryo UI" pitchFamily="34" charset="-122"/>
                <a:cs typeface="Meiryo UI" pitchFamily="34" charset="-120"/>
              </a:rPr>
              <a:t>LITRON</a:t>
            </a:r>
            <a:endParaRPr lang="en-US" sz="1000" dirty="0"/>
          </a:p>
          <a:p>
            <a:pPr algn="ctr" indent="0" marL="0">
              <a:buNone/>
            </a:pPr>
            <a:r>
              <a:rPr lang="en-US" sz="1000" b="1" dirty="0">
                <a:solidFill>
                  <a:srgbClr val="D13438"/>
                </a:solidFill>
                <a:latin typeface="Meiryo UI" pitchFamily="34" charset="0"/>
                <a:ea typeface="Meiryo UI" pitchFamily="34" charset="-122"/>
                <a:cs typeface="Meiryo UI" pitchFamily="34" charset="-120"/>
              </a:rPr>
              <a:t>CORE</a:t>
            </a:r>
            <a:endParaRPr lang="en-US" sz="1000" dirty="0"/>
          </a:p>
        </p:txBody>
      </p:sp>
      <p:sp>
        <p:nvSpPr>
          <p:cNvPr id="29" name="Text 27"/>
          <p:cNvSpPr/>
          <p:nvPr/>
        </p:nvSpPr>
        <p:spPr>
          <a:xfrm>
            <a:off x="457200" y="4892040"/>
            <a:ext cx="11274552" cy="1828800"/>
          </a:xfrm>
          <a:prstGeom prst="rect">
            <a:avLst/>
          </a:prstGeom>
          <a:noFill/>
          <a:ln/>
        </p:spPr>
        <p:txBody>
          <a:bodyPr wrap="square" rtlCol="0" anchor="t"/>
          <a:lstStyle/>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tsuzumi は NTTが独自開発した日本語LLMで、超軽量（0.6B）と軽量（7B）の2種類を提供し、GPT-3（175B）の最大300分の1のサイズで高い日本語処理性能とコスト効率を両立しています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40年以上のNTT研究所の自然言語処理研究の蓄積を活かし、業界特化アダプタによる少ない追加学習でのカスタマイズも可能です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LITRON はNTTデータの先端AI技術を活用したサービス・製品の総称ブランドで、4つの「Smart AI Agent™」を活用した業務変革を実現します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LITRON Sales / Marketing / Finance / Legal / CORE により、業種・部門横断の効率化・自動化を支援しています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コンサルティングから開発・運用支援、人材提供までワンストップで顧客をサポートしています</a:t>
            </a:r>
            <a:endParaRPr lang="en-US" sz="11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400" b="1" dirty="0">
                <a:solidFill>
                  <a:srgbClr val="FFFFFF"/>
                </a:solidFill>
                <a:latin typeface="Meiryo UI" pitchFamily="34" charset="0"/>
                <a:ea typeface="Meiryo UI" pitchFamily="34" charset="-122"/>
                <a:cs typeface="Meiryo UI" pitchFamily="34" charset="-120"/>
              </a:rPr>
              <a:t>NEC ― cotomi × BluStellar AI による AI支援 FDE</a:t>
            </a:r>
            <a:endParaRPr lang="en-US" sz="24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5 / 7</a:t>
            </a:r>
            <a:endParaRPr lang="en-US" sz="900" dirty="0"/>
          </a:p>
        </p:txBody>
      </p:sp>
      <p:sp>
        <p:nvSpPr>
          <p:cNvPr id="5" name="Shape 3"/>
          <p:cNvSpPr/>
          <p:nvPr/>
        </p:nvSpPr>
        <p:spPr>
          <a:xfrm>
            <a:off x="4389120" y="1417320"/>
            <a:ext cx="3383280" cy="1554480"/>
          </a:xfrm>
          <a:prstGeom prst="ellipse">
            <a:avLst/>
          </a:prstGeom>
          <a:solidFill>
            <a:srgbClr val="DEECF9"/>
          </a:solidFill>
          <a:ln w="25400">
            <a:solidFill>
              <a:srgbClr val="0078D4"/>
            </a:solidFill>
            <a:prstDash val="solid"/>
          </a:ln>
        </p:spPr>
      </p:sp>
      <p:sp>
        <p:nvSpPr>
          <p:cNvPr id="6" name="Text 4"/>
          <p:cNvSpPr/>
          <p:nvPr/>
        </p:nvSpPr>
        <p:spPr>
          <a:xfrm>
            <a:off x="4389120" y="1508760"/>
            <a:ext cx="3383280" cy="1371600"/>
          </a:xfrm>
          <a:prstGeom prst="rect">
            <a:avLst/>
          </a:prstGeom>
          <a:noFill/>
          <a:ln/>
        </p:spPr>
        <p:txBody>
          <a:bodyPr wrap="square" rtlCol="0" anchor="ctr"/>
          <a:lstStyle/>
          <a:p>
            <a:pPr algn="ctr" indent="0" marL="0">
              <a:buNone/>
            </a:pPr>
            <a:r>
              <a:rPr lang="en-US" sz="1400" b="1" dirty="0">
                <a:solidFill>
                  <a:srgbClr val="0078D4"/>
                </a:solidFill>
                <a:latin typeface="Meiryo UI" pitchFamily="34" charset="0"/>
                <a:ea typeface="Meiryo UI" pitchFamily="34" charset="-122"/>
                <a:cs typeface="Meiryo UI" pitchFamily="34" charset="-120"/>
              </a:rPr>
              <a:t>🧠 cotomi</a:t>
            </a:r>
            <a:endParaRPr lang="en-US" sz="1400" dirty="0"/>
          </a:p>
          <a:p>
            <a:pPr algn="ctr" indent="0" marL="0">
              <a:buNone/>
            </a:pPr>
            <a:r>
              <a:rPr lang="en-US" sz="1400" b="1" dirty="0">
                <a:solidFill>
                  <a:srgbClr val="0078D4"/>
                </a:solidFill>
                <a:latin typeface="Meiryo UI" pitchFamily="34" charset="0"/>
                <a:ea typeface="Meiryo UI" pitchFamily="34" charset="-122"/>
                <a:cs typeface="Meiryo UI" pitchFamily="34" charset="-120"/>
              </a:rPr>
              <a:t>（NEC開発 LLM）</a:t>
            </a:r>
            <a:endParaRPr lang="en-US" sz="1400" dirty="0"/>
          </a:p>
        </p:txBody>
      </p:sp>
      <p:sp>
        <p:nvSpPr>
          <p:cNvPr id="7" name="Shape 5"/>
          <p:cNvSpPr/>
          <p:nvPr/>
        </p:nvSpPr>
        <p:spPr>
          <a:xfrm>
            <a:off x="457200" y="1280160"/>
            <a:ext cx="2926080" cy="1371600"/>
          </a:xfrm>
          <a:prstGeom prst="roundRect">
            <a:avLst>
              <a:gd name="adj" fmla="val 6667"/>
            </a:avLst>
          </a:prstGeom>
          <a:solidFill>
            <a:srgbClr val="FFFFFF"/>
          </a:solidFill>
          <a:ln w="19050">
            <a:solidFill>
              <a:srgbClr val="107C10"/>
            </a:solidFill>
            <a:prstDash val="solid"/>
          </a:ln>
        </p:spPr>
      </p:sp>
      <p:sp>
        <p:nvSpPr>
          <p:cNvPr id="8" name="Text 6"/>
          <p:cNvSpPr/>
          <p:nvPr/>
        </p:nvSpPr>
        <p:spPr>
          <a:xfrm>
            <a:off x="548640" y="1371600"/>
            <a:ext cx="2743200" cy="365760"/>
          </a:xfrm>
          <a:prstGeom prst="rect">
            <a:avLst/>
          </a:prstGeom>
          <a:noFill/>
          <a:ln/>
        </p:spPr>
        <p:txBody>
          <a:bodyPr wrap="square" rtlCol="0" anchor="ctr"/>
          <a:lstStyle/>
          <a:p>
            <a:pPr algn="ctr" indent="0" marL="0">
              <a:buNone/>
            </a:pPr>
            <a:r>
              <a:rPr lang="en-US" sz="1200" b="1" dirty="0">
                <a:solidFill>
                  <a:srgbClr val="107C10"/>
                </a:solidFill>
                <a:latin typeface="Meiryo UI" pitchFamily="34" charset="0"/>
                <a:ea typeface="Meiryo UI" pitchFamily="34" charset="-122"/>
                <a:cs typeface="Meiryo UI" pitchFamily="34" charset="-120"/>
              </a:rPr>
              <a:t>💬  AIコンサル</a:t>
            </a:r>
            <a:endParaRPr lang="en-US" sz="1200" dirty="0"/>
          </a:p>
        </p:txBody>
      </p:sp>
      <p:sp>
        <p:nvSpPr>
          <p:cNvPr id="9" name="Text 7"/>
          <p:cNvSpPr/>
          <p:nvPr/>
        </p:nvSpPr>
        <p:spPr>
          <a:xfrm>
            <a:off x="548640" y="1783080"/>
            <a:ext cx="2743200" cy="73152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調査・企画～</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実装・運用支援</a:t>
            </a:r>
            <a:endParaRPr lang="en-US" sz="1000" dirty="0"/>
          </a:p>
        </p:txBody>
      </p:sp>
      <p:sp>
        <p:nvSpPr>
          <p:cNvPr id="10" name="Shape 8"/>
          <p:cNvSpPr/>
          <p:nvPr/>
        </p:nvSpPr>
        <p:spPr>
          <a:xfrm>
            <a:off x="8686800" y="1280160"/>
            <a:ext cx="2926080" cy="1371600"/>
          </a:xfrm>
          <a:prstGeom prst="roundRect">
            <a:avLst>
              <a:gd name="adj" fmla="val 6667"/>
            </a:avLst>
          </a:prstGeom>
          <a:solidFill>
            <a:srgbClr val="FFFFFF"/>
          </a:solidFill>
          <a:ln w="19050">
            <a:solidFill>
              <a:srgbClr val="FF8C00"/>
            </a:solidFill>
            <a:prstDash val="solid"/>
          </a:ln>
        </p:spPr>
      </p:sp>
      <p:sp>
        <p:nvSpPr>
          <p:cNvPr id="11" name="Text 9"/>
          <p:cNvSpPr/>
          <p:nvPr/>
        </p:nvSpPr>
        <p:spPr>
          <a:xfrm>
            <a:off x="8778240" y="1371600"/>
            <a:ext cx="2743200" cy="365760"/>
          </a:xfrm>
          <a:prstGeom prst="rect">
            <a:avLst/>
          </a:prstGeom>
          <a:noFill/>
          <a:ln/>
        </p:spPr>
        <p:txBody>
          <a:bodyPr wrap="square" rtlCol="0" anchor="ctr"/>
          <a:lstStyle/>
          <a:p>
            <a:pPr algn="ctr" indent="0" marL="0">
              <a:buNone/>
            </a:pPr>
            <a:r>
              <a:rPr lang="en-US" sz="1200" b="1" dirty="0">
                <a:solidFill>
                  <a:srgbClr val="FF8C00"/>
                </a:solidFill>
                <a:latin typeface="Meiryo UI" pitchFamily="34" charset="0"/>
                <a:ea typeface="Meiryo UI" pitchFamily="34" charset="-122"/>
                <a:cs typeface="Meiryo UI" pitchFamily="34" charset="-120"/>
              </a:rPr>
              <a:t>🤖  AIエージェント</a:t>
            </a:r>
            <a:endParaRPr lang="en-US" sz="1200" dirty="0"/>
          </a:p>
        </p:txBody>
      </p:sp>
      <p:sp>
        <p:nvSpPr>
          <p:cNvPr id="12" name="Text 10"/>
          <p:cNvSpPr/>
          <p:nvPr/>
        </p:nvSpPr>
        <p:spPr>
          <a:xfrm>
            <a:off x="8778240" y="1783080"/>
            <a:ext cx="2743200" cy="73152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業務自動化と</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プロセス最適化</a:t>
            </a:r>
            <a:endParaRPr lang="en-US" sz="1000" dirty="0"/>
          </a:p>
        </p:txBody>
      </p:sp>
      <p:sp>
        <p:nvSpPr>
          <p:cNvPr id="13" name="Shape 11"/>
          <p:cNvSpPr/>
          <p:nvPr/>
        </p:nvSpPr>
        <p:spPr>
          <a:xfrm>
            <a:off x="457200" y="3246120"/>
            <a:ext cx="2926080" cy="1371600"/>
          </a:xfrm>
          <a:prstGeom prst="roundRect">
            <a:avLst>
              <a:gd name="adj" fmla="val 6667"/>
            </a:avLst>
          </a:prstGeom>
          <a:solidFill>
            <a:srgbClr val="FFFFFF"/>
          </a:solidFill>
          <a:ln w="19050">
            <a:solidFill>
              <a:srgbClr val="5C2D91"/>
            </a:solidFill>
            <a:prstDash val="solid"/>
          </a:ln>
        </p:spPr>
      </p:sp>
      <p:sp>
        <p:nvSpPr>
          <p:cNvPr id="14" name="Text 12"/>
          <p:cNvSpPr/>
          <p:nvPr/>
        </p:nvSpPr>
        <p:spPr>
          <a:xfrm>
            <a:off x="548640" y="3337560"/>
            <a:ext cx="2743200" cy="365760"/>
          </a:xfrm>
          <a:prstGeom prst="rect">
            <a:avLst/>
          </a:prstGeom>
          <a:noFill/>
          <a:ln/>
        </p:spPr>
        <p:txBody>
          <a:bodyPr wrap="square" rtlCol="0" anchor="ctr"/>
          <a:lstStyle/>
          <a:p>
            <a:pPr algn="ctr" indent="0" marL="0">
              <a:buNone/>
            </a:pPr>
            <a:r>
              <a:rPr lang="en-US" sz="1200" b="1" dirty="0">
                <a:solidFill>
                  <a:srgbClr val="5C2D91"/>
                </a:solidFill>
                <a:latin typeface="Meiryo UI" pitchFamily="34" charset="0"/>
                <a:ea typeface="Meiryo UI" pitchFamily="34" charset="-122"/>
                <a:cs typeface="Meiryo UI" pitchFamily="34" charset="-120"/>
              </a:rPr>
              <a:t>📦  AIプロダクト</a:t>
            </a:r>
            <a:endParaRPr lang="en-US" sz="1200" dirty="0"/>
          </a:p>
        </p:txBody>
      </p:sp>
      <p:sp>
        <p:nvSpPr>
          <p:cNvPr id="15" name="Text 13"/>
          <p:cNvSpPr/>
          <p:nvPr/>
        </p:nvSpPr>
        <p:spPr>
          <a:xfrm>
            <a:off x="548640" y="3749040"/>
            <a:ext cx="2743200" cy="73152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BluStellar AI</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サービス群</a:t>
            </a:r>
            <a:endParaRPr lang="en-US" sz="1000" dirty="0"/>
          </a:p>
        </p:txBody>
      </p:sp>
      <p:sp>
        <p:nvSpPr>
          <p:cNvPr id="16" name="Shape 14"/>
          <p:cNvSpPr/>
          <p:nvPr/>
        </p:nvSpPr>
        <p:spPr>
          <a:xfrm>
            <a:off x="8686800" y="3246120"/>
            <a:ext cx="2926080" cy="1371600"/>
          </a:xfrm>
          <a:prstGeom prst="roundRect">
            <a:avLst>
              <a:gd name="adj" fmla="val 6667"/>
            </a:avLst>
          </a:prstGeom>
          <a:solidFill>
            <a:srgbClr val="FFFFFF"/>
          </a:solidFill>
          <a:ln w="19050">
            <a:solidFill>
              <a:srgbClr val="008272"/>
            </a:solidFill>
            <a:prstDash val="solid"/>
          </a:ln>
        </p:spPr>
      </p:sp>
      <p:sp>
        <p:nvSpPr>
          <p:cNvPr id="17" name="Text 15"/>
          <p:cNvSpPr/>
          <p:nvPr/>
        </p:nvSpPr>
        <p:spPr>
          <a:xfrm>
            <a:off x="8778240" y="3337560"/>
            <a:ext cx="2743200" cy="365760"/>
          </a:xfrm>
          <a:prstGeom prst="rect">
            <a:avLst/>
          </a:prstGeom>
          <a:noFill/>
          <a:ln/>
        </p:spPr>
        <p:txBody>
          <a:bodyPr wrap="square" rtlCol="0" anchor="ctr"/>
          <a:lstStyle/>
          <a:p>
            <a:pPr algn="ctr" indent="0" marL="0">
              <a:buNone/>
            </a:pPr>
            <a:r>
              <a:rPr lang="en-US" sz="1200" b="1" dirty="0">
                <a:solidFill>
                  <a:srgbClr val="008272"/>
                </a:solidFill>
                <a:latin typeface="Meiryo UI" pitchFamily="34" charset="0"/>
                <a:ea typeface="Meiryo UI" pitchFamily="34" charset="-122"/>
                <a:cs typeface="Meiryo UI" pitchFamily="34" charset="-120"/>
              </a:rPr>
              <a:t>🎓  人材育成</a:t>
            </a:r>
            <a:endParaRPr lang="en-US" sz="1200" dirty="0"/>
          </a:p>
        </p:txBody>
      </p:sp>
      <p:sp>
        <p:nvSpPr>
          <p:cNvPr id="18" name="Text 16"/>
          <p:cNvSpPr/>
          <p:nvPr/>
        </p:nvSpPr>
        <p:spPr>
          <a:xfrm>
            <a:off x="8778240" y="3749040"/>
            <a:ext cx="2743200" cy="73152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BluStellar Academy</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for AI/DX</a:t>
            </a:r>
            <a:endParaRPr lang="en-US" sz="1000" dirty="0"/>
          </a:p>
        </p:txBody>
      </p:sp>
      <p:sp>
        <p:nvSpPr>
          <p:cNvPr id="19" name="Text 17"/>
          <p:cNvSpPr/>
          <p:nvPr/>
        </p:nvSpPr>
        <p:spPr>
          <a:xfrm>
            <a:off x="3383280" y="1691640"/>
            <a:ext cx="1005840" cy="365760"/>
          </a:xfrm>
          <a:prstGeom prst="rect">
            <a:avLst/>
          </a:prstGeom>
          <a:noFill/>
          <a:ln/>
        </p:spPr>
        <p:txBody>
          <a:bodyPr wrap="square" rtlCol="0" anchor="ctr"/>
          <a:lstStyle/>
          <a:p>
            <a:pPr algn="ctr" indent="0" marL="0">
              <a:buNone/>
            </a:pPr>
            <a:r>
              <a:rPr lang="en-US" sz="1800" dirty="0">
                <a:solidFill>
                  <a:srgbClr val="999999"/>
                </a:solidFill>
                <a:latin typeface="Meiryo UI" pitchFamily="34" charset="0"/>
                <a:ea typeface="Meiryo UI" pitchFamily="34" charset="-122"/>
                <a:cs typeface="Meiryo UI" pitchFamily="34" charset="-120"/>
              </a:rPr>
              <a:t>⟶</a:t>
            </a:r>
            <a:endParaRPr lang="en-US" sz="1800" dirty="0"/>
          </a:p>
        </p:txBody>
      </p:sp>
      <p:sp>
        <p:nvSpPr>
          <p:cNvPr id="20" name="Text 18"/>
          <p:cNvSpPr/>
          <p:nvPr/>
        </p:nvSpPr>
        <p:spPr>
          <a:xfrm>
            <a:off x="7772400" y="1691640"/>
            <a:ext cx="1005840" cy="365760"/>
          </a:xfrm>
          <a:prstGeom prst="rect">
            <a:avLst/>
          </a:prstGeom>
          <a:noFill/>
          <a:ln/>
        </p:spPr>
        <p:txBody>
          <a:bodyPr wrap="square" rtlCol="0" anchor="ctr"/>
          <a:lstStyle/>
          <a:p>
            <a:pPr algn="ctr" indent="0" marL="0">
              <a:buNone/>
            </a:pPr>
            <a:r>
              <a:rPr lang="en-US" sz="1800" dirty="0">
                <a:solidFill>
                  <a:srgbClr val="999999"/>
                </a:solidFill>
                <a:latin typeface="Meiryo UI" pitchFamily="34" charset="0"/>
                <a:ea typeface="Meiryo UI" pitchFamily="34" charset="-122"/>
                <a:cs typeface="Meiryo UI" pitchFamily="34" charset="-120"/>
              </a:rPr>
              <a:t>⟵</a:t>
            </a:r>
            <a:endParaRPr lang="en-US" sz="1800" dirty="0"/>
          </a:p>
        </p:txBody>
      </p:sp>
      <p:sp>
        <p:nvSpPr>
          <p:cNvPr id="21" name="Text 19"/>
          <p:cNvSpPr/>
          <p:nvPr/>
        </p:nvSpPr>
        <p:spPr>
          <a:xfrm>
            <a:off x="3383280" y="3657600"/>
            <a:ext cx="1005840" cy="365760"/>
          </a:xfrm>
          <a:prstGeom prst="rect">
            <a:avLst/>
          </a:prstGeom>
          <a:noFill/>
          <a:ln/>
        </p:spPr>
        <p:txBody>
          <a:bodyPr wrap="square" rtlCol="0" anchor="ctr"/>
          <a:lstStyle/>
          <a:p>
            <a:pPr algn="ctr" indent="0" marL="0">
              <a:buNone/>
            </a:pPr>
            <a:r>
              <a:rPr lang="en-US" sz="1800" dirty="0">
                <a:solidFill>
                  <a:srgbClr val="999999"/>
                </a:solidFill>
                <a:latin typeface="Meiryo UI" pitchFamily="34" charset="0"/>
                <a:ea typeface="Meiryo UI" pitchFamily="34" charset="-122"/>
                <a:cs typeface="Meiryo UI" pitchFamily="34" charset="-120"/>
              </a:rPr>
              <a:t>⟶</a:t>
            </a:r>
            <a:endParaRPr lang="en-US" sz="1800" dirty="0"/>
          </a:p>
        </p:txBody>
      </p:sp>
      <p:sp>
        <p:nvSpPr>
          <p:cNvPr id="22" name="Text 20"/>
          <p:cNvSpPr/>
          <p:nvPr/>
        </p:nvSpPr>
        <p:spPr>
          <a:xfrm>
            <a:off x="7772400" y="3657600"/>
            <a:ext cx="1005840" cy="365760"/>
          </a:xfrm>
          <a:prstGeom prst="rect">
            <a:avLst/>
          </a:prstGeom>
          <a:noFill/>
          <a:ln/>
        </p:spPr>
        <p:txBody>
          <a:bodyPr wrap="square" rtlCol="0" anchor="ctr"/>
          <a:lstStyle/>
          <a:p>
            <a:pPr algn="ctr" indent="0" marL="0">
              <a:buNone/>
            </a:pPr>
            <a:r>
              <a:rPr lang="en-US" sz="1800" dirty="0">
                <a:solidFill>
                  <a:srgbClr val="999999"/>
                </a:solidFill>
                <a:latin typeface="Meiryo UI" pitchFamily="34" charset="0"/>
                <a:ea typeface="Meiryo UI" pitchFamily="34" charset="-122"/>
                <a:cs typeface="Meiryo UI" pitchFamily="34" charset="-120"/>
              </a:rPr>
              <a:t>⟵</a:t>
            </a:r>
            <a:endParaRPr lang="en-US" sz="1800" dirty="0"/>
          </a:p>
        </p:txBody>
      </p:sp>
      <p:sp>
        <p:nvSpPr>
          <p:cNvPr id="23" name="Text 21"/>
          <p:cNvSpPr/>
          <p:nvPr/>
        </p:nvSpPr>
        <p:spPr>
          <a:xfrm>
            <a:off x="457200" y="4846320"/>
            <a:ext cx="11274552" cy="1828800"/>
          </a:xfrm>
          <a:prstGeom prst="rect">
            <a:avLst/>
          </a:prstGeom>
          <a:noFill/>
          <a:ln/>
        </p:spPr>
        <p:txBody>
          <a:bodyPr wrap="square" rtlCol="0" anchor="t"/>
          <a:lstStyle/>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cotomi はNECが独自開発したLLMで、高い日本語能力と軽量さを両立し、クラウド・オンプレミスのハイブリッド提供が可能です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2026年3月、「ガバメントAIで試用する国内LLM」にも選定されています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BluStellar AI は業種横断の知見と最先端テクノロジーにより、ビジネスモデルの変革を支援するDXブランドです。Newsweek AI Impact Awards で5部門受賞の実績があります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AIスペシャリスト人材が調査・企画から実装・運用までトータルに支援します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BluStellar Academy for AI/DX を通じて顧客企業の自走力を強化し、製造・金融・公共など幅広い業種で導入実績があります</a:t>
            </a:r>
            <a:endParaRPr lang="en-US" sz="1100" dirty="0"/>
          </a:p>
          <a:p>
            <a:pPr marL="342900" indent="-342900">
              <a:lnSpc>
                <a:spcPct val="120000"/>
              </a:lnSpc>
              <a:buSzPct val="100000"/>
              <a:buChar char="•"/>
            </a:pPr>
            <a:r>
              <a:rPr lang="en-US" sz="1100" dirty="0">
                <a:solidFill>
                  <a:srgbClr val="000000"/>
                </a:solidFill>
                <a:latin typeface="Meiryo UI" pitchFamily="34" charset="0"/>
                <a:ea typeface="Meiryo UI" pitchFamily="34" charset="-122"/>
                <a:cs typeface="Meiryo UI" pitchFamily="34" charset="-120"/>
              </a:rPr>
              <a:t>AIエージェントによる業務自動化・プロセス最適化も推進しています</a:t>
            </a:r>
            <a:endParaRPr lang="en-US" sz="11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400" b="1" dirty="0">
                <a:solidFill>
                  <a:srgbClr val="FFFFFF"/>
                </a:solidFill>
                <a:latin typeface="Meiryo UI" pitchFamily="34" charset="0"/>
                <a:ea typeface="Meiryo UI" pitchFamily="34" charset="-122"/>
                <a:cs typeface="Meiryo UI" pitchFamily="34" charset="-120"/>
              </a:rPr>
              <a:t>アクセンチュア × マイクロソフト ― FDE 共同体制の始動</a:t>
            </a:r>
            <a:endParaRPr lang="en-US" sz="24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6 / 7</a:t>
            </a:r>
            <a:endParaRPr lang="en-US" sz="900" dirty="0"/>
          </a:p>
        </p:txBody>
      </p:sp>
      <p:pic>
        <p:nvPicPr>
          <p:cNvPr id="5" name="Image 0" descr="C:\Users\akkoike\Desktop\ghcp-pptx\FDE_AI支援\docs\accenture_ms_fde_screenshot.png">    </p:cNvPr>
          <p:cNvPicPr>
            <a:picLocks noChangeAspect="1"/>
          </p:cNvPicPr>
          <p:nvPr/>
        </p:nvPicPr>
        <p:blipFill>
          <a:blip r:embed="rId2"/>
          <a:stretch>
            <a:fillRect/>
          </a:stretch>
        </p:blipFill>
        <p:spPr>
          <a:xfrm>
            <a:off x="274320" y="1188720"/>
            <a:ext cx="4572000" cy="3200400"/>
          </a:xfrm>
          <a:prstGeom prst="ellipse">
            <a:avLst/>
          </a:prstGeom>
        </p:spPr>
      </p:pic>
      <p:sp>
        <p:nvSpPr>
          <p:cNvPr id="6" name="Text 3"/>
          <p:cNvSpPr/>
          <p:nvPr/>
        </p:nvSpPr>
        <p:spPr>
          <a:xfrm>
            <a:off x="274320" y="4480560"/>
            <a:ext cx="4572000" cy="274320"/>
          </a:xfrm>
          <a:prstGeom prst="rect">
            <a:avLst/>
          </a:prstGeom>
          <a:noFill/>
          <a:ln/>
        </p:spPr>
        <p:txBody>
          <a:bodyPr wrap="square" rtlCol="0" anchor="ctr"/>
          <a:lstStyle/>
          <a:p>
            <a:pPr algn="ctr" indent="0" marL="0">
              <a:buNone/>
            </a:pPr>
            <a:r>
              <a:rPr lang="en-US" sz="800" dirty="0">
                <a:solidFill>
                  <a:srgbClr val="999999"/>
                </a:solidFill>
                <a:latin typeface="Meiryo UI" pitchFamily="34" charset="0"/>
                <a:ea typeface="Meiryo UI" pitchFamily="34" charset="-122"/>
                <a:cs typeface="Meiryo UI" pitchFamily="34" charset="-120"/>
              </a:rPr>
              <a:t>出典: コンサルポータル（2026年3月24日更新）</a:t>
            </a:r>
            <a:endParaRPr lang="en-US" sz="800" dirty="0"/>
          </a:p>
        </p:txBody>
      </p:sp>
      <p:sp>
        <p:nvSpPr>
          <p:cNvPr id="7" name="Shape 4"/>
          <p:cNvSpPr/>
          <p:nvPr/>
        </p:nvSpPr>
        <p:spPr>
          <a:xfrm>
            <a:off x="5120640" y="1188720"/>
            <a:ext cx="6583680" cy="365760"/>
          </a:xfrm>
          <a:prstGeom prst="roundRect">
            <a:avLst>
              <a:gd name="adj" fmla="val 20000"/>
            </a:avLst>
          </a:prstGeom>
          <a:solidFill>
            <a:srgbClr val="0078D4"/>
          </a:solidFill>
          <a:ln/>
        </p:spPr>
      </p:sp>
      <p:sp>
        <p:nvSpPr>
          <p:cNvPr id="8" name="Text 5"/>
          <p:cNvSpPr/>
          <p:nvPr/>
        </p:nvSpPr>
        <p:spPr>
          <a:xfrm>
            <a:off x="5212080" y="1188720"/>
            <a:ext cx="6400800" cy="365760"/>
          </a:xfrm>
          <a:prstGeom prst="rect">
            <a:avLst/>
          </a:prstGeom>
          <a:noFill/>
          <a:ln/>
        </p:spPr>
        <p:txBody>
          <a:bodyPr wrap="square"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rPr>
              <a:t>📢  発表概要（2026年3月18日発表）</a:t>
            </a:r>
            <a:endParaRPr lang="en-US" sz="1200" dirty="0"/>
          </a:p>
        </p:txBody>
      </p:sp>
      <p:sp>
        <p:nvSpPr>
          <p:cNvPr id="9" name="Text 6"/>
          <p:cNvSpPr/>
          <p:nvPr/>
        </p:nvSpPr>
        <p:spPr>
          <a:xfrm>
            <a:off x="5120640" y="1645920"/>
            <a:ext cx="6583680" cy="3931920"/>
          </a:xfrm>
          <a:prstGeom prst="rect">
            <a:avLst/>
          </a:prstGeom>
          <a:noFill/>
          <a:ln/>
        </p:spPr>
        <p:txBody>
          <a:bodyPr wrap="square" rtlCol="0" anchor="t"/>
          <a:lstStyle/>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アクセンチュアとマイクロソフトは、企業のAI導入を支援する新体制「Forward Deployed Engineering（FDE）」を共同で立ち上げました</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AIの構想段階にとどまらず、実際のビジネス現場での運用・定着化を加速させることを目的としています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AIに精通した数千人規模のエンジニアが、マイクロソフトの最先端AIプラットフォームとアクセンチュアの深い業界知見・業務設計力を融合し、伴走型の支援を提供します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「全社展開への壁」や「実装面の技術的課題」に対し、本番運用までのリードタイムを大幅に短縮します</a:t>
            </a:r>
            <a:endParaRPr lang="en-US" sz="1050" dirty="0"/>
          </a:p>
          <a:p>
            <a:pPr marL="342900" indent="-342900">
              <a:lnSpc>
                <a:spcPct val="130000"/>
              </a:lnSpc>
              <a:buSzPct val="100000"/>
              <a:buChar char="•"/>
            </a:pPr>
            <a:r>
              <a:rPr lang="en-US" sz="1050" dirty="0">
                <a:solidFill>
                  <a:srgbClr val="000000"/>
                </a:solidFill>
                <a:latin typeface="Meiryo UI" pitchFamily="34" charset="0"/>
                <a:ea typeface="Meiryo UI" pitchFamily="34" charset="-122"/>
                <a:cs typeface="Meiryo UI" pitchFamily="34" charset="-120"/>
              </a:rPr>
              <a:t>AIが「実験段階」から「実務への完全統合段階」へ移行したことを象徴する取り組みであり、実装スキルや業務変革能力の需要がさらに高まることを示しています</a:t>
            </a:r>
            <a:endParaRPr lang="en-US" sz="1050" dirty="0"/>
          </a:p>
        </p:txBody>
      </p:sp>
      <p:sp>
        <p:nvSpPr>
          <p:cNvPr id="10" name="Shape 7"/>
          <p:cNvSpPr/>
          <p:nvPr/>
        </p:nvSpPr>
        <p:spPr>
          <a:xfrm>
            <a:off x="274320" y="4937760"/>
            <a:ext cx="11457432" cy="1691640"/>
          </a:xfrm>
          <a:prstGeom prst="roundRect">
            <a:avLst>
              <a:gd name="adj" fmla="val 5405"/>
            </a:avLst>
          </a:prstGeom>
          <a:solidFill>
            <a:srgbClr val="F3F2F1"/>
          </a:solidFill>
          <a:ln/>
        </p:spPr>
      </p:sp>
      <p:sp>
        <p:nvSpPr>
          <p:cNvPr id="11" name="Text 8"/>
          <p:cNvSpPr/>
          <p:nvPr/>
        </p:nvSpPr>
        <p:spPr>
          <a:xfrm>
            <a:off x="457200" y="4983480"/>
            <a:ext cx="3657600" cy="32004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  参考リンク</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5349240"/>
          <a:ext cx="11274552" cy="914400"/>
        </p:xfrm>
        <a:graphic>
          <a:graphicData uri="http://schemas.openxmlformats.org/drawingml/2006/table">
            <a:tbl>
              <a:tblPr/>
              <a:tblGrid>
                <a:gridCol w="5632704"/>
                <a:gridCol w="5641848"/>
              </a:tblGrid>
              <a:tr h="256032">
                <a:tc>
                  <a:txBody>
                    <a:bodyPr/>
                    <a:lstStyle/>
                    <a:p>
                      <a:pPr indent="0" marL="0">
                        <a:buNone/>
                      </a:pPr>
                      <a:r>
                        <a:rPr lang="en-US" sz="750" dirty="0">
                          <a:solidFill>
                            <a:srgbClr val="0078D4"/>
                          </a:solidFill>
                          <a:latin typeface="Meiryo UI" pitchFamily="34" charset="0"/>
                          <a:ea typeface="Meiryo UI" pitchFamily="34" charset="-122"/>
                          <a:cs typeface="Meiryo UI" pitchFamily="34" charset="-120"/>
                        </a:rPr>
                        <a:t>#1 アクセンチュアとMS、AI実装支援の新体制「FDE」を始動</a:t>
                      </a:r>
                      <a:endParaRPr lang="en-US" sz="750" dirty="0">
                        <a:latin typeface="Meiryo UI" charset="0"/>
                        <a:ea typeface="Meiryo UI" charset="0"/>
                        <a:cs typeface="Meiryo UI" charset="0"/>
                      </a:endParaRPr>
                    </a:p>
                  </a:txBody>
                  <a:tcPr marL="38100" marR="38100" marT="12700" marB="12700">
                    <a:lnL w="0" cap="flat" cmpd="sng" algn="ctr">
                      <a:noFill/>
                    </a:lnL>
                    <a:lnR w="0" cap="flat" cmpd="sng" algn="ctr">
                      <a:noFill/>
                    </a:lnR>
                    <a:lnT w="0" cap="flat" cmpd="sng" algn="ctr">
                      <a:noFill/>
                    </a:lnT>
                    <a:lnB w="0" cap="flat" cmpd="sng" algn="ctr">
                      <a:noFill/>
                    </a:lnB>
                  </a:tcPr>
                </a:tc>
                <a:tc>
                  <a:txBody>
                    <a:bodyPr/>
                    <a:lstStyle/>
                    <a:p>
                      <a:pPr indent="0" marL="0">
                        <a:buNone/>
                      </a:pPr>
                      <a:r>
                        <a:rPr lang="en-US" sz="750" dirty="0">
                          <a:solidFill>
                            <a:srgbClr val="0078D4"/>
                          </a:solidFill>
                          <a:latin typeface="Meiryo UI" pitchFamily="34" charset="0"/>
                          <a:ea typeface="Meiryo UI" pitchFamily="34" charset="-122"/>
                          <a:cs typeface="Meiryo UI" pitchFamily="34" charset="-120"/>
                        </a:rPr>
                        <a:t>#2 Lumada トップページ（日立製作所）</a:t>
                      </a:r>
                      <a:endParaRPr lang="en-US" sz="750" dirty="0">
                        <a:latin typeface="Meiryo UI" charset="0"/>
                        <a:ea typeface="Meiryo UI" charset="0"/>
                        <a:cs typeface="Meiryo UI" charset="0"/>
                      </a:endParaRPr>
                    </a:p>
                  </a:txBody>
                  <a:tcPr marL="38100" marR="38100" marT="12700" marB="12700">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750" dirty="0">
                          <a:solidFill>
                            <a:srgbClr val="0078D4"/>
                          </a:solidFill>
                          <a:latin typeface="Meiryo UI" pitchFamily="34" charset="0"/>
                          <a:ea typeface="Meiryo UI" pitchFamily="34" charset="-122"/>
                          <a:cs typeface="Meiryo UI" pitchFamily="34" charset="-120"/>
                        </a:rPr>
                        <a:t>#4 日立 GenAIアンバサダー任命</a:t>
                      </a:r>
                      <a:endParaRPr lang="en-US" sz="750" dirty="0">
                        <a:latin typeface="Meiryo UI" charset="0"/>
                        <a:ea typeface="Meiryo UI" charset="0"/>
                        <a:cs typeface="Meiryo UI" charset="0"/>
                      </a:endParaRPr>
                    </a:p>
                  </a:txBody>
                  <a:tcPr marL="38100" marR="38100" marT="12700" marB="12700">
                    <a:lnL w="0" cap="flat" cmpd="sng" algn="ctr">
                      <a:noFill/>
                    </a:lnL>
                    <a:lnR w="0" cap="flat" cmpd="sng" algn="ctr">
                      <a:noFill/>
                    </a:lnR>
                    <a:lnT w="0" cap="flat" cmpd="sng" algn="ctr">
                      <a:noFill/>
                    </a:lnT>
                    <a:lnB w="0" cap="flat" cmpd="sng" algn="ctr">
                      <a:noFill/>
                    </a:lnB>
                  </a:tcPr>
                </a:tc>
                <a:tc>
                  <a:txBody>
                    <a:bodyPr/>
                    <a:lstStyle/>
                    <a:p>
                      <a:pPr indent="0" marL="0">
                        <a:buNone/>
                      </a:pPr>
                      <a:r>
                        <a:rPr lang="en-US" sz="750" dirty="0">
                          <a:solidFill>
                            <a:srgbClr val="0078D4"/>
                          </a:solidFill>
                          <a:latin typeface="Meiryo UI" pitchFamily="34" charset="0"/>
                          <a:ea typeface="Meiryo UI" pitchFamily="34" charset="-122"/>
                          <a:cs typeface="Meiryo UI" pitchFamily="34" charset="-120"/>
                        </a:rPr>
                        <a:t>#7 LITRON® トップページ（NTTデータ）</a:t>
                      </a:r>
                      <a:endParaRPr lang="en-US" sz="750" dirty="0">
                        <a:latin typeface="Meiryo UI" charset="0"/>
                        <a:ea typeface="Meiryo UI" charset="0"/>
                        <a:cs typeface="Meiryo UI" charset="0"/>
                      </a:endParaRPr>
                    </a:p>
                  </a:txBody>
                  <a:tcPr marL="38100" marR="38100" marT="12700" marB="12700">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750" dirty="0">
                          <a:solidFill>
                            <a:srgbClr val="0078D4"/>
                          </a:solidFill>
                          <a:latin typeface="Meiryo UI" pitchFamily="34" charset="0"/>
                          <a:ea typeface="Meiryo UI" pitchFamily="34" charset="-122"/>
                          <a:cs typeface="Meiryo UI" pitchFamily="34" charset="-120"/>
                        </a:rPr>
                        <a:t>#8 NTT tsuzumi 記者会見速報</a:t>
                      </a:r>
                      <a:endParaRPr lang="en-US" sz="750" dirty="0">
                        <a:latin typeface="Meiryo UI" charset="0"/>
                        <a:ea typeface="Meiryo UI" charset="0"/>
                        <a:cs typeface="Meiryo UI" charset="0"/>
                      </a:endParaRPr>
                    </a:p>
                  </a:txBody>
                  <a:tcPr marL="38100" marR="38100" marT="12700" marB="12700">
                    <a:lnL w="0" cap="flat" cmpd="sng" algn="ctr">
                      <a:noFill/>
                    </a:lnL>
                    <a:lnR w="0" cap="flat" cmpd="sng" algn="ctr">
                      <a:noFill/>
                    </a:lnR>
                    <a:lnT w="0" cap="flat" cmpd="sng" algn="ctr">
                      <a:noFill/>
                    </a:lnT>
                    <a:lnB w="0" cap="flat" cmpd="sng" algn="ctr">
                      <a:noFill/>
                    </a:lnB>
                  </a:tcPr>
                </a:tc>
                <a:tc>
                  <a:txBody>
                    <a:bodyPr/>
                    <a:lstStyle/>
                    <a:p>
                      <a:pPr indent="0" marL="0">
                        <a:buNone/>
                      </a:pPr>
                      <a:r>
                        <a:rPr lang="en-US" sz="750" dirty="0">
                          <a:solidFill>
                            <a:srgbClr val="0078D4"/>
                          </a:solidFill>
                          <a:latin typeface="Meiryo UI" pitchFamily="34" charset="0"/>
                          <a:ea typeface="Meiryo UI" pitchFamily="34" charset="-122"/>
                          <a:cs typeface="Meiryo UI" pitchFamily="34" charset="-120"/>
                        </a:rPr>
                        <a:t>#10 BluStellar AI トップページ（NEC）</a:t>
                      </a:r>
                      <a:endParaRPr lang="en-US" sz="750" dirty="0">
                        <a:latin typeface="Meiryo UI" charset="0"/>
                        <a:ea typeface="Meiryo UI" charset="0"/>
                        <a:cs typeface="Meiryo UI" charset="0"/>
                      </a:endParaRPr>
                    </a:p>
                  </a:txBody>
                  <a:tcPr marL="38100" marR="38100" marT="12700" marB="12700">
                    <a:lnL w="0" cap="flat" cmpd="sng" algn="ctr">
                      <a:noFill/>
                    </a:lnL>
                    <a:lnR w="0" cap="flat" cmpd="sng" algn="ctr">
                      <a:noFill/>
                    </a:lnR>
                    <a:lnT w="0" cap="flat" cmpd="sng" algn="ctr">
                      <a:noFill/>
                    </a:lnT>
                    <a:lnB w="0" cap="flat" cmpd="sng" algn="ctr">
                      <a:noFill/>
                    </a:lnB>
                  </a:tcPr>
                </a:tc>
              </a:tr>
              <a:tr h="256032">
                <a:tc>
                  <a:txBody>
                    <a:bodyPr/>
                    <a:lstStyle/>
                    <a:p>
                      <a:pPr indent="0" marL="0">
                        <a:buNone/>
                      </a:pPr>
                      <a:r>
                        <a:rPr lang="en-US" sz="750" dirty="0">
                          <a:solidFill>
                            <a:srgbClr val="0078D4"/>
                          </a:solidFill>
                          <a:latin typeface="Meiryo UI" pitchFamily="34" charset="0"/>
                          <a:ea typeface="Meiryo UI" pitchFamily="34" charset="-122"/>
                          <a:cs typeface="Meiryo UI" pitchFamily="34" charset="-120"/>
                        </a:rPr>
                        <a:t>#11 NEC cotomi LLM</a:t>
                      </a:r>
                      <a:endParaRPr lang="en-US" sz="750" dirty="0">
                        <a:latin typeface="Meiryo UI" charset="0"/>
                        <a:ea typeface="Meiryo UI" charset="0"/>
                        <a:cs typeface="Meiryo UI" charset="0"/>
                      </a:endParaRPr>
                    </a:p>
                  </a:txBody>
                  <a:tcPr marL="38100" marR="38100" marT="12700" marB="12700">
                    <a:lnL w="0" cap="flat" cmpd="sng" algn="ctr">
                      <a:noFill/>
                    </a:lnL>
                    <a:lnR w="0" cap="flat" cmpd="sng" algn="ctr">
                      <a:noFill/>
                    </a:lnR>
                    <a:lnT w="0" cap="flat" cmpd="sng" algn="ctr">
                      <a:noFill/>
                    </a:lnT>
                    <a:lnB w="0" cap="flat" cmpd="sng" algn="ctr">
                      <a:noFill/>
                    </a:lnB>
                  </a:tcPr>
                </a:tc>
                <a:tc>
                  <a:txBody>
                    <a:bodyPr/>
                    <a:lstStyle/>
                    <a:p>
                      <a:pPr indent="0" marL="0">
                        <a:buNone/>
                      </a:pPr>
                      <a:r>
                        <a:rPr lang="en-US" sz="750" dirty="0">
                          <a:solidFill>
                            <a:srgbClr val="0078D4"/>
                          </a:solidFill>
                          <a:latin typeface="Meiryo UI" pitchFamily="34" charset="0"/>
                          <a:ea typeface="Meiryo UI" pitchFamily="34" charset="-122"/>
                          <a:cs typeface="Meiryo UI" pitchFamily="34" charset="-120"/>
                        </a:rPr>
                        <a:t>#13 NEC ガバメントAI LLM選定</a:t>
                      </a:r>
                      <a:endParaRPr lang="en-US" sz="750" dirty="0">
                        <a:latin typeface="Meiryo UI" charset="0"/>
                        <a:ea typeface="Meiryo UI" charset="0"/>
                        <a:cs typeface="Meiryo UI" charset="0"/>
                      </a:endParaRPr>
                    </a:p>
                  </a:txBody>
                  <a:tcPr marL="38100" marR="38100" marT="12700" marB="12700">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4170" y="439310"/>
            <a:ext cx="1335673" cy="190278"/>
          </a:xfrm>
          <a:prstGeom prst="rect">
            <a:avLst/>
          </a:prstGeom>
        </p:spPr>
      </p:pic>
      <p:sp>
        <p:nvSpPr>
          <p:cNvPr id="6" name="Text Box 3">
            <a:extLst>
              <a:ext uri="{FF2B5EF4-FFF2-40B4-BE49-F238E27FC236}">
                <a16:creationId xmlns:a16="http://schemas.microsoft.com/office/drawing/2014/main" id="{4071864E-755E-AD40-A80D-10E454980F16}"/>
              </a:ext>
            </a:extLst>
          </p:cNvPr>
          <p:cNvSpPr txBox="1">
            <a:spLocks noChangeArrowheads="1"/>
          </p:cNvSpPr>
          <p:nvPr userDrawn="1"/>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bg1"/>
                </a:solidFill>
                <a:cs typeface="Segoe UI" pitchFamily="34" charset="0"/>
              </a:rPr>
              <a:t>© Copyright Microsoft Corporation. All rights reserved. </a:t>
            </a:r>
          </a:p>
        </p:txBody>
      </p:sp>
      <p:sp>
        <p:nvSpPr>
          <p:cNvPr id="2" name="Title 1">
            <a:extLst>
              <a:ext uri="{FF2B5EF4-FFF2-40B4-BE49-F238E27FC236}">
                <a16:creationId xmlns:a16="http://schemas.microsoft.com/office/drawing/2014/main" id="{645AD5E1-A6F1-47DC-90FE-80EB7ABB4789}"/>
              </a:ext>
            </a:extLst>
          </p:cNvPr>
          <p:cNvSpPr>
            <a:spLocks noGrp="1"/>
          </p:cNvSpPr>
          <p:nvPr>
            <p:ph type="title"/>
          </p:nvPr>
        </p:nvSpPr>
        <p:spPr>
          <a:xfrm>
            <a:off x="455995" y="1845277"/>
            <a:ext cx="7454644" cy="1473396"/>
          </a:xfrm>
          <a:prstGeom prst="rect">
            <a:avLst/>
          </a:prstGeom>
          <a:noFill/>
        </p:spPr>
        <p:txBody>
          <a:bodyPr lIns="0" tIns="0" rIns="0" bIns="0" anchor="t" anchorCtr="0"/>
          <a:lstStyle/>
          <a:p>
            <a:r>
              <a:rPr lang="en-US" dirty="0"/>
              <a:t>Thank you.</a:t>
            </a:r>
          </a:p>
        </p:txBody>
      </p:sp>
    </p:spTree>
    <p:extLst>
      <p:ext uri="{BB962C8B-B14F-4D97-AF65-F5344CB8AC3E}">
        <p14:creationId xmlns:p14="http://schemas.microsoft.com/office/powerpoint/2010/main" val="165362664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8</Words>
  <Application>Microsoft Office PowerPoint</Application>
  <PresentationFormat>ワイド画面</PresentationFormat>
  <Paragraphs>4</Paragraphs>
  <Slides>1</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vt:i4>
      </vt:variant>
    </vt:vector>
  </HeadingPairs>
  <TitlesOfParts>
    <vt:vector size="6" baseType="lpstr">
      <vt:lpstr>游ゴシック</vt:lpstr>
      <vt:lpstr>游ゴシック Light</vt:lpstr>
      <vt:lpstr>Arial</vt:lpstr>
      <vt:lpstr>Segoe UI</vt:lpstr>
      <vt:lpstr>Office テーマ</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Akira Koike</dc:creator>
  <cp:lastModifiedBy>Akira Koike</cp:lastModifiedBy>
  <cp:revision>3</cp:revision>
  <dcterms:created xsi:type="dcterms:W3CDTF">2026-03-26T13:45:22Z</dcterms:created>
  <dcterms:modified xsi:type="dcterms:W3CDTF">2026-03-27T10:27:38Z</dcterms:modified>
</cp:coreProperties>
</file>